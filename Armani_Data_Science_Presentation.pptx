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ed33caa0-00ff-cf6b-ccd8-8fbcaf790e16}">
          <p14:sldIdLst>
            <p14:sldId id="256"/>
            <p14:sldId id="257"/>
          </p14:sldIdLst>
        </p14:section>
        <p14:section name="Summary" id="{2514bc5a-33c1-b4ae-1aaf-5c8a628cba7d}">
          <p14:sldIdLst>
            <p14:sldId id="258"/>
          </p14:sldIdLst>
        </p14:section>
        <p14:section name="Part 1 - Data" id="{39d59f69-2d03-e3d8-9687-712149fd3715}">
          <p14:sldIdLst>
            <p14:sldId id="259"/>
            <p14:sldId id="260"/>
          </p14:sldIdLst>
        </p14:section>
        <p14:section name="Part 2 - Forecast" id="{cc745e69-5a1d-96bc-8d6e-31af0b2d62c6}">
          <p14:sldIdLst>
            <p14:sldId id="261"/>
            <p14:sldId id="262"/>
            <p14:sldId id="263"/>
            <p14:sldId id="264"/>
            <p14:sldId id="265"/>
          </p14:sldIdLst>
        </p14:section>
        <p14:section name="Part 3 - Dashboard" id="{dbe7fb97-f783-0349-a343-8a92983306f3}">
          <p14:sldIdLst>
            <p14:sldId id="266"/>
          </p14:sldIdLst>
        </p14:section>
        <p14:section name="Part 4 - Pricing" id="{8c4e79a6-67e1-49f7-23c6-c6f200d81a6a}">
          <p14:sldIdLst>
            <p14:sldId id="267"/>
            <p14:sldId id="268"/>
            <p14:sldId id="269"/>
            <p14:sldId id="270"/>
            <p14:sldId id="271"/>
            <p14:sldId id="272"/>
            <p14:sldId id="273"/>
          </p14:sldIdLst>
        </p14:section>
        <p14:section name="Wrap-up" id="{ca1a78eb-7bec-9234-5694-d14ca8c69f3c}">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41"/>
                </a:solidFill>
                <a:latin typeface="Calibri"/>
              </a:defRPr>
            </a:pPr>
            <a:r>
              <a:rPr sz="1300" b="0" i="0" u="none" strike="noStrike">
                <a:solidFill>
                  <a:srgbClr val="1B2A41"/>
                </a:solidFill>
                <a:latin typeface="Calibri"/>
              </a:rPr>
              <a:t>Data-quality score, before vs after (0-100)</a:t>
            </a:r>
          </a:p>
        </c:rich>
      </c:tx>
      <c:layout/>
      <c:overlay val="0"/>
    </c:title>
    <c:autoTitleDeleted val="0"/>
    <c:plotArea>
      <c:layout/>
      <c:barChart>
        <c:barDir val="col"/>
        <c:grouping val="clustered"/>
        <c:varyColors val="0"/>
        <c:ser>
          <c:idx val="0"/>
          <c:order val="0"/>
          <c:tx>
            <c:strRef>
              <c:f>Sheet1!$B$1</c:f>
              <c:strCache>
                <c:ptCount val="1"/>
                <c:pt idx="0">
                  <c:v>Raw file</c:v>
                </c:pt>
              </c:strCache>
            </c:strRef>
          </c:tx>
          <c:spPr>
            <a:solidFill>
              <a:srgbClr val="8A8F98"/>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Sheet1!$B$2:$B$7</c:f>
              <c:numCache>
                <c:formatCode>General</c:formatCode>
                <c:ptCount val="6"/>
                <c:pt idx="0">
                  <c:v>98.4</c:v>
                </c:pt>
                <c:pt idx="1">
                  <c:v>99.5</c:v>
                </c:pt>
                <c:pt idx="2">
                  <c:v>88.6</c:v>
                </c:pt>
                <c:pt idx="3">
                  <c:v>36.6</c:v>
                </c:pt>
                <c:pt idx="4">
                  <c:v>75.4</c:v>
                </c:pt>
                <c:pt idx="5">
                  <c:v>79.7</c:v>
                </c:pt>
              </c:numCache>
            </c:numRef>
          </c:val>
        </c:ser>
        <c:ser>
          <c:idx val="1"/>
          <c:order val="1"/>
          <c:tx>
            <c:strRef>
              <c:f>Sheet1!$C$1</c:f>
              <c:strCache>
                <c:ptCount val="1"/>
                <c:pt idx="0">
                  <c:v>Database</c:v>
                </c:pt>
              </c:strCache>
            </c:strRef>
          </c:tx>
          <c:spPr>
            <a:solidFill>
              <a:srgbClr val="2A78D6"/>
            </a:solidFill>
            <a:effectLst/>
          </c:spPr>
          <c:invertIfNegative val="0"/>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cat>
            <c:multiLvlStrRef>
              <c:f>Sheet1!$A$2:$A$7</c:f>
              <c:multiLvlStrCache>
                <c:ptCount val="6"/>
                <c:lvl>
                  <c:pt idx="0">
                    <c:v>Completeness</c:v>
                  </c:pt>
                  <c:pt idx="1">
                    <c:v>Uniqueness</c:v>
                  </c:pt>
                  <c:pt idx="2">
                    <c:v>Validity</c:v>
                  </c:pt>
                  <c:pt idx="3">
                    <c:v>Derived fields</c:v>
                  </c:pt>
                  <c:pt idx="4">
                    <c:v>Stock plausibility</c:v>
                  </c:pt>
                  <c:pt idx="5">
                    <c:v>Integrity index</c:v>
                  </c:pt>
                </c:lvl>
              </c:multiLvlStrCache>
            </c:multiLvlStrRef>
          </c:cat>
          <c:val>
            <c:numRef>
              <c:f>Sheet1!$C$2:$C$7</c:f>
              <c:numCache>
                <c:formatCode>General</c:formatCode>
                <c:ptCount val="6"/>
                <c:pt idx="0">
                  <c:v>98.5</c:v>
                </c:pt>
                <c:pt idx="1">
                  <c:v>100</c:v>
                </c:pt>
                <c:pt idx="2">
                  <c:v>100</c:v>
                </c:pt>
                <c:pt idx="3">
                  <c:v>100</c:v>
                </c:pt>
                <c:pt idx="4">
                  <c:v>100</c:v>
                </c:pt>
                <c:pt idx="5">
                  <c:v>99.7</c:v>
                </c:pt>
              </c:numCache>
            </c:numRef>
          </c:val>
        </c:ser>
        <c:dLbls>
          <c:numFmt formatCode="0" sourceLinked="0"/>
          <c:txPr>
            <a:bodyPr/>
            <a:lstStyle/>
            <a:p>
              <a:pPr>
                <a:defRPr b="0" i="0" strike="noStrike" sz="1000" u="none">
                  <a:solidFill>
                    <a:srgbClr val="1B2A41"/>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40"/>
      </c:valAx>
      <c:spPr>
        <a:noFill/>
        <a:ln>
          <a:noFill/>
        </a:ln>
        <a:effectLst/>
      </c:spPr>
    </c:plotArea>
    <c:legend>
      <c:legendPos val="r"/>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Calibri"/>
              </a:defRPr>
            </a:pPr>
            <a:r>
              <a:rPr sz="1400" b="0" i="0" u="none" strike="noStrike">
                <a:solidFill>
                  <a:srgbClr val="1B2A41"/>
                </a:solidFill>
                <a:latin typeface="Calibri"/>
              </a:rPr>
              <a:t>Share of product-weeks</a:t>
            </a:r>
          </a:p>
        </c:rich>
      </c:tx>
      <c:layout/>
      <c:overlay val="0"/>
    </c:title>
    <c:autoTitleDeleted val="0"/>
    <c:plotArea>
      <c:layout/>
      <c:doughnutChart>
        <c:varyColors val="1"/>
        <c:ser>
          <c:idx val="0"/>
          <c:order val="0"/>
          <c:tx>
            <c:strRef>
              <c:f>Sheet1!$B$1</c:f>
              <c:strCache>
                <c:ptCount val="1"/>
                <c:pt idx="0">
                  <c:v>Weeks</c:v>
                </c:pt>
              </c:strCache>
            </c:strRef>
          </c:tx>
          <c:spPr>
            <a:solidFill>
              <a:schemeClr val="accent1"/>
            </a:solidFill>
            <a:ln w="9525" cap="flat">
              <a:solidFill>
                <a:srgbClr val="F9F9F9"/>
              </a:solidFill>
              <a:prstDash val="solid"/>
              <a:round/>
            </a:ln>
            <a:effectLst/>
          </c:spPr>
          <c:dPt>
            <c:idx val="0"/>
            <c:bubble3D val="0"/>
            <c:spPr>
              <a:solidFill>
                <a:srgbClr val="2A78D6"/>
              </a:solidFill>
              <a:effectLst/>
            </c:spPr>
          </c:dPt>
          <c:dPt>
            <c:idx val="1"/>
            <c:bubble3D val="0"/>
            <c:spPr>
              <a:solidFill>
                <a:srgbClr val="EB6834"/>
              </a:solidFill>
              <a:effectLst/>
            </c:spPr>
          </c:dPt>
          <c:dPt>
            <c:idx val="2"/>
            <c:bubble3D val="0"/>
            <c:spPr>
              <a:solidFill>
                <a:srgbClr val="D03B3B"/>
              </a:solidFill>
              <a:effectLst/>
            </c:spPr>
          </c:dPt>
          <c:dPt>
            <c:idx val="3"/>
            <c:bubble3D val="0"/>
            <c:spPr>
              <a:solidFill>
                <a:srgbClr val="8A8F98"/>
              </a:solidFill>
              <a:effectLst/>
            </c:spPr>
          </c:dPt>
          <c:dLbls>
            <c:dLbl>
              <c:idx val="0"/>
              <c:numFmt formatCode="0.0&quot;%&quot;" sourceLinked="0"/>
              <c:spPr/>
              <c:txPr>
                <a:bodyPr/>
                <a:lstStyle/>
                <a:p>
                  <a:pPr>
                    <a:defRPr sz="1200" b="0" i="0" u="none" strike="noStrike">
                      <a:solidFill>
                        <a:srgbClr val="FFFFFF"/>
                      </a:solidFill>
                      <a:latin typeface="Arial"/>
                    </a:defRPr>
                  </a:pPr>
                </a:p>
              </c:txPr>
              <c:showLegendKey val="0"/>
              <c:showVal val="1"/>
              <c:showCatName val="0"/>
              <c:showSerName val="0"/>
              <c:showPercent val="0"/>
              <c:showBubbleSize val="0"/>
            </c:dLbl>
            <c:dLbl>
              <c:idx val="1"/>
              <c:numFmt formatCode="0.0&quot;%&quot;" sourceLinked="0"/>
              <c:spPr/>
              <c:txPr>
                <a:bodyPr/>
                <a:lstStyle/>
                <a:p>
                  <a:pPr>
                    <a:defRPr sz="1200" b="0" i="0" u="none" strike="noStrike">
                      <a:solidFill>
                        <a:srgbClr val="FFFFFF"/>
                      </a:solidFill>
                      <a:latin typeface="Arial"/>
                    </a:defRPr>
                  </a:pPr>
                </a:p>
              </c:txPr>
              <c:showLegendKey val="0"/>
              <c:showVal val="1"/>
              <c:showCatName val="0"/>
              <c:showSerName val="0"/>
              <c:showPercent val="0"/>
              <c:showBubbleSize val="0"/>
            </c:dLbl>
            <c:dLbl>
              <c:idx val="2"/>
              <c:numFmt formatCode="0.0&quot;%&quot;" sourceLinked="0"/>
              <c:spPr/>
              <c:txPr>
                <a:bodyPr/>
                <a:lstStyle/>
                <a:p>
                  <a:pPr>
                    <a:defRPr sz="1200" b="0" i="0" u="none" strike="noStrike">
                      <a:solidFill>
                        <a:srgbClr val="FFFFFF"/>
                      </a:solidFill>
                      <a:latin typeface="Arial"/>
                    </a:defRPr>
                  </a:pPr>
                </a:p>
              </c:txPr>
              <c:showLegendKey val="0"/>
              <c:showVal val="1"/>
              <c:showCatName val="0"/>
              <c:showSerName val="0"/>
              <c:showPercent val="0"/>
              <c:showBubbleSize val="0"/>
            </c:dLbl>
            <c:dLbl>
              <c:idx val="3"/>
              <c:numFmt formatCode="0.0&quot;%&quot;" sourceLinked="0"/>
              <c:spPr/>
              <c:txPr>
                <a:bodyPr/>
                <a:lstStyle/>
                <a:p>
                  <a:pPr>
                    <a:defRPr sz="1200" b="0" i="0" u="none" strike="noStrike">
                      <a:solidFill>
                        <a:srgbClr val="FFFFFF"/>
                      </a:solidFill>
                      <a:latin typeface="Arial"/>
                    </a:defRPr>
                  </a:pPr>
                </a:p>
              </c:txPr>
              <c:showLegendKey val="0"/>
              <c:showVal val="1"/>
              <c:showCatName val="0"/>
              <c:showSerName val="0"/>
              <c:showPercent val="0"/>
              <c:showBubbleSize val="0"/>
            </c:dLbl>
            <c:numFmt formatCode="0.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Unconstrained</c:v>
                </c:pt>
                <c:pt idx="1">
                  <c:v>Stock-limited</c:v>
                </c:pt>
                <c:pt idx="2">
                  <c:v>Stock-out</c:v>
                </c:pt>
                <c:pt idx="3">
                  <c:v>Unknown</c:v>
                </c:pt>
              </c:strCache>
            </c:strRef>
          </c:cat>
          <c:val>
            <c:numRef>
              <c:f>Sheet1!$B$2:$B$5</c:f>
              <c:numCache>
                <c:ptCount val="4"/>
                <c:pt idx="0">
                  <c:v>46.5</c:v>
                </c:pt>
                <c:pt idx="1">
                  <c:v>36.1</c:v>
                </c:pt>
                <c:pt idx="2">
                  <c:v>17</c:v>
                </c:pt>
                <c:pt idx="3">
                  <c:v>0.4</c:v>
                </c:pt>
              </c:numCache>
            </c:numRef>
          </c:val>
        </c:ser>
        <c:firstSliceAng val="0"/>
        <c:holeSize val="55"/>
      </c:doughnutChart>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Calibri"/>
              </a:defRPr>
            </a:pPr>
            <a:r>
              <a:rPr sz="1400" b="0" i="0" u="none" strike="noStrike">
                <a:solidFill>
                  <a:srgbClr val="1B2A41"/>
                </a:solidFill>
                <a:latin typeface="Calibri"/>
              </a:rPr>
              <a:t>Average miss, % of total demand (lower is better)</a:t>
            </a:r>
          </a:p>
        </c:rich>
      </c:tx>
      <c:layout/>
      <c:overlay val="0"/>
    </c:title>
    <c:autoTitleDeleted val="0"/>
    <c:plotArea>
      <c:layout/>
      <c:barChart>
        <c:barDir val="bar"/>
        <c:grouping val="clustered"/>
        <c:varyColors val="0"/>
        <c:ser>
          <c:idx val="0"/>
          <c:order val="0"/>
          <c:tx>
            <c:strRef>
              <c:f>Sheet1!$B$1</c:f>
              <c:strCache>
                <c:ptCount val="1"/>
                <c:pt idx="0">
                  <c:v>WAPE %</c:v>
                </c:pt>
              </c:strCache>
            </c:strRef>
          </c:tx>
          <c:spPr>
            <a:solidFill>
              <a:srgbClr val="1BAF7A"/>
            </a:solidFill>
            <a:effectLst/>
          </c:spPr>
          <c:invertIfNegative val="0"/>
          <c:dLbls>
            <c:numFmt formatCode="0.0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1BAF7A"/>
              </a:solidFill>
              <a:effectLst/>
            </c:spPr>
          </c:dPt>
          <c:dPt>
            <c:idx val="1"/>
            <c:invertIfNegative val="0"/>
            <c:bubble3D val="0"/>
            <c:spPr>
              <a:solidFill>
                <a:srgbClr val="1BAF7A"/>
              </a:solidFill>
              <a:effectLst/>
            </c:spPr>
          </c:dPt>
          <c:dPt>
            <c:idx val="2"/>
            <c:invertIfNegative val="0"/>
            <c:bubble3D val="0"/>
            <c:spPr>
              <a:solidFill>
                <a:srgbClr val="9EC5F4"/>
              </a:solidFill>
              <a:effectLst/>
            </c:spPr>
          </c:dPt>
          <c:dPt>
            <c:idx val="3"/>
            <c:invertIfNegative val="0"/>
            <c:bubble3D val="0"/>
            <c:spPr>
              <a:solidFill>
                <a:srgbClr val="2A78D6"/>
              </a:solidFill>
              <a:effectLst/>
            </c:spPr>
          </c:dPt>
          <c:dPt>
            <c:idx val="4"/>
            <c:invertIfNegative val="0"/>
            <c:bubble3D val="0"/>
            <c:spPr>
              <a:solidFill>
                <a:srgbClr val="9EC5F4"/>
              </a:solidFill>
              <a:effectLst/>
            </c:spPr>
          </c:dPt>
          <c:dPt>
            <c:idx val="5"/>
            <c:invertIfNegative val="0"/>
            <c:bubble3D val="0"/>
            <c:spPr>
              <a:solidFill>
                <a:srgbClr val="1BAF7A"/>
              </a:solidFill>
              <a:effectLst/>
            </c:spPr>
          </c:dPt>
          <c:dPt>
            <c:idx val="6"/>
            <c:invertIfNegative val="0"/>
            <c:bubble3D val="0"/>
            <c:spPr>
              <a:solidFill>
                <a:srgbClr val="EB6834"/>
              </a:solidFill>
              <a:effectLst/>
            </c:spPr>
          </c:dPt>
          <c:dPt>
            <c:idx val="7"/>
            <c:invertIfNegative val="0"/>
            <c:bubble3D val="0"/>
            <c:spPr>
              <a:solidFill>
                <a:srgbClr val="EB6834"/>
              </a:solidFill>
              <a:effectLst/>
            </c:spPr>
          </c:dPt>
          <c:dPt>
            <c:idx val="8"/>
            <c:invertIfNegative val="0"/>
            <c:bubble3D val="0"/>
            <c:spPr>
              <a:solidFill>
                <a:srgbClr val="EB6834"/>
              </a:solidFill>
              <a:effectLst/>
            </c:spPr>
          </c:dPt>
          <c:dPt>
            <c:idx val="9"/>
            <c:invertIfNegative val="0"/>
            <c:bubble3D val="0"/>
            <c:spPr>
              <a:solidFill>
                <a:srgbClr val="8A8F98"/>
              </a:solidFill>
              <a:effectLst/>
            </c:spPr>
          </c:dPt>
          <c:dPt>
            <c:idx val="10"/>
            <c:invertIfNegative val="0"/>
            <c:bubble3D val="0"/>
            <c:spPr>
              <a:solidFill>
                <a:srgbClr val="2A78D6"/>
              </a:solidFill>
              <a:effectLst/>
            </c:spPr>
          </c:dPt>
          <c:dPt>
            <c:idx val="11"/>
            <c:invertIfNegative val="0"/>
            <c:bubble3D val="0"/>
            <c:spPr>
              <a:solidFill>
                <a:srgbClr val="8A8F98"/>
              </a:solidFill>
              <a:effectLst/>
            </c:spPr>
          </c:dPt>
          <c:cat>
            <c:multiLvlStrRef>
              <c:f>Sheet1!$A$2:$A$13</c:f>
              <c:multiLvlStrCache>
                <c:ptCount val="12"/>
                <c:lvl>
                  <c:pt idx="0">
                    <c:v>Structural model (winner)</c:v>
                  </c:pt>
                  <c:pt idx="1">
                    <c:v>Structural per segment</c:v>
                  </c:pt>
                  <c:pt idx="2">
                    <c:v>Average of best 3</c:v>
                  </c:pt>
                  <c:pt idx="3">
                    <c:v>Seasonal regression</c:v>
                  </c:pt>
                  <c:pt idx="4">
                    <c:v>Average of 5 methods</c:v>
                  </c:pt>
                  <c:pt idx="5">
                    <c:v>Size x Season x Growth</c:v>
                  </c:pt>
                  <c:pt idx="6">
                    <c:v>Prophet</c:v>
                  </c:pt>
                  <c:pt idx="7">
                    <c:v>LightGBM</c:v>
                  </c:pt>
                  <c:pt idx="8">
                    <c:v>LightGBM per segment</c:v>
                  </c:pt>
                  <c:pt idx="9">
                    <c:v>Last year's average x season</c:v>
                  </c:pt>
                  <c:pt idx="10">
                    <c:v>Holt-Winters</c:v>
                  </c:pt>
                  <c:pt idx="11">
                    <c:v>Same week last year</c:v>
                  </c:pt>
                </c:lvl>
              </c:multiLvlStrCache>
            </c:multiLvlStrRef>
          </c:cat>
          <c:val>
            <c:numRef>
              <c:f>Sheet1!$B$2:$B$13</c:f>
              <c:numCache>
                <c:formatCode>General</c:formatCode>
                <c:ptCount val="12"/>
                <c:pt idx="0">
                  <c:v>4.57</c:v>
                </c:pt>
                <c:pt idx="1">
                  <c:v>4.57</c:v>
                </c:pt>
                <c:pt idx="2">
                  <c:v>4.61</c:v>
                </c:pt>
                <c:pt idx="3">
                  <c:v>4.68</c:v>
                </c:pt>
                <c:pt idx="4">
                  <c:v>4.69</c:v>
                </c:pt>
                <c:pt idx="5">
                  <c:v>4.72</c:v>
                </c:pt>
                <c:pt idx="6">
                  <c:v>4.76</c:v>
                </c:pt>
                <c:pt idx="7">
                  <c:v>4.78</c:v>
                </c:pt>
                <c:pt idx="8">
                  <c:v>4.9</c:v>
                </c:pt>
                <c:pt idx="9">
                  <c:v>5.28</c:v>
                </c:pt>
                <c:pt idx="10">
                  <c:v>5.55</c:v>
                </c:pt>
                <c:pt idx="11">
                  <c:v>6.96</c:v>
                </c:pt>
              </c:numCache>
            </c:numRef>
          </c:val>
        </c:ser>
        <c:dLbls>
          <c:numFmt formatCode="0.00"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Calibri"/>
              </a:defRPr>
            </a:pPr>
            <a:r>
              <a:rPr sz="1400" b="0" i="0" u="none" strike="noStrike">
                <a:solidFill>
                  <a:srgbClr val="1B2A41"/>
                </a:solidFill>
                <a:latin typeface="Calibri"/>
              </a:rPr>
              <a:t>Price rise (%) by share of demand we cannot serve</a:t>
            </a:r>
          </a:p>
        </c:rich>
      </c:tx>
      <c:layout/>
      <c:overlay val="0"/>
    </c:title>
    <c:autoTitleDeleted val="0"/>
    <c:plotArea>
      <c:layout/>
      <c:lineChart>
        <c:varyColors val="0"/>
        <c:ser>
          <c:idx val="0"/>
          <c:order val="0"/>
          <c:tx>
            <c:strRef>
              <c:f>Sheet1!$B$1</c:f>
              <c:strCache>
                <c:ptCount val="1"/>
                <c:pt idx="0">
                  <c:v>Peak season</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Sheet1!$B$2:$B$11</c:f>
              <c:numCache>
                <c:formatCode>General</c:formatCode>
                <c:ptCount val="10"/>
                <c:pt idx="0">
                  <c:v>0</c:v>
                </c:pt>
                <c:pt idx="1">
                  <c:v>0</c:v>
                </c:pt>
                <c:pt idx="2">
                  <c:v>2.67</c:v>
                </c:pt>
                <c:pt idx="3">
                  <c:v>4</c:v>
                </c:pt>
                <c:pt idx="4">
                  <c:v>5.33</c:v>
                </c:pt>
                <c:pt idx="5">
                  <c:v>6.67</c:v>
                </c:pt>
                <c:pt idx="6">
                  <c:v>8</c:v>
                </c:pt>
                <c:pt idx="7">
                  <c:v>8</c:v>
                </c:pt>
                <c:pt idx="8">
                  <c:v>8</c:v>
                </c:pt>
                <c:pt idx="9">
                  <c:v>8</c:v>
                </c:pt>
              </c:numCache>
            </c:numRef>
          </c:val>
          <c:smooth val="0"/>
        </c:ser>
        <c:ser>
          <c:idx val="1"/>
          <c:order val="1"/>
          <c:tx>
            <c:strRef>
              <c:f>Sheet1!$C$1</c:f>
              <c:strCache>
                <c:ptCount val="1"/>
                <c:pt idx="0">
                  <c:v>Normal season</c:v>
                </c:pt>
              </c:strCache>
            </c:strRef>
          </c:tx>
          <c:spPr>
            <a:solidFill>
              <a:srgbClr val="1BAF7A"/>
            </a:solidFill>
            <a:ln w="38100" cap="flat">
              <a:solidFill>
                <a:srgbClr val="1BAF7A"/>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Sheet1!$C$2:$C$11</c:f>
              <c:numCache>
                <c:formatCode>General</c:formatCode>
                <c:ptCount val="10"/>
                <c:pt idx="0">
                  <c:v>0</c:v>
                </c:pt>
                <c:pt idx="1">
                  <c:v>0</c:v>
                </c:pt>
                <c:pt idx="2">
                  <c:v>2</c:v>
                </c:pt>
                <c:pt idx="3">
                  <c:v>3</c:v>
                </c:pt>
                <c:pt idx="4">
                  <c:v>4</c:v>
                </c:pt>
                <c:pt idx="5">
                  <c:v>5</c:v>
                </c:pt>
                <c:pt idx="6">
                  <c:v>6</c:v>
                </c:pt>
                <c:pt idx="7">
                  <c:v>6</c:v>
                </c:pt>
                <c:pt idx="8">
                  <c:v>6</c:v>
                </c:pt>
                <c:pt idx="9">
                  <c:v>6</c:v>
                </c:pt>
              </c:numCache>
            </c:numRef>
          </c:val>
          <c:smooth val="0"/>
        </c:ser>
        <c:ser>
          <c:idx val="2"/>
          <c:order val="2"/>
          <c:tx>
            <c:strRef>
              <c:f>Sheet1!$D$1</c:f>
              <c:strCache>
                <c:ptCount val="1"/>
                <c:pt idx="0">
                  <c:v>Off-peak season</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Sheet1!$A$2:$A$11</c:f>
              <c:multiLvlStrCache>
                <c:ptCount val="10"/>
                <c:lvl>
                  <c:pt idx="0">
                    <c:v>0%</c:v>
                  </c:pt>
                  <c:pt idx="1">
                    <c:v>5%</c:v>
                  </c:pt>
                  <c:pt idx="2">
                    <c:v>10%</c:v>
                  </c:pt>
                  <c:pt idx="3">
                    <c:v>15%</c:v>
                  </c:pt>
                  <c:pt idx="4">
                    <c:v>20%</c:v>
                  </c:pt>
                  <c:pt idx="5">
                    <c:v>25%</c:v>
                  </c:pt>
                  <c:pt idx="6">
                    <c:v>30%</c:v>
                  </c:pt>
                  <c:pt idx="7">
                    <c:v>40%</c:v>
                  </c:pt>
                  <c:pt idx="8">
                    <c:v>50%</c:v>
                  </c:pt>
                  <c:pt idx="9">
                    <c:v>60%</c:v>
                  </c:pt>
                </c:lvl>
              </c:multiLvlStrCache>
            </c:multiLvlStrRef>
          </c:cat>
          <c:val>
            <c:numRef>
              <c:f>Sheet1!$D$2:$D$11</c:f>
              <c:numCache>
                <c:formatCode>General</c:formatCode>
                <c:ptCount val="10"/>
                <c:pt idx="0">
                  <c:v>0</c:v>
                </c:pt>
                <c:pt idx="1">
                  <c:v>0</c:v>
                </c:pt>
                <c:pt idx="2">
                  <c:v>1.33</c:v>
                </c:pt>
                <c:pt idx="3">
                  <c:v>2</c:v>
                </c:pt>
                <c:pt idx="4">
                  <c:v>2.67</c:v>
                </c:pt>
                <c:pt idx="5">
                  <c:v>3.33</c:v>
                </c:pt>
                <c:pt idx="6">
                  <c:v>4</c:v>
                </c:pt>
                <c:pt idx="7">
                  <c:v>4</c:v>
                </c:pt>
                <c:pt idx="8">
                  <c:v>4</c:v>
                </c:pt>
                <c:pt idx="9">
                  <c:v>4</c:v>
                </c:pt>
              </c:numCache>
            </c:numRef>
          </c:val>
          <c:smooth val="0"/>
        </c:ser>
        <c:dLbls>
          <c:numFmt formatCode="#,##0" sourceLinked="0"/>
          <c:txPr>
            <a:bodyPr/>
            <a:lstStyle/>
            <a:p>
              <a:pPr>
                <a:defRPr b="0" i="0" strike="noStrike" sz="1200" u="none">
                  <a:solidFill>
                    <a:srgbClr val="1B2A41"/>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B80"/>
                    </a:solidFill>
                    <a:latin typeface="Arial"/>
                  </a:defRPr>
                </a:pPr>
                <a:r>
                  <a:rPr sz="1200" b="0" i="0" u="none" strike="noStrike">
                    <a:solidFill>
                      <a:srgbClr val="5B6B80"/>
                    </a:solidFill>
                    <a:latin typeface="Arial"/>
                  </a:rPr>
                  <a:t>share of expected demand we cannot serve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9525"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3"/>
      </c:valAx>
      <c:spPr>
        <a:noFill/>
        <a:ln>
          <a:noFill/>
        </a:ln>
        <a:effectLst/>
      </c:spPr>
    </c:plotArea>
    <c:legend>
      <c:legendPos val="b"/>
      <c:overlay val="0"/>
      <c:txPr>
        <a:bodyPr/>
        <a:lstStyle/>
        <a:p>
          <a:pPr>
            <a:defRPr sz="1200">
              <a:solidFill>
                <a:srgbClr val="1B2A4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Calibri"/>
              </a:defRPr>
            </a:pPr>
            <a:r>
              <a:rPr sz="1400" b="0" i="0" u="none" strike="noStrike">
                <a:solidFill>
                  <a:srgbClr val="1B2A41"/>
                </a:solidFill>
                <a:latin typeface="Calibri"/>
              </a:rPr>
              <a:t>Profit gain over 26 weeks by customer price sensitivity</a:t>
            </a:r>
          </a:p>
        </c:rich>
      </c:tx>
      <c:layout/>
      <c:overlay val="0"/>
    </c:title>
    <c:autoTitleDeleted val="0"/>
    <c:plotArea>
      <c:layout/>
      <c:barChart>
        <c:barDir val="col"/>
        <c:grouping val="clustered"/>
        <c:varyColors val="0"/>
        <c:ser>
          <c:idx val="0"/>
          <c:order val="0"/>
          <c:tx>
            <c:strRef>
              <c:f>Sheet1!$B$1</c:f>
              <c:strCache>
                <c:ptCount val="1"/>
                <c:pt idx="0">
                  <c:v>Profit gain, $M</c:v>
                </c:pt>
              </c:strCache>
            </c:strRef>
          </c:tx>
          <c:spPr>
            <a:solidFill>
              <a:srgbClr val="9EC5F4"/>
            </a:solidFill>
            <a:effectLst/>
          </c:spPr>
          <c:invertIfNegative val="0"/>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dPt>
            <c:idx val="0"/>
            <c:invertIfNegative val="0"/>
            <c:bubble3D val="0"/>
            <c:spPr>
              <a:solidFill>
                <a:srgbClr val="9EC5F4"/>
              </a:solidFill>
              <a:effectLst/>
            </c:spPr>
          </c:dPt>
          <c:dPt>
            <c:idx val="1"/>
            <c:invertIfNegative val="0"/>
            <c:bubble3D val="0"/>
            <c:spPr>
              <a:solidFill>
                <a:srgbClr val="9EC5F4"/>
              </a:solidFill>
              <a:effectLst/>
            </c:spPr>
          </c:dPt>
          <c:dPt>
            <c:idx val="2"/>
            <c:invertIfNegative val="0"/>
            <c:bubble3D val="0"/>
            <c:spPr>
              <a:solidFill>
                <a:srgbClr val="2A78D6"/>
              </a:solidFill>
              <a:effectLst/>
            </c:spPr>
          </c:dPt>
          <c:dPt>
            <c:idx val="3"/>
            <c:invertIfNegative val="0"/>
            <c:bubble3D val="0"/>
            <c:spPr>
              <a:solidFill>
                <a:srgbClr val="9EC5F4"/>
              </a:solidFill>
              <a:effectLst/>
            </c:spPr>
          </c:dPt>
          <c:dPt>
            <c:idx val="4"/>
            <c:invertIfNegative val="0"/>
            <c:bubble3D val="0"/>
            <c:spPr>
              <a:solidFill>
                <a:srgbClr val="9EC5F4"/>
              </a:solidFill>
              <a:effectLst/>
            </c:spPr>
          </c:dPt>
          <c:cat>
            <c:multiLvlStrRef>
              <c:f>Sheet1!$A$2:$A$6</c:f>
              <c:multiLvlStrCache>
                <c:ptCount val="5"/>
                <c:lvl>
                  <c:pt idx="0">
                    <c:v>Very sensitive (-3)</c:v>
                  </c:pt>
                  <c:pt idx="1">
                    <c:v>High (-2)</c:v>
                  </c:pt>
                  <c:pt idx="2">
                    <c:v>Planning case (-1)</c:v>
                  </c:pt>
                  <c:pt idx="3">
                    <c:v>Low (-0.5)</c:v>
                  </c:pt>
                  <c:pt idx="4">
                    <c:v>Ignore price (0)</c:v>
                  </c:pt>
                </c:lvl>
              </c:multiLvlStrCache>
            </c:multiLvlStrRef>
          </c:cat>
          <c:val>
            <c:numRef>
              <c:f>Sheet1!$B$2:$B$6</c:f>
              <c:numCache>
                <c:formatCode>General</c:formatCode>
                <c:ptCount val="5"/>
                <c:pt idx="0">
                  <c:v>1.15</c:v>
                </c:pt>
                <c:pt idx="1">
                  <c:v>1.22</c:v>
                </c:pt>
                <c:pt idx="2">
                  <c:v>1.26</c:v>
                </c:pt>
                <c:pt idx="3">
                  <c:v>1.28</c:v>
                </c:pt>
                <c:pt idx="4">
                  <c:v>1.3</c:v>
                </c:pt>
              </c:numCache>
            </c:numRef>
          </c:val>
        </c:ser>
        <c:dLbls>
          <c:numFmt formatCode="&quot;$&quot;0.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E3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0.4"/>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41"/>
                </a:solidFill>
                <a:latin typeface="Calibri"/>
              </a:defRPr>
            </a:pPr>
            <a:r>
              <a:rPr sz="1400" b="0" i="0" u="none" strike="noStrike">
                <a:solidFill>
                  <a:srgbClr val="1B2A41"/>
                </a:solidFill>
                <a:latin typeface="Calibri"/>
              </a:rPr>
              <a:t>Capital tied up above 26 weeks of stock (at cost)</a:t>
            </a:r>
          </a:p>
        </c:rich>
      </c:tx>
      <c:layout/>
      <c:overlay val="0"/>
    </c:title>
    <c:autoTitleDeleted val="0"/>
    <c:plotArea>
      <c:layout/>
      <c:barChart>
        <c:barDir val="bar"/>
        <c:grouping val="clustered"/>
        <c:varyColors val="0"/>
        <c:ser>
          <c:idx val="0"/>
          <c:order val="0"/>
          <c:tx>
            <c:strRef>
              <c:f>Sheet1!$B$1</c:f>
              <c:strCache>
                <c:ptCount val="1"/>
                <c:pt idx="0">
                  <c:v>Excess stock $M</c:v>
                </c:pt>
              </c:strCache>
            </c:strRef>
          </c:tx>
          <c:spPr>
            <a:solidFill>
              <a:srgbClr val="EB6834"/>
            </a:solidFill>
            <a:effectLst/>
          </c:spPr>
          <c:invertIfNegative val="0"/>
          <c:dLbls>
            <c:numFmt formatCode="&quot;$&quot;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cat>
            <c:multiLvlStrRef>
              <c:f>Sheet1!$A$2:$A$6</c:f>
              <c:multiLvlStrCache>
                <c:ptCount val="5"/>
                <c:lvl>
                  <c:pt idx="0">
                    <c:v>Wheat - Hard Red</c:v>
                  </c:pt>
                  <c:pt idx="1">
                    <c:v>Milk Powder - Whole</c:v>
                  </c:pt>
                  <c:pt idx="2">
                    <c:v>Spices - Turmeric</c:v>
                  </c:pt>
                  <c:pt idx="3">
                    <c:v>Sunflower Oil</c:v>
                  </c:pt>
                  <c:pt idx="4">
                    <c:v>Chickpeas</c:v>
                  </c:pt>
                </c:lvl>
              </c:multiLvlStrCache>
            </c:multiLvlStrRef>
          </c:cat>
          <c:val>
            <c:numRef>
              <c:f>Sheet1!$B$2:$B$6</c:f>
              <c:numCache>
                <c:formatCode>General</c:formatCode>
                <c:ptCount val="5"/>
                <c:pt idx="0">
                  <c:v>6.5</c:v>
                </c:pt>
                <c:pt idx="1">
                  <c:v>1.4</c:v>
                </c:pt>
                <c:pt idx="2">
                  <c:v>1.3</c:v>
                </c:pt>
                <c:pt idx="3">
                  <c:v>1.1</c:v>
                </c:pt>
                <c:pt idx="4">
                  <c:v>0.5</c:v>
                </c:pt>
              </c:numCache>
            </c:numRef>
          </c:val>
        </c:ser>
        <c:dLbls>
          <c:numFmt formatCode="&quot;$&quot;0.0&quot;M&quot;" sourceLinked="0"/>
          <c:txPr>
            <a:bodyPr/>
            <a:lstStyle/>
            <a:p>
              <a:pPr>
                <a:defRPr b="0" i="0" strike="noStrike" sz="1200" u="none">
                  <a:solidFill>
                    <a:srgbClr val="1B2A4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8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9525" cap="flat">
              <a:solidFill>
                <a:srgbClr val="E3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0"/>
                </a:solidFill>
                <a:latin typeface="Calibri"/>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presentation walks through how I approached the assessment: what problem each part poses, how I investigated it, which technical decisions I made and why, and what the results are. The emphasis is on the reasoning and the method, not only the final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assessment names three business problems: demand volatility, static prices and credit/liquidity risk. I treated them as one chain: you cannot forecast before the data is trustworthy, you cannot price before you know demand, and a dashboard makes the whole thing usable. For each part I started from a question rather than a technique. Four habits guided every decision: diagnose before modelling, test on unseen data, prefer the simple solution unless evidence says otherwise, and state every assumption and stress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carry the story. About 40% of customer demand went unserved last year because stock ran out; a simple model forecasts the next 26 weeks within 4.6%; five over-stocked products tie up $10.8M; and pricing that respects scarcity adds about $1.3M profit without selling fewer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goal: every number in later parts must be trustworthy and every correction traceable. The raw file is copied untouched into a staging table first, so nothing is lost. Validation separates fatal problems (stop the load) from fixable ones (log and correct). Exact duplicates are dropped because a repeated row would double count sales. Missing sales are recovered from revenue / price. Odd values are flagged, not deleted, because later analysis shows they carry information. The load is one transaction so it is repeatable. Exception handling was proven on a deliberately corrupted copy: 15 tests, all passed. The integrity index rises from 79.7 to 99.7.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Sales in a week track the previous row's inventory (correlation 0.85), zero stock means zero sales, and sales pile up exactly at the stock caps 1,500 and 2,500. So sales equal min(demand, stock). 53% of product-weeks are affected. Forecasting raw sales would forecast stock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Weeks where stock did not limit sales show true demand. Elsewhere we rebuild demand as the larger of observed sales and a blend of the company's old forecast (40%) and a seasonal model (60%). The blend weight is learned out-of-fold. On weeks where truth is known, the blend is off by 5.0% against 7.9% for the old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Calendar tests show that week of year explains about 80% of demand variation, while price, cost and margin have no calendar effect. All products follow the same curve (mean correlation 0.97), so we measure the season once. Recipe: forecast = size x season x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risks make forecasting comparisons misleading: peeking at the future and picking one lucky test window. To avoid both I used rolling-origin backtests: train on 156, 182, 208 and 234 weeks and test on the next 26, which is exactly the real task. Every free parameter (blend weight, smoothing, hyper-parameters) is tuned inside the training window only. WAPE is the primary metric because it weights errors by volume and is robust to zero-demand weeks; MAE, RMSE, MAPE, MASE and bias are reported to avoid relying on one number. A paired bootstrap tells whether a difference between two models is real. I deliberately included simple baselines, because a complex model must beat a plain rule to deserve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Rolling-origin backtests: train on 156, 182, 208 and 234 weeks and test on the next 26. All tuning happens inside the training window. Metrics: WAPE (primary), MAE, RMSE, MAPE, MASE, bias. The winner is statistically better than the best simple rule (bootstrap CI excludes zero) and equal to the per-segment version, so the simpler pooled model is selected. Honest accuracy on directly observed weeks is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forecast covers weeks 261 to 286. P10-P90 bands come from backtest errors and cover 80% of outcomes. At historical stock levels 44% of the forecast revenue would again be unserved, because stock, not demand, is the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designed the dashboard around the reader: senior managers who are not technical. Each of the eight tabs answers one business question and opens with a one-sentence bottom line. KPIs are grouped as financial (margin, growth, operating profit), operational (turnover, days of stock, service level, lost sales), credit (DSO, A-E default-risk rating) and forward-looking (26-week forecast with a likely range, recommended prices). The data has no customers or invoices, so the credit layer is a scenario with editable assumptions, labelled as such. Alerts are six rules with editable thresholds and show the money at stake and a suggested action. 24 automatic tests reconcile KPIs to the database. I will show the live dashboard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product-week is scarce, balanced or surplus. When part of the demand cannot be served we will sell out anyway, so a small price rise is extra profit. The rise grows with scarcity, is largest in peak season, and is capped at 8%. 78% of the forecast product-weeks are scarce.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algorithm in plain terms; the full mathematics is in the Word rulebook. Rule 1: the share g of expected demand we cannot serve drives a premium of up to 8 percent, scaled by season (peak 1.0, normal 0.75, off-peak 0.5). Rule 2: sell-out protection finds the largest rise M for which expected units sold stay at least 99 percent of the baseline, even if customers were twice as price-sensitive, using 1,000 simulated demand draws. Rule 3: for surplus stock a markdown of up to 10 percent is applied only if simulated profit rises, counting the carrying-cost saving. Rule 4: credit-risky categories get no markdown and pay a risk premium covering default loss and funding. Rule 5: hard guardrails. Rule 6: assembly, recording which limit was binding so every price is explainable.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guardrail answers a business risk. All are tested automatically on the 26-week plan and on a 52-week replay: 19 checks passed. Competitor prices are not in the data, so the 13-week average price is the proxy for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difficulty is that customer price sensitivity cannot be measured from this data: prices move only about 4 percent within a product, and the estimated effect is -0.017 with a 95 percent range from -0.056 to +0.021, which includes zero. So instead of pretending to know it, I designed the engine so that its gain does not depend on it, and I tested that claim four ways. Each test uses the same simulated demand and stock for the engine and for the do-nothing case, so the difference is purely the 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Profit means gross profit minus expected credit losses, versus holding today's price, using the same simulated demand and stock. Because we only raise prices where we sell out anyway, the result barely depends on how customers react: $1.15M if they are very price-sensitive, $1.30M if they ignore price. Replaying the last 52 weeks with only past information gives +$1.4M. If real demand were only 60% of our estimate the gain would still be $0.94M.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products hold between 64 and 370 weeks of stock: $10.8M at cost and about $1.3M a year to carry, which is more than the whole pricing gain. Selling the excess within a year by price alone would need cuts of 17 to 49% even for very price-sensitive customers, and a price below cost at the planning sensitivity. 200 candidate markdowns were tested and rejected because they do not pay. Beverages &amp; Cocoa is rated D in the credit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assumptions remain: customer price sensitivity and competitor prices. For products that sell out, units sold equal stock, so a price test there only shows whether we still sell out; real sensitivity needs products with ample stock. Pilot A is cheap and confirms the core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by value and effort: stock decisions are free and large; pricing needs a short pilot; data requests enable the credit and competitor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assumption is documented in the notebooks and the README. The three that matter most for decisions are price sensitivity, credit data, and the demand reconstruction; each has a test or a pilot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rtlCol="0"/>
          <a:lstStyle>
            <a:lvl1pPr indent="0" marL="0">
              <a:buNone/>
              <a:defRPr lang="en-US" sz="2200" dirty="0">
                <a:solidFill>
                  <a:srgbClr val="CADCFC"/>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5B6B80"/>
                </a:solidFill>
              </a:rPr>
              <a:t>Armani Middle East Trading  ·  Data Science assessment</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226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9601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Technical Assessment for Data Scientist Position</a:t>
            </a:r>
            <a:endParaRPr lang="en-US" sz="4400" dirty="0"/>
          </a:p>
        </p:txBody>
      </p:sp>
      <p:sp>
        <p:nvSpPr>
          <p:cNvPr id="3" name="Text 0"/>
          <p:cNvSpPr/>
          <p:nvPr>
            <p:ph idx="101" type="body" hasCustomPrompt="1"/>
          </p:nvPr>
        </p:nvSpPr>
        <p:spPr>
          <a:xfrm>
            <a:off x="822960" y="4023360"/>
            <a:ext cx="10515600" cy="822960"/>
          </a:xfrm>
          <a:prstGeom prst="rect">
            <a:avLst/>
          </a:prstGeom>
          <a:noFill/>
          <a:ln/>
        </p:spPr>
        <p:txBody>
          <a:bodyPr wrap="square" lIns="0" tIns="0" rIns="0" bIns="0" rtlCol="0" anchor="t"/>
          <a:lstStyle/>
          <a:p>
            <a:pPr indent="0" marL="0">
              <a:buNone/>
            </a:pPr>
            <a:r>
              <a:rPr lang="en-US" sz="2200" dirty="0">
                <a:solidFill>
                  <a:srgbClr val="CADCFC"/>
                </a:solidFill>
              </a:rPr>
              <a:t>Presenter: Hamidreza Nademi</a:t>
            </a:r>
            <a:endParaRPr lang="en-US" sz="2200" dirty="0"/>
          </a:p>
        </p:txBody>
      </p:sp>
      <p:sp>
        <p:nvSpPr>
          <p:cNvPr id="4" name="Text 2"/>
          <p:cNvSpPr txBox="1"/>
          <p:nvPr/>
        </p:nvSpPr>
        <p:spPr>
          <a:xfrm>
            <a:off x="822960" y="5852160"/>
            <a:ext cx="10515600" cy="365760"/>
          </a:xfrm>
          <a:prstGeom prst="rect">
            <a:avLst/>
          </a:prstGeom>
          <a:noFill/>
          <a:ln/>
        </p:spPr>
        <p:txBody>
          <a:bodyPr wrap="square" lIns="0" tIns="0" rIns="0" bIns="0" rtlCol="0" anchor="ctr"/>
          <a:lstStyle/>
          <a:p>
            <a:pPr indent="0" marL="0">
              <a:buNone/>
            </a:pPr>
            <a:r>
              <a:rPr lang="en-US" sz="1600" dirty="0">
                <a:solidFill>
                  <a:srgbClr val="9FB3CC"/>
                </a:solidFill>
              </a:rPr>
              <a:t>Armani Middle East Trading  |  Data engineering  ·  Forecasting  ·  Dashboard  ·  Dynamic pricing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THE BRIEF AND MY APPROACH</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Four parts, one chain: each answer feeds the next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1920240"/>
                <a:gridCol w="2651760"/>
                <a:gridCol w="3840480"/>
                <a:gridCol w="2651760"/>
              </a:tblGrid>
              <a:tr h="365760">
                <a:tc>
                  <a:txBody>
                    <a:bodyPr/>
                    <a:lstStyle/>
                    <a:p>
                      <a:pPr indent="0" marL="0">
                        <a:buNone/>
                      </a:pPr>
                      <a:r>
                        <a:rPr lang="en-US" sz="1300" b="1" dirty="0">
                          <a:solidFill>
                            <a:srgbClr val="FFFFFF"/>
                          </a:solidFill>
                        </a:rPr>
                        <a:t>Part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Business problem</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The question I asked first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What I built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b="1" dirty="0">
                          <a:solidFill>
                            <a:srgbClr val="1B2A41"/>
                          </a:solidFill>
                        </a:rPr>
                        <a:t>1  Data and ETL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Raw weekly file of 30 products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Can I trust every number, and what does each column really measure?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Validated pipeline, star schema, audit trail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2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volatility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exactly should I forecast, and how do I prove a model works?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Demand rebuild, 13-model test, 26-week forecast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3  Dashboard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Managers need KPIs and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What would a manager decide on Monday morning?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Plain-language dashboard with alerts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A41"/>
                          </a:solidFill>
                        </a:rPr>
                        <a:t>4  Pricing and risk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Static prices, credit and liquidity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Where does price really earn money, and what could go wrong?</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Rule engine, safety limits, pilot plan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Principle card"/>
          <p:cNvSpPr/>
          <p:nvPr/>
        </p:nvSpPr>
        <p:spPr>
          <a:xfrm>
            <a:off x="548640" y="4846320"/>
            <a:ext cx="2651760" cy="1463040"/>
          </a:xfrm>
          <a:prstGeom prst="roundRect">
            <a:avLst>
              <a:gd name="adj" fmla="val 5000"/>
            </a:avLst>
          </a:prstGeom>
          <a:solidFill>
            <a:srgbClr val="F2F6FB"/>
          </a:solidFill>
          <a:ln w="12700">
            <a:solidFill>
              <a:srgbClr val="F2F6FB"/>
            </a:solidFill>
            <a:prstDash val="solid"/>
          </a:ln>
        </p:spPr>
      </p:sp>
      <p:sp>
        <p:nvSpPr>
          <p:cNvPr id="7" name="Principle accent"/>
          <p:cNvSpPr/>
          <p:nvPr/>
        </p:nvSpPr>
        <p:spPr>
          <a:xfrm>
            <a:off x="548640" y="4846320"/>
            <a:ext cx="82296" cy="1463040"/>
          </a:xfrm>
          <a:prstGeom prst="rect">
            <a:avLst/>
          </a:prstGeom>
          <a:solidFill>
            <a:srgbClr val="2A78D6"/>
          </a:solidFill>
          <a:ln w="12700">
            <a:solidFill>
              <a:srgbClr val="2A78D6"/>
            </a:solidFill>
            <a:prstDash val="solid"/>
          </a:ln>
        </p:spPr>
      </p:sp>
      <p:sp>
        <p:nvSpPr>
          <p:cNvPr id="8" name="Text 4"/>
          <p:cNvSpPr txBox="1"/>
          <p:nvPr/>
        </p:nvSpPr>
        <p:spPr>
          <a:xfrm>
            <a:off x="77724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Diagnose before modelling</a:t>
            </a:r>
            <a:endParaRPr lang="en-US" sz="1500" dirty="0"/>
          </a:p>
        </p:txBody>
      </p:sp>
      <p:sp>
        <p:nvSpPr>
          <p:cNvPr id="9" name="Text 5"/>
          <p:cNvSpPr txBox="1"/>
          <p:nvPr/>
        </p:nvSpPr>
        <p:spPr>
          <a:xfrm>
            <a:off x="77724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Understand what the data measures before choosing a method.</a:t>
            </a:r>
            <a:endParaRPr lang="en-US" sz="1300" dirty="0"/>
          </a:p>
        </p:txBody>
      </p:sp>
      <p:sp>
        <p:nvSpPr>
          <p:cNvPr id="10" name="Principle card"/>
          <p:cNvSpPr/>
          <p:nvPr/>
        </p:nvSpPr>
        <p:spPr>
          <a:xfrm>
            <a:off x="3337560" y="4846320"/>
            <a:ext cx="2651760" cy="1463040"/>
          </a:xfrm>
          <a:prstGeom prst="roundRect">
            <a:avLst>
              <a:gd name="adj" fmla="val 5000"/>
            </a:avLst>
          </a:prstGeom>
          <a:solidFill>
            <a:srgbClr val="F2F6FB"/>
          </a:solidFill>
          <a:ln w="12700">
            <a:solidFill>
              <a:srgbClr val="F2F6FB"/>
            </a:solidFill>
            <a:prstDash val="solid"/>
          </a:ln>
        </p:spPr>
      </p:sp>
      <p:sp>
        <p:nvSpPr>
          <p:cNvPr id="11" name="Principle accent"/>
          <p:cNvSpPr/>
          <p:nvPr/>
        </p:nvSpPr>
        <p:spPr>
          <a:xfrm>
            <a:off x="3337560" y="4846320"/>
            <a:ext cx="82296" cy="1463040"/>
          </a:xfrm>
          <a:prstGeom prst="rect">
            <a:avLst/>
          </a:prstGeom>
          <a:solidFill>
            <a:srgbClr val="1BAF7A"/>
          </a:solidFill>
          <a:ln w="12700">
            <a:solidFill>
              <a:srgbClr val="1BAF7A"/>
            </a:solidFill>
            <a:prstDash val="solid"/>
          </a:ln>
        </p:spPr>
      </p:sp>
      <p:sp>
        <p:nvSpPr>
          <p:cNvPr id="12" name="Text 8"/>
          <p:cNvSpPr txBox="1"/>
          <p:nvPr/>
        </p:nvSpPr>
        <p:spPr>
          <a:xfrm>
            <a:off x="356616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Test on unseen data</a:t>
            </a:r>
            <a:endParaRPr lang="en-US" sz="1500" dirty="0"/>
          </a:p>
        </p:txBody>
      </p:sp>
      <p:sp>
        <p:nvSpPr>
          <p:cNvPr id="13" name="Text 9"/>
          <p:cNvSpPr txBox="1"/>
          <p:nvPr/>
        </p:nvSpPr>
        <p:spPr>
          <a:xfrm>
            <a:off x="356616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Every choice is judged on weeks the model has not seen.</a:t>
            </a:r>
            <a:endParaRPr lang="en-US" sz="1300" dirty="0"/>
          </a:p>
        </p:txBody>
      </p:sp>
      <p:sp>
        <p:nvSpPr>
          <p:cNvPr id="14" name="Principle card"/>
          <p:cNvSpPr/>
          <p:nvPr/>
        </p:nvSpPr>
        <p:spPr>
          <a:xfrm>
            <a:off x="6126480" y="4846320"/>
            <a:ext cx="2651760" cy="1463040"/>
          </a:xfrm>
          <a:prstGeom prst="roundRect">
            <a:avLst>
              <a:gd name="adj" fmla="val 5000"/>
            </a:avLst>
          </a:prstGeom>
          <a:solidFill>
            <a:srgbClr val="F2F6FB"/>
          </a:solidFill>
          <a:ln w="12700">
            <a:solidFill>
              <a:srgbClr val="F2F6FB"/>
            </a:solidFill>
            <a:prstDash val="solid"/>
          </a:ln>
        </p:spPr>
      </p:sp>
      <p:sp>
        <p:nvSpPr>
          <p:cNvPr id="15" name="Principle accent"/>
          <p:cNvSpPr/>
          <p:nvPr/>
        </p:nvSpPr>
        <p:spPr>
          <a:xfrm>
            <a:off x="6126480" y="4846320"/>
            <a:ext cx="82296" cy="1463040"/>
          </a:xfrm>
          <a:prstGeom prst="rect">
            <a:avLst/>
          </a:prstGeom>
          <a:solidFill>
            <a:srgbClr val="EB6834"/>
          </a:solidFill>
          <a:ln w="12700">
            <a:solidFill>
              <a:srgbClr val="EB6834"/>
            </a:solidFill>
            <a:prstDash val="solid"/>
          </a:ln>
        </p:spPr>
      </p:sp>
      <p:sp>
        <p:nvSpPr>
          <p:cNvPr id="16" name="Text 12"/>
          <p:cNvSpPr txBox="1"/>
          <p:nvPr/>
        </p:nvSpPr>
        <p:spPr>
          <a:xfrm>
            <a:off x="635508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Simple unless proven otherwise</a:t>
            </a:r>
            <a:endParaRPr lang="en-US" sz="1500" dirty="0"/>
          </a:p>
        </p:txBody>
      </p:sp>
      <p:sp>
        <p:nvSpPr>
          <p:cNvPr id="17" name="Text 13"/>
          <p:cNvSpPr txBox="1"/>
          <p:nvPr/>
        </p:nvSpPr>
        <p:spPr>
          <a:xfrm>
            <a:off x="635508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A complex model must beat a plain rule to be used.</a:t>
            </a:r>
            <a:endParaRPr lang="en-US" sz="1300" dirty="0"/>
          </a:p>
        </p:txBody>
      </p:sp>
      <p:sp>
        <p:nvSpPr>
          <p:cNvPr id="18" name="Principle card"/>
          <p:cNvSpPr/>
          <p:nvPr/>
        </p:nvSpPr>
        <p:spPr>
          <a:xfrm>
            <a:off x="8915400" y="4846320"/>
            <a:ext cx="2651760" cy="1463040"/>
          </a:xfrm>
          <a:prstGeom prst="roundRect">
            <a:avLst>
              <a:gd name="adj" fmla="val 5000"/>
            </a:avLst>
          </a:prstGeom>
          <a:solidFill>
            <a:srgbClr val="F2F6FB"/>
          </a:solidFill>
          <a:ln w="12700">
            <a:solidFill>
              <a:srgbClr val="F2F6FB"/>
            </a:solidFill>
            <a:prstDash val="solid"/>
          </a:ln>
        </p:spPr>
      </p:sp>
      <p:sp>
        <p:nvSpPr>
          <p:cNvPr id="19" name="Principle accent"/>
          <p:cNvSpPr/>
          <p:nvPr/>
        </p:nvSpPr>
        <p:spPr>
          <a:xfrm>
            <a:off x="8915400" y="4846320"/>
            <a:ext cx="82296" cy="1463040"/>
          </a:xfrm>
          <a:prstGeom prst="rect">
            <a:avLst/>
          </a:prstGeom>
          <a:solidFill>
            <a:srgbClr val="D03B3B"/>
          </a:solidFill>
          <a:ln w="12700">
            <a:solidFill>
              <a:srgbClr val="D03B3B"/>
            </a:solidFill>
            <a:prstDash val="solid"/>
          </a:ln>
        </p:spPr>
      </p:sp>
      <p:sp>
        <p:nvSpPr>
          <p:cNvPr id="20" name="Text 16"/>
          <p:cNvSpPr txBox="1"/>
          <p:nvPr/>
        </p:nvSpPr>
        <p:spPr>
          <a:xfrm>
            <a:off x="9144000" y="4937760"/>
            <a:ext cx="2331720" cy="502920"/>
          </a:xfrm>
          <a:prstGeom prst="rect">
            <a:avLst/>
          </a:prstGeom>
          <a:noFill/>
          <a:ln/>
        </p:spPr>
        <p:txBody>
          <a:bodyPr wrap="square" lIns="0" tIns="0" rIns="0" bIns="0" rtlCol="0" anchor="t"/>
          <a:lstStyle/>
          <a:p>
            <a:pPr indent="0" marL="0">
              <a:buNone/>
            </a:pPr>
            <a:r>
              <a:rPr lang="en-US" sz="1500" b="1" dirty="0">
                <a:solidFill>
                  <a:schemeClr val="tx1"/>
                </a:solidFill>
              </a:rPr>
              <a:t>State and stress assumptions</a:t>
            </a:r>
            <a:endParaRPr lang="en-US" sz="1500" dirty="0"/>
          </a:p>
        </p:txBody>
      </p:sp>
      <p:sp>
        <p:nvSpPr>
          <p:cNvPr id="21" name="Text 17"/>
          <p:cNvSpPr txBox="1"/>
          <p:nvPr/>
        </p:nvSpPr>
        <p:spPr>
          <a:xfrm>
            <a:off x="9144000" y="5468112"/>
            <a:ext cx="2331720" cy="777240"/>
          </a:xfrm>
          <a:prstGeom prst="rect">
            <a:avLst/>
          </a:prstGeom>
          <a:noFill/>
          <a:ln/>
        </p:spPr>
        <p:txBody>
          <a:bodyPr wrap="square" lIns="0" tIns="0" rIns="0" bIns="0" rtlCol="0" anchor="t"/>
          <a:lstStyle/>
          <a:p>
            <a:pPr indent="0" marL="0">
              <a:buNone/>
            </a:pPr>
            <a:r>
              <a:rPr lang="en-US" sz="1300" dirty="0">
                <a:solidFill>
                  <a:srgbClr val="5B6B80"/>
                </a:solidFill>
              </a:rPr>
              <a:t>Where data is missing, assume openly and show the range.</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EXECUTIVE SUMMARY</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The constraint is availability, not demand or price</a:t>
            </a:r>
            <a:endParaRPr lang="en-US" sz="3000" dirty="0"/>
          </a:p>
        </p:txBody>
      </p:sp>
      <p:sp>
        <p:nvSpPr>
          <p:cNvPr id="5" name="Stat card"/>
          <p:cNvSpPr/>
          <p:nvPr/>
        </p:nvSpPr>
        <p:spPr>
          <a:xfrm>
            <a:off x="548640" y="1783080"/>
            <a:ext cx="2606040" cy="2331720"/>
          </a:xfrm>
          <a:prstGeom prst="roundRect">
            <a:avLst>
              <a:gd name="adj" fmla="val 3137"/>
            </a:avLst>
          </a:prstGeom>
          <a:solidFill>
            <a:srgbClr val="F2F6FB"/>
          </a:solidFill>
          <a:ln w="12700">
            <a:solidFill>
              <a:srgbClr val="F2F6FB"/>
            </a:solidFill>
            <a:prstDash val="solid"/>
          </a:ln>
        </p:spPr>
      </p:sp>
      <p:sp>
        <p:nvSpPr>
          <p:cNvPr id="6" name="Text 3"/>
          <p:cNvSpPr txBox="1"/>
          <p:nvPr/>
        </p:nvSpPr>
        <p:spPr>
          <a:xfrm>
            <a:off x="685800" y="1856232"/>
            <a:ext cx="2331720" cy="1049274"/>
          </a:xfrm>
          <a:prstGeom prst="rect">
            <a:avLst/>
          </a:prstGeom>
          <a:noFill/>
          <a:ln/>
        </p:spPr>
        <p:txBody>
          <a:bodyPr wrap="square" lIns="0" tIns="0" rIns="0" bIns="0" rtlCol="0" anchor="ctr"/>
          <a:lstStyle/>
          <a:p>
            <a:pPr indent="0" marL="0">
              <a:buNone/>
            </a:pPr>
            <a:r>
              <a:rPr lang="en-US" sz="4000" b="1" dirty="0">
                <a:solidFill>
                  <a:srgbClr val="EB6834"/>
                </a:solidFill>
                <a:latin typeface="Cambria" pitchFamily="34" charset="0"/>
                <a:ea typeface="Cambria" pitchFamily="34" charset="-122"/>
                <a:cs typeface="Cambria" pitchFamily="34" charset="-120"/>
              </a:rPr>
              <a:t>~40%</a:t>
            </a:r>
            <a:endParaRPr lang="en-US" sz="4000" dirty="0"/>
          </a:p>
        </p:txBody>
      </p:sp>
      <p:sp>
        <p:nvSpPr>
          <p:cNvPr id="7" name="Text 4"/>
          <p:cNvSpPr txBox="1"/>
          <p:nvPr/>
        </p:nvSpPr>
        <p:spPr>
          <a:xfrm>
            <a:off x="685800" y="2995574"/>
            <a:ext cx="2331720" cy="1072591"/>
          </a:xfrm>
          <a:prstGeom prst="rect">
            <a:avLst/>
          </a:prstGeom>
          <a:noFill/>
          <a:ln/>
        </p:spPr>
        <p:txBody>
          <a:bodyPr wrap="square" lIns="0" tIns="0" rIns="0" bIns="0" rtlCol="0" anchor="t"/>
          <a:lstStyle/>
          <a:p>
            <a:pPr indent="0" marL="0">
              <a:buNone/>
            </a:pPr>
            <a:r>
              <a:rPr lang="en-US" sz="1300" dirty="0">
                <a:solidFill>
                  <a:srgbClr val="5B6B80"/>
                </a:solidFill>
              </a:rPr>
              <a:t>of customer demand went unserved in the last 52 weeks: products ran out of stock</a:t>
            </a:r>
            <a:endParaRPr lang="en-US" sz="1300" dirty="0"/>
          </a:p>
        </p:txBody>
      </p:sp>
      <p:sp>
        <p:nvSpPr>
          <p:cNvPr id="8" name="Stat card"/>
          <p:cNvSpPr/>
          <p:nvPr/>
        </p:nvSpPr>
        <p:spPr>
          <a:xfrm>
            <a:off x="3337560" y="1783080"/>
            <a:ext cx="2606040" cy="2331720"/>
          </a:xfrm>
          <a:prstGeom prst="roundRect">
            <a:avLst>
              <a:gd name="adj" fmla="val 3137"/>
            </a:avLst>
          </a:prstGeom>
          <a:solidFill>
            <a:srgbClr val="F2F6FB"/>
          </a:solidFill>
          <a:ln w="12700">
            <a:solidFill>
              <a:srgbClr val="F2F6FB"/>
            </a:solidFill>
            <a:prstDash val="solid"/>
          </a:ln>
        </p:spPr>
      </p:sp>
      <p:sp>
        <p:nvSpPr>
          <p:cNvPr id="9" name="Text 6"/>
          <p:cNvSpPr txBox="1"/>
          <p:nvPr/>
        </p:nvSpPr>
        <p:spPr>
          <a:xfrm>
            <a:off x="3474720" y="1856232"/>
            <a:ext cx="2331720" cy="1049274"/>
          </a:xfrm>
          <a:prstGeom prst="rect">
            <a:avLst/>
          </a:prstGeom>
          <a:noFill/>
          <a:ln/>
        </p:spPr>
        <p:txBody>
          <a:bodyPr wrap="square" lIns="0" tIns="0" rIns="0" bIns="0" rtlCol="0" anchor="ctr"/>
          <a:lstStyle/>
          <a:p>
            <a:pPr indent="0" marL="0">
              <a:buNone/>
            </a:pPr>
            <a:r>
              <a:rPr lang="en-US" sz="4000" b="1" dirty="0">
                <a:solidFill>
                  <a:srgbClr val="2A78D6"/>
                </a:solidFill>
                <a:latin typeface="Cambria" pitchFamily="34" charset="0"/>
                <a:ea typeface="Cambria" pitchFamily="34" charset="-122"/>
                <a:cs typeface="Cambria" pitchFamily="34" charset="-120"/>
              </a:rPr>
              <a:t>4.6%</a:t>
            </a:r>
            <a:endParaRPr lang="en-US" sz="4000" dirty="0"/>
          </a:p>
        </p:txBody>
      </p:sp>
      <p:sp>
        <p:nvSpPr>
          <p:cNvPr id="10" name="Text 7"/>
          <p:cNvSpPr txBox="1"/>
          <p:nvPr/>
        </p:nvSpPr>
        <p:spPr>
          <a:xfrm>
            <a:off x="3474720" y="2995574"/>
            <a:ext cx="2331720" cy="1072591"/>
          </a:xfrm>
          <a:prstGeom prst="rect">
            <a:avLst/>
          </a:prstGeom>
          <a:noFill/>
          <a:ln/>
        </p:spPr>
        <p:txBody>
          <a:bodyPr wrap="square" lIns="0" tIns="0" rIns="0" bIns="0" rtlCol="0" anchor="t"/>
          <a:lstStyle/>
          <a:p>
            <a:pPr indent="0" marL="0">
              <a:buNone/>
            </a:pPr>
            <a:r>
              <a:rPr lang="en-US" sz="1300" dirty="0">
                <a:solidFill>
                  <a:srgbClr val="5B6B80"/>
                </a:solidFill>
              </a:rPr>
              <a:t>average forecast miss (WAPE) for the next 26 weeks, 13% better than the best simple rule</a:t>
            </a:r>
            <a:endParaRPr lang="en-US" sz="1300" dirty="0"/>
          </a:p>
        </p:txBody>
      </p:sp>
      <p:sp>
        <p:nvSpPr>
          <p:cNvPr id="11" name="Stat card"/>
          <p:cNvSpPr/>
          <p:nvPr/>
        </p:nvSpPr>
        <p:spPr>
          <a:xfrm>
            <a:off x="6126480" y="1783080"/>
            <a:ext cx="2606040" cy="2331720"/>
          </a:xfrm>
          <a:prstGeom prst="roundRect">
            <a:avLst>
              <a:gd name="adj" fmla="val 3137"/>
            </a:avLst>
          </a:prstGeom>
          <a:solidFill>
            <a:srgbClr val="F2F6FB"/>
          </a:solidFill>
          <a:ln w="12700">
            <a:solidFill>
              <a:srgbClr val="F2F6FB"/>
            </a:solidFill>
            <a:prstDash val="solid"/>
          </a:ln>
        </p:spPr>
      </p:sp>
      <p:sp>
        <p:nvSpPr>
          <p:cNvPr id="12" name="Text 9"/>
          <p:cNvSpPr txBox="1"/>
          <p:nvPr/>
        </p:nvSpPr>
        <p:spPr>
          <a:xfrm>
            <a:off x="6263640" y="1856232"/>
            <a:ext cx="2331720" cy="1049274"/>
          </a:xfrm>
          <a:prstGeom prst="rect">
            <a:avLst/>
          </a:prstGeom>
          <a:noFill/>
          <a:ln/>
        </p:spPr>
        <p:txBody>
          <a:bodyPr wrap="square" lIns="0" tIns="0" rIns="0" bIns="0" rtlCol="0" anchor="ctr"/>
          <a:lstStyle/>
          <a:p>
            <a:pPr indent="0" marL="0">
              <a:buNone/>
            </a:pPr>
            <a:r>
              <a:rPr lang="en-US" sz="4000" b="1" dirty="0">
                <a:solidFill>
                  <a:srgbClr val="D03B3B"/>
                </a:solidFill>
                <a:latin typeface="Cambria" pitchFamily="34" charset="0"/>
                <a:ea typeface="Cambria" pitchFamily="34" charset="-122"/>
                <a:cs typeface="Cambria" pitchFamily="34" charset="-120"/>
              </a:rPr>
              <a:t>$10.8M</a:t>
            </a:r>
            <a:endParaRPr lang="en-US" sz="4000" dirty="0"/>
          </a:p>
        </p:txBody>
      </p:sp>
      <p:sp>
        <p:nvSpPr>
          <p:cNvPr id="13" name="Text 10"/>
          <p:cNvSpPr txBox="1"/>
          <p:nvPr/>
        </p:nvSpPr>
        <p:spPr>
          <a:xfrm>
            <a:off x="6263640" y="2995574"/>
            <a:ext cx="2331720" cy="1072591"/>
          </a:xfrm>
          <a:prstGeom prst="rect">
            <a:avLst/>
          </a:prstGeom>
          <a:noFill/>
          <a:ln/>
        </p:spPr>
        <p:txBody>
          <a:bodyPr wrap="square" lIns="0" tIns="0" rIns="0" bIns="0" rtlCol="0" anchor="t"/>
          <a:lstStyle/>
          <a:p>
            <a:pPr indent="0" marL="0">
              <a:buNone/>
            </a:pPr>
            <a:r>
              <a:rPr lang="en-US" sz="1300" dirty="0">
                <a:solidFill>
                  <a:srgbClr val="5B6B80"/>
                </a:solidFill>
              </a:rPr>
              <a:t>tied up in 5 over-stocked products, while the other products sell out</a:t>
            </a:r>
            <a:endParaRPr lang="en-US" sz="1300" dirty="0"/>
          </a:p>
        </p:txBody>
      </p:sp>
      <p:sp>
        <p:nvSpPr>
          <p:cNvPr id="14" name="Stat card"/>
          <p:cNvSpPr/>
          <p:nvPr/>
        </p:nvSpPr>
        <p:spPr>
          <a:xfrm>
            <a:off x="8915400" y="1783080"/>
            <a:ext cx="2606040" cy="2331720"/>
          </a:xfrm>
          <a:prstGeom prst="roundRect">
            <a:avLst>
              <a:gd name="adj" fmla="val 3137"/>
            </a:avLst>
          </a:prstGeom>
          <a:solidFill>
            <a:srgbClr val="F2F6FB"/>
          </a:solidFill>
          <a:ln w="12700">
            <a:solidFill>
              <a:srgbClr val="F2F6FB"/>
            </a:solidFill>
            <a:prstDash val="solid"/>
          </a:ln>
        </p:spPr>
      </p:sp>
      <p:sp>
        <p:nvSpPr>
          <p:cNvPr id="15" name="Text 12"/>
          <p:cNvSpPr txBox="1"/>
          <p:nvPr/>
        </p:nvSpPr>
        <p:spPr>
          <a:xfrm>
            <a:off x="9052560" y="1856232"/>
            <a:ext cx="2331720" cy="1049274"/>
          </a:xfrm>
          <a:prstGeom prst="rect">
            <a:avLst/>
          </a:prstGeom>
          <a:noFill/>
          <a:ln/>
        </p:spPr>
        <p:txBody>
          <a:bodyPr wrap="square" lIns="0" tIns="0" rIns="0" bIns="0" rtlCol="0" anchor="ctr"/>
          <a:lstStyle/>
          <a:p>
            <a:pPr indent="0" marL="0">
              <a:buNone/>
            </a:pPr>
            <a:r>
              <a:rPr lang="en-US" sz="4000" b="1" dirty="0">
                <a:solidFill>
                  <a:srgbClr val="1BAF7A"/>
                </a:solidFill>
                <a:latin typeface="Cambria" pitchFamily="34" charset="0"/>
                <a:ea typeface="Cambria" pitchFamily="34" charset="-122"/>
                <a:cs typeface="Cambria" pitchFamily="34" charset="-120"/>
              </a:rPr>
              <a:t>+$1.3M</a:t>
            </a:r>
            <a:endParaRPr lang="en-US" sz="4000" dirty="0"/>
          </a:p>
        </p:txBody>
      </p:sp>
      <p:sp>
        <p:nvSpPr>
          <p:cNvPr id="16" name="Text 13"/>
          <p:cNvSpPr txBox="1"/>
          <p:nvPr/>
        </p:nvSpPr>
        <p:spPr>
          <a:xfrm>
            <a:off x="9052560" y="2995574"/>
            <a:ext cx="2331720" cy="1072591"/>
          </a:xfrm>
          <a:prstGeom prst="rect">
            <a:avLst/>
          </a:prstGeom>
          <a:noFill/>
          <a:ln/>
        </p:spPr>
        <p:txBody>
          <a:bodyPr wrap="square" lIns="0" tIns="0" rIns="0" bIns="0" rtlCol="0" anchor="t"/>
          <a:lstStyle/>
          <a:p>
            <a:pPr indent="0" marL="0">
              <a:buNone/>
            </a:pPr>
            <a:r>
              <a:rPr lang="en-US" sz="1300" dirty="0">
                <a:solidFill>
                  <a:srgbClr val="5B6B80"/>
                </a:solidFill>
              </a:rPr>
              <a:t>extra profit in 26 weeks from stock-aware pricing (range $1.2M to $1.3M)</a:t>
            </a:r>
            <a:endParaRPr lang="en-US" sz="1300" dirty="0"/>
          </a:p>
        </p:txBody>
      </p:sp>
      <p:sp>
        <p:nvSpPr>
          <p:cNvPr id="17" name="Text 14"/>
          <p:cNvSpPr txBox="1"/>
          <p:nvPr/>
        </p:nvSpPr>
        <p:spPr>
          <a:xfrm>
            <a:off x="548640" y="4434840"/>
            <a:ext cx="11064240" cy="1737360"/>
          </a:xfrm>
          <a:prstGeom prst="rect">
            <a:avLst/>
          </a:prstGeom>
          <a:noFill/>
          <a:ln/>
        </p:spPr>
        <p:txBody>
          <a:bodyPr wrap="square" lIns="0" tIns="0" rIns="0" bIns="0" rtlCol="0" anchor="t"/>
          <a:lstStyle/>
          <a:p>
            <a:pPr marL="203200" indent="-203200">
              <a:spcAft>
                <a:spcPts val="800"/>
              </a:spcAft>
              <a:buSzPct val="100000"/>
              <a:buChar char="•"/>
            </a:pPr>
            <a:r>
              <a:rPr lang="en-US" sz="1700" b="1" dirty="0">
                <a:solidFill>
                  <a:srgbClr val="1B2A41"/>
                </a:solidFill>
              </a:rPr>
              <a:t>What it means: </a:t>
            </a:r>
            <a:pPr indent="0" marL="0">
              <a:spcAft>
                <a:spcPts val="800"/>
              </a:spcAft>
              <a:buNone/>
            </a:pPr>
            <a:r>
              <a:rPr lang="en-US" sz="1700" dirty="0">
                <a:solidFill>
                  <a:srgbClr val="1B2A41"/>
                </a:solidFill>
              </a:rPr>
              <a:t>customers want more than we can serve, so the money is in stock planning first and pricing second.</a:t>
            </a:r>
            <a:endParaRPr lang="en-US" sz="1700" dirty="0"/>
          </a:p>
          <a:p>
            <a:pPr marL="203200" indent="-203200">
              <a:spcAft>
                <a:spcPts val="800"/>
              </a:spcAft>
              <a:buSzPct val="100000"/>
              <a:buChar char="•"/>
            </a:pPr>
            <a:r>
              <a:rPr lang="en-US" sz="1700" b="1" dirty="0">
                <a:solidFill>
                  <a:srgbClr val="1B2A41"/>
                </a:solidFill>
              </a:rPr>
              <a:t>What we built: </a:t>
            </a:r>
            <a:pPr indent="0" marL="0">
              <a:spcAft>
                <a:spcPts val="800"/>
              </a:spcAft>
              <a:buNone/>
            </a:pPr>
            <a:r>
              <a:rPr lang="en-US" sz="1700" dirty="0">
                <a:solidFill>
                  <a:srgbClr val="1B2A41"/>
                </a:solidFill>
              </a:rPr>
              <a:t>a clean database, a forecast engine, a manager dashboard with alerts, and a rule-based pricing framework with safety limits.</a:t>
            </a:r>
            <a:endParaRPr lang="en-US" sz="1700" dirty="0"/>
          </a:p>
          <a:p>
            <a:pPr marL="203200" indent="-203200">
              <a:spcAft>
                <a:spcPts val="800"/>
              </a:spcAft>
              <a:buSzPct val="100000"/>
              <a:buChar char="•"/>
            </a:pPr>
            <a:r>
              <a:rPr lang="en-US" sz="1700" b="1" dirty="0">
                <a:solidFill>
                  <a:srgbClr val="1B2A41"/>
                </a:solidFill>
              </a:rPr>
              <a:t>What we ask: </a:t>
            </a:r>
            <a:pPr indent="0" marL="0">
              <a:spcAft>
                <a:spcPts val="800"/>
              </a:spcAft>
              <a:buNone/>
            </a:pPr>
            <a:r>
              <a:rPr lang="en-US" sz="1700" dirty="0">
                <a:solidFill>
                  <a:srgbClr val="1B2A41"/>
                </a:solidFill>
              </a:rPr>
              <a:t>stop buying the five over-stocked products, raise cover for the lean ones, and run a short pricing pilot before roll-out.</a:t>
            </a:r>
            <a:endParaRPr lang="en-US" sz="17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DATA ENGINEERING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 pipeline that never loses or hides information</a:t>
            </a:r>
            <a:endParaRPr lang="en-US" sz="3000" dirty="0"/>
          </a:p>
        </p:txBody>
      </p:sp>
      <p:sp>
        <p:nvSpPr>
          <p:cNvPr id="5" name="Pipeline step"/>
          <p:cNvSpPr/>
          <p:nvPr/>
        </p:nvSpPr>
        <p:spPr>
          <a:xfrm>
            <a:off x="548640" y="1645920"/>
            <a:ext cx="2103120" cy="1965960"/>
          </a:xfrm>
          <a:prstGeom prst="roundRect">
            <a:avLst>
              <a:gd name="adj" fmla="val 3721"/>
            </a:avLst>
          </a:prstGeom>
          <a:solidFill>
            <a:srgbClr val="F2F6FB"/>
          </a:solidFill>
          <a:ln w="12700">
            <a:solidFill>
              <a:srgbClr val="D9E1EC"/>
            </a:solidFill>
            <a:prstDash val="solid"/>
          </a:ln>
        </p:spPr>
      </p:sp>
      <p:sp>
        <p:nvSpPr>
          <p:cNvPr id="6" name="Step number"/>
          <p:cNvSpPr/>
          <p:nvPr/>
        </p:nvSpPr>
        <p:spPr>
          <a:xfrm>
            <a:off x="685800" y="1755648"/>
            <a:ext cx="384048" cy="384048"/>
          </a:xfrm>
          <a:prstGeom prst="ellipse">
            <a:avLst/>
          </a:prstGeom>
          <a:solidFill>
            <a:srgbClr val="2A78D6"/>
          </a:solidFill>
          <a:ln w="12700">
            <a:solidFill>
              <a:srgbClr val="FFFFFF"/>
            </a:solidFill>
            <a:prstDash val="solid"/>
          </a:ln>
        </p:spPr>
      </p:sp>
      <p:sp>
        <p:nvSpPr>
          <p:cNvPr id="7" name="Text 4"/>
          <p:cNvSpPr txBox="1"/>
          <p:nvPr/>
        </p:nvSpPr>
        <p:spPr>
          <a:xfrm>
            <a:off x="6858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143000"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Extract and check</a:t>
            </a:r>
            <a:endParaRPr lang="en-US" sz="1400" dirty="0"/>
          </a:p>
        </p:txBody>
      </p:sp>
      <p:sp>
        <p:nvSpPr>
          <p:cNvPr id="9" name="Text 6"/>
          <p:cNvSpPr txBox="1"/>
          <p:nvPr/>
        </p:nvSpPr>
        <p:spPr>
          <a:xfrm>
            <a:off x="685800"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schema, types, untouched raw copy kept</a:t>
            </a:r>
            <a:endParaRPr lang="en-US" sz="1200" dirty="0"/>
          </a:p>
        </p:txBody>
      </p:sp>
      <p:sp>
        <p:nvSpPr>
          <p:cNvPr id="10" name="Text 7"/>
          <p:cNvSpPr txBox="1"/>
          <p:nvPr/>
        </p:nvSpPr>
        <p:spPr>
          <a:xfrm>
            <a:off x="685800"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nothing is ever lost</a:t>
            </a:r>
            <a:endParaRPr lang="en-US" sz="1200" dirty="0"/>
          </a:p>
        </p:txBody>
      </p:sp>
      <p:sp>
        <p:nvSpPr>
          <p:cNvPr id="11" name="Flow arrow"/>
          <p:cNvSpPr/>
          <p:nvPr/>
        </p:nvSpPr>
        <p:spPr>
          <a:xfrm>
            <a:off x="2651760" y="2606040"/>
            <a:ext cx="128016" cy="0"/>
          </a:xfrm>
          <a:prstGeom prst="line">
            <a:avLst/>
          </a:prstGeom>
          <a:noFill/>
          <a:ln w="19050">
            <a:solidFill>
              <a:srgbClr val="8A8F98"/>
            </a:solidFill>
            <a:prstDash val="solid"/>
            <a:tailEnd type="triangle"/>
          </a:ln>
        </p:spPr>
      </p:sp>
      <p:sp>
        <p:nvSpPr>
          <p:cNvPr id="12" name="Pipeline step"/>
          <p:cNvSpPr/>
          <p:nvPr/>
        </p:nvSpPr>
        <p:spPr>
          <a:xfrm>
            <a:off x="2779776" y="1645920"/>
            <a:ext cx="2103120" cy="1965960"/>
          </a:xfrm>
          <a:prstGeom prst="roundRect">
            <a:avLst>
              <a:gd name="adj" fmla="val 3721"/>
            </a:avLst>
          </a:prstGeom>
          <a:solidFill>
            <a:srgbClr val="F2F6FB"/>
          </a:solidFill>
          <a:ln w="12700">
            <a:solidFill>
              <a:srgbClr val="D9E1EC"/>
            </a:solidFill>
            <a:prstDash val="solid"/>
          </a:ln>
        </p:spPr>
      </p:sp>
      <p:sp>
        <p:nvSpPr>
          <p:cNvPr id="13" name="Step number"/>
          <p:cNvSpPr/>
          <p:nvPr/>
        </p:nvSpPr>
        <p:spPr>
          <a:xfrm>
            <a:off x="2916936" y="1755648"/>
            <a:ext cx="384048" cy="384048"/>
          </a:xfrm>
          <a:prstGeom prst="ellipse">
            <a:avLst/>
          </a:prstGeom>
          <a:solidFill>
            <a:srgbClr val="2A78D6"/>
          </a:solidFill>
          <a:ln w="12700">
            <a:solidFill>
              <a:srgbClr val="FFFFFF"/>
            </a:solidFill>
            <a:prstDash val="solid"/>
          </a:ln>
        </p:spPr>
      </p:sp>
      <p:sp>
        <p:nvSpPr>
          <p:cNvPr id="14" name="Text 11"/>
          <p:cNvSpPr txBox="1"/>
          <p:nvPr/>
        </p:nvSpPr>
        <p:spPr>
          <a:xfrm>
            <a:off x="2916936"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5" name="Text 12"/>
          <p:cNvSpPr txBox="1"/>
          <p:nvPr/>
        </p:nvSpPr>
        <p:spPr>
          <a:xfrm>
            <a:off x="3374136"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Validate</a:t>
            </a:r>
            <a:endParaRPr lang="en-US" sz="1400" dirty="0"/>
          </a:p>
        </p:txBody>
      </p:sp>
      <p:sp>
        <p:nvSpPr>
          <p:cNvPr id="16" name="Text 13"/>
          <p:cNvSpPr txBox="1"/>
          <p:nvPr/>
        </p:nvSpPr>
        <p:spPr>
          <a:xfrm>
            <a:off x="2916936"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typed exceptions, bad rows to quarantine</a:t>
            </a:r>
            <a:endParaRPr lang="en-US" sz="1200" dirty="0"/>
          </a:p>
        </p:txBody>
      </p:sp>
      <p:sp>
        <p:nvSpPr>
          <p:cNvPr id="17" name="Text 14"/>
          <p:cNvSpPr txBox="1"/>
          <p:nvPr/>
        </p:nvSpPr>
        <p:spPr>
          <a:xfrm>
            <a:off x="2916936"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fatal errors stop the load</a:t>
            </a:r>
            <a:endParaRPr lang="en-US" sz="1200" dirty="0"/>
          </a:p>
        </p:txBody>
      </p:sp>
      <p:sp>
        <p:nvSpPr>
          <p:cNvPr id="18" name="Flow arrow"/>
          <p:cNvSpPr/>
          <p:nvPr/>
        </p:nvSpPr>
        <p:spPr>
          <a:xfrm>
            <a:off x="4882896" y="2606040"/>
            <a:ext cx="128016" cy="0"/>
          </a:xfrm>
          <a:prstGeom prst="line">
            <a:avLst/>
          </a:prstGeom>
          <a:noFill/>
          <a:ln w="19050">
            <a:solidFill>
              <a:srgbClr val="8A8F98"/>
            </a:solidFill>
            <a:prstDash val="solid"/>
            <a:tailEnd type="triangle"/>
          </a:ln>
        </p:spPr>
      </p:sp>
      <p:sp>
        <p:nvSpPr>
          <p:cNvPr id="19" name="Pipeline step"/>
          <p:cNvSpPr/>
          <p:nvPr/>
        </p:nvSpPr>
        <p:spPr>
          <a:xfrm>
            <a:off x="5010912" y="1645920"/>
            <a:ext cx="2103120" cy="1965960"/>
          </a:xfrm>
          <a:prstGeom prst="roundRect">
            <a:avLst>
              <a:gd name="adj" fmla="val 3721"/>
            </a:avLst>
          </a:prstGeom>
          <a:solidFill>
            <a:srgbClr val="F2F6FB"/>
          </a:solidFill>
          <a:ln w="12700">
            <a:solidFill>
              <a:srgbClr val="D9E1EC"/>
            </a:solidFill>
            <a:prstDash val="solid"/>
          </a:ln>
        </p:spPr>
      </p:sp>
      <p:sp>
        <p:nvSpPr>
          <p:cNvPr id="20" name="Step number"/>
          <p:cNvSpPr/>
          <p:nvPr/>
        </p:nvSpPr>
        <p:spPr>
          <a:xfrm>
            <a:off x="5148072" y="1755648"/>
            <a:ext cx="384048" cy="384048"/>
          </a:xfrm>
          <a:prstGeom prst="ellipse">
            <a:avLst/>
          </a:prstGeom>
          <a:solidFill>
            <a:srgbClr val="2A78D6"/>
          </a:solidFill>
          <a:ln w="12700">
            <a:solidFill>
              <a:srgbClr val="FFFFFF"/>
            </a:solidFill>
            <a:prstDash val="solid"/>
          </a:ln>
        </p:spPr>
      </p:sp>
      <p:sp>
        <p:nvSpPr>
          <p:cNvPr id="21" name="Text 18"/>
          <p:cNvSpPr txBox="1"/>
          <p:nvPr/>
        </p:nvSpPr>
        <p:spPr>
          <a:xfrm>
            <a:off x="5148072"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2" name="Text 19"/>
          <p:cNvSpPr txBox="1"/>
          <p:nvPr/>
        </p:nvSpPr>
        <p:spPr>
          <a:xfrm>
            <a:off x="5605272"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Clean</a:t>
            </a:r>
            <a:endParaRPr lang="en-US" sz="1400" dirty="0"/>
          </a:p>
        </p:txBody>
      </p:sp>
      <p:sp>
        <p:nvSpPr>
          <p:cNvPr id="23" name="Text 20"/>
          <p:cNvSpPr txBox="1"/>
          <p:nvPr/>
        </p:nvSpPr>
        <p:spPr>
          <a:xfrm>
            <a:off x="5148072"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39 exact duplicates dropped, infinite growth values nulled</a:t>
            </a:r>
            <a:endParaRPr lang="en-US" sz="1200" dirty="0"/>
          </a:p>
        </p:txBody>
      </p:sp>
      <p:sp>
        <p:nvSpPr>
          <p:cNvPr id="24" name="Text 21"/>
          <p:cNvSpPr txBox="1"/>
          <p:nvPr/>
        </p:nvSpPr>
        <p:spPr>
          <a:xfrm>
            <a:off x="5148072"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repeats would double count</a:t>
            </a:r>
            <a:endParaRPr lang="en-US" sz="1200" dirty="0"/>
          </a:p>
        </p:txBody>
      </p:sp>
      <p:sp>
        <p:nvSpPr>
          <p:cNvPr id="25" name="Flow arrow"/>
          <p:cNvSpPr/>
          <p:nvPr/>
        </p:nvSpPr>
        <p:spPr>
          <a:xfrm>
            <a:off x="7114032" y="2606040"/>
            <a:ext cx="128016" cy="0"/>
          </a:xfrm>
          <a:prstGeom prst="line">
            <a:avLst/>
          </a:prstGeom>
          <a:noFill/>
          <a:ln w="19050">
            <a:solidFill>
              <a:srgbClr val="8A8F98"/>
            </a:solidFill>
            <a:prstDash val="solid"/>
            <a:tailEnd type="triangle"/>
          </a:ln>
        </p:spPr>
      </p:sp>
      <p:sp>
        <p:nvSpPr>
          <p:cNvPr id="26" name="Pipeline step"/>
          <p:cNvSpPr/>
          <p:nvPr/>
        </p:nvSpPr>
        <p:spPr>
          <a:xfrm>
            <a:off x="7242048" y="1645920"/>
            <a:ext cx="2103120" cy="1965960"/>
          </a:xfrm>
          <a:prstGeom prst="roundRect">
            <a:avLst>
              <a:gd name="adj" fmla="val 3721"/>
            </a:avLst>
          </a:prstGeom>
          <a:solidFill>
            <a:srgbClr val="F2F6FB"/>
          </a:solidFill>
          <a:ln w="12700">
            <a:solidFill>
              <a:srgbClr val="D9E1EC"/>
            </a:solidFill>
            <a:prstDash val="solid"/>
          </a:ln>
        </p:spPr>
      </p:sp>
      <p:sp>
        <p:nvSpPr>
          <p:cNvPr id="27" name="Step number"/>
          <p:cNvSpPr/>
          <p:nvPr/>
        </p:nvSpPr>
        <p:spPr>
          <a:xfrm>
            <a:off x="7379208" y="1755648"/>
            <a:ext cx="384048" cy="384048"/>
          </a:xfrm>
          <a:prstGeom prst="ellipse">
            <a:avLst/>
          </a:prstGeom>
          <a:solidFill>
            <a:srgbClr val="2A78D6"/>
          </a:solidFill>
          <a:ln w="12700">
            <a:solidFill>
              <a:srgbClr val="FFFFFF"/>
            </a:solidFill>
            <a:prstDash val="solid"/>
          </a:ln>
        </p:spPr>
      </p:sp>
      <p:sp>
        <p:nvSpPr>
          <p:cNvPr id="28" name="Text 25"/>
          <p:cNvSpPr txBox="1"/>
          <p:nvPr/>
        </p:nvSpPr>
        <p:spPr>
          <a:xfrm>
            <a:off x="737920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9" name="Text 26"/>
          <p:cNvSpPr txBox="1"/>
          <p:nvPr/>
        </p:nvSpPr>
        <p:spPr>
          <a:xfrm>
            <a:off x="7836408"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Recover and flag</a:t>
            </a:r>
            <a:endParaRPr lang="en-US" sz="1400" dirty="0"/>
          </a:p>
        </p:txBody>
      </p:sp>
      <p:sp>
        <p:nvSpPr>
          <p:cNvPr id="30" name="Text 27"/>
          <p:cNvSpPr txBox="1"/>
          <p:nvPr/>
        </p:nvSpPr>
        <p:spPr>
          <a:xfrm>
            <a:off x="7379208"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16 missing sales = revenue / price; odd rows flagged</a:t>
            </a:r>
            <a:endParaRPr lang="en-US" sz="1200" dirty="0"/>
          </a:p>
        </p:txBody>
      </p:sp>
      <p:sp>
        <p:nvSpPr>
          <p:cNvPr id="31" name="Text 28"/>
          <p:cNvSpPr txBox="1"/>
          <p:nvPr/>
        </p:nvSpPr>
        <p:spPr>
          <a:xfrm>
            <a:off x="7379208"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information is kept, not erased</a:t>
            </a:r>
            <a:endParaRPr lang="en-US" sz="1200" dirty="0"/>
          </a:p>
        </p:txBody>
      </p:sp>
      <p:sp>
        <p:nvSpPr>
          <p:cNvPr id="32" name="Flow arrow"/>
          <p:cNvSpPr/>
          <p:nvPr/>
        </p:nvSpPr>
        <p:spPr>
          <a:xfrm>
            <a:off x="9345168" y="2606040"/>
            <a:ext cx="128016" cy="0"/>
          </a:xfrm>
          <a:prstGeom prst="line">
            <a:avLst/>
          </a:prstGeom>
          <a:noFill/>
          <a:ln w="19050">
            <a:solidFill>
              <a:srgbClr val="8A8F98"/>
            </a:solidFill>
            <a:prstDash val="solid"/>
            <a:tailEnd type="triangle"/>
          </a:ln>
        </p:spPr>
      </p:sp>
      <p:sp>
        <p:nvSpPr>
          <p:cNvPr id="33" name="Pipeline step"/>
          <p:cNvSpPr/>
          <p:nvPr/>
        </p:nvSpPr>
        <p:spPr>
          <a:xfrm>
            <a:off x="9473184" y="1645920"/>
            <a:ext cx="2103120" cy="1965960"/>
          </a:xfrm>
          <a:prstGeom prst="roundRect">
            <a:avLst>
              <a:gd name="adj" fmla="val 3721"/>
            </a:avLst>
          </a:prstGeom>
          <a:solidFill>
            <a:srgbClr val="F2F6FB"/>
          </a:solidFill>
          <a:ln w="12700">
            <a:solidFill>
              <a:srgbClr val="D9E1EC"/>
            </a:solidFill>
            <a:prstDash val="solid"/>
          </a:ln>
        </p:spPr>
      </p:sp>
      <p:sp>
        <p:nvSpPr>
          <p:cNvPr id="34" name="Step number"/>
          <p:cNvSpPr/>
          <p:nvPr/>
        </p:nvSpPr>
        <p:spPr>
          <a:xfrm>
            <a:off x="9610344" y="1755648"/>
            <a:ext cx="384048" cy="384048"/>
          </a:xfrm>
          <a:prstGeom prst="ellipse">
            <a:avLst/>
          </a:prstGeom>
          <a:solidFill>
            <a:srgbClr val="2A78D6"/>
          </a:solidFill>
          <a:ln w="12700">
            <a:solidFill>
              <a:srgbClr val="FFFFFF"/>
            </a:solidFill>
            <a:prstDash val="solid"/>
          </a:ln>
        </p:spPr>
      </p:sp>
      <p:sp>
        <p:nvSpPr>
          <p:cNvPr id="35" name="Text 32"/>
          <p:cNvSpPr txBox="1"/>
          <p:nvPr/>
        </p:nvSpPr>
        <p:spPr>
          <a:xfrm>
            <a:off x="961034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6" name="Text 33"/>
          <p:cNvSpPr txBox="1"/>
          <p:nvPr/>
        </p:nvSpPr>
        <p:spPr>
          <a:xfrm>
            <a:off x="10067544" y="1755648"/>
            <a:ext cx="1463040" cy="384048"/>
          </a:xfrm>
          <a:prstGeom prst="rect">
            <a:avLst/>
          </a:prstGeom>
          <a:noFill/>
          <a:ln/>
        </p:spPr>
        <p:txBody>
          <a:bodyPr wrap="square" lIns="0" tIns="0" rIns="0" bIns="0" rtlCol="0" anchor="ctr"/>
          <a:lstStyle/>
          <a:p>
            <a:pPr indent="0" marL="0">
              <a:buNone/>
            </a:pPr>
            <a:r>
              <a:rPr lang="en-US" sz="1400" b="1" dirty="0">
                <a:solidFill>
                  <a:schemeClr val="tx1"/>
                </a:solidFill>
              </a:rPr>
              <a:t>Load</a:t>
            </a:r>
            <a:endParaRPr lang="en-US" sz="1400" dirty="0"/>
          </a:p>
        </p:txBody>
      </p:sp>
      <p:sp>
        <p:nvSpPr>
          <p:cNvPr id="37" name="Text 34"/>
          <p:cNvSpPr txBox="1"/>
          <p:nvPr/>
        </p:nvSpPr>
        <p:spPr>
          <a:xfrm>
            <a:off x="9610344" y="2240280"/>
            <a:ext cx="1828800" cy="777240"/>
          </a:xfrm>
          <a:prstGeom prst="rect">
            <a:avLst/>
          </a:prstGeom>
          <a:noFill/>
          <a:ln/>
        </p:spPr>
        <p:txBody>
          <a:bodyPr wrap="square" lIns="0" tIns="0" rIns="0" bIns="0" rtlCol="0" anchor="t"/>
          <a:lstStyle/>
          <a:p>
            <a:pPr indent="0" marL="0">
              <a:buNone/>
            </a:pPr>
            <a:r>
              <a:rPr lang="en-US" sz="1200" dirty="0">
                <a:solidFill>
                  <a:srgbClr val="1B2A41"/>
                </a:solidFill>
              </a:rPr>
              <a:t>star schema in one transaction, run log</a:t>
            </a:r>
            <a:endParaRPr lang="en-US" sz="1200" dirty="0"/>
          </a:p>
        </p:txBody>
      </p:sp>
      <p:sp>
        <p:nvSpPr>
          <p:cNvPr id="38" name="Text 35"/>
          <p:cNvSpPr txBox="1"/>
          <p:nvPr/>
        </p:nvSpPr>
        <p:spPr>
          <a:xfrm>
            <a:off x="9610344" y="3017520"/>
            <a:ext cx="1828800" cy="502920"/>
          </a:xfrm>
          <a:prstGeom prst="rect">
            <a:avLst/>
          </a:prstGeom>
          <a:noFill/>
          <a:ln/>
        </p:spPr>
        <p:txBody>
          <a:bodyPr wrap="square" lIns="0" tIns="0" rIns="0" bIns="0" rtlCol="0" anchor="t"/>
          <a:lstStyle/>
          <a:p>
            <a:pPr indent="0" marL="0">
              <a:buNone/>
            </a:pPr>
            <a:r>
              <a:rPr lang="en-US" sz="1200" i="1" dirty="0">
                <a:solidFill>
                  <a:srgbClr val="5B6B80"/>
                </a:solidFill>
              </a:rPr>
              <a:t>Why: repeatable and auditable</a:t>
            </a:r>
            <a:endParaRPr lang="en-US" sz="1200" dirty="0"/>
          </a:p>
        </p:txBody>
      </p:sp>
      <p:graphicFrame>
        <p:nvGraphicFramePr>
          <p:cNvPr id="39" name="Chart 0" descr=""/>
          <p:cNvGraphicFramePr/>
          <p:nvPr/>
        </p:nvGraphicFramePr>
        <p:xfrm>
          <a:off x="548640" y="3749040"/>
          <a:ext cx="6675120" cy="2606040"/>
        </p:xfrm>
        <a:graphic xmlns:a="http://schemas.openxmlformats.org/drawingml/2006/main">
          <a:graphicData uri="http://schemas.openxmlformats.org/drawingml/2006/chart">
            <c:chart xmlns:c="http://schemas.openxmlformats.org/drawingml/2006/chart" r:id="rId1"/>
          </a:graphicData>
        </a:graphic>
      </p:graphicFrame>
      <p:sp>
        <p:nvSpPr>
          <p:cNvPr id="40" name="Stat card"/>
          <p:cNvSpPr/>
          <p:nvPr/>
        </p:nvSpPr>
        <p:spPr>
          <a:xfrm>
            <a:off x="7498080" y="3840480"/>
            <a:ext cx="1920240" cy="1188720"/>
          </a:xfrm>
          <a:prstGeom prst="roundRect">
            <a:avLst>
              <a:gd name="adj" fmla="val 6154"/>
            </a:avLst>
          </a:prstGeom>
          <a:solidFill>
            <a:srgbClr val="F2F6FB"/>
          </a:solidFill>
          <a:ln w="12700">
            <a:solidFill>
              <a:srgbClr val="F2F6FB"/>
            </a:solidFill>
            <a:prstDash val="solid"/>
          </a:ln>
        </p:spPr>
      </p:sp>
      <p:sp>
        <p:nvSpPr>
          <p:cNvPr id="41" name="Text 37"/>
          <p:cNvSpPr txBox="1"/>
          <p:nvPr/>
        </p:nvSpPr>
        <p:spPr>
          <a:xfrm>
            <a:off x="7635240" y="3913632"/>
            <a:ext cx="1645920" cy="534924"/>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7,800</a:t>
            </a:r>
            <a:endParaRPr lang="en-US" sz="2600" dirty="0"/>
          </a:p>
        </p:txBody>
      </p:sp>
      <p:sp>
        <p:nvSpPr>
          <p:cNvPr id="42" name="Text 38"/>
          <p:cNvSpPr txBox="1"/>
          <p:nvPr/>
        </p:nvSpPr>
        <p:spPr>
          <a:xfrm>
            <a:off x="7635240" y="4458614"/>
            <a:ext cx="1645920" cy="546811"/>
          </a:xfrm>
          <a:prstGeom prst="rect">
            <a:avLst/>
          </a:prstGeom>
          <a:noFill/>
          <a:ln/>
        </p:spPr>
        <p:txBody>
          <a:bodyPr wrap="square" lIns="0" tIns="0" rIns="0" bIns="0" rtlCol="0" anchor="t"/>
          <a:lstStyle/>
          <a:p>
            <a:pPr indent="0" marL="0">
              <a:buNone/>
            </a:pPr>
            <a:r>
              <a:rPr lang="en-US" sz="1300" dirty="0">
                <a:solidFill>
                  <a:srgbClr val="5B6B80"/>
                </a:solidFill>
              </a:rPr>
              <a:t>unique product-weeks from 7,839 raw rows</a:t>
            </a:r>
            <a:endParaRPr lang="en-US" sz="1300" dirty="0"/>
          </a:p>
        </p:txBody>
      </p:sp>
      <p:sp>
        <p:nvSpPr>
          <p:cNvPr id="43" name="Stat card"/>
          <p:cNvSpPr/>
          <p:nvPr/>
        </p:nvSpPr>
        <p:spPr>
          <a:xfrm>
            <a:off x="9555480" y="3840480"/>
            <a:ext cx="2057400" cy="1188720"/>
          </a:xfrm>
          <a:prstGeom prst="roundRect">
            <a:avLst>
              <a:gd name="adj" fmla="val 6154"/>
            </a:avLst>
          </a:prstGeom>
          <a:solidFill>
            <a:srgbClr val="F2F6FB"/>
          </a:solidFill>
          <a:ln w="12700">
            <a:solidFill>
              <a:srgbClr val="F2F6FB"/>
            </a:solidFill>
            <a:prstDash val="solid"/>
          </a:ln>
        </p:spPr>
      </p:sp>
      <p:sp>
        <p:nvSpPr>
          <p:cNvPr id="44" name="Text 40"/>
          <p:cNvSpPr txBox="1"/>
          <p:nvPr/>
        </p:nvSpPr>
        <p:spPr>
          <a:xfrm>
            <a:off x="9692640" y="3913632"/>
            <a:ext cx="1783080" cy="534924"/>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15 / 15</a:t>
            </a:r>
            <a:endParaRPr lang="en-US" sz="2600" dirty="0"/>
          </a:p>
        </p:txBody>
      </p:sp>
      <p:sp>
        <p:nvSpPr>
          <p:cNvPr id="45" name="Text 41"/>
          <p:cNvSpPr txBox="1"/>
          <p:nvPr/>
        </p:nvSpPr>
        <p:spPr>
          <a:xfrm>
            <a:off x="9692640" y="4458614"/>
            <a:ext cx="1783080" cy="546811"/>
          </a:xfrm>
          <a:prstGeom prst="rect">
            <a:avLst/>
          </a:prstGeom>
          <a:noFill/>
          <a:ln/>
        </p:spPr>
        <p:txBody>
          <a:bodyPr wrap="square" lIns="0" tIns="0" rIns="0" bIns="0" rtlCol="0" anchor="t"/>
          <a:lstStyle/>
          <a:p>
            <a:pPr indent="0" marL="0">
              <a:buNone/>
            </a:pPr>
            <a:r>
              <a:rPr lang="en-US" sz="1300" dirty="0">
                <a:solidFill>
                  <a:srgbClr val="5B6B80"/>
                </a:solidFill>
              </a:rPr>
              <a:t>exception tests passed on a corrupted copy</a:t>
            </a:r>
            <a:endParaRPr lang="en-US" sz="1300" dirty="0"/>
          </a:p>
        </p:txBody>
      </p:sp>
      <p:sp>
        <p:nvSpPr>
          <p:cNvPr id="46" name="Text 42"/>
          <p:cNvSpPr txBox="1"/>
          <p:nvPr/>
        </p:nvSpPr>
        <p:spPr>
          <a:xfrm>
            <a:off x="7498080" y="5212080"/>
            <a:ext cx="4114800" cy="1005840"/>
          </a:xfrm>
          <a:prstGeom prst="rect">
            <a:avLst/>
          </a:prstGeom>
          <a:noFill/>
          <a:ln/>
        </p:spPr>
        <p:txBody>
          <a:bodyPr wrap="square" lIns="0" tIns="0" rIns="0" bIns="0" rtlCol="0" anchor="t"/>
          <a:lstStyle/>
          <a:p>
            <a:pPr indent="0" marL="0">
              <a:buNone/>
            </a:pPr>
            <a:r>
              <a:rPr lang="en-US" sz="1300" i="1" dirty="0">
                <a:solidFill>
                  <a:srgbClr val="5B6B80"/>
                </a:solidFill>
              </a:rPr>
              <a:t>Star schema: product, date and weekly-sales tables plus audit tables, so every later question is a simple query.</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1 · KEY DISCOVERY</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Stock caps sales, so sales understate demand</a:t>
            </a:r>
            <a:endParaRPr lang="en-US" sz="3000" dirty="0"/>
          </a:p>
        </p:txBody>
      </p:sp>
      <p:pic>
        <p:nvPicPr>
          <p:cNvPr id="5" name="Inventory timing figure" descr="/home/user/Technical_Assessment_HamidrezaNademi/part1_etl_pipeline_v1.2/figures/inventory_timing_v1.2.png">    </p:cNvPr>
          <p:cNvPicPr>
            <a:picLocks noChangeAspect="1"/>
          </p:cNvPicPr>
          <p:nvPr/>
        </p:nvPicPr>
        <p:blipFill>
          <a:blip r:embed="rId1"/>
          <a:stretch>
            <a:fillRect/>
          </a:stretch>
        </p:blipFill>
        <p:spPr>
          <a:xfrm>
            <a:off x="548640" y="1691640"/>
            <a:ext cx="5760720" cy="2880360"/>
          </a:xfrm>
          <a:prstGeom prst="rect">
            <a:avLst/>
          </a:prstGeom>
        </p:spPr>
      </p:pic>
      <p:sp>
        <p:nvSpPr>
          <p:cNvPr id="6" name="Stat card"/>
          <p:cNvSpPr/>
          <p:nvPr/>
        </p:nvSpPr>
        <p:spPr>
          <a:xfrm>
            <a:off x="6583680" y="1691640"/>
            <a:ext cx="1600200" cy="1463040"/>
          </a:xfrm>
          <a:prstGeom prst="roundRect">
            <a:avLst>
              <a:gd name="adj" fmla="val 5000"/>
            </a:avLst>
          </a:prstGeom>
          <a:solidFill>
            <a:srgbClr val="F2F6FB"/>
          </a:solidFill>
          <a:ln w="12700">
            <a:solidFill>
              <a:srgbClr val="F2F6FB"/>
            </a:solidFill>
            <a:prstDash val="solid"/>
          </a:ln>
        </p:spPr>
      </p:sp>
      <p:sp>
        <p:nvSpPr>
          <p:cNvPr id="7" name="Text 3"/>
          <p:cNvSpPr txBox="1"/>
          <p:nvPr/>
        </p:nvSpPr>
        <p:spPr>
          <a:xfrm>
            <a:off x="6720840" y="1764792"/>
            <a:ext cx="1325880" cy="658368"/>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0.85</a:t>
            </a:r>
            <a:endParaRPr lang="en-US" sz="2800" dirty="0"/>
          </a:p>
        </p:txBody>
      </p:sp>
      <p:sp>
        <p:nvSpPr>
          <p:cNvPr id="8" name="Text 4"/>
          <p:cNvSpPr txBox="1"/>
          <p:nvPr/>
        </p:nvSpPr>
        <p:spPr>
          <a:xfrm>
            <a:off x="6720840" y="2452421"/>
            <a:ext cx="1325880" cy="672998"/>
          </a:xfrm>
          <a:prstGeom prst="rect">
            <a:avLst/>
          </a:prstGeom>
          <a:noFill/>
          <a:ln/>
        </p:spPr>
        <p:txBody>
          <a:bodyPr wrap="square" lIns="0" tIns="0" rIns="0" bIns="0" rtlCol="0" anchor="t"/>
          <a:lstStyle/>
          <a:p>
            <a:pPr indent="0" marL="0">
              <a:buNone/>
            </a:pPr>
            <a:r>
              <a:rPr lang="en-US" sz="1300" dirty="0">
                <a:solidFill>
                  <a:srgbClr val="5B6B80"/>
                </a:solidFill>
              </a:rPr>
              <a:t>sales vs last week's stock (correlation)</a:t>
            </a:r>
            <a:endParaRPr lang="en-US" sz="1300" dirty="0"/>
          </a:p>
        </p:txBody>
      </p:sp>
      <p:sp>
        <p:nvSpPr>
          <p:cNvPr id="9" name="Stat card"/>
          <p:cNvSpPr/>
          <p:nvPr/>
        </p:nvSpPr>
        <p:spPr>
          <a:xfrm>
            <a:off x="8275320" y="1691640"/>
            <a:ext cx="1600200" cy="1463040"/>
          </a:xfrm>
          <a:prstGeom prst="roundRect">
            <a:avLst>
              <a:gd name="adj" fmla="val 5000"/>
            </a:avLst>
          </a:prstGeom>
          <a:solidFill>
            <a:srgbClr val="F2F6FB"/>
          </a:solidFill>
          <a:ln w="12700">
            <a:solidFill>
              <a:srgbClr val="F2F6FB"/>
            </a:solidFill>
            <a:prstDash val="solid"/>
          </a:ln>
        </p:spPr>
      </p:sp>
      <p:sp>
        <p:nvSpPr>
          <p:cNvPr id="10" name="Text 6"/>
          <p:cNvSpPr txBox="1"/>
          <p:nvPr/>
        </p:nvSpPr>
        <p:spPr>
          <a:xfrm>
            <a:off x="8412480" y="1764792"/>
            <a:ext cx="1325880" cy="658368"/>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1,329</a:t>
            </a:r>
            <a:endParaRPr lang="en-US" sz="2800" dirty="0"/>
          </a:p>
        </p:txBody>
      </p:sp>
      <p:sp>
        <p:nvSpPr>
          <p:cNvPr id="11" name="Text 7"/>
          <p:cNvSpPr txBox="1"/>
          <p:nvPr/>
        </p:nvSpPr>
        <p:spPr>
          <a:xfrm>
            <a:off x="8412480" y="2452421"/>
            <a:ext cx="1325880" cy="672998"/>
          </a:xfrm>
          <a:prstGeom prst="rect">
            <a:avLst/>
          </a:prstGeom>
          <a:noFill/>
          <a:ln/>
        </p:spPr>
        <p:txBody>
          <a:bodyPr wrap="square" lIns="0" tIns="0" rIns="0" bIns="0" rtlCol="0" anchor="t"/>
          <a:lstStyle/>
          <a:p>
            <a:pPr indent="0" marL="0">
              <a:buNone/>
            </a:pPr>
            <a:r>
              <a:rPr lang="en-US" sz="1300" dirty="0">
                <a:solidFill>
                  <a:srgbClr val="5B6B80"/>
                </a:solidFill>
              </a:rPr>
              <a:t>stock-out weeks, all zero sales</a:t>
            </a:r>
            <a:endParaRPr lang="en-US" sz="1300" dirty="0"/>
          </a:p>
        </p:txBody>
      </p:sp>
      <p:sp>
        <p:nvSpPr>
          <p:cNvPr id="12" name="Stat card"/>
          <p:cNvSpPr/>
          <p:nvPr/>
        </p:nvSpPr>
        <p:spPr>
          <a:xfrm>
            <a:off x="9966960" y="1691640"/>
            <a:ext cx="1645920" cy="1463040"/>
          </a:xfrm>
          <a:prstGeom prst="roundRect">
            <a:avLst>
              <a:gd name="adj" fmla="val 5000"/>
            </a:avLst>
          </a:prstGeom>
          <a:solidFill>
            <a:srgbClr val="F2F6FB"/>
          </a:solidFill>
          <a:ln w="12700">
            <a:solidFill>
              <a:srgbClr val="F2F6FB"/>
            </a:solidFill>
            <a:prstDash val="solid"/>
          </a:ln>
        </p:spPr>
      </p:sp>
      <p:sp>
        <p:nvSpPr>
          <p:cNvPr id="13" name="Text 9"/>
          <p:cNvSpPr txBox="1"/>
          <p:nvPr/>
        </p:nvSpPr>
        <p:spPr>
          <a:xfrm>
            <a:off x="10104120" y="1764792"/>
            <a:ext cx="1371600" cy="658368"/>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53%</a:t>
            </a:r>
            <a:endParaRPr lang="en-US" sz="2800" dirty="0"/>
          </a:p>
        </p:txBody>
      </p:sp>
      <p:sp>
        <p:nvSpPr>
          <p:cNvPr id="14" name="Text 10"/>
          <p:cNvSpPr txBox="1"/>
          <p:nvPr/>
        </p:nvSpPr>
        <p:spPr>
          <a:xfrm>
            <a:off x="10104120" y="2452421"/>
            <a:ext cx="1371600" cy="672998"/>
          </a:xfrm>
          <a:prstGeom prst="rect">
            <a:avLst/>
          </a:prstGeom>
          <a:noFill/>
          <a:ln/>
        </p:spPr>
        <p:txBody>
          <a:bodyPr wrap="square" lIns="0" tIns="0" rIns="0" bIns="0" rtlCol="0" anchor="t"/>
          <a:lstStyle/>
          <a:p>
            <a:pPr indent="0" marL="0">
              <a:buNone/>
            </a:pPr>
            <a:r>
              <a:rPr lang="en-US" sz="1300" dirty="0">
                <a:solidFill>
                  <a:srgbClr val="5B6B80"/>
                </a:solidFill>
              </a:rPr>
              <a:t>of weeks capped by stock</a:t>
            </a:r>
            <a:endParaRPr lang="en-US" sz="1300" dirty="0"/>
          </a:p>
        </p:txBody>
      </p:sp>
      <p:sp>
        <p:nvSpPr>
          <p:cNvPr id="15" name="Text 11"/>
          <p:cNvSpPr txBox="1"/>
          <p:nvPr/>
        </p:nvSpPr>
        <p:spPr>
          <a:xfrm>
            <a:off x="6583680" y="3291840"/>
            <a:ext cx="5029200" cy="14173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2A41"/>
                </a:solidFill>
              </a:rPr>
              <a:t>Zero stock always means zero sales; 2,813 more weeks sell exactly the stock.</a:t>
            </a:r>
            <a:endParaRPr lang="en-US" sz="1400" dirty="0"/>
          </a:p>
          <a:p>
            <a:pPr marL="203200" indent="-203200">
              <a:spcAft>
                <a:spcPts val="800"/>
              </a:spcAft>
              <a:buSzPct val="100000"/>
              <a:buChar char="•"/>
            </a:pPr>
            <a:r>
              <a:rPr lang="en-US" sz="1400" dirty="0">
                <a:solidFill>
                  <a:srgbClr val="1B2A41"/>
                </a:solidFill>
              </a:rPr>
              <a:t>So sales = min(demand, stock): they understate what customers wanted.</a:t>
            </a:r>
            <a:endParaRPr lang="en-US" sz="1400" dirty="0"/>
          </a:p>
          <a:p>
            <a:pPr marL="203200" indent="-203200">
              <a:spcAft>
                <a:spcPts val="800"/>
              </a:spcAft>
              <a:buSzPct val="100000"/>
              <a:buChar char="•"/>
            </a:pPr>
            <a:r>
              <a:rPr lang="en-US" sz="1400" dirty="0">
                <a:solidFill>
                  <a:srgbClr val="1B2A41"/>
                </a:solidFill>
              </a:rPr>
              <a:t>Later steps rely on this: forecast demand, lost sales, pricing.</a:t>
            </a:r>
            <a:endParaRPr lang="en-US" sz="1400" dirty="0"/>
          </a:p>
        </p:txBody>
      </p:sp>
      <p:sp>
        <p:nvSpPr>
          <p:cNvPr id="16" name="Callout"/>
          <p:cNvSpPr/>
          <p:nvPr/>
        </p:nvSpPr>
        <p:spPr>
          <a:xfrm>
            <a:off x="548640" y="4846320"/>
            <a:ext cx="11064240" cy="1417320"/>
          </a:xfrm>
          <a:prstGeom prst="roundRect">
            <a:avLst>
              <a:gd name="adj" fmla="val 5161"/>
            </a:avLst>
          </a:prstGeom>
          <a:solidFill>
            <a:srgbClr val="F2F6FB"/>
          </a:solidFill>
          <a:ln w="12700">
            <a:solidFill>
              <a:srgbClr val="D9E1EC"/>
            </a:solidFill>
            <a:prstDash val="solid"/>
          </a:ln>
        </p:spPr>
      </p:sp>
      <p:sp>
        <p:nvSpPr>
          <p:cNvPr id="17" name="Text 13"/>
          <p:cNvSpPr txBox="1"/>
          <p:nvPr/>
        </p:nvSpPr>
        <p:spPr>
          <a:xfrm>
            <a:off x="731520" y="495604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Assumptions made, and why</a:t>
            </a:r>
            <a:endParaRPr lang="en-US" sz="1400" dirty="0"/>
          </a:p>
        </p:txBody>
      </p:sp>
      <p:sp>
        <p:nvSpPr>
          <p:cNvPr id="18" name="Text 14"/>
          <p:cNvSpPr txBox="1"/>
          <p:nvPr/>
        </p:nvSpPr>
        <p:spPr>
          <a:xfrm>
            <a:off x="731520" y="5303520"/>
            <a:ext cx="10698480" cy="8686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B2A41"/>
                </a:solidFill>
              </a:rPr>
              <a:t>Synthetic calendar (week 1 = 6 Jan 2020): the file has week numbers only; seasonal findings are relative to it.</a:t>
            </a:r>
            <a:endParaRPr lang="en-US" sz="1400" dirty="0"/>
          </a:p>
          <a:p>
            <a:pPr marL="177800" indent="-177800">
              <a:spcAft>
                <a:spcPts val="500"/>
              </a:spcAft>
              <a:buSzPct val="100000"/>
              <a:buChar char="•"/>
            </a:pPr>
            <a:r>
              <a:rPr lang="en-US" sz="1400" dirty="0">
                <a:solidFill>
                  <a:srgbClr val="1B2A41"/>
                </a:solidFill>
              </a:rPr>
              <a:t>Odd values are flagged, never deleted: pile-ups and zero weeks are signals of stock limits, not errors.</a:t>
            </a:r>
            <a:endParaRPr lang="en-US" sz="1400" dirty="0"/>
          </a:p>
          <a:p>
            <a:pPr marL="177800" indent="-177800">
              <a:spcAft>
                <a:spcPts val="500"/>
              </a:spcAft>
              <a:buSzPct val="100000"/>
              <a:buChar char="•"/>
            </a:pPr>
            <a:r>
              <a:rPr lang="en-US" sz="1400" dirty="0">
                <a:solidFill>
                  <a:srgbClr val="1B2A41"/>
                </a:solidFill>
              </a:rPr>
              <a:t>Inventory read as the previous row's stock: verified, zero violations after the realignment.</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FORECASTING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We forecast demand, not sales</a:t>
            </a:r>
            <a:endParaRPr lang="en-US" sz="3000" dirty="0"/>
          </a:p>
        </p:txBody>
      </p:sp>
      <p:graphicFrame>
        <p:nvGraphicFramePr>
          <p:cNvPr id="5" name="Chart 0" descr=""/>
          <p:cNvGraphicFramePr/>
          <p:nvPr/>
        </p:nvGraphicFramePr>
        <p:xfrm>
          <a:off x="548640" y="1645920"/>
          <a:ext cx="4206240" cy="38404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029200" y="1691640"/>
            <a:ext cx="6583680" cy="868680"/>
          </a:xfrm>
          <a:prstGeom prst="rect">
            <a:avLst/>
          </a:prstGeom>
          <a:noFill/>
          <a:ln/>
        </p:spPr>
        <p:txBody>
          <a:bodyPr wrap="square" lIns="0" tIns="0" rIns="0" bIns="0" rtlCol="0" anchor="t"/>
          <a:lstStyle/>
          <a:p>
            <a:pPr indent="0" marL="0">
              <a:buNone/>
            </a:pPr>
            <a:r>
              <a:rPr lang="en-US" sz="1600" b="1" dirty="0">
                <a:solidFill>
                  <a:schemeClr val="tx1"/>
                </a:solidFill>
              </a:rPr>
              <a:t>Demand = observed sales when stock did not bind; otherwise the larger of sales and a 40/60 blend of the old forecast and a seasonal model.</a:t>
            </a:r>
            <a:endParaRPr lang="en-US" sz="1600" dirty="0"/>
          </a:p>
        </p:txBody>
      </p:sp>
      <p:sp>
        <p:nvSpPr>
          <p:cNvPr id="7" name="Stat card"/>
          <p:cNvSpPr/>
          <p:nvPr/>
        </p:nvSpPr>
        <p:spPr>
          <a:xfrm>
            <a:off x="5029200" y="2651760"/>
            <a:ext cx="2103120" cy="1371600"/>
          </a:xfrm>
          <a:prstGeom prst="roundRect">
            <a:avLst>
              <a:gd name="adj" fmla="val 5333"/>
            </a:avLst>
          </a:prstGeom>
          <a:solidFill>
            <a:srgbClr val="F2F6FB"/>
          </a:solidFill>
          <a:ln w="12700">
            <a:solidFill>
              <a:srgbClr val="F2F6FB"/>
            </a:solidFill>
            <a:prstDash val="solid"/>
          </a:ln>
        </p:spPr>
      </p:sp>
      <p:sp>
        <p:nvSpPr>
          <p:cNvPr id="8" name="Text 4"/>
          <p:cNvSpPr txBox="1"/>
          <p:nvPr/>
        </p:nvSpPr>
        <p:spPr>
          <a:xfrm>
            <a:off x="5166360" y="2724912"/>
            <a:ext cx="1828800" cy="617220"/>
          </a:xfrm>
          <a:prstGeom prst="rect">
            <a:avLst/>
          </a:prstGeom>
          <a:noFill/>
          <a:ln/>
        </p:spPr>
        <p:txBody>
          <a:bodyPr wrap="square" lIns="0" tIns="0" rIns="0" bIns="0" rtlCol="0" anchor="ctr"/>
          <a:lstStyle/>
          <a:p>
            <a:pPr indent="0" marL="0">
              <a:buNone/>
            </a:pPr>
            <a:r>
              <a:rPr lang="en-US" sz="3200" b="1" dirty="0">
                <a:solidFill>
                  <a:srgbClr val="1BAF7A"/>
                </a:solidFill>
                <a:latin typeface="Cambria" pitchFamily="34" charset="0"/>
                <a:ea typeface="Cambria" pitchFamily="34" charset="-122"/>
                <a:cs typeface="Cambria" pitchFamily="34" charset="-120"/>
              </a:rPr>
              <a:t>5.0%</a:t>
            </a:r>
            <a:endParaRPr lang="en-US" sz="3200" dirty="0"/>
          </a:p>
        </p:txBody>
      </p:sp>
      <p:sp>
        <p:nvSpPr>
          <p:cNvPr id="9" name="Text 5"/>
          <p:cNvSpPr txBox="1"/>
          <p:nvPr/>
        </p:nvSpPr>
        <p:spPr>
          <a:xfrm>
            <a:off x="5166360" y="3364992"/>
            <a:ext cx="1828800" cy="630936"/>
          </a:xfrm>
          <a:prstGeom prst="rect">
            <a:avLst/>
          </a:prstGeom>
          <a:noFill/>
          <a:ln/>
        </p:spPr>
        <p:txBody>
          <a:bodyPr wrap="square" lIns="0" tIns="0" rIns="0" bIns="0" rtlCol="0" anchor="t"/>
          <a:lstStyle/>
          <a:p>
            <a:pPr indent="0" marL="0">
              <a:buNone/>
            </a:pPr>
            <a:r>
              <a:rPr lang="en-US" sz="1300" dirty="0">
                <a:solidFill>
                  <a:srgbClr val="5B6B80"/>
                </a:solidFill>
              </a:rPr>
              <a:t>blend error (old forecast 7.9%)</a:t>
            </a:r>
            <a:endParaRPr lang="en-US" sz="1300" dirty="0"/>
          </a:p>
        </p:txBody>
      </p:sp>
      <p:sp>
        <p:nvSpPr>
          <p:cNvPr id="10" name="Stat card"/>
          <p:cNvSpPr/>
          <p:nvPr/>
        </p:nvSpPr>
        <p:spPr>
          <a:xfrm>
            <a:off x="7269480" y="2651760"/>
            <a:ext cx="2103120" cy="1371600"/>
          </a:xfrm>
          <a:prstGeom prst="roundRect">
            <a:avLst>
              <a:gd name="adj" fmla="val 5333"/>
            </a:avLst>
          </a:prstGeom>
          <a:solidFill>
            <a:srgbClr val="F2F6FB"/>
          </a:solidFill>
          <a:ln w="12700">
            <a:solidFill>
              <a:srgbClr val="F2F6FB"/>
            </a:solidFill>
            <a:prstDash val="solid"/>
          </a:ln>
        </p:spPr>
      </p:sp>
      <p:sp>
        <p:nvSpPr>
          <p:cNvPr id="11" name="Text 7"/>
          <p:cNvSpPr txBox="1"/>
          <p:nvPr/>
        </p:nvSpPr>
        <p:spPr>
          <a:xfrm>
            <a:off x="7406640" y="2724912"/>
            <a:ext cx="1828800" cy="617220"/>
          </a:xfrm>
          <a:prstGeom prst="rect">
            <a:avLst/>
          </a:prstGeom>
          <a:noFill/>
          <a:ln/>
        </p:spPr>
        <p:txBody>
          <a:bodyPr wrap="square" lIns="0" tIns="0" rIns="0" bIns="0" rtlCol="0" anchor="ctr"/>
          <a:lstStyle/>
          <a:p>
            <a:pPr indent="0" marL="0">
              <a:buNone/>
            </a:pPr>
            <a:r>
              <a:rPr lang="en-US" sz="3200" b="1" dirty="0">
                <a:solidFill>
                  <a:srgbClr val="EB6834"/>
                </a:solidFill>
                <a:latin typeface="Cambria" pitchFamily="34" charset="0"/>
                <a:ea typeface="Cambria" pitchFamily="34" charset="-122"/>
                <a:cs typeface="Cambria" pitchFamily="34" charset="-120"/>
              </a:rPr>
              <a:t>39%</a:t>
            </a:r>
            <a:endParaRPr lang="en-US" sz="3200" dirty="0"/>
          </a:p>
        </p:txBody>
      </p:sp>
      <p:sp>
        <p:nvSpPr>
          <p:cNvPr id="12" name="Text 8"/>
          <p:cNvSpPr txBox="1"/>
          <p:nvPr/>
        </p:nvSpPr>
        <p:spPr>
          <a:xfrm>
            <a:off x="7406640" y="3364992"/>
            <a:ext cx="1828800" cy="630936"/>
          </a:xfrm>
          <a:prstGeom prst="rect">
            <a:avLst/>
          </a:prstGeom>
          <a:noFill/>
          <a:ln/>
        </p:spPr>
        <p:txBody>
          <a:bodyPr wrap="square" lIns="0" tIns="0" rIns="0" bIns="0" rtlCol="0" anchor="t"/>
          <a:lstStyle/>
          <a:p>
            <a:pPr indent="0" marL="0">
              <a:buNone/>
            </a:pPr>
            <a:r>
              <a:rPr lang="en-US" sz="1300" dirty="0">
                <a:solidFill>
                  <a:srgbClr val="5B6B80"/>
                </a:solidFill>
              </a:rPr>
              <a:t>of demand lost to stock limits</a:t>
            </a:r>
            <a:endParaRPr lang="en-US" sz="1300" dirty="0"/>
          </a:p>
        </p:txBody>
      </p:sp>
      <p:sp>
        <p:nvSpPr>
          <p:cNvPr id="13" name="Stat card"/>
          <p:cNvSpPr/>
          <p:nvPr/>
        </p:nvSpPr>
        <p:spPr>
          <a:xfrm>
            <a:off x="9509760" y="2651760"/>
            <a:ext cx="2103120" cy="1371600"/>
          </a:xfrm>
          <a:prstGeom prst="roundRect">
            <a:avLst>
              <a:gd name="adj" fmla="val 5333"/>
            </a:avLst>
          </a:prstGeom>
          <a:solidFill>
            <a:srgbClr val="F2F6FB"/>
          </a:solidFill>
          <a:ln w="12700">
            <a:solidFill>
              <a:srgbClr val="F2F6FB"/>
            </a:solidFill>
            <a:prstDash val="solid"/>
          </a:ln>
        </p:spPr>
      </p:sp>
      <p:sp>
        <p:nvSpPr>
          <p:cNvPr id="14" name="Text 10"/>
          <p:cNvSpPr txBox="1"/>
          <p:nvPr/>
        </p:nvSpPr>
        <p:spPr>
          <a:xfrm>
            <a:off x="9646920" y="2724912"/>
            <a:ext cx="1828800" cy="617220"/>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0.97</a:t>
            </a:r>
            <a:endParaRPr lang="en-US" sz="3200" dirty="0"/>
          </a:p>
        </p:txBody>
      </p:sp>
      <p:sp>
        <p:nvSpPr>
          <p:cNvPr id="15" name="Text 11"/>
          <p:cNvSpPr txBox="1"/>
          <p:nvPr/>
        </p:nvSpPr>
        <p:spPr>
          <a:xfrm>
            <a:off x="9646920" y="3364992"/>
            <a:ext cx="1828800" cy="630936"/>
          </a:xfrm>
          <a:prstGeom prst="rect">
            <a:avLst/>
          </a:prstGeom>
          <a:noFill/>
          <a:ln/>
        </p:spPr>
        <p:txBody>
          <a:bodyPr wrap="square" lIns="0" tIns="0" rIns="0" bIns="0" rtlCol="0" anchor="t"/>
          <a:lstStyle/>
          <a:p>
            <a:pPr indent="0" marL="0">
              <a:buNone/>
            </a:pPr>
            <a:r>
              <a:rPr lang="en-US" sz="1300" dirty="0">
                <a:solidFill>
                  <a:srgbClr val="5B6B80"/>
                </a:solidFill>
              </a:rPr>
              <a:t>old forecast vs truth, clean weeks</a:t>
            </a:r>
            <a:endParaRPr lang="en-US" sz="1300" dirty="0"/>
          </a:p>
        </p:txBody>
      </p:sp>
      <p:sp>
        <p:nvSpPr>
          <p:cNvPr id="16" name="Callout"/>
          <p:cNvSpPr/>
          <p:nvPr/>
        </p:nvSpPr>
        <p:spPr>
          <a:xfrm>
            <a:off x="5029200" y="4206240"/>
            <a:ext cx="6583680" cy="2103120"/>
          </a:xfrm>
          <a:prstGeom prst="roundRect">
            <a:avLst>
              <a:gd name="adj" fmla="val 3478"/>
            </a:avLst>
          </a:prstGeom>
          <a:solidFill>
            <a:srgbClr val="F2F6FB"/>
          </a:solidFill>
          <a:ln w="12700">
            <a:solidFill>
              <a:srgbClr val="D9E1EC"/>
            </a:solidFill>
            <a:prstDash val="solid"/>
          </a:ln>
        </p:spPr>
      </p:sp>
      <p:sp>
        <p:nvSpPr>
          <p:cNvPr id="17" name="Text 13"/>
          <p:cNvSpPr txBox="1"/>
          <p:nvPr/>
        </p:nvSpPr>
        <p:spPr>
          <a:xfrm>
            <a:off x="5212080" y="4315968"/>
            <a:ext cx="6217920" cy="292608"/>
          </a:xfrm>
          <a:prstGeom prst="rect">
            <a:avLst/>
          </a:prstGeom>
          <a:noFill/>
          <a:ln/>
        </p:spPr>
        <p:txBody>
          <a:bodyPr wrap="square" lIns="0" tIns="0" rIns="0" bIns="0" rtlCol="0" anchor="ctr"/>
          <a:lstStyle/>
          <a:p>
            <a:pPr indent="0" marL="0">
              <a:buNone/>
            </a:pPr>
            <a:r>
              <a:rPr lang="en-US" sz="1400" b="1" dirty="0">
                <a:solidFill>
                  <a:schemeClr val="accent1"/>
                </a:solidFill>
              </a:rPr>
              <a:t>Assumptions made, and why</a:t>
            </a:r>
            <a:endParaRPr lang="en-US" sz="1400" dirty="0"/>
          </a:p>
        </p:txBody>
      </p:sp>
      <p:sp>
        <p:nvSpPr>
          <p:cNvPr id="18" name="Text 14"/>
          <p:cNvSpPr txBox="1"/>
          <p:nvPr/>
        </p:nvSpPr>
        <p:spPr>
          <a:xfrm>
            <a:off x="5212080" y="4663440"/>
            <a:ext cx="621792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B2A41"/>
                </a:solidFill>
              </a:rPr>
              <a:t>The old forecast is a usable noisy measure of demand: unbiased (-0.4%) where truth is known.</a:t>
            </a:r>
            <a:endParaRPr lang="en-US" sz="1400" dirty="0"/>
          </a:p>
          <a:p>
            <a:pPr marL="177800" indent="-177800">
              <a:spcAft>
                <a:spcPts val="500"/>
              </a:spcAft>
              <a:buSzPct val="100000"/>
              <a:buChar char="•"/>
            </a:pPr>
            <a:r>
              <a:rPr lang="en-US" sz="1400" dirty="0">
                <a:solidFill>
                  <a:srgbClr val="1B2A41"/>
                </a:solidFill>
              </a:rPr>
              <a:t>Blend weight 0.40 is learned from held-out data, not chosen by hand.</a:t>
            </a:r>
            <a:endParaRPr lang="en-US" sz="1400" dirty="0"/>
          </a:p>
          <a:p>
            <a:pPr marL="177800" indent="-177800">
              <a:spcAft>
                <a:spcPts val="500"/>
              </a:spcAft>
              <a:buSzPct val="100000"/>
              <a:buChar char="•"/>
            </a:pPr>
            <a:r>
              <a:rPr lang="en-US" sz="1400" dirty="0">
                <a:solidFill>
                  <a:srgbClr val="1B2A41"/>
                </a:solidFill>
              </a:rPr>
              <a:t>Rebuilt demand is smoother than reality in capped weeks, so accuracy is also reported on clean weeks.</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FORECASTING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All 30 products share one seasonal rhythm</a:t>
            </a:r>
            <a:endParaRPr lang="en-US" sz="3000" dirty="0"/>
          </a:p>
        </p:txBody>
      </p:sp>
      <p:pic>
        <p:nvPicPr>
          <p:cNvPr id="5" name="Seasonal rhythm figure" descr="/home/user/Technical_Assessment_HamidrezaNademi/part2_forecasting_v1.2/figures/shared_seasonal_rhythm_v1.2.png">    </p:cNvPr>
          <p:cNvPicPr>
            <a:picLocks noChangeAspect="1"/>
          </p:cNvPicPr>
          <p:nvPr/>
        </p:nvPicPr>
        <p:blipFill>
          <a:blip r:embed="rId1"/>
          <a:stretch>
            <a:fillRect/>
          </a:stretch>
        </p:blipFill>
        <p:spPr>
          <a:xfrm>
            <a:off x="548640" y="1691640"/>
            <a:ext cx="6949440" cy="2843784"/>
          </a:xfrm>
          <a:prstGeom prst="rect">
            <a:avLst/>
          </a:prstGeom>
        </p:spPr>
      </p:pic>
      <p:sp>
        <p:nvSpPr>
          <p:cNvPr id="6" name="Recipe card"/>
          <p:cNvSpPr/>
          <p:nvPr/>
        </p:nvSpPr>
        <p:spPr>
          <a:xfrm>
            <a:off x="7818120" y="1691640"/>
            <a:ext cx="3794760" cy="896112"/>
          </a:xfrm>
          <a:prstGeom prst="roundRect">
            <a:avLst>
              <a:gd name="adj" fmla="val 8163"/>
            </a:avLst>
          </a:prstGeom>
          <a:solidFill>
            <a:srgbClr val="F2F6FB"/>
          </a:solidFill>
          <a:ln w="12700">
            <a:solidFill>
              <a:srgbClr val="F2F6FB"/>
            </a:solidFill>
            <a:prstDash val="solid"/>
          </a:ln>
        </p:spPr>
      </p:sp>
      <p:sp>
        <p:nvSpPr>
          <p:cNvPr id="7" name="Text 3"/>
          <p:cNvSpPr txBox="1"/>
          <p:nvPr/>
        </p:nvSpPr>
        <p:spPr>
          <a:xfrm>
            <a:off x="8001000" y="1764792"/>
            <a:ext cx="3474720" cy="329184"/>
          </a:xfrm>
          <a:prstGeom prst="rect">
            <a:avLst/>
          </a:prstGeom>
          <a:noFill/>
          <a:ln/>
        </p:spPr>
        <p:txBody>
          <a:bodyPr wrap="square" lIns="0" tIns="0" rIns="0" bIns="0" rtlCol="0" anchor="ctr"/>
          <a:lstStyle/>
          <a:p>
            <a:pPr indent="0" marL="0">
              <a:buNone/>
            </a:pPr>
            <a:r>
              <a:rPr lang="en-US" sz="1800" b="1" dirty="0">
                <a:solidFill>
                  <a:schemeClr val="accent1"/>
                </a:solidFill>
              </a:rPr>
              <a:t>Size</a:t>
            </a:r>
            <a:endParaRPr lang="en-US" sz="1800" dirty="0"/>
          </a:p>
        </p:txBody>
      </p:sp>
      <p:sp>
        <p:nvSpPr>
          <p:cNvPr id="8" name="Text 4"/>
          <p:cNvSpPr txBox="1"/>
          <p:nvPr/>
        </p:nvSpPr>
        <p:spPr>
          <a:xfrm>
            <a:off x="8001000" y="2112264"/>
            <a:ext cx="3474720" cy="411480"/>
          </a:xfrm>
          <a:prstGeom prst="rect">
            <a:avLst/>
          </a:prstGeom>
          <a:noFill/>
          <a:ln/>
        </p:spPr>
        <p:txBody>
          <a:bodyPr wrap="square" lIns="0" tIns="0" rIns="0" bIns="0" rtlCol="0" anchor="ctr"/>
          <a:lstStyle/>
          <a:p>
            <a:pPr indent="0" marL="0">
              <a:buNone/>
            </a:pPr>
            <a:r>
              <a:rPr lang="en-US" sz="1400" dirty="0">
                <a:solidFill>
                  <a:srgbClr val="1B2A41"/>
                </a:solidFill>
              </a:rPr>
              <a:t>average weekly demand of the last 52 weeks</a:t>
            </a:r>
            <a:endParaRPr lang="en-US" sz="1400" dirty="0"/>
          </a:p>
        </p:txBody>
      </p:sp>
      <p:sp>
        <p:nvSpPr>
          <p:cNvPr id="9" name="Recipe card"/>
          <p:cNvSpPr/>
          <p:nvPr/>
        </p:nvSpPr>
        <p:spPr>
          <a:xfrm>
            <a:off x="7818120" y="2715768"/>
            <a:ext cx="3794760" cy="896112"/>
          </a:xfrm>
          <a:prstGeom prst="roundRect">
            <a:avLst>
              <a:gd name="adj" fmla="val 8163"/>
            </a:avLst>
          </a:prstGeom>
          <a:solidFill>
            <a:srgbClr val="F2F6FB"/>
          </a:solidFill>
          <a:ln w="12700">
            <a:solidFill>
              <a:srgbClr val="F2F6FB"/>
            </a:solidFill>
            <a:prstDash val="solid"/>
          </a:ln>
        </p:spPr>
      </p:sp>
      <p:sp>
        <p:nvSpPr>
          <p:cNvPr id="10" name="Text 6"/>
          <p:cNvSpPr txBox="1"/>
          <p:nvPr/>
        </p:nvSpPr>
        <p:spPr>
          <a:xfrm>
            <a:off x="8001000" y="2788920"/>
            <a:ext cx="3474720" cy="329184"/>
          </a:xfrm>
          <a:prstGeom prst="rect">
            <a:avLst/>
          </a:prstGeom>
          <a:noFill/>
          <a:ln/>
        </p:spPr>
        <p:txBody>
          <a:bodyPr wrap="square" lIns="0" tIns="0" rIns="0" bIns="0" rtlCol="0" anchor="ctr"/>
          <a:lstStyle/>
          <a:p>
            <a:pPr indent="0" marL="0">
              <a:buNone/>
            </a:pPr>
            <a:r>
              <a:rPr lang="en-US" sz="1800" b="1" dirty="0">
                <a:solidFill>
                  <a:schemeClr val="accent1"/>
                </a:solidFill>
              </a:rPr>
              <a:t>Season</a:t>
            </a:r>
            <a:endParaRPr lang="en-US" sz="1800" dirty="0"/>
          </a:p>
        </p:txBody>
      </p:sp>
      <p:sp>
        <p:nvSpPr>
          <p:cNvPr id="11" name="Text 7"/>
          <p:cNvSpPr txBox="1"/>
          <p:nvPr/>
        </p:nvSpPr>
        <p:spPr>
          <a:xfrm>
            <a:off x="8001000" y="3136392"/>
            <a:ext cx="3474720" cy="411480"/>
          </a:xfrm>
          <a:prstGeom prst="rect">
            <a:avLst/>
          </a:prstGeom>
          <a:noFill/>
          <a:ln/>
        </p:spPr>
        <p:txBody>
          <a:bodyPr wrap="square" lIns="0" tIns="0" rIns="0" bIns="0" rtlCol="0" anchor="ctr"/>
          <a:lstStyle/>
          <a:p>
            <a:pPr indent="0" marL="0">
              <a:buNone/>
            </a:pPr>
            <a:r>
              <a:rPr lang="en-US" sz="1400" dirty="0">
                <a:solidFill>
                  <a:srgbClr val="1B2A41"/>
                </a:solidFill>
              </a:rPr>
              <a:t>peak week 13 (+25%), quietest week 38 (-25%)</a:t>
            </a:r>
            <a:endParaRPr lang="en-US" sz="1400" dirty="0"/>
          </a:p>
        </p:txBody>
      </p:sp>
      <p:sp>
        <p:nvSpPr>
          <p:cNvPr id="12" name="Recipe card"/>
          <p:cNvSpPr/>
          <p:nvPr/>
        </p:nvSpPr>
        <p:spPr>
          <a:xfrm>
            <a:off x="7818120" y="3739896"/>
            <a:ext cx="3794760" cy="896112"/>
          </a:xfrm>
          <a:prstGeom prst="roundRect">
            <a:avLst>
              <a:gd name="adj" fmla="val 8163"/>
            </a:avLst>
          </a:prstGeom>
          <a:solidFill>
            <a:srgbClr val="F2F6FB"/>
          </a:solidFill>
          <a:ln w="12700">
            <a:solidFill>
              <a:srgbClr val="F2F6FB"/>
            </a:solidFill>
            <a:prstDash val="solid"/>
          </a:ln>
        </p:spPr>
      </p:sp>
      <p:sp>
        <p:nvSpPr>
          <p:cNvPr id="13" name="Text 9"/>
          <p:cNvSpPr txBox="1"/>
          <p:nvPr/>
        </p:nvSpPr>
        <p:spPr>
          <a:xfrm>
            <a:off x="8001000" y="3813048"/>
            <a:ext cx="3474720" cy="329184"/>
          </a:xfrm>
          <a:prstGeom prst="rect">
            <a:avLst/>
          </a:prstGeom>
          <a:noFill/>
          <a:ln/>
        </p:spPr>
        <p:txBody>
          <a:bodyPr wrap="square" lIns="0" tIns="0" rIns="0" bIns="0" rtlCol="0" anchor="ctr"/>
          <a:lstStyle/>
          <a:p>
            <a:pPr indent="0" marL="0">
              <a:buNone/>
            </a:pPr>
            <a:r>
              <a:rPr lang="en-US" sz="1800" b="1" dirty="0">
                <a:solidFill>
                  <a:schemeClr val="accent1"/>
                </a:solidFill>
              </a:rPr>
              <a:t>Growth</a:t>
            </a:r>
            <a:endParaRPr lang="en-US" sz="1800" dirty="0"/>
          </a:p>
        </p:txBody>
      </p:sp>
      <p:sp>
        <p:nvSpPr>
          <p:cNvPr id="14" name="Text 10"/>
          <p:cNvSpPr txBox="1"/>
          <p:nvPr/>
        </p:nvSpPr>
        <p:spPr>
          <a:xfrm>
            <a:off x="8001000" y="4160520"/>
            <a:ext cx="3474720" cy="411480"/>
          </a:xfrm>
          <a:prstGeom prst="rect">
            <a:avLst/>
          </a:prstGeom>
          <a:noFill/>
          <a:ln/>
        </p:spPr>
        <p:txBody>
          <a:bodyPr wrap="square" lIns="0" tIns="0" rIns="0" bIns="0" rtlCol="0" anchor="ctr"/>
          <a:lstStyle/>
          <a:p>
            <a:pPr indent="0" marL="0">
              <a:buNone/>
            </a:pPr>
            <a:r>
              <a:rPr lang="en-US" sz="1400" dirty="0">
                <a:solidFill>
                  <a:srgbClr val="1B2A41"/>
                </a:solidFill>
              </a:rPr>
              <a:t>about +2.8% a year</a:t>
            </a:r>
            <a:endParaRPr lang="en-US" sz="1400" dirty="0"/>
          </a:p>
        </p:txBody>
      </p:sp>
      <p:sp>
        <p:nvSpPr>
          <p:cNvPr id="15" name="Callout"/>
          <p:cNvSpPr/>
          <p:nvPr/>
        </p:nvSpPr>
        <p:spPr>
          <a:xfrm>
            <a:off x="548640" y="4663440"/>
            <a:ext cx="11064240" cy="1645920"/>
          </a:xfrm>
          <a:prstGeom prst="roundRect">
            <a:avLst>
              <a:gd name="adj" fmla="val 4444"/>
            </a:avLst>
          </a:prstGeom>
          <a:solidFill>
            <a:srgbClr val="F2F6FB"/>
          </a:solidFill>
          <a:ln w="12700">
            <a:solidFill>
              <a:srgbClr val="D9E1EC"/>
            </a:solidFill>
            <a:prstDash val="solid"/>
          </a:ln>
        </p:spPr>
      </p:sp>
      <p:sp>
        <p:nvSpPr>
          <p:cNvPr id="16" name="Text 12"/>
          <p:cNvSpPr txBox="1"/>
          <p:nvPr/>
        </p:nvSpPr>
        <p:spPr>
          <a:xfrm>
            <a:off x="731520" y="477316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Assumptions made, and why</a:t>
            </a:r>
            <a:endParaRPr lang="en-US" sz="1400" dirty="0"/>
          </a:p>
        </p:txBody>
      </p:sp>
      <p:sp>
        <p:nvSpPr>
          <p:cNvPr id="17" name="Text 13"/>
          <p:cNvSpPr txBox="1"/>
          <p:nvPr/>
        </p:nvSpPr>
        <p:spPr>
          <a:xfrm>
            <a:off x="731520" y="5120640"/>
            <a:ext cx="10698480" cy="10972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B2A41"/>
                </a:solidFill>
              </a:rPr>
              <a:t>One shared seasonal curve: product profiles correlate 0.97, so separate curves would only add noise.</a:t>
            </a:r>
            <a:endParaRPr lang="en-US" sz="1400" dirty="0"/>
          </a:p>
          <a:p>
            <a:pPr marL="177800" indent="-177800">
              <a:spcAft>
                <a:spcPts val="500"/>
              </a:spcAft>
              <a:buSzPct val="100000"/>
              <a:buChar char="•"/>
            </a:pPr>
            <a:r>
              <a:rPr lang="en-US" sz="1400" dirty="0">
                <a:solidFill>
                  <a:srgbClr val="1B2A41"/>
                </a:solidFill>
              </a:rPr>
              <a:t>Price and cost are not demand drivers: no calendar effect, and price moves only 4%.</a:t>
            </a:r>
            <a:endParaRPr lang="en-US" sz="1400" dirty="0"/>
          </a:p>
          <a:p>
            <a:pPr marL="177800" indent="-177800">
              <a:spcAft>
                <a:spcPts val="500"/>
              </a:spcAft>
              <a:buSzPct val="100000"/>
              <a:buChar char="•"/>
            </a:pPr>
            <a:r>
              <a:rPr lang="en-US" sz="1400" dirty="0">
                <a:solidFill>
                  <a:srgbClr val="1B2A41"/>
                </a:solidFill>
              </a:rPr>
              <a:t>Clusters by shape added little; stock regimes are kept for risk, not for the curve.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METHOD</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How I made the model comparison fair</a:t>
            </a:r>
            <a:endParaRPr lang="en-US" sz="3000" dirty="0"/>
          </a:p>
        </p:txBody>
      </p:sp>
      <p:pic>
        <p:nvPicPr>
          <p:cNvPr id="5" name="Backtest timeline" descr="/home/user/Technical_Assessment_HamidrezaNademi/part2_forecasting_v1.2/figures/train_test_timeline_v1.2.png">    </p:cNvPr>
          <p:cNvPicPr>
            <a:picLocks noChangeAspect="1"/>
          </p:cNvPicPr>
          <p:nvPr/>
        </p:nvPicPr>
        <p:blipFill>
          <a:blip r:embed="rId1"/>
          <a:stretch>
            <a:fillRect/>
          </a:stretch>
        </p:blipFill>
        <p:spPr>
          <a:xfrm>
            <a:off x="548640" y="1645920"/>
            <a:ext cx="6675120" cy="2112264"/>
          </a:xfrm>
          <a:prstGeom prst="rect">
            <a:avLst/>
          </a:prstGeom>
        </p:spPr>
      </p:pic>
      <p:sp>
        <p:nvSpPr>
          <p:cNvPr id="6" name="Text 2"/>
          <p:cNvSpPr txBox="1"/>
          <p:nvPr/>
        </p:nvSpPr>
        <p:spPr>
          <a:xfrm>
            <a:off x="548640" y="3794760"/>
            <a:ext cx="6675120" cy="365760"/>
          </a:xfrm>
          <a:prstGeom prst="rect">
            <a:avLst/>
          </a:prstGeom>
          <a:noFill/>
          <a:ln/>
        </p:spPr>
        <p:txBody>
          <a:bodyPr wrap="square" lIns="0" tIns="0" rIns="0" bIns="0" rtlCol="0" anchor="ctr"/>
          <a:lstStyle/>
          <a:p>
            <a:pPr indent="0" marL="0">
              <a:buNone/>
            </a:pPr>
            <a:r>
              <a:rPr lang="en-US" sz="1200" i="1" dirty="0">
                <a:solidFill>
                  <a:srgbClr val="5B6B80"/>
                </a:solidFill>
              </a:rPr>
              <a:t>Time order is never broken: each test learns from the past and is scored on the next 26 weeks.</a:t>
            </a:r>
            <a:endParaRPr lang="en-US" sz="1200" dirty="0"/>
          </a:p>
        </p:txBody>
      </p:sp>
      <p:sp>
        <p:nvSpPr>
          <p:cNvPr id="7" name="Model family"/>
          <p:cNvSpPr/>
          <p:nvPr/>
        </p:nvSpPr>
        <p:spPr>
          <a:xfrm>
            <a:off x="7498080" y="1645920"/>
            <a:ext cx="4114800" cy="603504"/>
          </a:xfrm>
          <a:prstGeom prst="roundRect">
            <a:avLst>
              <a:gd name="adj" fmla="val 9091"/>
            </a:avLst>
          </a:prstGeom>
          <a:solidFill>
            <a:srgbClr val="F2F6FB"/>
          </a:solidFill>
          <a:ln w="12700">
            <a:solidFill>
              <a:srgbClr val="F2F6FB"/>
            </a:solidFill>
            <a:prstDash val="solid"/>
          </a:ln>
        </p:spPr>
      </p:sp>
      <p:sp>
        <p:nvSpPr>
          <p:cNvPr id="8" name="Text 4"/>
          <p:cNvSpPr txBox="1"/>
          <p:nvPr/>
        </p:nvSpPr>
        <p:spPr>
          <a:xfrm>
            <a:off x="7635240" y="1682496"/>
            <a:ext cx="1371600" cy="530352"/>
          </a:xfrm>
          <a:prstGeom prst="rect">
            <a:avLst/>
          </a:prstGeom>
          <a:noFill/>
          <a:ln/>
        </p:spPr>
        <p:txBody>
          <a:bodyPr wrap="square" lIns="0" tIns="0" rIns="0" bIns="0" rtlCol="0" anchor="ctr"/>
          <a:lstStyle/>
          <a:p>
            <a:pPr indent="0" marL="0">
              <a:buNone/>
            </a:pPr>
            <a:r>
              <a:rPr lang="en-US" sz="1300" b="1" dirty="0">
                <a:solidFill>
                  <a:schemeClr val="accent1"/>
                </a:solidFill>
              </a:rPr>
              <a:t>Baselines</a:t>
            </a:r>
            <a:endParaRPr lang="en-US" sz="1300" dirty="0"/>
          </a:p>
        </p:txBody>
      </p:sp>
      <p:sp>
        <p:nvSpPr>
          <p:cNvPr id="9" name="Text 5"/>
          <p:cNvSpPr txBox="1"/>
          <p:nvPr/>
        </p:nvSpPr>
        <p:spPr>
          <a:xfrm>
            <a:off x="9006840" y="1682496"/>
            <a:ext cx="2514600" cy="530352"/>
          </a:xfrm>
          <a:prstGeom prst="rect">
            <a:avLst/>
          </a:prstGeom>
          <a:noFill/>
          <a:ln/>
        </p:spPr>
        <p:txBody>
          <a:bodyPr wrap="square" lIns="0" tIns="0" rIns="0" bIns="0" rtlCol="0" anchor="ctr"/>
          <a:lstStyle/>
          <a:p>
            <a:pPr indent="0" marL="0">
              <a:buNone/>
            </a:pPr>
            <a:r>
              <a:rPr lang="en-US" sz="1150" dirty="0">
                <a:solidFill>
                  <a:srgbClr val="1B2A41"/>
                </a:solidFill>
              </a:rPr>
              <a:t>naive, seasonal naive, last-year average</a:t>
            </a:r>
            <a:endParaRPr lang="en-US" sz="1150" dirty="0"/>
          </a:p>
        </p:txBody>
      </p:sp>
      <p:sp>
        <p:nvSpPr>
          <p:cNvPr id="10" name="Model family"/>
          <p:cNvSpPr/>
          <p:nvPr/>
        </p:nvSpPr>
        <p:spPr>
          <a:xfrm>
            <a:off x="7498080" y="2322576"/>
            <a:ext cx="4114800" cy="603504"/>
          </a:xfrm>
          <a:prstGeom prst="roundRect">
            <a:avLst>
              <a:gd name="adj" fmla="val 9091"/>
            </a:avLst>
          </a:prstGeom>
          <a:solidFill>
            <a:srgbClr val="F2F6FB"/>
          </a:solidFill>
          <a:ln w="12700">
            <a:solidFill>
              <a:srgbClr val="F2F6FB"/>
            </a:solidFill>
            <a:prstDash val="solid"/>
          </a:ln>
        </p:spPr>
      </p:sp>
      <p:sp>
        <p:nvSpPr>
          <p:cNvPr id="11" name="Text 7"/>
          <p:cNvSpPr txBox="1"/>
          <p:nvPr/>
        </p:nvSpPr>
        <p:spPr>
          <a:xfrm>
            <a:off x="7635240" y="2359152"/>
            <a:ext cx="1371600" cy="530352"/>
          </a:xfrm>
          <a:prstGeom prst="rect">
            <a:avLst/>
          </a:prstGeom>
          <a:noFill/>
          <a:ln/>
        </p:spPr>
        <p:txBody>
          <a:bodyPr wrap="square" lIns="0" tIns="0" rIns="0" bIns="0" rtlCol="0" anchor="ctr"/>
          <a:lstStyle/>
          <a:p>
            <a:pPr indent="0" marL="0">
              <a:buNone/>
            </a:pPr>
            <a:r>
              <a:rPr lang="en-US" sz="1300" b="1" dirty="0">
                <a:solidFill>
                  <a:schemeClr val="accent1"/>
                </a:solidFill>
              </a:rPr>
              <a:t>Statistical</a:t>
            </a:r>
            <a:endParaRPr lang="en-US" sz="1300" dirty="0"/>
          </a:p>
        </p:txBody>
      </p:sp>
      <p:sp>
        <p:nvSpPr>
          <p:cNvPr id="12" name="Text 8"/>
          <p:cNvSpPr txBox="1"/>
          <p:nvPr/>
        </p:nvSpPr>
        <p:spPr>
          <a:xfrm>
            <a:off x="9006840" y="2359152"/>
            <a:ext cx="2514600" cy="530352"/>
          </a:xfrm>
          <a:prstGeom prst="rect">
            <a:avLst/>
          </a:prstGeom>
          <a:noFill/>
          <a:ln/>
        </p:spPr>
        <p:txBody>
          <a:bodyPr wrap="square" lIns="0" tIns="0" rIns="0" bIns="0" rtlCol="0" anchor="ctr"/>
          <a:lstStyle/>
          <a:p>
            <a:pPr indent="0" marL="0">
              <a:buNone/>
            </a:pPr>
            <a:r>
              <a:rPr lang="en-US" sz="1150" dirty="0">
                <a:solidFill>
                  <a:srgbClr val="1B2A41"/>
                </a:solidFill>
              </a:rPr>
              <a:t>Holt-Winters, SARIMAX with Fourier terms</a:t>
            </a:r>
            <a:endParaRPr lang="en-US" sz="1150" dirty="0"/>
          </a:p>
        </p:txBody>
      </p:sp>
      <p:sp>
        <p:nvSpPr>
          <p:cNvPr id="13" name="Model family"/>
          <p:cNvSpPr/>
          <p:nvPr/>
        </p:nvSpPr>
        <p:spPr>
          <a:xfrm>
            <a:off x="7498080" y="2999232"/>
            <a:ext cx="4114800" cy="603504"/>
          </a:xfrm>
          <a:prstGeom prst="roundRect">
            <a:avLst>
              <a:gd name="adj" fmla="val 9091"/>
            </a:avLst>
          </a:prstGeom>
          <a:solidFill>
            <a:srgbClr val="F2F6FB"/>
          </a:solidFill>
          <a:ln w="12700">
            <a:solidFill>
              <a:srgbClr val="F2F6FB"/>
            </a:solidFill>
            <a:prstDash val="solid"/>
          </a:ln>
        </p:spPr>
      </p:sp>
      <p:sp>
        <p:nvSpPr>
          <p:cNvPr id="14" name="Text 10"/>
          <p:cNvSpPr txBox="1"/>
          <p:nvPr/>
        </p:nvSpPr>
        <p:spPr>
          <a:xfrm>
            <a:off x="7635240" y="3035808"/>
            <a:ext cx="1371600" cy="530352"/>
          </a:xfrm>
          <a:prstGeom prst="rect">
            <a:avLst/>
          </a:prstGeom>
          <a:noFill/>
          <a:ln/>
        </p:spPr>
        <p:txBody>
          <a:bodyPr wrap="square" lIns="0" tIns="0" rIns="0" bIns="0" rtlCol="0" anchor="ctr"/>
          <a:lstStyle/>
          <a:p>
            <a:pPr indent="0" marL="0">
              <a:buNone/>
            </a:pPr>
            <a:r>
              <a:rPr lang="en-US" sz="1300" b="1" dirty="0">
                <a:solidFill>
                  <a:schemeClr val="accent1"/>
                </a:solidFill>
              </a:rPr>
              <a:t>Structural</a:t>
            </a:r>
            <a:endParaRPr lang="en-US" sz="1300" dirty="0"/>
          </a:p>
        </p:txBody>
      </p:sp>
      <p:sp>
        <p:nvSpPr>
          <p:cNvPr id="15" name="Text 11"/>
          <p:cNvSpPr txBox="1"/>
          <p:nvPr/>
        </p:nvSpPr>
        <p:spPr>
          <a:xfrm>
            <a:off x="9006840" y="3035808"/>
            <a:ext cx="2514600" cy="530352"/>
          </a:xfrm>
          <a:prstGeom prst="rect">
            <a:avLst/>
          </a:prstGeom>
          <a:noFill/>
          <a:ln/>
        </p:spPr>
        <p:txBody>
          <a:bodyPr wrap="square" lIns="0" tIns="0" rIns="0" bIns="0" rtlCol="0" anchor="ctr"/>
          <a:lstStyle/>
          <a:p>
            <a:pPr indent="0" marL="0">
              <a:buNone/>
            </a:pPr>
            <a:r>
              <a:rPr lang="en-US" sz="1150" dirty="0">
                <a:solidFill>
                  <a:srgbClr val="1B2A41"/>
                </a:solidFill>
              </a:rPr>
              <a:t>shared curve x level x growth, pooled and per segment, plain recipe</a:t>
            </a:r>
            <a:endParaRPr lang="en-US" sz="1150" dirty="0"/>
          </a:p>
        </p:txBody>
      </p:sp>
      <p:sp>
        <p:nvSpPr>
          <p:cNvPr id="16" name="Model family"/>
          <p:cNvSpPr/>
          <p:nvPr/>
        </p:nvSpPr>
        <p:spPr>
          <a:xfrm>
            <a:off x="7498080" y="3675888"/>
            <a:ext cx="4114800" cy="603504"/>
          </a:xfrm>
          <a:prstGeom prst="roundRect">
            <a:avLst>
              <a:gd name="adj" fmla="val 9091"/>
            </a:avLst>
          </a:prstGeom>
          <a:solidFill>
            <a:srgbClr val="F2F6FB"/>
          </a:solidFill>
          <a:ln w="12700">
            <a:solidFill>
              <a:srgbClr val="F2F6FB"/>
            </a:solidFill>
            <a:prstDash val="solid"/>
          </a:ln>
        </p:spPr>
      </p:sp>
      <p:sp>
        <p:nvSpPr>
          <p:cNvPr id="17" name="Text 13"/>
          <p:cNvSpPr txBox="1"/>
          <p:nvPr/>
        </p:nvSpPr>
        <p:spPr>
          <a:xfrm>
            <a:off x="7635240" y="3712464"/>
            <a:ext cx="1371600" cy="530352"/>
          </a:xfrm>
          <a:prstGeom prst="rect">
            <a:avLst/>
          </a:prstGeom>
          <a:noFill/>
          <a:ln/>
        </p:spPr>
        <p:txBody>
          <a:bodyPr wrap="square" lIns="0" tIns="0" rIns="0" bIns="0" rtlCol="0" anchor="ctr"/>
          <a:lstStyle/>
          <a:p>
            <a:pPr indent="0" marL="0">
              <a:buNone/>
            </a:pPr>
            <a:r>
              <a:rPr lang="en-US" sz="1300" b="1" dirty="0">
                <a:solidFill>
                  <a:schemeClr val="accent1"/>
                </a:solidFill>
              </a:rPr>
              <a:t>Machine learning</a:t>
            </a:r>
            <a:endParaRPr lang="en-US" sz="1300" dirty="0"/>
          </a:p>
        </p:txBody>
      </p:sp>
      <p:sp>
        <p:nvSpPr>
          <p:cNvPr id="18" name="Text 14"/>
          <p:cNvSpPr txBox="1"/>
          <p:nvPr/>
        </p:nvSpPr>
        <p:spPr>
          <a:xfrm>
            <a:off x="9006840" y="3712464"/>
            <a:ext cx="2514600" cy="530352"/>
          </a:xfrm>
          <a:prstGeom prst="rect">
            <a:avLst/>
          </a:prstGeom>
          <a:noFill/>
          <a:ln/>
        </p:spPr>
        <p:txBody>
          <a:bodyPr wrap="square" lIns="0" tIns="0" rIns="0" bIns="0" rtlCol="0" anchor="ctr"/>
          <a:lstStyle/>
          <a:p>
            <a:pPr indent="0" marL="0">
              <a:buNone/>
            </a:pPr>
            <a:r>
              <a:rPr lang="en-US" sz="1150" dirty="0">
                <a:solidFill>
                  <a:srgbClr val="1B2A41"/>
                </a:solidFill>
              </a:rPr>
              <a:t>LightGBM (global, per segment), Prophet</a:t>
            </a:r>
            <a:endParaRPr lang="en-US" sz="1150" dirty="0"/>
          </a:p>
        </p:txBody>
      </p:sp>
      <p:sp>
        <p:nvSpPr>
          <p:cNvPr id="19" name="Model family"/>
          <p:cNvSpPr/>
          <p:nvPr/>
        </p:nvSpPr>
        <p:spPr>
          <a:xfrm>
            <a:off x="7498080" y="4352544"/>
            <a:ext cx="4114800" cy="603504"/>
          </a:xfrm>
          <a:prstGeom prst="roundRect">
            <a:avLst>
              <a:gd name="adj" fmla="val 9091"/>
            </a:avLst>
          </a:prstGeom>
          <a:solidFill>
            <a:srgbClr val="F2F6FB"/>
          </a:solidFill>
          <a:ln w="12700">
            <a:solidFill>
              <a:srgbClr val="F2F6FB"/>
            </a:solidFill>
            <a:prstDash val="solid"/>
          </a:ln>
        </p:spPr>
      </p:sp>
      <p:sp>
        <p:nvSpPr>
          <p:cNvPr id="20" name="Text 16"/>
          <p:cNvSpPr txBox="1"/>
          <p:nvPr/>
        </p:nvSpPr>
        <p:spPr>
          <a:xfrm>
            <a:off x="7635240" y="4389120"/>
            <a:ext cx="1371600" cy="530352"/>
          </a:xfrm>
          <a:prstGeom prst="rect">
            <a:avLst/>
          </a:prstGeom>
          <a:noFill/>
          <a:ln/>
        </p:spPr>
        <p:txBody>
          <a:bodyPr wrap="square" lIns="0" tIns="0" rIns="0" bIns="0" rtlCol="0" anchor="ctr"/>
          <a:lstStyle/>
          <a:p>
            <a:pPr indent="0" marL="0">
              <a:buNone/>
            </a:pPr>
            <a:r>
              <a:rPr lang="en-US" sz="1300" b="1" dirty="0">
                <a:solidFill>
                  <a:schemeClr val="accent1"/>
                </a:solidFill>
              </a:rPr>
              <a:t>Ensembles</a:t>
            </a:r>
            <a:endParaRPr lang="en-US" sz="1300" dirty="0"/>
          </a:p>
        </p:txBody>
      </p:sp>
      <p:sp>
        <p:nvSpPr>
          <p:cNvPr id="21" name="Text 17"/>
          <p:cNvSpPr txBox="1"/>
          <p:nvPr/>
        </p:nvSpPr>
        <p:spPr>
          <a:xfrm>
            <a:off x="9006840" y="4389120"/>
            <a:ext cx="2514600" cy="530352"/>
          </a:xfrm>
          <a:prstGeom prst="rect">
            <a:avLst/>
          </a:prstGeom>
          <a:noFill/>
          <a:ln/>
        </p:spPr>
        <p:txBody>
          <a:bodyPr wrap="square" lIns="0" tIns="0" rIns="0" bIns="0" rtlCol="0" anchor="ctr"/>
          <a:lstStyle/>
          <a:p>
            <a:pPr indent="0" marL="0">
              <a:buNone/>
            </a:pPr>
            <a:r>
              <a:rPr lang="en-US" sz="1150" dirty="0">
                <a:solidFill>
                  <a:srgbClr val="1B2A41"/>
                </a:solidFill>
              </a:rPr>
              <a:t>average of best 3, average of 5 methods</a:t>
            </a:r>
            <a:endParaRPr lang="en-US" sz="1150" dirty="0"/>
          </a:p>
        </p:txBody>
      </p:sp>
      <p:sp>
        <p:nvSpPr>
          <p:cNvPr id="22" name="Callout"/>
          <p:cNvSpPr/>
          <p:nvPr/>
        </p:nvSpPr>
        <p:spPr>
          <a:xfrm>
            <a:off x="548640" y="4343400"/>
            <a:ext cx="11064240" cy="1965960"/>
          </a:xfrm>
          <a:prstGeom prst="roundRect">
            <a:avLst>
              <a:gd name="adj" fmla="val 3721"/>
            </a:avLst>
          </a:prstGeom>
          <a:solidFill>
            <a:srgbClr val="F2F6FB"/>
          </a:solidFill>
          <a:ln w="12700">
            <a:solidFill>
              <a:srgbClr val="D9E1EC"/>
            </a:solidFill>
            <a:prstDash val="solid"/>
          </a:ln>
        </p:spPr>
      </p:sp>
      <p:sp>
        <p:nvSpPr>
          <p:cNvPr id="23" name="Text 19"/>
          <p:cNvSpPr txBox="1"/>
          <p:nvPr/>
        </p:nvSpPr>
        <p:spPr>
          <a:xfrm>
            <a:off x="731520" y="445312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Why this design</a:t>
            </a:r>
            <a:endParaRPr lang="en-US" sz="1400" dirty="0"/>
          </a:p>
        </p:txBody>
      </p:sp>
      <p:sp>
        <p:nvSpPr>
          <p:cNvPr id="24" name="Text 20"/>
          <p:cNvSpPr txBox="1"/>
          <p:nvPr/>
        </p:nvSpPr>
        <p:spPr>
          <a:xfrm>
            <a:off x="731520" y="4800600"/>
            <a:ext cx="10698480" cy="1417320"/>
          </a:xfrm>
          <a:prstGeom prst="rect">
            <a:avLst/>
          </a:prstGeom>
          <a:noFill/>
          <a:ln/>
        </p:spPr>
        <p:txBody>
          <a:bodyPr wrap="square" lIns="0" tIns="0" rIns="0" bIns="0" rtlCol="0" anchor="t"/>
          <a:lstStyle/>
          <a:p>
            <a:pPr marL="177800" indent="-177800">
              <a:spcAft>
                <a:spcPts val="500"/>
              </a:spcAft>
              <a:buSzPct val="100000"/>
              <a:buChar char="•"/>
            </a:pPr>
            <a:r>
              <a:rPr lang="en-US" sz="1350" dirty="0">
                <a:solidFill>
                  <a:srgbClr val="1B2A41"/>
                </a:solidFill>
              </a:rPr>
              <a:t>No peeking: every free setting, including the 0.40 / 0.60 blend weight, is tuned on training weeks only.</a:t>
            </a:r>
            <a:endParaRPr lang="en-US" sz="1350" dirty="0"/>
          </a:p>
          <a:p>
            <a:pPr marL="177800" indent="-177800">
              <a:spcAft>
                <a:spcPts val="500"/>
              </a:spcAft>
              <a:buSzPct val="100000"/>
              <a:buChar char="•"/>
            </a:pPr>
            <a:r>
              <a:rPr lang="en-US" sz="1350" dirty="0">
                <a:solidFill>
                  <a:srgbClr val="1B2A41"/>
                </a:solidFill>
              </a:rPr>
              <a:t>Not one lucky window: four rolling origins, each forecasting 26 weeks ahead like the real task.</a:t>
            </a:r>
            <a:endParaRPr lang="en-US" sz="1350" dirty="0"/>
          </a:p>
          <a:p>
            <a:pPr marL="177800" indent="-177800">
              <a:spcAft>
                <a:spcPts val="500"/>
              </a:spcAft>
              <a:buSzPct val="100000"/>
              <a:buChar char="•"/>
            </a:pPr>
            <a:r>
              <a:rPr lang="en-US" sz="1350" dirty="0">
                <a:solidFill>
                  <a:srgbClr val="1B2A41"/>
                </a:solidFill>
              </a:rPr>
              <a:t>More than one number: WAPE (volume-weighted) is primary; MAE, RMSE, MAPE, MASE and bias are also reported.</a:t>
            </a:r>
            <a:endParaRPr lang="en-US" sz="1350" dirty="0"/>
          </a:p>
          <a:p>
            <a:pPr marL="177800" indent="-177800">
              <a:spcAft>
                <a:spcPts val="500"/>
              </a:spcAft>
              <a:buSzPct val="100000"/>
              <a:buChar char="•"/>
            </a:pPr>
            <a:r>
              <a:rPr lang="en-US" sz="1350" dirty="0">
                <a:solidFill>
                  <a:srgbClr val="1B2A41"/>
                </a:solidFill>
              </a:rPr>
              <a:t>Real or noise? A paired bootstrap checks whether a model beats the best simple rule.</a:t>
            </a:r>
            <a:endParaRPr lang="en-US" sz="13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FORECASTING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13 methods, 4 tests: the simple structure wins</a:t>
            </a:r>
            <a:endParaRPr lang="en-US" sz="3000" dirty="0"/>
          </a:p>
        </p:txBody>
      </p:sp>
      <p:graphicFrame>
        <p:nvGraphicFramePr>
          <p:cNvPr id="5" name="Chart 0" descr=""/>
          <p:cNvGraphicFramePr/>
          <p:nvPr/>
        </p:nvGraphicFramePr>
        <p:xfrm>
          <a:off x="548640" y="1645920"/>
          <a:ext cx="6766560" cy="461772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7589520" y="1691640"/>
            <a:ext cx="1920240" cy="1325880"/>
          </a:xfrm>
          <a:prstGeom prst="roundRect">
            <a:avLst>
              <a:gd name="adj" fmla="val 5517"/>
            </a:avLst>
          </a:prstGeom>
          <a:solidFill>
            <a:srgbClr val="F2F6FB"/>
          </a:solidFill>
          <a:ln w="12700">
            <a:solidFill>
              <a:srgbClr val="F2F6FB"/>
            </a:solidFill>
            <a:prstDash val="solid"/>
          </a:ln>
        </p:spPr>
      </p:sp>
      <p:sp>
        <p:nvSpPr>
          <p:cNvPr id="7" name="Text 3"/>
          <p:cNvSpPr txBox="1"/>
          <p:nvPr/>
        </p:nvSpPr>
        <p:spPr>
          <a:xfrm>
            <a:off x="7726680" y="1764792"/>
            <a:ext cx="1645920" cy="596646"/>
          </a:xfrm>
          <a:prstGeom prst="rect">
            <a:avLst/>
          </a:prstGeom>
          <a:noFill/>
          <a:ln/>
        </p:spPr>
        <p:txBody>
          <a:bodyPr wrap="square" lIns="0" tIns="0" rIns="0" bIns="0" rtlCol="0" anchor="ctr"/>
          <a:lstStyle/>
          <a:p>
            <a:pPr indent="0" marL="0">
              <a:buNone/>
            </a:pPr>
            <a:r>
              <a:rPr lang="en-US" sz="3200" b="1" dirty="0">
                <a:solidFill>
                  <a:srgbClr val="1BAF7A"/>
                </a:solidFill>
                <a:latin typeface="Cambria" pitchFamily="34" charset="0"/>
                <a:ea typeface="Cambria" pitchFamily="34" charset="-122"/>
                <a:cs typeface="Cambria" pitchFamily="34" charset="-120"/>
              </a:rPr>
              <a:t>4.57%</a:t>
            </a:r>
            <a:endParaRPr lang="en-US" sz="3200" dirty="0"/>
          </a:p>
        </p:txBody>
      </p:sp>
      <p:sp>
        <p:nvSpPr>
          <p:cNvPr id="8" name="Text 4"/>
          <p:cNvSpPr txBox="1"/>
          <p:nvPr/>
        </p:nvSpPr>
        <p:spPr>
          <a:xfrm>
            <a:off x="7726680" y="2381098"/>
            <a:ext cx="1645920" cy="609905"/>
          </a:xfrm>
          <a:prstGeom prst="rect">
            <a:avLst/>
          </a:prstGeom>
          <a:noFill/>
          <a:ln/>
        </p:spPr>
        <p:txBody>
          <a:bodyPr wrap="square" lIns="0" tIns="0" rIns="0" bIns="0" rtlCol="0" anchor="t"/>
          <a:lstStyle/>
          <a:p>
            <a:pPr indent="0" marL="0">
              <a:buNone/>
            </a:pPr>
            <a:r>
              <a:rPr lang="en-US" sz="1300" dirty="0">
                <a:solidFill>
                  <a:srgbClr val="5B6B80"/>
                </a:solidFill>
              </a:rPr>
              <a:t>WAPE of the winner</a:t>
            </a:r>
            <a:endParaRPr lang="en-US" sz="1300" dirty="0"/>
          </a:p>
        </p:txBody>
      </p:sp>
      <p:sp>
        <p:nvSpPr>
          <p:cNvPr id="9" name="Stat card"/>
          <p:cNvSpPr/>
          <p:nvPr/>
        </p:nvSpPr>
        <p:spPr>
          <a:xfrm>
            <a:off x="9646920" y="1691640"/>
            <a:ext cx="1965960" cy="1325880"/>
          </a:xfrm>
          <a:prstGeom prst="roundRect">
            <a:avLst>
              <a:gd name="adj" fmla="val 5517"/>
            </a:avLst>
          </a:prstGeom>
          <a:solidFill>
            <a:srgbClr val="F2F6FB"/>
          </a:solidFill>
          <a:ln w="12700">
            <a:solidFill>
              <a:srgbClr val="F2F6FB"/>
            </a:solidFill>
            <a:prstDash val="solid"/>
          </a:ln>
        </p:spPr>
      </p:sp>
      <p:sp>
        <p:nvSpPr>
          <p:cNvPr id="10" name="Text 6"/>
          <p:cNvSpPr txBox="1"/>
          <p:nvPr/>
        </p:nvSpPr>
        <p:spPr>
          <a:xfrm>
            <a:off x="9784080" y="1764792"/>
            <a:ext cx="1691640" cy="596646"/>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97</a:t>
            </a:r>
            <a:endParaRPr lang="en-US" sz="3200" dirty="0"/>
          </a:p>
        </p:txBody>
      </p:sp>
      <p:sp>
        <p:nvSpPr>
          <p:cNvPr id="11" name="Text 7"/>
          <p:cNvSpPr txBox="1"/>
          <p:nvPr/>
        </p:nvSpPr>
        <p:spPr>
          <a:xfrm>
            <a:off x="9784080" y="2381098"/>
            <a:ext cx="1691640" cy="609905"/>
          </a:xfrm>
          <a:prstGeom prst="rect">
            <a:avLst/>
          </a:prstGeom>
          <a:noFill/>
          <a:ln/>
        </p:spPr>
        <p:txBody>
          <a:bodyPr wrap="square" lIns="0" tIns="0" rIns="0" bIns="0" rtlCol="0" anchor="t"/>
          <a:lstStyle/>
          <a:p>
            <a:pPr indent="0" marL="0">
              <a:buNone/>
            </a:pPr>
            <a:r>
              <a:rPr lang="en-US" sz="1300" dirty="0">
                <a:solidFill>
                  <a:srgbClr val="5B6B80"/>
                </a:solidFill>
              </a:rPr>
              <a:t>units: mean error per product-week</a:t>
            </a:r>
            <a:endParaRPr lang="en-US" sz="1300" dirty="0"/>
          </a:p>
        </p:txBody>
      </p:sp>
      <p:sp>
        <p:nvSpPr>
          <p:cNvPr id="12" name="Text 8"/>
          <p:cNvSpPr txBox="1"/>
          <p:nvPr/>
        </p:nvSpPr>
        <p:spPr>
          <a:xfrm>
            <a:off x="7589520" y="3246120"/>
            <a:ext cx="4023360" cy="3017520"/>
          </a:xfrm>
          <a:prstGeom prst="rect">
            <a:avLst/>
          </a:prstGeom>
          <a:noFill/>
          <a:ln/>
        </p:spPr>
        <p:txBody>
          <a:bodyPr wrap="square" lIns="0" tIns="0" rIns="0" bIns="0" rtlCol="0" anchor="t"/>
          <a:lstStyle/>
          <a:p>
            <a:pPr marL="203200" indent="-203200">
              <a:spcAft>
                <a:spcPts val="800"/>
              </a:spcAft>
              <a:buSzPct val="100000"/>
              <a:buChar char="•"/>
            </a:pPr>
            <a:r>
              <a:rPr lang="en-US" sz="1400" b="1" dirty="0">
                <a:solidFill>
                  <a:srgbClr val="1B2A41"/>
                </a:solidFill>
              </a:rPr>
              <a:t>13% better </a:t>
            </a:r>
            <a:pPr indent="0" marL="0">
              <a:spcAft>
                <a:spcPts val="800"/>
              </a:spcAft>
              <a:buNone/>
            </a:pPr>
            <a:r>
              <a:rPr lang="en-US" sz="1400" dirty="0">
                <a:solidFill>
                  <a:srgbClr val="1B2A41"/>
                </a:solidFill>
              </a:rPr>
              <a:t>than the best simple rule, 34% better than 'same week last year'.</a:t>
            </a:r>
            <a:endParaRPr lang="en-US" sz="1400" dirty="0"/>
          </a:p>
          <a:p>
            <a:pPr marL="203200" indent="-203200">
              <a:spcAft>
                <a:spcPts val="800"/>
              </a:spcAft>
              <a:buSzPct val="100000"/>
              <a:buChar char="•"/>
            </a:pPr>
            <a:r>
              <a:rPr lang="en-US" sz="1400" b="1" dirty="0">
                <a:solidFill>
                  <a:srgbClr val="1B2A41"/>
                </a:solidFill>
              </a:rPr>
              <a:t>How tested: </a:t>
            </a:r>
            <a:pPr indent="0" marL="0">
              <a:spcAft>
                <a:spcPts val="800"/>
              </a:spcAft>
              <a:buNone/>
            </a:pPr>
            <a:r>
              <a:rPr lang="en-US" sz="1400" dirty="0">
                <a:solidFill>
                  <a:srgbClr val="1B2A41"/>
                </a:solidFill>
              </a:rPr>
              <a:t>4 rolling origins, next 26 weeks each; every setting tuned on training data only.</a:t>
            </a:r>
            <a:endParaRPr lang="en-US" sz="1400" dirty="0"/>
          </a:p>
          <a:p>
            <a:pPr marL="203200" indent="-203200">
              <a:spcAft>
                <a:spcPts val="800"/>
              </a:spcAft>
              <a:buSzPct val="100000"/>
              <a:buChar char="•"/>
            </a:pPr>
            <a:r>
              <a:rPr lang="en-US" sz="1400" b="1" dirty="0">
                <a:solidFill>
                  <a:srgbClr val="1B2A41"/>
                </a:solidFill>
              </a:rPr>
              <a:t>Honest figure: </a:t>
            </a:r>
            <a:pPr indent="0" marL="0">
              <a:spcAft>
                <a:spcPts val="800"/>
              </a:spcAft>
              <a:buNone/>
            </a:pPr>
            <a:r>
              <a:rPr lang="en-US" sz="1400" dirty="0">
                <a:solidFill>
                  <a:srgbClr val="1B2A41"/>
                </a:solidFill>
              </a:rPr>
              <a:t>6.6% on weeks where demand was observed directly.</a:t>
            </a:r>
            <a:endParaRPr lang="en-US" sz="1400" dirty="0"/>
          </a:p>
          <a:p>
            <a:pPr marL="203200" indent="-203200">
              <a:spcAft>
                <a:spcPts val="800"/>
              </a:spcAft>
              <a:buSzPct val="100000"/>
              <a:buChar char="•"/>
            </a:pPr>
            <a:r>
              <a:rPr lang="en-US" sz="1400" b="1" dirty="0">
                <a:solidFill>
                  <a:srgbClr val="1B2A41"/>
                </a:solidFill>
              </a:rPr>
              <a:t>Simple is enough: </a:t>
            </a:r>
            <a:pPr indent="0" marL="0">
              <a:spcAft>
                <a:spcPts val="800"/>
              </a:spcAft>
              <a:buNone/>
            </a:pPr>
            <a:r>
              <a:rPr lang="en-US" sz="1400" dirty="0">
                <a:solidFill>
                  <a:srgbClr val="1B2A41"/>
                </a:solidFill>
              </a:rPr>
              <a:t>a plain size x season x growth recipe is within 0.15 points.</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2 · FORECASTING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Next 26 weeks: demand up 2.8%</a:t>
            </a:r>
            <a:endParaRPr lang="en-US" sz="3000" dirty="0"/>
          </a:p>
        </p:txBody>
      </p:sp>
      <p:pic>
        <p:nvPicPr>
          <p:cNvPr id="5" name="Forecast figure" descr="/home/user/Technical_Assessment_HamidrezaNademi/part2_forecasting_v1.2/figures/final_forecast_v1.2.png">    </p:cNvPr>
          <p:cNvPicPr>
            <a:picLocks noChangeAspect="1"/>
          </p:cNvPicPr>
          <p:nvPr/>
        </p:nvPicPr>
        <p:blipFill>
          <a:blip r:embed="rId1"/>
          <a:stretch>
            <a:fillRect/>
          </a:stretch>
        </p:blipFill>
        <p:spPr>
          <a:xfrm>
            <a:off x="548640" y="1645920"/>
            <a:ext cx="8412480" cy="2688336"/>
          </a:xfrm>
          <a:prstGeom prst="rect">
            <a:avLst/>
          </a:prstGeom>
        </p:spPr>
      </p:pic>
      <p:sp>
        <p:nvSpPr>
          <p:cNvPr id="6" name="Stat card"/>
          <p:cNvSpPr/>
          <p:nvPr/>
        </p:nvSpPr>
        <p:spPr>
          <a:xfrm>
            <a:off x="9144000" y="1645920"/>
            <a:ext cx="2468880" cy="1325880"/>
          </a:xfrm>
          <a:prstGeom prst="roundRect">
            <a:avLst>
              <a:gd name="adj" fmla="val 5517"/>
            </a:avLst>
          </a:prstGeom>
          <a:solidFill>
            <a:srgbClr val="F2F6FB"/>
          </a:solidFill>
          <a:ln w="12700">
            <a:solidFill>
              <a:srgbClr val="F2F6FB"/>
            </a:solidFill>
            <a:prstDash val="solid"/>
          </a:ln>
        </p:spPr>
      </p:sp>
      <p:sp>
        <p:nvSpPr>
          <p:cNvPr id="7" name="Text 3"/>
          <p:cNvSpPr txBox="1"/>
          <p:nvPr/>
        </p:nvSpPr>
        <p:spPr>
          <a:xfrm>
            <a:off x="9281160" y="1719072"/>
            <a:ext cx="2194560" cy="596646"/>
          </a:xfrm>
          <a:prstGeom prst="rect">
            <a:avLst/>
          </a:prstGeom>
          <a:noFill/>
          <a:ln/>
        </p:spPr>
        <p:txBody>
          <a:bodyPr wrap="square" lIns="0" tIns="0" rIns="0" bIns="0" rtlCol="0" anchor="ctr"/>
          <a:lstStyle/>
          <a:p>
            <a:pPr indent="0" marL="0">
              <a:buNone/>
            </a:pPr>
            <a:r>
              <a:rPr lang="en-US" sz="3200" b="1" dirty="0">
                <a:solidFill>
                  <a:srgbClr val="2A78D6"/>
                </a:solidFill>
                <a:latin typeface="Cambria" pitchFamily="34" charset="0"/>
                <a:ea typeface="Cambria" pitchFamily="34" charset="-122"/>
                <a:cs typeface="Cambria" pitchFamily="34" charset="-120"/>
              </a:rPr>
              <a:t>2.0M</a:t>
            </a:r>
            <a:endParaRPr lang="en-US" sz="3200" dirty="0"/>
          </a:p>
        </p:txBody>
      </p:sp>
      <p:sp>
        <p:nvSpPr>
          <p:cNvPr id="8" name="Text 4"/>
          <p:cNvSpPr txBox="1"/>
          <p:nvPr/>
        </p:nvSpPr>
        <p:spPr>
          <a:xfrm>
            <a:off x="9281160" y="2335378"/>
            <a:ext cx="2194560" cy="609905"/>
          </a:xfrm>
          <a:prstGeom prst="rect">
            <a:avLst/>
          </a:prstGeom>
          <a:noFill/>
          <a:ln/>
        </p:spPr>
        <p:txBody>
          <a:bodyPr wrap="square" lIns="0" tIns="0" rIns="0" bIns="0" rtlCol="0" anchor="t"/>
          <a:lstStyle/>
          <a:p>
            <a:pPr indent="0" marL="0">
              <a:buNone/>
            </a:pPr>
            <a:r>
              <a:rPr lang="en-US" sz="1300" dirty="0">
                <a:solidFill>
                  <a:srgbClr val="5B6B80"/>
                </a:solidFill>
              </a:rPr>
              <a:t>units forecast, +2.8% vs same weeks last year</a:t>
            </a:r>
            <a:endParaRPr lang="en-US" sz="1300" dirty="0"/>
          </a:p>
        </p:txBody>
      </p:sp>
      <p:sp>
        <p:nvSpPr>
          <p:cNvPr id="9" name="Stat card"/>
          <p:cNvSpPr/>
          <p:nvPr/>
        </p:nvSpPr>
        <p:spPr>
          <a:xfrm>
            <a:off x="9144000" y="3035808"/>
            <a:ext cx="2468880" cy="1325880"/>
          </a:xfrm>
          <a:prstGeom prst="roundRect">
            <a:avLst>
              <a:gd name="adj" fmla="val 5517"/>
            </a:avLst>
          </a:prstGeom>
          <a:solidFill>
            <a:srgbClr val="F2F6FB"/>
          </a:solidFill>
          <a:ln w="12700">
            <a:solidFill>
              <a:srgbClr val="F2F6FB"/>
            </a:solidFill>
            <a:prstDash val="solid"/>
          </a:ln>
        </p:spPr>
      </p:sp>
      <p:sp>
        <p:nvSpPr>
          <p:cNvPr id="10" name="Text 6"/>
          <p:cNvSpPr txBox="1"/>
          <p:nvPr/>
        </p:nvSpPr>
        <p:spPr>
          <a:xfrm>
            <a:off x="9281160" y="3108960"/>
            <a:ext cx="2194560" cy="596646"/>
          </a:xfrm>
          <a:prstGeom prst="rect">
            <a:avLst/>
          </a:prstGeom>
          <a:noFill/>
          <a:ln/>
        </p:spPr>
        <p:txBody>
          <a:bodyPr wrap="square" lIns="0" tIns="0" rIns="0" bIns="0" rtlCol="0" anchor="ctr"/>
          <a:lstStyle/>
          <a:p>
            <a:pPr indent="0" marL="0">
              <a:buNone/>
            </a:pPr>
            <a:r>
              <a:rPr lang="en-US" sz="3200" b="1" dirty="0">
                <a:solidFill>
                  <a:srgbClr val="1BAF7A"/>
                </a:solidFill>
                <a:latin typeface="Cambria" pitchFamily="34" charset="0"/>
                <a:ea typeface="Cambria" pitchFamily="34" charset="-122"/>
                <a:cs typeface="Cambria" pitchFamily="34" charset="-120"/>
              </a:rPr>
              <a:t>80%</a:t>
            </a:r>
            <a:endParaRPr lang="en-US" sz="3200" dirty="0"/>
          </a:p>
        </p:txBody>
      </p:sp>
      <p:sp>
        <p:nvSpPr>
          <p:cNvPr id="11" name="Text 7"/>
          <p:cNvSpPr txBox="1"/>
          <p:nvPr/>
        </p:nvSpPr>
        <p:spPr>
          <a:xfrm>
            <a:off x="9281160" y="3725266"/>
            <a:ext cx="2194560" cy="609905"/>
          </a:xfrm>
          <a:prstGeom prst="rect">
            <a:avLst/>
          </a:prstGeom>
          <a:noFill/>
          <a:ln/>
        </p:spPr>
        <p:txBody>
          <a:bodyPr wrap="square" lIns="0" tIns="0" rIns="0" bIns="0" rtlCol="0" anchor="t"/>
          <a:lstStyle/>
          <a:p>
            <a:pPr indent="0" marL="0">
              <a:buNone/>
            </a:pPr>
            <a:r>
              <a:rPr lang="en-US" sz="1300" dirty="0">
                <a:solidFill>
                  <a:srgbClr val="5B6B80"/>
                </a:solidFill>
              </a:rPr>
              <a:t>of outcomes inside the P10-P90 band</a:t>
            </a:r>
            <a:endParaRPr lang="en-US" sz="1300" dirty="0"/>
          </a:p>
        </p:txBody>
      </p:sp>
      <p:sp>
        <p:nvSpPr>
          <p:cNvPr id="12" name="Stat card"/>
          <p:cNvSpPr/>
          <p:nvPr/>
        </p:nvSpPr>
        <p:spPr>
          <a:xfrm>
            <a:off x="548640" y="4526280"/>
            <a:ext cx="3566160" cy="1097280"/>
          </a:xfrm>
          <a:prstGeom prst="roundRect">
            <a:avLst>
              <a:gd name="adj" fmla="val 6667"/>
            </a:avLst>
          </a:prstGeom>
          <a:solidFill>
            <a:srgbClr val="F2F6FB"/>
          </a:solidFill>
          <a:ln w="12700">
            <a:solidFill>
              <a:srgbClr val="F2F6FB"/>
            </a:solidFill>
            <a:prstDash val="solid"/>
          </a:ln>
        </p:spPr>
      </p:sp>
      <p:sp>
        <p:nvSpPr>
          <p:cNvPr id="13" name="Text 9"/>
          <p:cNvSpPr txBox="1"/>
          <p:nvPr/>
        </p:nvSpPr>
        <p:spPr>
          <a:xfrm>
            <a:off x="685800" y="4599432"/>
            <a:ext cx="3291840" cy="493776"/>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$64.6M</a:t>
            </a:r>
            <a:endParaRPr lang="en-US" sz="2800" dirty="0"/>
          </a:p>
        </p:txBody>
      </p:sp>
      <p:sp>
        <p:nvSpPr>
          <p:cNvPr id="14" name="Text 10"/>
          <p:cNvSpPr txBox="1"/>
          <p:nvPr/>
        </p:nvSpPr>
        <p:spPr>
          <a:xfrm>
            <a:off x="685800" y="5096866"/>
            <a:ext cx="3291840" cy="504749"/>
          </a:xfrm>
          <a:prstGeom prst="rect">
            <a:avLst/>
          </a:prstGeom>
          <a:noFill/>
          <a:ln/>
        </p:spPr>
        <p:txBody>
          <a:bodyPr wrap="square" lIns="0" tIns="0" rIns="0" bIns="0" rtlCol="0" anchor="t"/>
          <a:lstStyle/>
          <a:p>
            <a:pPr indent="0" marL="0">
              <a:buNone/>
            </a:pPr>
            <a:r>
              <a:rPr lang="en-US" sz="1300" dirty="0">
                <a:solidFill>
                  <a:srgbClr val="5B6B80"/>
                </a:solidFill>
              </a:rPr>
              <a:t>revenue potential, no stock limit</a:t>
            </a:r>
            <a:endParaRPr lang="en-US" sz="1300" dirty="0"/>
          </a:p>
        </p:txBody>
      </p:sp>
      <p:sp>
        <p:nvSpPr>
          <p:cNvPr id="15" name="Stat card"/>
          <p:cNvSpPr/>
          <p:nvPr/>
        </p:nvSpPr>
        <p:spPr>
          <a:xfrm>
            <a:off x="4297680" y="4526280"/>
            <a:ext cx="3566160" cy="1097280"/>
          </a:xfrm>
          <a:prstGeom prst="roundRect">
            <a:avLst>
              <a:gd name="adj" fmla="val 6667"/>
            </a:avLst>
          </a:prstGeom>
          <a:solidFill>
            <a:srgbClr val="F2F6FB"/>
          </a:solidFill>
          <a:ln w="12700">
            <a:solidFill>
              <a:srgbClr val="F2F6FB"/>
            </a:solidFill>
            <a:prstDash val="solid"/>
          </a:ln>
        </p:spPr>
      </p:sp>
      <p:sp>
        <p:nvSpPr>
          <p:cNvPr id="16" name="Text 12"/>
          <p:cNvSpPr txBox="1"/>
          <p:nvPr/>
        </p:nvSpPr>
        <p:spPr>
          <a:xfrm>
            <a:off x="4434840" y="4599432"/>
            <a:ext cx="3291840" cy="493776"/>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$28.7M</a:t>
            </a:r>
            <a:endParaRPr lang="en-US" sz="2800" dirty="0"/>
          </a:p>
        </p:txBody>
      </p:sp>
      <p:sp>
        <p:nvSpPr>
          <p:cNvPr id="17" name="Text 13"/>
          <p:cNvSpPr txBox="1"/>
          <p:nvPr/>
        </p:nvSpPr>
        <p:spPr>
          <a:xfrm>
            <a:off x="4434840" y="5096866"/>
            <a:ext cx="3291840" cy="504749"/>
          </a:xfrm>
          <a:prstGeom prst="rect">
            <a:avLst/>
          </a:prstGeom>
          <a:noFill/>
          <a:ln/>
        </p:spPr>
        <p:txBody>
          <a:bodyPr wrap="square" lIns="0" tIns="0" rIns="0" bIns="0" rtlCol="0" anchor="t"/>
          <a:lstStyle/>
          <a:p>
            <a:pPr indent="0" marL="0">
              <a:buNone/>
            </a:pPr>
            <a:r>
              <a:rPr lang="en-US" sz="1300" dirty="0">
                <a:solidFill>
                  <a:srgbClr val="5B6B80"/>
                </a:solidFill>
              </a:rPr>
              <a:t>at risk at today's stock levels (44%)</a:t>
            </a:r>
            <a:endParaRPr lang="en-US" sz="1300" dirty="0"/>
          </a:p>
        </p:txBody>
      </p:sp>
      <p:sp>
        <p:nvSpPr>
          <p:cNvPr id="18" name="Text 14"/>
          <p:cNvSpPr txBox="1"/>
          <p:nvPr/>
        </p:nvSpPr>
        <p:spPr>
          <a:xfrm>
            <a:off x="548640" y="5806440"/>
            <a:ext cx="11064240" cy="548640"/>
          </a:xfrm>
          <a:prstGeom prst="rect">
            <a:avLst/>
          </a:prstGeom>
          <a:noFill/>
          <a:ln/>
        </p:spPr>
        <p:txBody>
          <a:bodyPr wrap="square" lIns="0" tIns="0" rIns="0" bIns="0" rtlCol="0" anchor="t"/>
          <a:lstStyle/>
          <a:p>
            <a:pPr indent="0" marL="0">
              <a:buNone/>
            </a:pPr>
            <a:r>
              <a:rPr lang="en-US" sz="1400" i="1" dirty="0">
                <a:solidFill>
                  <a:srgbClr val="5B6B80"/>
                </a:solidFill>
              </a:rPr>
              <a:t>Assumptions: future stock follows each product's own last 104 weeks; prices stay at the last 13-week average; no promotions. The likely range comes from backtest errors, so it is measured, not assumed.</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3 · DASHBOARD</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 dashboard built for managers, not analysts</a:t>
            </a:r>
            <a:endParaRPr lang="en-US" sz="3000" dirty="0"/>
          </a:p>
        </p:txBody>
      </p:sp>
      <p:pic>
        <p:nvPicPr>
          <p:cNvPr id="5" name="Dashboard overview" descr="/tmp/claude-0/-home-user-Technical-Assessment-HamidrezaNademi/35a9d481-a40b-596b-a99c-a9e318cbdc12/scratchpad/deck/dash_overview_top.png">    </p:cNvPr>
          <p:cNvPicPr>
            <a:picLocks noChangeAspect="1"/>
          </p:cNvPicPr>
          <p:nvPr/>
        </p:nvPicPr>
        <p:blipFill>
          <a:blip r:embed="rId1"/>
          <a:stretch>
            <a:fillRect/>
          </a:stretch>
        </p:blipFill>
        <p:spPr>
          <a:xfrm>
            <a:off x="548640" y="1645920"/>
            <a:ext cx="5486400" cy="3044952"/>
          </a:xfrm>
          <a:prstGeom prst="rect">
            <a:avLst/>
          </a:prstGeom>
        </p:spPr>
      </p:pic>
      <p:sp>
        <p:nvSpPr>
          <p:cNvPr id="6" name="Text 2"/>
          <p:cNvSpPr txBox="1"/>
          <p:nvPr/>
        </p:nvSpPr>
        <p:spPr>
          <a:xfrm>
            <a:off x="548640" y="4727448"/>
            <a:ext cx="5486400" cy="274320"/>
          </a:xfrm>
          <a:prstGeom prst="rect">
            <a:avLst/>
          </a:prstGeom>
          <a:noFill/>
          <a:ln/>
        </p:spPr>
        <p:txBody>
          <a:bodyPr wrap="square" lIns="0" tIns="0" rIns="0" bIns="0" rtlCol="0" anchor="ctr"/>
          <a:lstStyle/>
          <a:p>
            <a:pPr indent="0" marL="0">
              <a:buNone/>
            </a:pPr>
            <a:r>
              <a:rPr lang="en-US" sz="1200" i="1" dirty="0">
                <a:solidFill>
                  <a:srgbClr val="5B6B80"/>
                </a:solidFill>
              </a:rPr>
              <a:t>Overview tab (live demo available)</a:t>
            </a:r>
            <a:endParaRPr lang="en-US" sz="1200" dirty="0"/>
          </a:p>
        </p:txBody>
      </p:sp>
      <p:sp>
        <p:nvSpPr>
          <p:cNvPr id="7" name="Text 3"/>
          <p:cNvSpPr txBox="1"/>
          <p:nvPr/>
        </p:nvSpPr>
        <p:spPr>
          <a:xfrm>
            <a:off x="6309360" y="1645920"/>
            <a:ext cx="5303520" cy="3383280"/>
          </a:xfrm>
          <a:prstGeom prst="rect">
            <a:avLst/>
          </a:prstGeom>
          <a:noFill/>
          <a:ln/>
        </p:spPr>
        <p:txBody>
          <a:bodyPr wrap="square" lIns="0" tIns="0" rIns="0" bIns="0" rtlCol="0" anchor="t"/>
          <a:lstStyle/>
          <a:p>
            <a:pPr marL="203200" indent="-203200">
              <a:spcAft>
                <a:spcPts val="800"/>
              </a:spcAft>
              <a:buSzPct val="100000"/>
              <a:buChar char="•"/>
            </a:pPr>
            <a:r>
              <a:rPr lang="en-US" sz="1400" b="1" dirty="0">
                <a:solidFill>
                  <a:srgbClr val="1B2A41"/>
                </a:solidFill>
              </a:rPr>
              <a:t>Start from the reader: </a:t>
            </a:r>
            <a:pPr indent="0" marL="0">
              <a:spcAft>
                <a:spcPts val="800"/>
              </a:spcAft>
              <a:buNone/>
            </a:pPr>
            <a:r>
              <a:rPr lang="en-US" sz="1400" dirty="0">
                <a:solidFill>
                  <a:srgbClr val="1B2A41"/>
                </a:solidFill>
              </a:rPr>
              <a:t>bottom line first, everyday words (days of stock, demand served).</a:t>
            </a:r>
            <a:endParaRPr lang="en-US" sz="1400" dirty="0"/>
          </a:p>
          <a:p>
            <a:pPr marL="203200" indent="-203200">
              <a:spcAft>
                <a:spcPts val="800"/>
              </a:spcAft>
              <a:buSzPct val="100000"/>
              <a:buChar char="•"/>
            </a:pPr>
            <a:r>
              <a:rPr lang="en-US" sz="1400" b="1" dirty="0">
                <a:solidFill>
                  <a:srgbClr val="1B2A41"/>
                </a:solidFill>
              </a:rPr>
              <a:t>One tab, one question: </a:t>
            </a:r>
            <a:pPr indent="0" marL="0">
              <a:spcAft>
                <a:spcPts val="800"/>
              </a:spcAft>
              <a:buNone/>
            </a:pPr>
            <a:r>
              <a:rPr lang="en-US" sz="1400" dirty="0">
                <a:solidFill>
                  <a:srgbClr val="1B2A41"/>
                </a:solidFill>
              </a:rPr>
              <a:t>financial, stock and service, credit, forecast, pricing, alerts.</a:t>
            </a:r>
            <a:endParaRPr lang="en-US" sz="1400" dirty="0"/>
          </a:p>
          <a:p>
            <a:pPr marL="203200" indent="-203200">
              <a:spcAft>
                <a:spcPts val="800"/>
              </a:spcAft>
              <a:buSzPct val="100000"/>
              <a:buChar char="•"/>
            </a:pPr>
            <a:r>
              <a:rPr lang="en-US" sz="1400" b="1" dirty="0">
                <a:solidFill>
                  <a:srgbClr val="1B2A41"/>
                </a:solidFill>
              </a:rPr>
              <a:t>No data, no pretending: </a:t>
            </a:r>
            <a:pPr indent="0" marL="0">
              <a:spcAft>
                <a:spcPts val="800"/>
              </a:spcAft>
              <a:buNone/>
            </a:pPr>
            <a:r>
              <a:rPr lang="en-US" sz="1400" dirty="0">
                <a:solidFill>
                  <a:srgbClr val="1B2A41"/>
                </a:solidFill>
              </a:rPr>
              <a:t>credit uses editable, labelled scenario inputs.</a:t>
            </a:r>
            <a:endParaRPr lang="en-US" sz="1400" dirty="0"/>
          </a:p>
          <a:p>
            <a:pPr marL="203200" indent="-203200">
              <a:spcAft>
                <a:spcPts val="800"/>
              </a:spcAft>
              <a:buSzPct val="100000"/>
              <a:buChar char="•"/>
            </a:pPr>
            <a:r>
              <a:rPr lang="en-US" sz="1400" b="1" dirty="0">
                <a:solidFill>
                  <a:srgbClr val="1B2A41"/>
                </a:solidFill>
              </a:rPr>
              <a:t>Alerts are rules, not black boxes: </a:t>
            </a:r>
            <a:pPr indent="0" marL="0">
              <a:spcAft>
                <a:spcPts val="800"/>
              </a:spcAft>
              <a:buNone/>
            </a:pPr>
            <a:r>
              <a:rPr lang="en-US" sz="1400" dirty="0">
                <a:solidFill>
                  <a:srgbClr val="1B2A41"/>
                </a:solidFill>
              </a:rPr>
              <a:t>six rules, editable thresholds, money at stake, next action.</a:t>
            </a:r>
            <a:endParaRPr lang="en-US" sz="1400" dirty="0"/>
          </a:p>
          <a:p>
            <a:pPr marL="203200" indent="-203200">
              <a:spcAft>
                <a:spcPts val="800"/>
              </a:spcAft>
              <a:buSzPct val="100000"/>
              <a:buChar char="•"/>
            </a:pPr>
            <a:r>
              <a:rPr lang="en-US" sz="1400" b="1" dirty="0">
                <a:solidFill>
                  <a:srgbClr val="1B2A41"/>
                </a:solidFill>
              </a:rPr>
              <a:t>Trust: </a:t>
            </a:r>
            <a:pPr indent="0" marL="0">
              <a:spcAft>
                <a:spcPts val="800"/>
              </a:spcAft>
              <a:buNone/>
            </a:pPr>
            <a:r>
              <a:rPr lang="en-US" sz="1400" dirty="0">
                <a:solidFill>
                  <a:srgbClr val="1B2A41"/>
                </a:solidFill>
              </a:rPr>
              <a:t>24 automatic tests reconcile every KPI to the database.</a:t>
            </a:r>
            <a:endParaRPr lang="en-US" sz="1400" dirty="0"/>
          </a:p>
        </p:txBody>
      </p:sp>
      <p:sp>
        <p:nvSpPr>
          <p:cNvPr id="8" name="Stat card"/>
          <p:cNvSpPr/>
          <p:nvPr/>
        </p:nvSpPr>
        <p:spPr>
          <a:xfrm>
            <a:off x="548640" y="5120640"/>
            <a:ext cx="2606040" cy="1143000"/>
          </a:xfrm>
          <a:prstGeom prst="roundRect">
            <a:avLst>
              <a:gd name="adj" fmla="val 6400"/>
            </a:avLst>
          </a:prstGeom>
          <a:solidFill>
            <a:srgbClr val="F2F6FB"/>
          </a:solidFill>
          <a:ln w="12700">
            <a:solidFill>
              <a:srgbClr val="F2F6FB"/>
            </a:solidFill>
            <a:prstDash val="solid"/>
          </a:ln>
        </p:spPr>
      </p:sp>
      <p:sp>
        <p:nvSpPr>
          <p:cNvPr id="9" name="Text 5"/>
          <p:cNvSpPr txBox="1"/>
          <p:nvPr/>
        </p:nvSpPr>
        <p:spPr>
          <a:xfrm>
            <a:off x="68580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$65.4M</a:t>
            </a:r>
            <a:endParaRPr lang="en-US" sz="2800" dirty="0"/>
          </a:p>
        </p:txBody>
      </p:sp>
      <p:sp>
        <p:nvSpPr>
          <p:cNvPr id="10" name="Text 6"/>
          <p:cNvSpPr txBox="1"/>
          <p:nvPr/>
        </p:nvSpPr>
        <p:spPr>
          <a:xfrm>
            <a:off x="68580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revenue, +3.3% vs last year</a:t>
            </a:r>
            <a:endParaRPr lang="en-US" sz="1300" dirty="0"/>
          </a:p>
        </p:txBody>
      </p:sp>
      <p:sp>
        <p:nvSpPr>
          <p:cNvPr id="11" name="Stat card"/>
          <p:cNvSpPr/>
          <p:nvPr/>
        </p:nvSpPr>
        <p:spPr>
          <a:xfrm>
            <a:off x="3337560" y="5120640"/>
            <a:ext cx="2606040" cy="1143000"/>
          </a:xfrm>
          <a:prstGeom prst="roundRect">
            <a:avLst>
              <a:gd name="adj" fmla="val 6400"/>
            </a:avLst>
          </a:prstGeom>
          <a:solidFill>
            <a:srgbClr val="F2F6FB"/>
          </a:solidFill>
          <a:ln w="12700">
            <a:solidFill>
              <a:srgbClr val="F2F6FB"/>
            </a:solidFill>
            <a:prstDash val="solid"/>
          </a:ln>
        </p:spPr>
      </p:sp>
      <p:sp>
        <p:nvSpPr>
          <p:cNvPr id="12" name="Text 8"/>
          <p:cNvSpPr txBox="1"/>
          <p:nvPr/>
        </p:nvSpPr>
        <p:spPr>
          <a:xfrm>
            <a:off x="3474720" y="5193792"/>
            <a:ext cx="2331720" cy="51435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21.5%</a:t>
            </a:r>
            <a:endParaRPr lang="en-US" sz="2800" dirty="0"/>
          </a:p>
        </p:txBody>
      </p:sp>
      <p:sp>
        <p:nvSpPr>
          <p:cNvPr id="13" name="Text 9"/>
          <p:cNvSpPr txBox="1"/>
          <p:nvPr/>
        </p:nvSpPr>
        <p:spPr>
          <a:xfrm>
            <a:off x="347472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gross margin, flat</a:t>
            </a:r>
            <a:endParaRPr lang="en-US" sz="1300" dirty="0"/>
          </a:p>
        </p:txBody>
      </p:sp>
      <p:sp>
        <p:nvSpPr>
          <p:cNvPr id="14" name="Stat card"/>
          <p:cNvSpPr/>
          <p:nvPr/>
        </p:nvSpPr>
        <p:spPr>
          <a:xfrm>
            <a:off x="6126480" y="5120640"/>
            <a:ext cx="2606040" cy="1143000"/>
          </a:xfrm>
          <a:prstGeom prst="roundRect">
            <a:avLst>
              <a:gd name="adj" fmla="val 6400"/>
            </a:avLst>
          </a:prstGeom>
          <a:solidFill>
            <a:srgbClr val="F2F6FB"/>
          </a:solidFill>
          <a:ln w="12700">
            <a:solidFill>
              <a:srgbClr val="F2F6FB"/>
            </a:solidFill>
            <a:prstDash val="solid"/>
          </a:ln>
        </p:spPr>
      </p:sp>
      <p:sp>
        <p:nvSpPr>
          <p:cNvPr id="15" name="Text 11"/>
          <p:cNvSpPr txBox="1"/>
          <p:nvPr/>
        </p:nvSpPr>
        <p:spPr>
          <a:xfrm>
            <a:off x="6263640" y="5193792"/>
            <a:ext cx="2331720" cy="514350"/>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60%</a:t>
            </a:r>
            <a:endParaRPr lang="en-US" sz="2800" dirty="0"/>
          </a:p>
        </p:txBody>
      </p:sp>
      <p:sp>
        <p:nvSpPr>
          <p:cNvPr id="16" name="Text 12"/>
          <p:cNvSpPr txBox="1"/>
          <p:nvPr/>
        </p:nvSpPr>
        <p:spPr>
          <a:xfrm>
            <a:off x="626364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of demand served; $43.2M lost</a:t>
            </a:r>
            <a:endParaRPr lang="en-US" sz="1300" dirty="0"/>
          </a:p>
        </p:txBody>
      </p:sp>
      <p:sp>
        <p:nvSpPr>
          <p:cNvPr id="17" name="Stat card"/>
          <p:cNvSpPr/>
          <p:nvPr/>
        </p:nvSpPr>
        <p:spPr>
          <a:xfrm>
            <a:off x="8915400" y="5120640"/>
            <a:ext cx="2606040" cy="1143000"/>
          </a:xfrm>
          <a:prstGeom prst="roundRect">
            <a:avLst>
              <a:gd name="adj" fmla="val 6400"/>
            </a:avLst>
          </a:prstGeom>
          <a:solidFill>
            <a:srgbClr val="F2F6FB"/>
          </a:solidFill>
          <a:ln w="12700">
            <a:solidFill>
              <a:srgbClr val="F2F6FB"/>
            </a:solidFill>
            <a:prstDash val="solid"/>
          </a:ln>
        </p:spPr>
      </p:sp>
      <p:sp>
        <p:nvSpPr>
          <p:cNvPr id="18" name="Text 14"/>
          <p:cNvSpPr txBox="1"/>
          <p:nvPr/>
        </p:nvSpPr>
        <p:spPr>
          <a:xfrm>
            <a:off x="9052560" y="5193792"/>
            <a:ext cx="2331720" cy="514350"/>
          </a:xfrm>
          <a:prstGeom prst="rect">
            <a:avLst/>
          </a:prstGeom>
          <a:noFill/>
          <a:ln/>
        </p:spPr>
        <p:txBody>
          <a:bodyPr wrap="square" lIns="0" tIns="0" rIns="0" bIns="0" rtlCol="0" anchor="ctr"/>
          <a:lstStyle/>
          <a:p>
            <a:pPr indent="0" marL="0">
              <a:buNone/>
            </a:pPr>
            <a:r>
              <a:rPr lang="en-US" sz="2800" b="1" dirty="0">
                <a:solidFill>
                  <a:srgbClr val="D03B3B"/>
                </a:solidFill>
                <a:latin typeface="Cambria" pitchFamily="34" charset="0"/>
                <a:ea typeface="Cambria" pitchFamily="34" charset="-122"/>
                <a:cs typeface="Cambria" pitchFamily="34" charset="-120"/>
              </a:rPr>
              <a:t>16 high</a:t>
            </a:r>
            <a:endParaRPr lang="en-US" sz="2800" dirty="0"/>
          </a:p>
        </p:txBody>
      </p:sp>
      <p:sp>
        <p:nvSpPr>
          <p:cNvPr id="19" name="Text 15"/>
          <p:cNvSpPr txBox="1"/>
          <p:nvPr/>
        </p:nvSpPr>
        <p:spPr>
          <a:xfrm>
            <a:off x="9052560" y="5715000"/>
            <a:ext cx="2331720" cy="525780"/>
          </a:xfrm>
          <a:prstGeom prst="rect">
            <a:avLst/>
          </a:prstGeom>
          <a:noFill/>
          <a:ln/>
        </p:spPr>
        <p:txBody>
          <a:bodyPr wrap="square" lIns="0" tIns="0" rIns="0" bIns="0" rtlCol="0" anchor="t"/>
          <a:lstStyle/>
          <a:p>
            <a:pPr indent="0" marL="0">
              <a:buNone/>
            </a:pPr>
            <a:r>
              <a:rPr lang="en-US" sz="1300" dirty="0">
                <a:solidFill>
                  <a:srgbClr val="5B6B80"/>
                </a:solidFill>
              </a:rPr>
              <a:t>priority alerts, each with an action</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DYNAMIC PRICING</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Price follows scarcity and season</a:t>
            </a:r>
            <a:endParaRPr lang="en-US" sz="3000" dirty="0"/>
          </a:p>
        </p:txBody>
      </p:sp>
      <p:graphicFrame>
        <p:nvGraphicFramePr>
          <p:cNvPr id="5" name="Chart 0" descr=""/>
          <p:cNvGraphicFramePr/>
          <p:nvPr/>
        </p:nvGraphicFramePr>
        <p:xfrm>
          <a:off x="548640" y="1645920"/>
          <a:ext cx="585216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675120" y="1691640"/>
          <a:ext cx="4937760" cy="914400"/>
        </p:xfrm>
        <a:graphic>
          <a:graphicData uri="http://schemas.openxmlformats.org/drawingml/2006/table">
            <a:tbl>
              <a:tblPr/>
              <a:tblGrid>
                <a:gridCol w="1234440"/>
                <a:gridCol w="1737360"/>
                <a:gridCol w="1965960"/>
              </a:tblGrid>
              <a:tr h="365760">
                <a:tc>
                  <a:txBody>
                    <a:bodyPr/>
                    <a:lstStyle/>
                    <a:p>
                      <a:pPr indent="0" marL="0">
                        <a:buNone/>
                      </a:pPr>
                      <a:r>
                        <a:rPr lang="en-US" sz="1300" b="1" dirty="0">
                          <a:solidFill>
                            <a:srgbClr val="FFFFFF"/>
                          </a:solidFill>
                        </a:rPr>
                        <a:t>State</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Meaning</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Action</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868680">
                <a:tc>
                  <a:txBody>
                    <a:bodyPr/>
                    <a:lstStyle/>
                    <a:p>
                      <a:pPr indent="0" marL="0">
                        <a:buNone/>
                      </a:pPr>
                      <a:r>
                        <a:rPr lang="en-US" sz="1300" dirty="0">
                          <a:solidFill>
                            <a:srgbClr val="1B2A41"/>
                          </a:solidFill>
                        </a:rPr>
                        <a:t>Scarce (78%)</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part of demand cannot be served</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raise price up to +8%, only as far as the same units still sell</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48640">
                <a:tc>
                  <a:txBody>
                    <a:bodyPr/>
                    <a:lstStyle/>
                    <a:p>
                      <a:pPr indent="0" marL="0">
                        <a:buNone/>
                      </a:pPr>
                      <a:r>
                        <a:rPr lang="en-US" sz="1300" dirty="0">
                          <a:solidFill>
                            <a:srgbClr val="1B2A41"/>
                          </a:solidFill>
                        </a:rPr>
                        <a:t>Balanced (5%)</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stock covers demand</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hold the price</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777240">
                <a:tc>
                  <a:txBody>
                    <a:bodyPr/>
                    <a:lstStyle/>
                    <a:p>
                      <a:pPr indent="0" marL="0">
                        <a:buNone/>
                      </a:pPr>
                      <a:r>
                        <a:rPr lang="en-US" sz="1300" dirty="0">
                          <a:solidFill>
                            <a:srgbClr val="1B2A41"/>
                          </a:solidFill>
                        </a:rPr>
                        <a:t>Surplus (17%)</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over 26 weeks of stock</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markdown only if it pays; otherwise fix purchasing</a:t>
                      </a:r>
                      <a:endParaRPr lang="en-US" sz="1300" dirty="0"/>
                    </a:p>
                  </a:txBody>
                  <a:tcPr marL="73152" marR="73152"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7" name="Callout"/>
          <p:cNvSpPr/>
          <p:nvPr/>
        </p:nvSpPr>
        <p:spPr>
          <a:xfrm>
            <a:off x="6675120" y="4434840"/>
            <a:ext cx="4937760" cy="1737360"/>
          </a:xfrm>
          <a:prstGeom prst="roundRect">
            <a:avLst>
              <a:gd name="adj" fmla="val 4211"/>
            </a:avLst>
          </a:prstGeom>
          <a:solidFill>
            <a:srgbClr val="F2F6FB"/>
          </a:solidFill>
          <a:ln w="12700">
            <a:solidFill>
              <a:srgbClr val="D9E1EC"/>
            </a:solidFill>
            <a:prstDash val="solid"/>
          </a:ln>
        </p:spPr>
      </p:sp>
      <p:sp>
        <p:nvSpPr>
          <p:cNvPr id="8" name="Text 3"/>
          <p:cNvSpPr txBox="1"/>
          <p:nvPr/>
        </p:nvSpPr>
        <p:spPr>
          <a:xfrm>
            <a:off x="6858000" y="4544568"/>
            <a:ext cx="4572000" cy="292608"/>
          </a:xfrm>
          <a:prstGeom prst="rect">
            <a:avLst/>
          </a:prstGeom>
          <a:noFill/>
          <a:ln/>
        </p:spPr>
        <p:txBody>
          <a:bodyPr wrap="square" lIns="0" tIns="0" rIns="0" bIns="0" rtlCol="0" anchor="ctr"/>
          <a:lstStyle/>
          <a:p>
            <a:pPr indent="0" marL="0">
              <a:buNone/>
            </a:pPr>
            <a:r>
              <a:rPr lang="en-US" sz="1400" b="1" dirty="0">
                <a:solidFill>
                  <a:schemeClr val="accent1"/>
                </a:solidFill>
              </a:rPr>
              <a:t>Why this rule</a:t>
            </a:r>
            <a:endParaRPr lang="en-US" sz="1400" dirty="0"/>
          </a:p>
        </p:txBody>
      </p:sp>
      <p:sp>
        <p:nvSpPr>
          <p:cNvPr id="9" name="Text 4"/>
          <p:cNvSpPr txBox="1"/>
          <p:nvPr/>
        </p:nvSpPr>
        <p:spPr>
          <a:xfrm>
            <a:off x="6858000" y="4892040"/>
            <a:ext cx="4572000" cy="118872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B2A41"/>
                </a:solidFill>
              </a:rPr>
              <a:t>When we sell out anyway, units are set by stock, not price, so a higher price is pure profit.</a:t>
            </a:r>
            <a:endParaRPr lang="en-US" sz="1400" dirty="0"/>
          </a:p>
          <a:p>
            <a:pPr marL="177800" indent="-177800">
              <a:spcAft>
                <a:spcPts val="500"/>
              </a:spcAft>
              <a:buSzPct val="100000"/>
              <a:buChar char="•"/>
            </a:pPr>
            <a:r>
              <a:rPr lang="en-US" sz="1400" dirty="0">
                <a:solidFill>
                  <a:srgbClr val="1B2A41"/>
                </a:solidFill>
              </a:rPr>
              <a:t>It does not need the unknown price sensitivity.</a:t>
            </a:r>
            <a:endParaRPr lang="en-US" sz="1400" dirty="0"/>
          </a:p>
        </p:txBody>
      </p:sp>
      <p:sp>
        <p:nvSpPr>
          <p:cNvPr id="10" name="Text 5"/>
          <p:cNvSpPr txBox="1"/>
          <p:nvPr/>
        </p:nvSpPr>
        <p:spPr>
          <a:xfrm>
            <a:off x="548640" y="5623560"/>
            <a:ext cx="5852160" cy="640080"/>
          </a:xfrm>
          <a:prstGeom prst="rect">
            <a:avLst/>
          </a:prstGeom>
          <a:noFill/>
          <a:ln/>
        </p:spPr>
        <p:txBody>
          <a:bodyPr wrap="square" lIns="0" tIns="0" rIns="0" bIns="0" rtlCol="0" anchor="t"/>
          <a:lstStyle/>
          <a:p>
            <a:pPr indent="0" marL="0">
              <a:buNone/>
            </a:pPr>
            <a:r>
              <a:rPr lang="en-US" sz="1300" i="1" dirty="0">
                <a:solidFill>
                  <a:srgbClr val="5B6B80"/>
                </a:solidFill>
              </a:rPr>
              <a:t>Example: Barley, week 1: we can serve 48% of demand, so the rule suggests +6%; protection allows +4.5%; the weekly step limit makes it +3.0%.</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THE PRICING ENGINE</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Six rules turn the forecast into a price</a:t>
            </a:r>
            <a:endParaRPr lang="en-US" sz="3000" dirty="0"/>
          </a:p>
        </p:txBody>
      </p:sp>
      <p:sp>
        <p:nvSpPr>
          <p:cNvPr id="5" name="Rule card"/>
          <p:cNvSpPr/>
          <p:nvPr/>
        </p:nvSpPr>
        <p:spPr>
          <a:xfrm>
            <a:off x="548640" y="1645920"/>
            <a:ext cx="3566160" cy="2240280"/>
          </a:xfrm>
          <a:prstGeom prst="roundRect">
            <a:avLst>
              <a:gd name="adj" fmla="val 3265"/>
            </a:avLst>
          </a:prstGeom>
          <a:solidFill>
            <a:srgbClr val="F2F6FB"/>
          </a:solidFill>
          <a:ln w="12700">
            <a:solidFill>
              <a:srgbClr val="F2F6FB"/>
            </a:solidFill>
            <a:prstDash val="solid"/>
          </a:ln>
        </p:spPr>
      </p:sp>
      <p:sp>
        <p:nvSpPr>
          <p:cNvPr id="6" name="Rule accent"/>
          <p:cNvSpPr/>
          <p:nvPr/>
        </p:nvSpPr>
        <p:spPr>
          <a:xfrm>
            <a:off x="548640" y="1645920"/>
            <a:ext cx="3566160" cy="64008"/>
          </a:xfrm>
          <a:prstGeom prst="rect">
            <a:avLst/>
          </a:prstGeom>
          <a:solidFill>
            <a:srgbClr val="2A78D6"/>
          </a:solidFill>
          <a:ln w="12700">
            <a:solidFill>
              <a:srgbClr val="2A78D6"/>
            </a:solidFill>
            <a:prstDash val="solid"/>
          </a:ln>
        </p:spPr>
      </p:sp>
      <p:sp>
        <p:nvSpPr>
          <p:cNvPr id="7" name="Text 4"/>
          <p:cNvSpPr txBox="1"/>
          <p:nvPr/>
        </p:nvSpPr>
        <p:spPr>
          <a:xfrm>
            <a:off x="731520" y="1773936"/>
            <a:ext cx="3200400" cy="329184"/>
          </a:xfrm>
          <a:prstGeom prst="rect">
            <a:avLst/>
          </a:prstGeom>
          <a:noFill/>
          <a:ln/>
        </p:spPr>
        <p:txBody>
          <a:bodyPr wrap="square" lIns="0" tIns="0" rIns="0" bIns="0" rtlCol="0" anchor="ctr"/>
          <a:lstStyle/>
          <a:p>
            <a:pPr indent="0" marL="0">
              <a:buNone/>
            </a:pPr>
            <a:r>
              <a:rPr lang="en-US" sz="1500" b="1" dirty="0">
                <a:solidFill>
                  <a:schemeClr val="tx1"/>
                </a:solidFill>
              </a:rPr>
              <a:t>1  Scarcity premium</a:t>
            </a:r>
            <a:endParaRPr lang="en-US" sz="1500" dirty="0"/>
          </a:p>
        </p:txBody>
      </p:sp>
      <p:sp>
        <p:nvSpPr>
          <p:cNvPr id="8" name="Text 5"/>
          <p:cNvSpPr txBox="1"/>
          <p:nvPr/>
        </p:nvSpPr>
        <p:spPr>
          <a:xfrm>
            <a:off x="731520" y="2121408"/>
            <a:ext cx="3200400" cy="566928"/>
          </a:xfrm>
          <a:prstGeom prst="rect">
            <a:avLst/>
          </a:prstGeom>
          <a:noFill/>
          <a:ln/>
        </p:spPr>
        <p:txBody>
          <a:bodyPr wrap="square" lIns="0" tIns="0" rIns="0" bIns="0" rtlCol="0" anchor="t"/>
          <a:lstStyle/>
          <a:p>
            <a:pPr indent="0" marL="0">
              <a:buNone/>
            </a:pPr>
            <a:r>
              <a:rPr lang="en-US" sz="1250" b="1" dirty="0">
                <a:solidFill>
                  <a:schemeClr val="accent1"/>
                </a:solidFill>
              </a:rPr>
              <a:t>rise = 8% x min(1, g / 30%) x season</a:t>
            </a:r>
            <a:endParaRPr lang="en-US" sz="1250" dirty="0"/>
          </a:p>
        </p:txBody>
      </p:sp>
      <p:sp>
        <p:nvSpPr>
          <p:cNvPr id="9" name="Text 6"/>
          <p:cNvSpPr txBox="1"/>
          <p:nvPr/>
        </p:nvSpPr>
        <p:spPr>
          <a:xfrm>
            <a:off x="731520" y="2697480"/>
            <a:ext cx="3200400" cy="685800"/>
          </a:xfrm>
          <a:prstGeom prst="rect">
            <a:avLst/>
          </a:prstGeom>
          <a:noFill/>
          <a:ln/>
        </p:spPr>
        <p:txBody>
          <a:bodyPr wrap="square" lIns="0" tIns="0" rIns="0" bIns="0" rtlCol="0" anchor="t"/>
          <a:lstStyle/>
          <a:p>
            <a:pPr indent="0" marL="0">
              <a:buNone/>
            </a:pPr>
            <a:r>
              <a:rPr lang="en-US" sz="1150" dirty="0">
                <a:solidFill>
                  <a:srgbClr val="1B2A41"/>
                </a:solidFill>
              </a:rPr>
              <a:t>g = share of demand we cannot serve; only if g &gt; 5%. Season: peak 1, normal 0.75, off-peak 0.5.</a:t>
            </a:r>
            <a:endParaRPr lang="en-US" sz="1150" dirty="0"/>
          </a:p>
        </p:txBody>
      </p:sp>
      <p:sp>
        <p:nvSpPr>
          <p:cNvPr id="10" name="Text 7"/>
          <p:cNvSpPr txBox="1"/>
          <p:nvPr/>
        </p:nvSpPr>
        <p:spPr>
          <a:xfrm>
            <a:off x="731520" y="3383280"/>
            <a:ext cx="3200400" cy="457200"/>
          </a:xfrm>
          <a:prstGeom prst="rect">
            <a:avLst/>
          </a:prstGeom>
          <a:noFill/>
          <a:ln/>
        </p:spPr>
        <p:txBody>
          <a:bodyPr wrap="square" lIns="0" tIns="0" rIns="0" bIns="0" rtlCol="0" anchor="t"/>
          <a:lstStyle/>
          <a:p>
            <a:pPr indent="0" marL="0">
              <a:buNone/>
            </a:pPr>
            <a:r>
              <a:rPr lang="en-US" sz="1150" i="1" dirty="0">
                <a:solidFill>
                  <a:srgbClr val="5B6B80"/>
                </a:solidFill>
              </a:rPr>
              <a:t>Why: if we sell out anyway, a higher price is pure profit.</a:t>
            </a:r>
            <a:endParaRPr lang="en-US" sz="1150" dirty="0"/>
          </a:p>
        </p:txBody>
      </p:sp>
      <p:sp>
        <p:nvSpPr>
          <p:cNvPr id="11" name="Rule card"/>
          <p:cNvSpPr/>
          <p:nvPr/>
        </p:nvSpPr>
        <p:spPr>
          <a:xfrm>
            <a:off x="4297680" y="1645920"/>
            <a:ext cx="3566160" cy="2240280"/>
          </a:xfrm>
          <a:prstGeom prst="roundRect">
            <a:avLst>
              <a:gd name="adj" fmla="val 3265"/>
            </a:avLst>
          </a:prstGeom>
          <a:solidFill>
            <a:srgbClr val="F2F6FB"/>
          </a:solidFill>
          <a:ln w="12700">
            <a:solidFill>
              <a:srgbClr val="F2F6FB"/>
            </a:solidFill>
            <a:prstDash val="solid"/>
          </a:ln>
        </p:spPr>
      </p:sp>
      <p:sp>
        <p:nvSpPr>
          <p:cNvPr id="12" name="Rule accent"/>
          <p:cNvSpPr/>
          <p:nvPr/>
        </p:nvSpPr>
        <p:spPr>
          <a:xfrm>
            <a:off x="4297680" y="1645920"/>
            <a:ext cx="3566160" cy="64008"/>
          </a:xfrm>
          <a:prstGeom prst="rect">
            <a:avLst/>
          </a:prstGeom>
          <a:solidFill>
            <a:srgbClr val="1BAF7A"/>
          </a:solidFill>
          <a:ln w="12700">
            <a:solidFill>
              <a:srgbClr val="1BAF7A"/>
            </a:solidFill>
            <a:prstDash val="solid"/>
          </a:ln>
        </p:spPr>
      </p:sp>
      <p:sp>
        <p:nvSpPr>
          <p:cNvPr id="13" name="Text 10"/>
          <p:cNvSpPr txBox="1"/>
          <p:nvPr/>
        </p:nvSpPr>
        <p:spPr>
          <a:xfrm>
            <a:off x="4480560" y="1773936"/>
            <a:ext cx="3200400" cy="329184"/>
          </a:xfrm>
          <a:prstGeom prst="rect">
            <a:avLst/>
          </a:prstGeom>
          <a:noFill/>
          <a:ln/>
        </p:spPr>
        <p:txBody>
          <a:bodyPr wrap="square" lIns="0" tIns="0" rIns="0" bIns="0" rtlCol="0" anchor="ctr"/>
          <a:lstStyle/>
          <a:p>
            <a:pPr indent="0" marL="0">
              <a:buNone/>
            </a:pPr>
            <a:r>
              <a:rPr lang="en-US" sz="1500" b="1" dirty="0">
                <a:solidFill>
                  <a:schemeClr val="tx1"/>
                </a:solidFill>
              </a:rPr>
              <a:t>2  Sell-out protection</a:t>
            </a:r>
            <a:endParaRPr lang="en-US" sz="1500" dirty="0"/>
          </a:p>
        </p:txBody>
      </p:sp>
      <p:sp>
        <p:nvSpPr>
          <p:cNvPr id="14" name="Text 11"/>
          <p:cNvSpPr txBox="1"/>
          <p:nvPr/>
        </p:nvSpPr>
        <p:spPr>
          <a:xfrm>
            <a:off x="4480560" y="2121408"/>
            <a:ext cx="3200400" cy="566928"/>
          </a:xfrm>
          <a:prstGeom prst="rect">
            <a:avLst/>
          </a:prstGeom>
          <a:noFill/>
          <a:ln/>
        </p:spPr>
        <p:txBody>
          <a:bodyPr wrap="square" lIns="0" tIns="0" rIns="0" bIns="0" rtlCol="0" anchor="t"/>
          <a:lstStyle/>
          <a:p>
            <a:pPr indent="0" marL="0">
              <a:buNone/>
            </a:pPr>
            <a:r>
              <a:rPr lang="en-US" sz="1250" b="1" dirty="0">
                <a:solidFill>
                  <a:schemeClr val="accent1"/>
                </a:solidFill>
              </a:rPr>
              <a:t>largest rise M with E[units] &gt;= 99% of today's</a:t>
            </a:r>
            <a:endParaRPr lang="en-US" sz="1250" dirty="0"/>
          </a:p>
        </p:txBody>
      </p:sp>
      <p:sp>
        <p:nvSpPr>
          <p:cNvPr id="15" name="Text 12"/>
          <p:cNvSpPr txBox="1"/>
          <p:nvPr/>
        </p:nvSpPr>
        <p:spPr>
          <a:xfrm>
            <a:off x="4480560" y="2697480"/>
            <a:ext cx="3200400" cy="685800"/>
          </a:xfrm>
          <a:prstGeom prst="rect">
            <a:avLst/>
          </a:prstGeom>
          <a:noFill/>
          <a:ln/>
        </p:spPr>
        <p:txBody>
          <a:bodyPr wrap="square" lIns="0" tIns="0" rIns="0" bIns="0" rtlCol="0" anchor="t"/>
          <a:lstStyle/>
          <a:p>
            <a:pPr indent="0" marL="0">
              <a:buNone/>
            </a:pPr>
            <a:r>
              <a:rPr lang="en-US" sz="1150" dirty="0">
                <a:solidFill>
                  <a:srgbClr val="1B2A41"/>
                </a:solidFill>
              </a:rPr>
              <a:t>Tested by 1,000 simulated demand draws, with customers twice as price-sensitive.</a:t>
            </a:r>
            <a:endParaRPr lang="en-US" sz="1150" dirty="0"/>
          </a:p>
        </p:txBody>
      </p:sp>
      <p:sp>
        <p:nvSpPr>
          <p:cNvPr id="16" name="Text 13"/>
          <p:cNvSpPr txBox="1"/>
          <p:nvPr/>
        </p:nvSpPr>
        <p:spPr>
          <a:xfrm>
            <a:off x="4480560" y="3383280"/>
            <a:ext cx="3200400" cy="457200"/>
          </a:xfrm>
          <a:prstGeom prst="rect">
            <a:avLst/>
          </a:prstGeom>
          <a:noFill/>
          <a:ln/>
        </p:spPr>
        <p:txBody>
          <a:bodyPr wrap="square" lIns="0" tIns="0" rIns="0" bIns="0" rtlCol="0" anchor="t"/>
          <a:lstStyle/>
          <a:p>
            <a:pPr indent="0" marL="0">
              <a:buNone/>
            </a:pPr>
            <a:r>
              <a:rPr lang="en-US" sz="1150" i="1" dirty="0">
                <a:solidFill>
                  <a:srgbClr val="5B6B80"/>
                </a:solidFill>
              </a:rPr>
              <a:t>Why: price sensitivity is unknown; do not rely on it.</a:t>
            </a:r>
            <a:endParaRPr lang="en-US" sz="1150" dirty="0"/>
          </a:p>
        </p:txBody>
      </p:sp>
      <p:sp>
        <p:nvSpPr>
          <p:cNvPr id="17" name="Rule card"/>
          <p:cNvSpPr/>
          <p:nvPr/>
        </p:nvSpPr>
        <p:spPr>
          <a:xfrm>
            <a:off x="8046720" y="1645920"/>
            <a:ext cx="3566160" cy="2240280"/>
          </a:xfrm>
          <a:prstGeom prst="roundRect">
            <a:avLst>
              <a:gd name="adj" fmla="val 3265"/>
            </a:avLst>
          </a:prstGeom>
          <a:solidFill>
            <a:srgbClr val="F2F6FB"/>
          </a:solidFill>
          <a:ln w="12700">
            <a:solidFill>
              <a:srgbClr val="F2F6FB"/>
            </a:solidFill>
            <a:prstDash val="solid"/>
          </a:ln>
        </p:spPr>
      </p:sp>
      <p:sp>
        <p:nvSpPr>
          <p:cNvPr id="18" name="Rule accent"/>
          <p:cNvSpPr/>
          <p:nvPr/>
        </p:nvSpPr>
        <p:spPr>
          <a:xfrm>
            <a:off x="8046720" y="1645920"/>
            <a:ext cx="3566160" cy="64008"/>
          </a:xfrm>
          <a:prstGeom prst="rect">
            <a:avLst/>
          </a:prstGeom>
          <a:solidFill>
            <a:srgbClr val="EB6834"/>
          </a:solidFill>
          <a:ln w="12700">
            <a:solidFill>
              <a:srgbClr val="EB6834"/>
            </a:solidFill>
            <a:prstDash val="solid"/>
          </a:ln>
        </p:spPr>
      </p:sp>
      <p:sp>
        <p:nvSpPr>
          <p:cNvPr id="19" name="Text 16"/>
          <p:cNvSpPr txBox="1"/>
          <p:nvPr/>
        </p:nvSpPr>
        <p:spPr>
          <a:xfrm>
            <a:off x="8229600" y="1773936"/>
            <a:ext cx="3200400" cy="329184"/>
          </a:xfrm>
          <a:prstGeom prst="rect">
            <a:avLst/>
          </a:prstGeom>
          <a:noFill/>
          <a:ln/>
        </p:spPr>
        <p:txBody>
          <a:bodyPr wrap="square" lIns="0" tIns="0" rIns="0" bIns="0" rtlCol="0" anchor="ctr"/>
          <a:lstStyle/>
          <a:p>
            <a:pPr indent="0" marL="0">
              <a:buNone/>
            </a:pPr>
            <a:r>
              <a:rPr lang="en-US" sz="1500" b="1" dirty="0">
                <a:solidFill>
                  <a:schemeClr val="tx1"/>
                </a:solidFill>
              </a:rPr>
              <a:t>3  Surplus markdown</a:t>
            </a:r>
            <a:endParaRPr lang="en-US" sz="1500" dirty="0"/>
          </a:p>
        </p:txBody>
      </p:sp>
      <p:sp>
        <p:nvSpPr>
          <p:cNvPr id="20" name="Text 17"/>
          <p:cNvSpPr txBox="1"/>
          <p:nvPr/>
        </p:nvSpPr>
        <p:spPr>
          <a:xfrm>
            <a:off x="8229600" y="2121408"/>
            <a:ext cx="3200400" cy="566928"/>
          </a:xfrm>
          <a:prstGeom prst="rect">
            <a:avLst/>
          </a:prstGeom>
          <a:noFill/>
          <a:ln/>
        </p:spPr>
        <p:txBody>
          <a:bodyPr wrap="square" lIns="0" tIns="0" rIns="0" bIns="0" rtlCol="0" anchor="t"/>
          <a:lstStyle/>
          <a:p>
            <a:pPr indent="0" marL="0">
              <a:buNone/>
            </a:pPr>
            <a:r>
              <a:rPr lang="en-US" sz="1250" b="1" dirty="0">
                <a:solidFill>
                  <a:schemeClr val="accent1"/>
                </a:solidFill>
              </a:rPr>
              <a:t>up to 10%, deeper as weeks of stock exceed 26</a:t>
            </a:r>
            <a:endParaRPr lang="en-US" sz="1250" dirty="0"/>
          </a:p>
        </p:txBody>
      </p:sp>
      <p:sp>
        <p:nvSpPr>
          <p:cNvPr id="21" name="Text 18"/>
          <p:cNvSpPr txBox="1"/>
          <p:nvPr/>
        </p:nvSpPr>
        <p:spPr>
          <a:xfrm>
            <a:off x="8229600" y="2697480"/>
            <a:ext cx="3200400" cy="685800"/>
          </a:xfrm>
          <a:prstGeom prst="rect">
            <a:avLst/>
          </a:prstGeom>
          <a:noFill/>
          <a:ln/>
        </p:spPr>
        <p:txBody>
          <a:bodyPr wrap="square" lIns="0" tIns="0" rIns="0" bIns="0" rtlCol="0" anchor="t"/>
          <a:lstStyle/>
          <a:p>
            <a:pPr indent="0" marL="0">
              <a:buNone/>
            </a:pPr>
            <a:r>
              <a:rPr lang="en-US" sz="1150" dirty="0">
                <a:solidFill>
                  <a:srgbClr val="1B2A41"/>
                </a:solidFill>
              </a:rPr>
              <a:t>Applied only if simulated profit improves, counting the carrying-cost saving.</a:t>
            </a:r>
            <a:endParaRPr lang="en-US" sz="1150" dirty="0"/>
          </a:p>
        </p:txBody>
      </p:sp>
      <p:sp>
        <p:nvSpPr>
          <p:cNvPr id="22" name="Text 19"/>
          <p:cNvSpPr txBox="1"/>
          <p:nvPr/>
        </p:nvSpPr>
        <p:spPr>
          <a:xfrm>
            <a:off x="8229600" y="3383280"/>
            <a:ext cx="3200400" cy="457200"/>
          </a:xfrm>
          <a:prstGeom prst="rect">
            <a:avLst/>
          </a:prstGeom>
          <a:noFill/>
          <a:ln/>
        </p:spPr>
        <p:txBody>
          <a:bodyPr wrap="square" lIns="0" tIns="0" rIns="0" bIns="0" rtlCol="0" anchor="t"/>
          <a:lstStyle/>
          <a:p>
            <a:pPr indent="0" marL="0">
              <a:buNone/>
            </a:pPr>
            <a:r>
              <a:rPr lang="en-US" sz="1150" i="1" dirty="0">
                <a:solidFill>
                  <a:srgbClr val="5B6B80"/>
                </a:solidFill>
              </a:rPr>
              <a:t>Why: a discount gives away margin on every unit.</a:t>
            </a:r>
            <a:endParaRPr lang="en-US" sz="1150" dirty="0"/>
          </a:p>
        </p:txBody>
      </p:sp>
      <p:sp>
        <p:nvSpPr>
          <p:cNvPr id="23" name="Rule card"/>
          <p:cNvSpPr/>
          <p:nvPr/>
        </p:nvSpPr>
        <p:spPr>
          <a:xfrm>
            <a:off x="548640" y="4023360"/>
            <a:ext cx="3566160" cy="2240280"/>
          </a:xfrm>
          <a:prstGeom prst="roundRect">
            <a:avLst>
              <a:gd name="adj" fmla="val 3265"/>
            </a:avLst>
          </a:prstGeom>
          <a:solidFill>
            <a:srgbClr val="F2F6FB"/>
          </a:solidFill>
          <a:ln w="12700">
            <a:solidFill>
              <a:srgbClr val="F2F6FB"/>
            </a:solidFill>
            <a:prstDash val="solid"/>
          </a:ln>
        </p:spPr>
      </p:sp>
      <p:sp>
        <p:nvSpPr>
          <p:cNvPr id="24" name="Rule accent"/>
          <p:cNvSpPr/>
          <p:nvPr/>
        </p:nvSpPr>
        <p:spPr>
          <a:xfrm>
            <a:off x="548640" y="4023360"/>
            <a:ext cx="3566160" cy="64008"/>
          </a:xfrm>
          <a:prstGeom prst="rect">
            <a:avLst/>
          </a:prstGeom>
          <a:solidFill>
            <a:srgbClr val="D03B3B"/>
          </a:solidFill>
          <a:ln w="12700">
            <a:solidFill>
              <a:srgbClr val="D03B3B"/>
            </a:solidFill>
            <a:prstDash val="solid"/>
          </a:ln>
        </p:spPr>
      </p:sp>
      <p:sp>
        <p:nvSpPr>
          <p:cNvPr id="25" name="Text 22"/>
          <p:cNvSpPr txBox="1"/>
          <p:nvPr/>
        </p:nvSpPr>
        <p:spPr>
          <a:xfrm>
            <a:off x="731520" y="4151376"/>
            <a:ext cx="3200400" cy="329184"/>
          </a:xfrm>
          <a:prstGeom prst="rect">
            <a:avLst/>
          </a:prstGeom>
          <a:noFill/>
          <a:ln/>
        </p:spPr>
        <p:txBody>
          <a:bodyPr wrap="square" lIns="0" tIns="0" rIns="0" bIns="0" rtlCol="0" anchor="ctr"/>
          <a:lstStyle/>
          <a:p>
            <a:pPr indent="0" marL="0">
              <a:buNone/>
            </a:pPr>
            <a:r>
              <a:rPr lang="en-US" sz="1500" b="1" dirty="0">
                <a:solidFill>
                  <a:schemeClr val="tx1"/>
                </a:solidFill>
              </a:rPr>
              <a:t>4  Credit risk</a:t>
            </a:r>
            <a:endParaRPr lang="en-US" sz="1500" dirty="0"/>
          </a:p>
        </p:txBody>
      </p:sp>
      <p:sp>
        <p:nvSpPr>
          <p:cNvPr id="26" name="Text 23"/>
          <p:cNvSpPr txBox="1"/>
          <p:nvPr/>
        </p:nvSpPr>
        <p:spPr>
          <a:xfrm>
            <a:off x="731520" y="4498848"/>
            <a:ext cx="3200400" cy="566928"/>
          </a:xfrm>
          <a:prstGeom prst="rect">
            <a:avLst/>
          </a:prstGeom>
          <a:noFill/>
          <a:ln/>
        </p:spPr>
        <p:txBody>
          <a:bodyPr wrap="square" lIns="0" tIns="0" rIns="0" bIns="0" rtlCol="0" anchor="t"/>
          <a:lstStyle/>
          <a:p>
            <a:pPr indent="0" marL="0">
              <a:buNone/>
            </a:pPr>
            <a:r>
              <a:rPr lang="en-US" sz="1250" b="1" dirty="0">
                <a:solidFill>
                  <a:schemeClr val="accent1"/>
                </a:solidFill>
              </a:rPr>
              <a:t>D/E: no markdown, premium = default share + DSO/365 x 8%</a:t>
            </a:r>
            <a:endParaRPr lang="en-US" sz="1250" dirty="0"/>
          </a:p>
        </p:txBody>
      </p:sp>
      <p:sp>
        <p:nvSpPr>
          <p:cNvPr id="27" name="Text 24"/>
          <p:cNvSpPr txBox="1"/>
          <p:nvPr/>
        </p:nvSpPr>
        <p:spPr>
          <a:xfrm>
            <a:off x="731520" y="5074920"/>
            <a:ext cx="3200400" cy="685800"/>
          </a:xfrm>
          <a:prstGeom prst="rect">
            <a:avLst/>
          </a:prstGeom>
          <a:noFill/>
          <a:ln/>
        </p:spPr>
        <p:txBody>
          <a:bodyPr wrap="square" lIns="0" tIns="0" rIns="0" bIns="0" rtlCol="0" anchor="t"/>
          <a:lstStyle/>
          <a:p>
            <a:pPr indent="0" marL="0">
              <a:buNone/>
            </a:pPr>
            <a:r>
              <a:rPr lang="en-US" sz="1150" dirty="0">
                <a:solidFill>
                  <a:srgbClr val="1B2A41"/>
                </a:solidFill>
              </a:rPr>
              <a:t>Rating C: markdown capped at 5%.</a:t>
            </a:r>
            <a:endParaRPr lang="en-US" sz="1150" dirty="0"/>
          </a:p>
        </p:txBody>
      </p:sp>
      <p:sp>
        <p:nvSpPr>
          <p:cNvPr id="28" name="Text 25"/>
          <p:cNvSpPr txBox="1"/>
          <p:nvPr/>
        </p:nvSpPr>
        <p:spPr>
          <a:xfrm>
            <a:off x="731520" y="5760720"/>
            <a:ext cx="3200400" cy="457200"/>
          </a:xfrm>
          <a:prstGeom prst="rect">
            <a:avLst/>
          </a:prstGeom>
          <a:noFill/>
          <a:ln/>
        </p:spPr>
        <p:txBody>
          <a:bodyPr wrap="square" lIns="0" tIns="0" rIns="0" bIns="0" rtlCol="0" anchor="t"/>
          <a:lstStyle/>
          <a:p>
            <a:pPr indent="0" marL="0">
              <a:buNone/>
            </a:pPr>
            <a:r>
              <a:rPr lang="en-US" sz="1150" i="1" dirty="0">
                <a:solidFill>
                  <a:srgbClr val="5B6B80"/>
                </a:solidFill>
              </a:rPr>
              <a:t>Why: risky credit must pay for loss and funding.</a:t>
            </a:r>
            <a:endParaRPr lang="en-US" sz="1150" dirty="0"/>
          </a:p>
        </p:txBody>
      </p:sp>
      <p:sp>
        <p:nvSpPr>
          <p:cNvPr id="29" name="Rule card"/>
          <p:cNvSpPr/>
          <p:nvPr/>
        </p:nvSpPr>
        <p:spPr>
          <a:xfrm>
            <a:off x="4297680" y="4023360"/>
            <a:ext cx="3566160" cy="2240280"/>
          </a:xfrm>
          <a:prstGeom prst="roundRect">
            <a:avLst>
              <a:gd name="adj" fmla="val 3265"/>
            </a:avLst>
          </a:prstGeom>
          <a:solidFill>
            <a:srgbClr val="F2F6FB"/>
          </a:solidFill>
          <a:ln w="12700">
            <a:solidFill>
              <a:srgbClr val="F2F6FB"/>
            </a:solidFill>
            <a:prstDash val="solid"/>
          </a:ln>
        </p:spPr>
      </p:sp>
      <p:sp>
        <p:nvSpPr>
          <p:cNvPr id="30" name="Rule accent"/>
          <p:cNvSpPr/>
          <p:nvPr/>
        </p:nvSpPr>
        <p:spPr>
          <a:xfrm>
            <a:off x="4297680" y="4023360"/>
            <a:ext cx="3566160" cy="64008"/>
          </a:xfrm>
          <a:prstGeom prst="rect">
            <a:avLst/>
          </a:prstGeom>
          <a:solidFill>
            <a:srgbClr val="8A8F98"/>
          </a:solidFill>
          <a:ln w="12700">
            <a:solidFill>
              <a:srgbClr val="8A8F98"/>
            </a:solidFill>
            <a:prstDash val="solid"/>
          </a:ln>
        </p:spPr>
      </p:sp>
      <p:sp>
        <p:nvSpPr>
          <p:cNvPr id="31" name="Text 28"/>
          <p:cNvSpPr txBox="1"/>
          <p:nvPr/>
        </p:nvSpPr>
        <p:spPr>
          <a:xfrm>
            <a:off x="4480560" y="4151376"/>
            <a:ext cx="3200400" cy="329184"/>
          </a:xfrm>
          <a:prstGeom prst="rect">
            <a:avLst/>
          </a:prstGeom>
          <a:noFill/>
          <a:ln/>
        </p:spPr>
        <p:txBody>
          <a:bodyPr wrap="square" lIns="0" tIns="0" rIns="0" bIns="0" rtlCol="0" anchor="ctr"/>
          <a:lstStyle/>
          <a:p>
            <a:pPr indent="0" marL="0">
              <a:buNone/>
            </a:pPr>
            <a:r>
              <a:rPr lang="en-US" sz="1500" b="1" dirty="0">
                <a:solidFill>
                  <a:schemeClr val="tx1"/>
                </a:solidFill>
              </a:rPr>
              <a:t>5  Guardrails</a:t>
            </a:r>
            <a:endParaRPr lang="en-US" sz="1500" dirty="0"/>
          </a:p>
        </p:txBody>
      </p:sp>
      <p:sp>
        <p:nvSpPr>
          <p:cNvPr id="32" name="Text 29"/>
          <p:cNvSpPr txBox="1"/>
          <p:nvPr/>
        </p:nvSpPr>
        <p:spPr>
          <a:xfrm>
            <a:off x="4480560" y="4498848"/>
            <a:ext cx="3200400" cy="566928"/>
          </a:xfrm>
          <a:prstGeom prst="rect">
            <a:avLst/>
          </a:prstGeom>
          <a:noFill/>
          <a:ln/>
        </p:spPr>
        <p:txBody>
          <a:bodyPr wrap="square" lIns="0" tIns="0" rIns="0" bIns="0" rtlCol="0" anchor="t"/>
          <a:lstStyle/>
          <a:p>
            <a:pPr indent="0" marL="0">
              <a:buNone/>
            </a:pPr>
            <a:r>
              <a:rPr lang="en-US" sz="1250" b="1" dirty="0">
                <a:solidFill>
                  <a:schemeClr val="accent1"/>
                </a:solidFill>
              </a:rPr>
              <a:t>cost floor, market band 0.92 to 1.10, step 3% a week</a:t>
            </a:r>
            <a:endParaRPr lang="en-US" sz="1250" dirty="0"/>
          </a:p>
        </p:txBody>
      </p:sp>
      <p:sp>
        <p:nvSpPr>
          <p:cNvPr id="33" name="Text 30"/>
          <p:cNvSpPr txBox="1"/>
          <p:nvPr/>
        </p:nvSpPr>
        <p:spPr>
          <a:xfrm>
            <a:off x="4480560" y="5074920"/>
            <a:ext cx="3200400" cy="685800"/>
          </a:xfrm>
          <a:prstGeom prst="rect">
            <a:avLst/>
          </a:prstGeom>
          <a:noFill/>
          <a:ln/>
        </p:spPr>
        <p:txBody>
          <a:bodyPr wrap="square" lIns="0" tIns="0" rIns="0" bIns="0" rtlCol="0" anchor="t"/>
          <a:lstStyle/>
          <a:p>
            <a:pPr indent="0" marL="0">
              <a:buNone/>
            </a:pPr>
            <a:r>
              <a:rPr lang="en-US" sz="1150" dirty="0">
                <a:solidFill>
                  <a:srgbClr val="1B2A41"/>
                </a:solidFill>
              </a:rPr>
              <a:t>Floor = cost + 5% + holding cost, adjusted for expected credit loss.</a:t>
            </a:r>
            <a:endParaRPr lang="en-US" sz="1150" dirty="0"/>
          </a:p>
        </p:txBody>
      </p:sp>
      <p:sp>
        <p:nvSpPr>
          <p:cNvPr id="34" name="Text 31"/>
          <p:cNvSpPr txBox="1"/>
          <p:nvPr/>
        </p:nvSpPr>
        <p:spPr>
          <a:xfrm>
            <a:off x="4480560" y="5760720"/>
            <a:ext cx="3200400" cy="457200"/>
          </a:xfrm>
          <a:prstGeom prst="rect">
            <a:avLst/>
          </a:prstGeom>
          <a:noFill/>
          <a:ln/>
        </p:spPr>
        <p:txBody>
          <a:bodyPr wrap="square" lIns="0" tIns="0" rIns="0" bIns="0" rtlCol="0" anchor="t"/>
          <a:lstStyle/>
          <a:p>
            <a:pPr indent="0" marL="0">
              <a:buNone/>
            </a:pPr>
            <a:r>
              <a:rPr lang="en-US" sz="1150" i="1" dirty="0">
                <a:solidFill>
                  <a:srgbClr val="5B6B80"/>
                </a:solidFill>
              </a:rPr>
              <a:t>Details on the next slide.</a:t>
            </a:r>
            <a:endParaRPr lang="en-US" sz="1150" dirty="0"/>
          </a:p>
        </p:txBody>
      </p:sp>
      <p:sp>
        <p:nvSpPr>
          <p:cNvPr id="35" name="Rule card"/>
          <p:cNvSpPr/>
          <p:nvPr/>
        </p:nvSpPr>
        <p:spPr>
          <a:xfrm>
            <a:off x="8046720" y="4023360"/>
            <a:ext cx="3566160" cy="2240280"/>
          </a:xfrm>
          <a:prstGeom prst="roundRect">
            <a:avLst>
              <a:gd name="adj" fmla="val 3265"/>
            </a:avLst>
          </a:prstGeom>
          <a:solidFill>
            <a:srgbClr val="F2F6FB"/>
          </a:solidFill>
          <a:ln w="12700">
            <a:solidFill>
              <a:srgbClr val="F2F6FB"/>
            </a:solidFill>
            <a:prstDash val="solid"/>
          </a:ln>
        </p:spPr>
      </p:sp>
      <p:sp>
        <p:nvSpPr>
          <p:cNvPr id="36" name="Rule accent"/>
          <p:cNvSpPr/>
          <p:nvPr/>
        </p:nvSpPr>
        <p:spPr>
          <a:xfrm>
            <a:off x="8046720" y="4023360"/>
            <a:ext cx="3566160" cy="64008"/>
          </a:xfrm>
          <a:prstGeom prst="rect">
            <a:avLst/>
          </a:prstGeom>
          <a:solidFill>
            <a:srgbClr val="12263F"/>
          </a:solidFill>
          <a:ln w="12700">
            <a:solidFill>
              <a:srgbClr val="12263F"/>
            </a:solidFill>
            <a:prstDash val="solid"/>
          </a:ln>
        </p:spPr>
      </p:sp>
      <p:sp>
        <p:nvSpPr>
          <p:cNvPr id="37" name="Text 34"/>
          <p:cNvSpPr txBox="1"/>
          <p:nvPr/>
        </p:nvSpPr>
        <p:spPr>
          <a:xfrm>
            <a:off x="8229600" y="4151376"/>
            <a:ext cx="3200400" cy="329184"/>
          </a:xfrm>
          <a:prstGeom prst="rect">
            <a:avLst/>
          </a:prstGeom>
          <a:noFill/>
          <a:ln/>
        </p:spPr>
        <p:txBody>
          <a:bodyPr wrap="square" lIns="0" tIns="0" rIns="0" bIns="0" rtlCol="0" anchor="ctr"/>
          <a:lstStyle/>
          <a:p>
            <a:pPr indent="0" marL="0">
              <a:buNone/>
            </a:pPr>
            <a:r>
              <a:rPr lang="en-US" sz="1500" b="1" dirty="0">
                <a:solidFill>
                  <a:schemeClr val="tx1"/>
                </a:solidFill>
              </a:rPr>
              <a:t>6  Final price</a:t>
            </a:r>
            <a:endParaRPr lang="en-US" sz="1500" dirty="0"/>
          </a:p>
        </p:txBody>
      </p:sp>
      <p:sp>
        <p:nvSpPr>
          <p:cNvPr id="38" name="Text 35"/>
          <p:cNvSpPr txBox="1"/>
          <p:nvPr/>
        </p:nvSpPr>
        <p:spPr>
          <a:xfrm>
            <a:off x="8229600" y="4498848"/>
            <a:ext cx="3200400" cy="566928"/>
          </a:xfrm>
          <a:prstGeom prst="rect">
            <a:avLst/>
          </a:prstGeom>
          <a:noFill/>
          <a:ln/>
        </p:spPr>
        <p:txBody>
          <a:bodyPr wrap="square" lIns="0" tIns="0" rIns="0" bIns="0" rtlCol="0" anchor="t"/>
          <a:lstStyle/>
          <a:p>
            <a:pPr indent="0" marL="0">
              <a:buNone/>
            </a:pPr>
            <a:r>
              <a:rPr lang="en-US" sz="1250" b="1" dirty="0">
                <a:solidFill>
                  <a:schemeClr val="accent1"/>
                </a:solidFill>
              </a:rPr>
              <a:t>today's price, rules 1-4, then clipped by rule 5</a:t>
            </a:r>
            <a:endParaRPr lang="en-US" sz="1250" dirty="0"/>
          </a:p>
        </p:txBody>
      </p:sp>
      <p:sp>
        <p:nvSpPr>
          <p:cNvPr id="39" name="Text 36"/>
          <p:cNvSpPr txBox="1"/>
          <p:nvPr/>
        </p:nvSpPr>
        <p:spPr>
          <a:xfrm>
            <a:off x="8229600" y="5074920"/>
            <a:ext cx="3200400" cy="685800"/>
          </a:xfrm>
          <a:prstGeom prst="rect">
            <a:avLst/>
          </a:prstGeom>
          <a:noFill/>
          <a:ln/>
        </p:spPr>
        <p:txBody>
          <a:bodyPr wrap="square" lIns="0" tIns="0" rIns="0" bIns="0" rtlCol="0" anchor="t"/>
          <a:lstStyle/>
          <a:p>
            <a:pPr indent="0" marL="0">
              <a:buNone/>
            </a:pPr>
            <a:r>
              <a:rPr lang="en-US" sz="1150" dirty="0">
                <a:solidFill>
                  <a:srgbClr val="1B2A41"/>
                </a:solidFill>
              </a:rPr>
              <a:t>The binding limit is recorded for every product-week.</a:t>
            </a:r>
            <a:endParaRPr lang="en-US" sz="1150" dirty="0"/>
          </a:p>
        </p:txBody>
      </p:sp>
      <p:sp>
        <p:nvSpPr>
          <p:cNvPr id="40" name="Text 37"/>
          <p:cNvSpPr txBox="1"/>
          <p:nvPr/>
        </p:nvSpPr>
        <p:spPr>
          <a:xfrm>
            <a:off x="8229600" y="5760720"/>
            <a:ext cx="3200400" cy="457200"/>
          </a:xfrm>
          <a:prstGeom prst="rect">
            <a:avLst/>
          </a:prstGeom>
          <a:noFill/>
          <a:ln/>
        </p:spPr>
        <p:txBody>
          <a:bodyPr wrap="square" lIns="0" tIns="0" rIns="0" bIns="0" rtlCol="0" anchor="t"/>
          <a:lstStyle/>
          <a:p>
            <a:pPr indent="0" marL="0">
              <a:buNone/>
            </a:pPr>
            <a:r>
              <a:rPr lang="en-US" sz="1150" i="1" dirty="0">
                <a:solidFill>
                  <a:srgbClr val="5B6B80"/>
                </a:solidFill>
              </a:rPr>
              <a:t>Why: every price can be explained.</a:t>
            </a:r>
            <a:endParaRPr lang="en-US" sz="115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RISK GUARDRAILS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Safety limits keep every price sensible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4572000"/>
                <a:gridCol w="4206240"/>
              </a:tblGrid>
              <a:tr h="384048">
                <a:tc>
                  <a:txBody>
                    <a:bodyPr/>
                    <a:lstStyle/>
                    <a:p>
                      <a:pPr indent="0" marL="0">
                        <a:buNone/>
                      </a:pPr>
                      <a:r>
                        <a:rPr lang="en-US" sz="1400" b="1" dirty="0">
                          <a:solidFill>
                            <a:srgbClr val="FFFFFF"/>
                          </a:solidFill>
                        </a:rPr>
                        <a:t>Guardrail</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400" b="1" dirty="0">
                          <a:solidFill>
                            <a:srgbClr val="FFFFFF"/>
                          </a:solidFill>
                        </a:rPr>
                        <a:t>Rule</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400" b="1" dirty="0">
                          <a:solidFill>
                            <a:srgbClr val="FFFFFF"/>
                          </a:solidFill>
                        </a:rPr>
                        <a:t>Why</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640080">
                <a:tc>
                  <a:txBody>
                    <a:bodyPr/>
                    <a:lstStyle/>
                    <a:p>
                      <a:pPr indent="0" marL="0">
                        <a:buNone/>
                      </a:pPr>
                      <a:r>
                        <a:rPr lang="en-US" sz="1400" dirty="0">
                          <a:solidFill>
                            <a:srgbClr val="1B2A41"/>
                          </a:solidFill>
                        </a:rPr>
                        <a:t>Sell-out protection</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raise only as far as units sold stay within 1%, even if customers were twice as price-sensitive</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price sensitivity is unknown; the rule does not rely on it</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B2A41"/>
                          </a:solidFill>
                        </a:rPr>
                        <a:t>Cost floor</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never below cost + 5% markup + carrying cost, covering expected credit loss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no sale below a profitable level</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400" dirty="0">
                          <a:solidFill>
                            <a:srgbClr val="1B2A41"/>
                          </a:solidFill>
                        </a:rPr>
                        <a:t>Competitive band</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within -8% and +10% of today's price (13-week average)</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stay close to the market; no competitor data exists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B2A41"/>
                          </a:solidFill>
                        </a:rPr>
                        <a:t>Weekly step</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at most 3% change from one week to the next</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customers never see price jumps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400" dirty="0">
                          <a:solidFill>
                            <a:srgbClr val="1B2A41"/>
                          </a:solidFill>
                        </a:rPr>
                        <a:t>Credit risk D/E</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no discounts, +2.5% risk premium, 15 days shorter terms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credit sales cost default loss and funding; risky categories should pay for it</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400" dirty="0">
                          <a:solidFill>
                            <a:srgbClr val="1B2A41"/>
                          </a:solidFill>
                        </a:rPr>
                        <a:t>Profit test for markdowns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discount only if expected profit rises, counting stock-holding savings</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400" dirty="0">
                          <a:solidFill>
                            <a:srgbClr val="1B2A41"/>
                          </a:solidFill>
                        </a:rPr>
                        <a:t>a discount gives away margin on every unit</a:t>
                      </a:r>
                      <a:endParaRPr lang="en-US" sz="1400" dirty="0"/>
                    </a:p>
                  </a:txBody>
                  <a:tcPr marL="91440" marR="91440" marT="64008" marB="64008"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548640" y="5989320"/>
            <a:ext cx="11064240" cy="411480"/>
          </a:xfrm>
          <a:prstGeom prst="rect">
            <a:avLst/>
          </a:prstGeom>
          <a:noFill/>
          <a:ln/>
        </p:spPr>
        <p:txBody>
          <a:bodyPr wrap="square" lIns="0" tIns="0" rIns="0" bIns="0" rtlCol="0" anchor="ctr"/>
          <a:lstStyle/>
          <a:p>
            <a:pPr indent="0" marL="0">
              <a:buNone/>
            </a:pPr>
            <a:r>
              <a:rPr lang="en-US" sz="1300" i="1" dirty="0">
                <a:solidFill>
                  <a:srgbClr val="5B6B80"/>
                </a:solidFill>
              </a:rPr>
              <a:t>All 19 automatic checks pass: band, floor, weekly step, credit rules, hand-calculated arithmetic, and a replay that uses only information available at the time.</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VALIDATION</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How the pricing engine was tested</a:t>
            </a:r>
            <a:endParaRPr lang="en-US" sz="3000" dirty="0"/>
          </a:p>
        </p:txBody>
      </p:sp>
      <p:sp>
        <p:nvSpPr>
          <p:cNvPr id="5" name="Test card"/>
          <p:cNvSpPr/>
          <p:nvPr/>
        </p:nvSpPr>
        <p:spPr>
          <a:xfrm>
            <a:off x="548640" y="1645920"/>
            <a:ext cx="2651760" cy="2743200"/>
          </a:xfrm>
          <a:prstGeom prst="roundRect">
            <a:avLst>
              <a:gd name="adj" fmla="val 2759"/>
            </a:avLst>
          </a:prstGeom>
          <a:solidFill>
            <a:srgbClr val="F2F6FB"/>
          </a:solidFill>
          <a:ln w="12700">
            <a:solidFill>
              <a:srgbClr val="F2F6FB"/>
            </a:solidFill>
            <a:prstDash val="solid"/>
          </a:ln>
        </p:spPr>
      </p:sp>
      <p:sp>
        <p:nvSpPr>
          <p:cNvPr id="6" name="Step number"/>
          <p:cNvSpPr/>
          <p:nvPr/>
        </p:nvSpPr>
        <p:spPr>
          <a:xfrm>
            <a:off x="731520" y="1810512"/>
            <a:ext cx="502920" cy="502920"/>
          </a:xfrm>
          <a:prstGeom prst="ellipse">
            <a:avLst/>
          </a:prstGeom>
          <a:solidFill>
            <a:srgbClr val="2A78D6"/>
          </a:solidFill>
          <a:ln w="12700">
            <a:solidFill>
              <a:srgbClr val="FFFFFF"/>
            </a:solidFill>
            <a:prstDash val="solid"/>
          </a:ln>
        </p:spPr>
      </p:sp>
      <p:sp>
        <p:nvSpPr>
          <p:cNvPr id="7" name="Text 4"/>
          <p:cNvSpPr txBox="1"/>
          <p:nvPr/>
        </p:nvSpPr>
        <p:spPr>
          <a:xfrm>
            <a:off x="731520" y="181051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5"/>
          <p:cNvSpPr txBox="1"/>
          <p:nvPr/>
        </p:nvSpPr>
        <p:spPr>
          <a:xfrm>
            <a:off x="1371600" y="1810512"/>
            <a:ext cx="1737360" cy="502920"/>
          </a:xfrm>
          <a:prstGeom prst="rect">
            <a:avLst/>
          </a:prstGeom>
          <a:noFill/>
          <a:ln/>
        </p:spPr>
        <p:txBody>
          <a:bodyPr wrap="square" lIns="0" tIns="0" rIns="0" bIns="0" rtlCol="0" anchor="ctr"/>
          <a:lstStyle/>
          <a:p>
            <a:pPr indent="0" marL="0">
              <a:buNone/>
            </a:pPr>
            <a:r>
              <a:rPr lang="en-US" sz="1600" b="1" dirty="0">
                <a:solidFill>
                  <a:schemeClr val="tx1"/>
                </a:solidFill>
              </a:rPr>
              <a:t>Simulate</a:t>
            </a:r>
            <a:endParaRPr lang="en-US" sz="1600" dirty="0"/>
          </a:p>
        </p:txBody>
      </p:sp>
      <p:sp>
        <p:nvSpPr>
          <p:cNvPr id="9" name="Text 6"/>
          <p:cNvSpPr txBox="1"/>
          <p:nvPr/>
        </p:nvSpPr>
        <p:spPr>
          <a:xfrm>
            <a:off x="731520" y="2468880"/>
            <a:ext cx="2331720" cy="1828800"/>
          </a:xfrm>
          <a:prstGeom prst="rect">
            <a:avLst/>
          </a:prstGeom>
          <a:noFill/>
          <a:ln/>
        </p:spPr>
        <p:txBody>
          <a:bodyPr wrap="square" lIns="0" tIns="0" rIns="0" bIns="0" rtlCol="0" anchor="t"/>
          <a:lstStyle/>
          <a:p>
            <a:pPr indent="0" marL="0">
              <a:buNone/>
            </a:pPr>
            <a:r>
              <a:rPr lang="en-US" sz="1300" dirty="0">
                <a:solidFill>
                  <a:srgbClr val="1B2A41"/>
                </a:solidFill>
              </a:rPr>
              <a:t>1,000 demand and stock draws per product-week; profit with the engine vs holding today's price, same draws for both.</a:t>
            </a:r>
            <a:endParaRPr lang="en-US" sz="1300" dirty="0"/>
          </a:p>
        </p:txBody>
      </p:sp>
      <p:sp>
        <p:nvSpPr>
          <p:cNvPr id="10" name="Test card"/>
          <p:cNvSpPr/>
          <p:nvPr/>
        </p:nvSpPr>
        <p:spPr>
          <a:xfrm>
            <a:off x="3337560" y="1645920"/>
            <a:ext cx="2651760" cy="2743200"/>
          </a:xfrm>
          <a:prstGeom prst="roundRect">
            <a:avLst>
              <a:gd name="adj" fmla="val 2759"/>
            </a:avLst>
          </a:prstGeom>
          <a:solidFill>
            <a:srgbClr val="F2F6FB"/>
          </a:solidFill>
          <a:ln w="12700">
            <a:solidFill>
              <a:srgbClr val="F2F6FB"/>
            </a:solidFill>
            <a:prstDash val="solid"/>
          </a:ln>
        </p:spPr>
      </p:sp>
      <p:sp>
        <p:nvSpPr>
          <p:cNvPr id="11" name="Step number"/>
          <p:cNvSpPr/>
          <p:nvPr/>
        </p:nvSpPr>
        <p:spPr>
          <a:xfrm>
            <a:off x="3520440" y="1810512"/>
            <a:ext cx="502920" cy="502920"/>
          </a:xfrm>
          <a:prstGeom prst="ellipse">
            <a:avLst/>
          </a:prstGeom>
          <a:solidFill>
            <a:srgbClr val="1BAF7A"/>
          </a:solidFill>
          <a:ln w="12700">
            <a:solidFill>
              <a:srgbClr val="FFFFFF"/>
            </a:solidFill>
            <a:prstDash val="solid"/>
          </a:ln>
        </p:spPr>
      </p:sp>
      <p:sp>
        <p:nvSpPr>
          <p:cNvPr id="12" name="Text 9"/>
          <p:cNvSpPr txBox="1"/>
          <p:nvPr/>
        </p:nvSpPr>
        <p:spPr>
          <a:xfrm>
            <a:off x="3520440" y="181051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3" name="Text 10"/>
          <p:cNvSpPr txBox="1"/>
          <p:nvPr/>
        </p:nvSpPr>
        <p:spPr>
          <a:xfrm>
            <a:off x="4160520" y="1810512"/>
            <a:ext cx="1737360" cy="502920"/>
          </a:xfrm>
          <a:prstGeom prst="rect">
            <a:avLst/>
          </a:prstGeom>
          <a:noFill/>
          <a:ln/>
        </p:spPr>
        <p:txBody>
          <a:bodyPr wrap="square" lIns="0" tIns="0" rIns="0" bIns="0" rtlCol="0" anchor="ctr"/>
          <a:lstStyle/>
          <a:p>
            <a:pPr indent="0" marL="0">
              <a:buNone/>
            </a:pPr>
            <a:r>
              <a:rPr lang="en-US" sz="1600" b="1" dirty="0">
                <a:solidFill>
                  <a:schemeClr val="tx1"/>
                </a:solidFill>
              </a:rPr>
              <a:t>Stress sensitivity</a:t>
            </a:r>
            <a:endParaRPr lang="en-US" sz="1600" dirty="0"/>
          </a:p>
        </p:txBody>
      </p:sp>
      <p:sp>
        <p:nvSpPr>
          <p:cNvPr id="14" name="Text 11"/>
          <p:cNvSpPr txBox="1"/>
          <p:nvPr/>
        </p:nvSpPr>
        <p:spPr>
          <a:xfrm>
            <a:off x="3520440" y="2468880"/>
            <a:ext cx="2331720" cy="1828800"/>
          </a:xfrm>
          <a:prstGeom prst="rect">
            <a:avLst/>
          </a:prstGeom>
          <a:noFill/>
          <a:ln/>
        </p:spPr>
        <p:txBody>
          <a:bodyPr wrap="square" lIns="0" tIns="0" rIns="0" bIns="0" rtlCol="0" anchor="t"/>
          <a:lstStyle/>
          <a:p>
            <a:pPr indent="0" marL="0">
              <a:buNone/>
            </a:pPr>
            <a:r>
              <a:rPr lang="en-US" sz="1300" dirty="0">
                <a:solidFill>
                  <a:srgbClr val="1B2A41"/>
                </a:solidFill>
              </a:rPr>
              <a:t>Repeat for price sensitivity 0, -0.5, -1, -2, -3. The result is a range, not one number.</a:t>
            </a:r>
            <a:endParaRPr lang="en-US" sz="1300" dirty="0"/>
          </a:p>
        </p:txBody>
      </p:sp>
      <p:sp>
        <p:nvSpPr>
          <p:cNvPr id="15" name="Test card"/>
          <p:cNvSpPr/>
          <p:nvPr/>
        </p:nvSpPr>
        <p:spPr>
          <a:xfrm>
            <a:off x="6126480" y="1645920"/>
            <a:ext cx="2651760" cy="2743200"/>
          </a:xfrm>
          <a:prstGeom prst="roundRect">
            <a:avLst>
              <a:gd name="adj" fmla="val 2759"/>
            </a:avLst>
          </a:prstGeom>
          <a:solidFill>
            <a:srgbClr val="F2F6FB"/>
          </a:solidFill>
          <a:ln w="12700">
            <a:solidFill>
              <a:srgbClr val="F2F6FB"/>
            </a:solidFill>
            <a:prstDash val="solid"/>
          </a:ln>
        </p:spPr>
      </p:sp>
      <p:sp>
        <p:nvSpPr>
          <p:cNvPr id="16" name="Step number"/>
          <p:cNvSpPr/>
          <p:nvPr/>
        </p:nvSpPr>
        <p:spPr>
          <a:xfrm>
            <a:off x="6309360" y="1810512"/>
            <a:ext cx="502920" cy="502920"/>
          </a:xfrm>
          <a:prstGeom prst="ellipse">
            <a:avLst/>
          </a:prstGeom>
          <a:solidFill>
            <a:srgbClr val="EB6834"/>
          </a:solidFill>
          <a:ln w="12700">
            <a:solidFill>
              <a:srgbClr val="FFFFFF"/>
            </a:solidFill>
            <a:prstDash val="solid"/>
          </a:ln>
        </p:spPr>
      </p:sp>
      <p:sp>
        <p:nvSpPr>
          <p:cNvPr id="17" name="Text 14"/>
          <p:cNvSpPr txBox="1"/>
          <p:nvPr/>
        </p:nvSpPr>
        <p:spPr>
          <a:xfrm>
            <a:off x="6309360" y="181051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8" name="Text 15"/>
          <p:cNvSpPr txBox="1"/>
          <p:nvPr/>
        </p:nvSpPr>
        <p:spPr>
          <a:xfrm>
            <a:off x="6949440" y="1810512"/>
            <a:ext cx="1737360" cy="502920"/>
          </a:xfrm>
          <a:prstGeom prst="rect">
            <a:avLst/>
          </a:prstGeom>
          <a:noFill/>
          <a:ln/>
        </p:spPr>
        <p:txBody>
          <a:bodyPr wrap="square" lIns="0" tIns="0" rIns="0" bIns="0" rtlCol="0" anchor="ctr"/>
          <a:lstStyle/>
          <a:p>
            <a:pPr indent="0" marL="0">
              <a:buNone/>
            </a:pPr>
            <a:r>
              <a:rPr lang="en-US" sz="1600" b="1" dirty="0">
                <a:solidFill>
                  <a:schemeClr val="tx1"/>
                </a:solidFill>
              </a:rPr>
              <a:t>Replay the past</a:t>
            </a:r>
            <a:endParaRPr lang="en-US" sz="1600" dirty="0"/>
          </a:p>
        </p:txBody>
      </p:sp>
      <p:sp>
        <p:nvSpPr>
          <p:cNvPr id="19" name="Text 16"/>
          <p:cNvSpPr txBox="1"/>
          <p:nvPr/>
        </p:nvSpPr>
        <p:spPr>
          <a:xfrm>
            <a:off x="6309360" y="2468880"/>
            <a:ext cx="2331720" cy="1828800"/>
          </a:xfrm>
          <a:prstGeom prst="rect">
            <a:avLst/>
          </a:prstGeom>
          <a:noFill/>
          <a:ln/>
        </p:spPr>
        <p:txBody>
          <a:bodyPr wrap="square" lIns="0" tIns="0" rIns="0" bIns="0" rtlCol="0" anchor="t"/>
          <a:lstStyle/>
          <a:p>
            <a:pPr indent="0" marL="0">
              <a:buNone/>
            </a:pPr>
            <a:r>
              <a:rPr lang="en-US" sz="1300" dirty="0">
                <a:solidFill>
                  <a:srgbClr val="1B2A41"/>
                </a:solidFill>
              </a:rPr>
              <a:t>Last 52 weeks: decide at weeks 208 and 234 using only past information and a naive forecast.</a:t>
            </a:r>
            <a:endParaRPr lang="en-US" sz="1300" dirty="0"/>
          </a:p>
        </p:txBody>
      </p:sp>
      <p:sp>
        <p:nvSpPr>
          <p:cNvPr id="20" name="Test card"/>
          <p:cNvSpPr/>
          <p:nvPr/>
        </p:nvSpPr>
        <p:spPr>
          <a:xfrm>
            <a:off x="8915400" y="1645920"/>
            <a:ext cx="2651760" cy="2743200"/>
          </a:xfrm>
          <a:prstGeom prst="roundRect">
            <a:avLst>
              <a:gd name="adj" fmla="val 2759"/>
            </a:avLst>
          </a:prstGeom>
          <a:solidFill>
            <a:srgbClr val="F2F6FB"/>
          </a:solidFill>
          <a:ln w="12700">
            <a:solidFill>
              <a:srgbClr val="F2F6FB"/>
            </a:solidFill>
            <a:prstDash val="solid"/>
          </a:ln>
        </p:spPr>
      </p:sp>
      <p:sp>
        <p:nvSpPr>
          <p:cNvPr id="21" name="Step number"/>
          <p:cNvSpPr/>
          <p:nvPr/>
        </p:nvSpPr>
        <p:spPr>
          <a:xfrm>
            <a:off x="9098280" y="1810512"/>
            <a:ext cx="502920" cy="502920"/>
          </a:xfrm>
          <a:prstGeom prst="ellipse">
            <a:avLst/>
          </a:prstGeom>
          <a:solidFill>
            <a:srgbClr val="D03B3B"/>
          </a:solidFill>
          <a:ln w="12700">
            <a:solidFill>
              <a:srgbClr val="FFFFFF"/>
            </a:solidFill>
            <a:prstDash val="solid"/>
          </a:ln>
        </p:spPr>
      </p:sp>
      <p:sp>
        <p:nvSpPr>
          <p:cNvPr id="22" name="Text 19"/>
          <p:cNvSpPr txBox="1"/>
          <p:nvPr/>
        </p:nvSpPr>
        <p:spPr>
          <a:xfrm>
            <a:off x="9098280" y="181051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3" name="Text 20"/>
          <p:cNvSpPr txBox="1"/>
          <p:nvPr/>
        </p:nvSpPr>
        <p:spPr>
          <a:xfrm>
            <a:off x="9738360" y="1810512"/>
            <a:ext cx="1737360" cy="502920"/>
          </a:xfrm>
          <a:prstGeom prst="rect">
            <a:avLst/>
          </a:prstGeom>
          <a:noFill/>
          <a:ln/>
        </p:spPr>
        <p:txBody>
          <a:bodyPr wrap="square" lIns="0" tIns="0" rIns="0" bIns="0" rtlCol="0" anchor="ctr"/>
          <a:lstStyle/>
          <a:p>
            <a:pPr indent="0" marL="0">
              <a:buNone/>
            </a:pPr>
            <a:r>
              <a:rPr lang="en-US" sz="1600" b="1" dirty="0">
                <a:solidFill>
                  <a:schemeClr val="tx1"/>
                </a:solidFill>
              </a:rPr>
              <a:t>Stress the inputs</a:t>
            </a:r>
            <a:endParaRPr lang="en-US" sz="1600" dirty="0"/>
          </a:p>
        </p:txBody>
      </p:sp>
      <p:sp>
        <p:nvSpPr>
          <p:cNvPr id="24" name="Text 21"/>
          <p:cNvSpPr txBox="1"/>
          <p:nvPr/>
        </p:nvSpPr>
        <p:spPr>
          <a:xfrm>
            <a:off x="9098280" y="2468880"/>
            <a:ext cx="2331720" cy="1828800"/>
          </a:xfrm>
          <a:prstGeom prst="rect">
            <a:avLst/>
          </a:prstGeom>
          <a:noFill/>
          <a:ln/>
        </p:spPr>
        <p:txBody>
          <a:bodyPr wrap="square" lIns="0" tIns="0" rIns="0" bIns="0" rtlCol="0" anchor="t"/>
          <a:lstStyle/>
          <a:p>
            <a:pPr indent="0" marL="0">
              <a:buNone/>
            </a:pPr>
            <a:r>
              <a:rPr lang="en-US" sz="1300" dirty="0">
                <a:solidFill>
                  <a:srgbClr val="1B2A41"/>
                </a:solidFill>
              </a:rPr>
              <a:t>16 parameter variations, and a test where real demand is only 60% of our estimate.</a:t>
            </a:r>
            <a:endParaRPr lang="en-US" sz="1300" dirty="0"/>
          </a:p>
        </p:txBody>
      </p:sp>
      <p:sp>
        <p:nvSpPr>
          <p:cNvPr id="25" name="Callout"/>
          <p:cNvSpPr/>
          <p:nvPr/>
        </p:nvSpPr>
        <p:spPr>
          <a:xfrm>
            <a:off x="548640" y="4572000"/>
            <a:ext cx="6675120" cy="1737360"/>
          </a:xfrm>
          <a:prstGeom prst="roundRect">
            <a:avLst>
              <a:gd name="adj" fmla="val 4211"/>
            </a:avLst>
          </a:prstGeom>
          <a:solidFill>
            <a:srgbClr val="F2F6FB"/>
          </a:solidFill>
          <a:ln w="12700">
            <a:solidFill>
              <a:srgbClr val="D9E1EC"/>
            </a:solidFill>
            <a:prstDash val="solid"/>
          </a:ln>
        </p:spPr>
      </p:sp>
      <p:sp>
        <p:nvSpPr>
          <p:cNvPr id="26" name="Text 23"/>
          <p:cNvSpPr txBox="1"/>
          <p:nvPr/>
        </p:nvSpPr>
        <p:spPr>
          <a:xfrm>
            <a:off x="731520" y="4681728"/>
            <a:ext cx="6309360" cy="292608"/>
          </a:xfrm>
          <a:prstGeom prst="rect">
            <a:avLst/>
          </a:prstGeom>
          <a:noFill/>
          <a:ln/>
        </p:spPr>
        <p:txBody>
          <a:bodyPr wrap="square" lIns="0" tIns="0" rIns="0" bIns="0" rtlCol="0" anchor="ctr"/>
          <a:lstStyle/>
          <a:p>
            <a:pPr indent="0" marL="0">
              <a:buNone/>
            </a:pPr>
            <a:r>
              <a:rPr lang="en-US" sz="1400" b="1" dirty="0">
                <a:solidFill>
                  <a:schemeClr val="accent1"/>
                </a:solidFill>
              </a:rPr>
              <a:t>Why a range instead of one number</a:t>
            </a:r>
            <a:endParaRPr lang="en-US" sz="1400" dirty="0"/>
          </a:p>
        </p:txBody>
      </p:sp>
      <p:sp>
        <p:nvSpPr>
          <p:cNvPr id="27" name="Text 24"/>
          <p:cNvSpPr txBox="1"/>
          <p:nvPr/>
        </p:nvSpPr>
        <p:spPr>
          <a:xfrm>
            <a:off x="731520" y="5029200"/>
            <a:ext cx="6309360" cy="118872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B2A41"/>
                </a:solidFill>
              </a:rPr>
              <a:t>Price effect is not measurable here: -0.017, 95% range -0.056 to +0.021.</a:t>
            </a:r>
            <a:endParaRPr lang="en-US" sz="1400" dirty="0"/>
          </a:p>
          <a:p>
            <a:pPr marL="177800" indent="-177800">
              <a:spcAft>
                <a:spcPts val="500"/>
              </a:spcAft>
              <a:buSzPct val="100000"/>
              <a:buChar char="•"/>
            </a:pPr>
            <a:r>
              <a:rPr lang="en-US" sz="1400" dirty="0">
                <a:solidFill>
                  <a:srgbClr val="1B2A41"/>
                </a:solidFill>
              </a:rPr>
              <a:t>The engine raises prices only where we sell out anyway, so the gain is nearly independent of it.</a:t>
            </a:r>
            <a:endParaRPr lang="en-US" sz="1400" dirty="0"/>
          </a:p>
        </p:txBody>
      </p:sp>
      <p:sp>
        <p:nvSpPr>
          <p:cNvPr id="28" name="Stat card"/>
          <p:cNvSpPr/>
          <p:nvPr/>
        </p:nvSpPr>
        <p:spPr>
          <a:xfrm>
            <a:off x="7498080" y="4572000"/>
            <a:ext cx="1965960" cy="1737360"/>
          </a:xfrm>
          <a:prstGeom prst="roundRect">
            <a:avLst>
              <a:gd name="adj" fmla="val 4211"/>
            </a:avLst>
          </a:prstGeom>
          <a:solidFill>
            <a:srgbClr val="F2F6FB"/>
          </a:solidFill>
          <a:ln w="12700">
            <a:solidFill>
              <a:srgbClr val="F2F6FB"/>
            </a:solidFill>
            <a:prstDash val="solid"/>
          </a:ln>
        </p:spPr>
      </p:sp>
      <p:sp>
        <p:nvSpPr>
          <p:cNvPr id="29" name="Text 26"/>
          <p:cNvSpPr txBox="1"/>
          <p:nvPr/>
        </p:nvSpPr>
        <p:spPr>
          <a:xfrm>
            <a:off x="7635240" y="4645152"/>
            <a:ext cx="1691640" cy="781812"/>
          </a:xfrm>
          <a:prstGeom prst="rect">
            <a:avLst/>
          </a:prstGeom>
          <a:noFill/>
          <a:ln/>
        </p:spPr>
        <p:txBody>
          <a:bodyPr wrap="square" lIns="0" tIns="0" rIns="0" bIns="0" rtlCol="0" anchor="ctr"/>
          <a:lstStyle/>
          <a:p>
            <a:pPr indent="0" marL="0">
              <a:buNone/>
            </a:pPr>
            <a:r>
              <a:rPr lang="en-US" sz="2600" b="1" dirty="0">
                <a:solidFill>
                  <a:srgbClr val="1BAF7A"/>
                </a:solidFill>
                <a:latin typeface="Cambria" pitchFamily="34" charset="0"/>
                <a:ea typeface="Cambria" pitchFamily="34" charset="-122"/>
                <a:cs typeface="Cambria" pitchFamily="34" charset="-120"/>
              </a:rPr>
              <a:t>19 / 19</a:t>
            </a:r>
            <a:endParaRPr lang="en-US" sz="2600" dirty="0"/>
          </a:p>
        </p:txBody>
      </p:sp>
      <p:sp>
        <p:nvSpPr>
          <p:cNvPr id="30" name="Text 27"/>
          <p:cNvSpPr txBox="1"/>
          <p:nvPr/>
        </p:nvSpPr>
        <p:spPr>
          <a:xfrm>
            <a:off x="7635240" y="5475427"/>
            <a:ext cx="1691640" cy="799186"/>
          </a:xfrm>
          <a:prstGeom prst="rect">
            <a:avLst/>
          </a:prstGeom>
          <a:noFill/>
          <a:ln/>
        </p:spPr>
        <p:txBody>
          <a:bodyPr wrap="square" lIns="0" tIns="0" rIns="0" bIns="0" rtlCol="0" anchor="t"/>
          <a:lstStyle/>
          <a:p>
            <a:pPr indent="0" marL="0">
              <a:buNone/>
            </a:pPr>
            <a:r>
              <a:rPr lang="en-US" sz="1300" dirty="0">
                <a:solidFill>
                  <a:srgbClr val="5B6B80"/>
                </a:solidFill>
              </a:rPr>
              <a:t>automatic checks pass</a:t>
            </a:r>
            <a:endParaRPr lang="en-US" sz="1300" dirty="0"/>
          </a:p>
        </p:txBody>
      </p:sp>
      <p:sp>
        <p:nvSpPr>
          <p:cNvPr id="31" name="Stat card"/>
          <p:cNvSpPr/>
          <p:nvPr/>
        </p:nvSpPr>
        <p:spPr>
          <a:xfrm>
            <a:off x="9601200" y="4572000"/>
            <a:ext cx="2011680" cy="1737360"/>
          </a:xfrm>
          <a:prstGeom prst="roundRect">
            <a:avLst>
              <a:gd name="adj" fmla="val 4211"/>
            </a:avLst>
          </a:prstGeom>
          <a:solidFill>
            <a:srgbClr val="F2F6FB"/>
          </a:solidFill>
          <a:ln w="12700">
            <a:solidFill>
              <a:srgbClr val="F2F6FB"/>
            </a:solidFill>
            <a:prstDash val="solid"/>
          </a:ln>
        </p:spPr>
      </p:sp>
      <p:sp>
        <p:nvSpPr>
          <p:cNvPr id="32" name="Text 29"/>
          <p:cNvSpPr txBox="1"/>
          <p:nvPr/>
        </p:nvSpPr>
        <p:spPr>
          <a:xfrm>
            <a:off x="9738360" y="4645152"/>
            <a:ext cx="1737360" cy="781812"/>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0 leaks</a:t>
            </a:r>
            <a:endParaRPr lang="en-US" sz="2600" dirty="0"/>
          </a:p>
        </p:txBody>
      </p:sp>
      <p:sp>
        <p:nvSpPr>
          <p:cNvPr id="33" name="Text 30"/>
          <p:cNvSpPr txBox="1"/>
          <p:nvPr/>
        </p:nvSpPr>
        <p:spPr>
          <a:xfrm>
            <a:off x="9738360" y="5475427"/>
            <a:ext cx="1737360" cy="799186"/>
          </a:xfrm>
          <a:prstGeom prst="rect">
            <a:avLst/>
          </a:prstGeom>
          <a:noFill/>
          <a:ln/>
        </p:spPr>
        <p:txBody>
          <a:bodyPr wrap="square" lIns="0" tIns="0" rIns="0" bIns="0" rtlCol="0" anchor="t"/>
          <a:lstStyle/>
          <a:p>
            <a:pPr indent="0" marL="0">
              <a:buNone/>
            </a:pPr>
            <a:r>
              <a:rPr lang="en-US" sz="1300" dirty="0">
                <a:solidFill>
                  <a:srgbClr val="5B6B80"/>
                </a:solidFill>
              </a:rPr>
              <a:t>replay uses only information available at the time</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EXPECTED IMPACT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About +$1.3M profit in 26 weeks, robustly</a:t>
            </a:r>
            <a:endParaRPr lang="en-US" sz="3000" dirty="0"/>
          </a:p>
        </p:txBody>
      </p:sp>
      <p:graphicFrame>
        <p:nvGraphicFramePr>
          <p:cNvPr id="5" name="Chart 0" descr=""/>
          <p:cNvGraphicFramePr/>
          <p:nvPr/>
        </p:nvGraphicFramePr>
        <p:xfrm>
          <a:off x="548640" y="1645920"/>
          <a:ext cx="6309360" cy="402336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7132320" y="1691640"/>
            <a:ext cx="2194560" cy="1371600"/>
          </a:xfrm>
          <a:prstGeom prst="roundRect">
            <a:avLst>
              <a:gd name="adj" fmla="val 5333"/>
            </a:avLst>
          </a:prstGeom>
          <a:solidFill>
            <a:srgbClr val="F2F6FB"/>
          </a:solidFill>
          <a:ln w="12700">
            <a:solidFill>
              <a:srgbClr val="F2F6FB"/>
            </a:solidFill>
            <a:prstDash val="solid"/>
          </a:ln>
        </p:spPr>
      </p:sp>
      <p:sp>
        <p:nvSpPr>
          <p:cNvPr id="7" name="Text 3"/>
          <p:cNvSpPr txBox="1"/>
          <p:nvPr/>
        </p:nvSpPr>
        <p:spPr>
          <a:xfrm>
            <a:off x="7269480" y="1764792"/>
            <a:ext cx="1920240" cy="617220"/>
          </a:xfrm>
          <a:prstGeom prst="rect">
            <a:avLst/>
          </a:prstGeom>
          <a:noFill/>
          <a:ln/>
        </p:spPr>
        <p:txBody>
          <a:bodyPr wrap="square" lIns="0" tIns="0" rIns="0" bIns="0" rtlCol="0" anchor="ctr"/>
          <a:lstStyle/>
          <a:p>
            <a:pPr indent="0" marL="0">
              <a:buNone/>
            </a:pPr>
            <a:r>
              <a:rPr lang="en-US" sz="2800" b="1" dirty="0">
                <a:solidFill>
                  <a:srgbClr val="1BAF7A"/>
                </a:solidFill>
                <a:latin typeface="Cambria" pitchFamily="34" charset="0"/>
                <a:ea typeface="Cambria" pitchFamily="34" charset="-122"/>
                <a:cs typeface="Cambria" pitchFamily="34" charset="-120"/>
              </a:rPr>
              <a:t>+$1.4M</a:t>
            </a:r>
            <a:endParaRPr lang="en-US" sz="2800" dirty="0"/>
          </a:p>
        </p:txBody>
      </p:sp>
      <p:sp>
        <p:nvSpPr>
          <p:cNvPr id="8" name="Text 4"/>
          <p:cNvSpPr txBox="1"/>
          <p:nvPr/>
        </p:nvSpPr>
        <p:spPr>
          <a:xfrm>
            <a:off x="7269480" y="2404872"/>
            <a:ext cx="1920240" cy="630936"/>
          </a:xfrm>
          <a:prstGeom prst="rect">
            <a:avLst/>
          </a:prstGeom>
          <a:noFill/>
          <a:ln/>
        </p:spPr>
        <p:txBody>
          <a:bodyPr wrap="square" lIns="0" tIns="0" rIns="0" bIns="0" rtlCol="0" anchor="t"/>
          <a:lstStyle/>
          <a:p>
            <a:pPr indent="0" marL="0">
              <a:buNone/>
            </a:pPr>
            <a:r>
              <a:rPr lang="en-US" sz="1300" dirty="0">
                <a:solidFill>
                  <a:srgbClr val="5B6B80"/>
                </a:solidFill>
              </a:rPr>
              <a:t>replay of the last 52 weeks</a:t>
            </a:r>
            <a:endParaRPr lang="en-US" sz="1300" dirty="0"/>
          </a:p>
        </p:txBody>
      </p:sp>
      <p:sp>
        <p:nvSpPr>
          <p:cNvPr id="9" name="Stat card"/>
          <p:cNvSpPr/>
          <p:nvPr/>
        </p:nvSpPr>
        <p:spPr>
          <a:xfrm>
            <a:off x="9464040" y="1691640"/>
            <a:ext cx="2148840" cy="1371600"/>
          </a:xfrm>
          <a:prstGeom prst="roundRect">
            <a:avLst>
              <a:gd name="adj" fmla="val 5333"/>
            </a:avLst>
          </a:prstGeom>
          <a:solidFill>
            <a:srgbClr val="F2F6FB"/>
          </a:solidFill>
          <a:ln w="12700">
            <a:solidFill>
              <a:srgbClr val="F2F6FB"/>
            </a:solidFill>
            <a:prstDash val="solid"/>
          </a:ln>
        </p:spPr>
      </p:sp>
      <p:sp>
        <p:nvSpPr>
          <p:cNvPr id="10" name="Text 6"/>
          <p:cNvSpPr txBox="1"/>
          <p:nvPr/>
        </p:nvSpPr>
        <p:spPr>
          <a:xfrm>
            <a:off x="9601200" y="1764792"/>
            <a:ext cx="1874520" cy="617220"/>
          </a:xfrm>
          <a:prstGeom prst="rect">
            <a:avLst/>
          </a:prstGeom>
          <a:noFill/>
          <a:ln/>
        </p:spPr>
        <p:txBody>
          <a:bodyPr wrap="square" lIns="0" tIns="0" rIns="0" bIns="0" rtlCol="0" anchor="ctr"/>
          <a:lstStyle/>
          <a:p>
            <a:pPr indent="0" marL="0">
              <a:buNone/>
            </a:pPr>
            <a:r>
              <a:rPr lang="en-US" sz="2800" b="1" dirty="0">
                <a:solidFill>
                  <a:srgbClr val="2A78D6"/>
                </a:solidFill>
                <a:latin typeface="Cambria" pitchFamily="34" charset="0"/>
                <a:ea typeface="Cambria" pitchFamily="34" charset="-122"/>
                <a:cs typeface="Cambria" pitchFamily="34" charset="-120"/>
              </a:rPr>
              <a:t>+$0.94M</a:t>
            </a:r>
            <a:endParaRPr lang="en-US" sz="2800" dirty="0"/>
          </a:p>
        </p:txBody>
      </p:sp>
      <p:sp>
        <p:nvSpPr>
          <p:cNvPr id="11" name="Text 7"/>
          <p:cNvSpPr txBox="1"/>
          <p:nvPr/>
        </p:nvSpPr>
        <p:spPr>
          <a:xfrm>
            <a:off x="9601200" y="2404872"/>
            <a:ext cx="1874520" cy="630936"/>
          </a:xfrm>
          <a:prstGeom prst="rect">
            <a:avLst/>
          </a:prstGeom>
          <a:noFill/>
          <a:ln/>
        </p:spPr>
        <p:txBody>
          <a:bodyPr wrap="square" lIns="0" tIns="0" rIns="0" bIns="0" rtlCol="0" anchor="t"/>
          <a:lstStyle/>
          <a:p>
            <a:pPr indent="0" marL="0">
              <a:buNone/>
            </a:pPr>
            <a:r>
              <a:rPr lang="en-US" sz="1300" dirty="0">
                <a:solidFill>
                  <a:srgbClr val="5B6B80"/>
                </a:solidFill>
              </a:rPr>
              <a:t>if demand is 60% of estimate</a:t>
            </a:r>
            <a:endParaRPr lang="en-US" sz="1300" dirty="0"/>
          </a:p>
        </p:txBody>
      </p:sp>
      <p:sp>
        <p:nvSpPr>
          <p:cNvPr id="12" name="Text 8"/>
          <p:cNvSpPr txBox="1"/>
          <p:nvPr/>
        </p:nvSpPr>
        <p:spPr>
          <a:xfrm>
            <a:off x="7132320" y="3337560"/>
            <a:ext cx="4480560" cy="237744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rgbClr val="1B2A41"/>
                </a:solidFill>
              </a:rPr>
              <a:t>Robust: </a:t>
            </a:r>
            <a:pPr indent="0" marL="0">
              <a:spcAft>
                <a:spcPts val="800"/>
              </a:spcAft>
              <a:buNone/>
            </a:pPr>
            <a:r>
              <a:rPr lang="en-US" sz="1500" dirty="0">
                <a:solidFill>
                  <a:srgbClr val="1B2A41"/>
                </a:solidFill>
              </a:rPr>
              <a:t>all 16 settings we varied stay positive ($0.64M to $1.6M).</a:t>
            </a:r>
            <a:endParaRPr lang="en-US" sz="1500" dirty="0"/>
          </a:p>
          <a:p>
            <a:pPr marL="203200" indent="-203200">
              <a:spcAft>
                <a:spcPts val="800"/>
              </a:spcAft>
              <a:buSzPct val="100000"/>
              <a:buChar char="•"/>
            </a:pPr>
            <a:r>
              <a:rPr lang="en-US" sz="1500" b="1" dirty="0">
                <a:solidFill>
                  <a:srgbClr val="1B2A41"/>
                </a:solidFill>
              </a:rPr>
              <a:t>Same units: </a:t>
            </a:r>
            <a:pPr indent="0" marL="0">
              <a:spcAft>
                <a:spcPts val="800"/>
              </a:spcAft>
              <a:buNone/>
            </a:pPr>
            <a:r>
              <a:rPr lang="en-US" sz="1500" dirty="0">
                <a:solidFill>
                  <a:srgbClr val="1B2A41"/>
                </a:solidFill>
              </a:rPr>
              <a:t>units change by -0.4% in the planning case.</a:t>
            </a:r>
            <a:endParaRPr lang="en-US" sz="1500" dirty="0"/>
          </a:p>
          <a:p>
            <a:pPr marL="203200" indent="-203200">
              <a:spcAft>
                <a:spcPts val="800"/>
              </a:spcAft>
              <a:buSzPct val="100000"/>
              <a:buChar char="•"/>
            </a:pPr>
            <a:r>
              <a:rPr lang="en-US" sz="1500" b="1" dirty="0">
                <a:solidFill>
                  <a:srgbClr val="1B2A41"/>
                </a:solidFill>
              </a:rPr>
              <a:t>Largest setting risk: </a:t>
            </a:r>
            <a:pPr indent="0" marL="0">
              <a:spcAft>
                <a:spcPts val="800"/>
              </a:spcAft>
              <a:buNone/>
            </a:pPr>
            <a:r>
              <a:rPr lang="en-US" sz="1500" dirty="0">
                <a:solidFill>
                  <a:srgbClr val="1B2A41"/>
                </a:solidFill>
              </a:rPr>
              <a:t>how many units we accept to lose; 0% halves the gain.</a:t>
            </a:r>
            <a:endParaRPr lang="en-US" sz="1500" dirty="0"/>
          </a:p>
        </p:txBody>
      </p:sp>
      <p:sp>
        <p:nvSpPr>
          <p:cNvPr id="13" name="Text 9"/>
          <p:cNvSpPr txBox="1"/>
          <p:nvPr/>
        </p:nvSpPr>
        <p:spPr>
          <a:xfrm>
            <a:off x="548640" y="5852160"/>
            <a:ext cx="11064240" cy="457200"/>
          </a:xfrm>
          <a:prstGeom prst="rect">
            <a:avLst/>
          </a:prstGeom>
          <a:noFill/>
          <a:ln/>
        </p:spPr>
        <p:txBody>
          <a:bodyPr wrap="square" lIns="0" tIns="0" rIns="0" bIns="0" rtlCol="0" anchor="t"/>
          <a:lstStyle/>
          <a:p>
            <a:pPr indent="0" marL="0">
              <a:buNone/>
            </a:pPr>
            <a:r>
              <a:rPr lang="en-US" sz="1400" i="1" dirty="0">
                <a:solidFill>
                  <a:srgbClr val="5B6B80"/>
                </a:solidFill>
              </a:rPr>
              <a:t>Assumption: customer price sensitivity cannot be estimated from the data (effect -0.017, 95% range -0.056 to +0.021), so results are shown as a range.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BEYOND PRICE</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Where price is not the answer: stock and credit</a:t>
            </a:r>
            <a:endParaRPr lang="en-US" sz="3000" dirty="0"/>
          </a:p>
        </p:txBody>
      </p:sp>
      <p:graphicFrame>
        <p:nvGraphicFramePr>
          <p:cNvPr id="5" name="Chart 0" descr=""/>
          <p:cNvGraphicFramePr/>
          <p:nvPr/>
        </p:nvGraphicFramePr>
        <p:xfrm>
          <a:off x="548640" y="1645920"/>
          <a:ext cx="5760720" cy="384048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6583680" y="1691640"/>
            <a:ext cx="2468880" cy="1417320"/>
          </a:xfrm>
          <a:prstGeom prst="roundRect">
            <a:avLst>
              <a:gd name="adj" fmla="val 5161"/>
            </a:avLst>
          </a:prstGeom>
          <a:solidFill>
            <a:srgbClr val="F2F6FB"/>
          </a:solidFill>
          <a:ln w="12700">
            <a:solidFill>
              <a:srgbClr val="F2F6FB"/>
            </a:solidFill>
            <a:prstDash val="solid"/>
          </a:ln>
        </p:spPr>
      </p:sp>
      <p:sp>
        <p:nvSpPr>
          <p:cNvPr id="7" name="Text 3"/>
          <p:cNvSpPr txBox="1"/>
          <p:nvPr/>
        </p:nvSpPr>
        <p:spPr>
          <a:xfrm>
            <a:off x="6720840" y="1764792"/>
            <a:ext cx="2194560" cy="637794"/>
          </a:xfrm>
          <a:prstGeom prst="rect">
            <a:avLst/>
          </a:prstGeom>
          <a:noFill/>
          <a:ln/>
        </p:spPr>
        <p:txBody>
          <a:bodyPr wrap="square" lIns="0" tIns="0" rIns="0" bIns="0" rtlCol="0" anchor="ctr"/>
          <a:lstStyle/>
          <a:p>
            <a:pPr indent="0" marL="0">
              <a:buNone/>
            </a:pPr>
            <a:r>
              <a:rPr lang="en-US" sz="3200" b="1" dirty="0">
                <a:solidFill>
                  <a:srgbClr val="D03B3B"/>
                </a:solidFill>
                <a:latin typeface="Cambria" pitchFamily="34" charset="0"/>
                <a:ea typeface="Cambria" pitchFamily="34" charset="-122"/>
                <a:cs typeface="Cambria" pitchFamily="34" charset="-120"/>
              </a:rPr>
              <a:t>$1.3M</a:t>
            </a:r>
            <a:endParaRPr lang="en-US" sz="3200" dirty="0"/>
          </a:p>
        </p:txBody>
      </p:sp>
      <p:sp>
        <p:nvSpPr>
          <p:cNvPr id="8" name="Text 4"/>
          <p:cNvSpPr txBox="1"/>
          <p:nvPr/>
        </p:nvSpPr>
        <p:spPr>
          <a:xfrm>
            <a:off x="6720840" y="2428646"/>
            <a:ext cx="2194560" cy="651967"/>
          </a:xfrm>
          <a:prstGeom prst="rect">
            <a:avLst/>
          </a:prstGeom>
          <a:noFill/>
          <a:ln/>
        </p:spPr>
        <p:txBody>
          <a:bodyPr wrap="square" lIns="0" tIns="0" rIns="0" bIns="0" rtlCol="0" anchor="t"/>
          <a:lstStyle/>
          <a:p>
            <a:pPr indent="0" marL="0">
              <a:buNone/>
            </a:pPr>
            <a:r>
              <a:rPr lang="en-US" sz="1300" dirty="0">
                <a:solidFill>
                  <a:srgbClr val="5B6B80"/>
                </a:solidFill>
              </a:rPr>
              <a:t>a year to carry the excess, more than the pricing gain</a:t>
            </a:r>
            <a:endParaRPr lang="en-US" sz="1300" dirty="0"/>
          </a:p>
        </p:txBody>
      </p:sp>
      <p:sp>
        <p:nvSpPr>
          <p:cNvPr id="9" name="Stat card"/>
          <p:cNvSpPr/>
          <p:nvPr/>
        </p:nvSpPr>
        <p:spPr>
          <a:xfrm>
            <a:off x="9189720" y="1691640"/>
            <a:ext cx="2423160" cy="1417320"/>
          </a:xfrm>
          <a:prstGeom prst="roundRect">
            <a:avLst>
              <a:gd name="adj" fmla="val 5161"/>
            </a:avLst>
          </a:prstGeom>
          <a:solidFill>
            <a:srgbClr val="F2F6FB"/>
          </a:solidFill>
          <a:ln w="12700">
            <a:solidFill>
              <a:srgbClr val="F2F6FB"/>
            </a:solidFill>
            <a:prstDash val="solid"/>
          </a:ln>
        </p:spPr>
      </p:sp>
      <p:sp>
        <p:nvSpPr>
          <p:cNvPr id="10" name="Text 6"/>
          <p:cNvSpPr txBox="1"/>
          <p:nvPr/>
        </p:nvSpPr>
        <p:spPr>
          <a:xfrm>
            <a:off x="9326880" y="1764792"/>
            <a:ext cx="2148840" cy="637794"/>
          </a:xfrm>
          <a:prstGeom prst="rect">
            <a:avLst/>
          </a:prstGeom>
          <a:noFill/>
          <a:ln/>
        </p:spPr>
        <p:txBody>
          <a:bodyPr wrap="square" lIns="0" tIns="0" rIns="0" bIns="0" rtlCol="0" anchor="ctr"/>
          <a:lstStyle/>
          <a:p>
            <a:pPr indent="0" marL="0">
              <a:buNone/>
            </a:pPr>
            <a:r>
              <a:rPr lang="en-US" sz="2800" b="1" dirty="0">
                <a:solidFill>
                  <a:srgbClr val="EB6834"/>
                </a:solidFill>
                <a:latin typeface="Cambria" pitchFamily="34" charset="0"/>
                <a:ea typeface="Cambria" pitchFamily="34" charset="-122"/>
                <a:cs typeface="Cambria" pitchFamily="34" charset="-120"/>
              </a:rPr>
              <a:t>17-49%</a:t>
            </a:r>
            <a:endParaRPr lang="en-US" sz="2800" dirty="0"/>
          </a:p>
        </p:txBody>
      </p:sp>
      <p:sp>
        <p:nvSpPr>
          <p:cNvPr id="11" name="Text 7"/>
          <p:cNvSpPr txBox="1"/>
          <p:nvPr/>
        </p:nvSpPr>
        <p:spPr>
          <a:xfrm>
            <a:off x="9326880" y="2428646"/>
            <a:ext cx="2148840" cy="651967"/>
          </a:xfrm>
          <a:prstGeom prst="rect">
            <a:avLst/>
          </a:prstGeom>
          <a:noFill/>
          <a:ln/>
        </p:spPr>
        <p:txBody>
          <a:bodyPr wrap="square" lIns="0" tIns="0" rIns="0" bIns="0" rtlCol="0" anchor="t"/>
          <a:lstStyle/>
          <a:p>
            <a:pPr indent="0" marL="0">
              <a:buNone/>
            </a:pPr>
            <a:r>
              <a:rPr lang="en-US" sz="1300" dirty="0">
                <a:solidFill>
                  <a:srgbClr val="5B6B80"/>
                </a:solidFill>
              </a:rPr>
              <a:t>price cut needed to clear it in a year</a:t>
            </a:r>
            <a:endParaRPr lang="en-US" sz="1300" dirty="0"/>
          </a:p>
        </p:txBody>
      </p:sp>
      <p:sp>
        <p:nvSpPr>
          <p:cNvPr id="12" name="Text 8"/>
          <p:cNvSpPr txBox="1"/>
          <p:nvPr/>
        </p:nvSpPr>
        <p:spPr>
          <a:xfrm>
            <a:off x="6583680" y="3383280"/>
            <a:ext cx="5029200" cy="2834640"/>
          </a:xfrm>
          <a:prstGeom prst="rect">
            <a:avLst/>
          </a:prstGeom>
          <a:noFill/>
          <a:ln/>
        </p:spPr>
        <p:txBody>
          <a:bodyPr wrap="square" lIns="0" tIns="0" rIns="0" bIns="0" rtlCol="0" anchor="t"/>
          <a:lstStyle/>
          <a:p>
            <a:pPr marL="203200" indent="-203200">
              <a:spcAft>
                <a:spcPts val="800"/>
              </a:spcAft>
              <a:buSzPct val="100000"/>
              <a:buChar char="•"/>
            </a:pPr>
            <a:r>
              <a:rPr lang="en-US" sz="1500" b="1" dirty="0">
                <a:solidFill>
                  <a:srgbClr val="1B2A41"/>
                </a:solidFill>
              </a:rPr>
              <a:t>Over-stock: </a:t>
            </a:r>
            <a:pPr indent="0" marL="0">
              <a:spcAft>
                <a:spcPts val="800"/>
              </a:spcAft>
              <a:buNone/>
            </a:pPr>
            <a:r>
              <a:rPr lang="en-US" sz="1500" dirty="0">
                <a:solidFill>
                  <a:srgbClr val="1B2A41"/>
                </a:solidFill>
              </a:rPr>
              <a:t>stop buying; offer bulk or export deals. 200 test markdowns did not pay.</a:t>
            </a:r>
            <a:endParaRPr lang="en-US" sz="1500" dirty="0"/>
          </a:p>
          <a:p>
            <a:pPr marL="203200" indent="-203200">
              <a:spcAft>
                <a:spcPts val="800"/>
              </a:spcAft>
              <a:buSzPct val="100000"/>
              <a:buChar char="•"/>
            </a:pPr>
            <a:r>
              <a:rPr lang="en-US" sz="1500" b="1" dirty="0">
                <a:solidFill>
                  <a:srgbClr val="1B2A41"/>
                </a:solidFill>
              </a:rPr>
              <a:t>Credit D/E: </a:t>
            </a:r>
            <a:pPr indent="0" marL="0">
              <a:spcAft>
                <a:spcPts val="800"/>
              </a:spcAft>
              <a:buNone/>
            </a:pPr>
            <a:r>
              <a:rPr lang="en-US" sz="1500" dirty="0">
                <a:solidFill>
                  <a:srgbClr val="1B2A41"/>
                </a:solidFill>
              </a:rPr>
              <a:t>no discounts, 2.5% risk premium; 15 days shorter terms free about $361K of cash.</a:t>
            </a:r>
            <a:endParaRPr lang="en-US" sz="1500" dirty="0"/>
          </a:p>
          <a:p>
            <a:pPr marL="203200" indent="-203200">
              <a:spcAft>
                <a:spcPts val="800"/>
              </a:spcAft>
              <a:buSzPct val="100000"/>
              <a:buChar char="•"/>
            </a:pPr>
            <a:r>
              <a:rPr lang="en-US" sz="1500" b="1" dirty="0">
                <a:solidFill>
                  <a:srgbClr val="1B2A41"/>
                </a:solidFill>
              </a:rPr>
              <a:t>Lean products: </a:t>
            </a:r>
            <a:pPr indent="0" marL="0">
              <a:spcAft>
                <a:spcPts val="800"/>
              </a:spcAft>
              <a:buNone/>
            </a:pPr>
            <a:r>
              <a:rPr lang="en-US" sz="1500" dirty="0">
                <a:solidFill>
                  <a:srgbClr val="1B2A41"/>
                </a:solidFill>
              </a:rPr>
              <a:t>raise stock cover; a pricing gain is only worth having if we keep selling.</a:t>
            </a:r>
            <a:endParaRPr lang="en-US" sz="1500" dirty="0"/>
          </a:p>
        </p:txBody>
      </p:sp>
      <p:sp>
        <p:nvSpPr>
          <p:cNvPr id="13" name="Text 9"/>
          <p:cNvSpPr txBox="1"/>
          <p:nvPr/>
        </p:nvSpPr>
        <p:spPr>
          <a:xfrm>
            <a:off x="548640" y="5760720"/>
            <a:ext cx="5760720" cy="548640"/>
          </a:xfrm>
          <a:prstGeom prst="rect">
            <a:avLst/>
          </a:prstGeom>
          <a:noFill/>
          <a:ln/>
        </p:spPr>
        <p:txBody>
          <a:bodyPr wrap="square" lIns="0" tIns="0" rIns="0" bIns="0" rtlCol="0" anchor="t"/>
          <a:lstStyle/>
          <a:p>
            <a:pPr indent="0" marL="0">
              <a:buNone/>
            </a:pPr>
            <a:r>
              <a:rPr lang="en-US" sz="1300" i="1" dirty="0">
                <a:solidFill>
                  <a:srgbClr val="5B6B80"/>
                </a:solidFill>
              </a:rPr>
              <a:t>Assumptions: holding cost 12% a year, funding cost 8% a year, credit ratings from scenario inputs.</a:t>
            </a:r>
            <a:endParaRPr lang="en-US" sz="13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PART 4 · PILOT</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Pilot first: replace assumptions with measurements</a:t>
            </a:r>
            <a:endParaRPr lang="en-US" sz="3000" dirty="0"/>
          </a:p>
        </p:txBody>
      </p:sp>
      <p:sp>
        <p:nvSpPr>
          <p:cNvPr id="5" name="Pilot card"/>
          <p:cNvSpPr/>
          <p:nvPr/>
        </p:nvSpPr>
        <p:spPr>
          <a:xfrm>
            <a:off x="548640" y="1691640"/>
            <a:ext cx="5440680" cy="3063240"/>
          </a:xfrm>
          <a:prstGeom prst="roundRect">
            <a:avLst>
              <a:gd name="adj" fmla="val 2388"/>
            </a:avLst>
          </a:prstGeom>
          <a:solidFill>
            <a:srgbClr val="F2F6FB"/>
          </a:solidFill>
          <a:ln w="12700">
            <a:solidFill>
              <a:srgbClr val="F2F6FB"/>
            </a:solidFill>
            <a:prstDash val="solid"/>
          </a:ln>
        </p:spPr>
      </p:sp>
      <p:sp>
        <p:nvSpPr>
          <p:cNvPr id="6" name="Text 3"/>
          <p:cNvSpPr txBox="1"/>
          <p:nvPr/>
        </p:nvSpPr>
        <p:spPr>
          <a:xfrm>
            <a:off x="777240" y="1828800"/>
            <a:ext cx="1828800" cy="365760"/>
          </a:xfrm>
          <a:prstGeom prst="rect">
            <a:avLst/>
          </a:prstGeom>
          <a:noFill/>
          <a:ln/>
        </p:spPr>
        <p:txBody>
          <a:bodyPr wrap="square" lIns="0" tIns="0" rIns="0" bIns="0" rtlCol="0" anchor="ctr"/>
          <a:lstStyle/>
          <a:p>
            <a:pPr indent="0" marL="0">
              <a:buNone/>
            </a:pPr>
            <a:r>
              <a:rPr lang="en-US" sz="2000" b="1" dirty="0">
                <a:solidFill>
                  <a:srgbClr val="2A78D6"/>
                </a:solidFill>
              </a:rPr>
              <a:t>Pilot A</a:t>
            </a:r>
            <a:endParaRPr lang="en-US" sz="2000" dirty="0"/>
          </a:p>
        </p:txBody>
      </p:sp>
      <p:sp>
        <p:nvSpPr>
          <p:cNvPr id="7" name="Text 4"/>
          <p:cNvSpPr txBox="1"/>
          <p:nvPr/>
        </p:nvSpPr>
        <p:spPr>
          <a:xfrm>
            <a:off x="777240" y="2212848"/>
            <a:ext cx="4937760" cy="411480"/>
          </a:xfrm>
          <a:prstGeom prst="rect">
            <a:avLst/>
          </a:prstGeom>
          <a:noFill/>
          <a:ln/>
        </p:spPr>
        <p:txBody>
          <a:bodyPr wrap="square" lIns="0" tIns="0" rIns="0" bIns="0" rtlCol="0" anchor="ctr"/>
          <a:lstStyle/>
          <a:p>
            <a:pPr indent="0" marL="0">
              <a:buNone/>
            </a:pPr>
            <a:r>
              <a:rPr lang="en-US" sz="1800" b="1" dirty="0">
                <a:solidFill>
                  <a:schemeClr val="tx1"/>
                </a:solidFill>
              </a:rPr>
              <a:t>Do we still sell out?</a:t>
            </a:r>
            <a:endParaRPr lang="en-US" sz="1800" dirty="0"/>
          </a:p>
        </p:txBody>
      </p:sp>
      <p:sp>
        <p:nvSpPr>
          <p:cNvPr id="8" name="Text 5"/>
          <p:cNvSpPr txBox="1"/>
          <p:nvPr/>
        </p:nvSpPr>
        <p:spPr>
          <a:xfrm>
            <a:off x="777240" y="2743200"/>
            <a:ext cx="4983480" cy="192024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41"/>
                </a:solidFill>
              </a:rPr>
              <a:t>6 scarce products at +3% / +5%, with matched control products</a:t>
            </a:r>
            <a:endParaRPr lang="en-US" sz="1500" dirty="0"/>
          </a:p>
          <a:p>
            <a:pPr marL="203200" indent="-203200">
              <a:spcAft>
                <a:spcPts val="800"/>
              </a:spcAft>
              <a:buSzPct val="100000"/>
              <a:buChar char="•"/>
            </a:pPr>
            <a:r>
              <a:rPr lang="en-US" sz="1500" dirty="0">
                <a:solidFill>
                  <a:srgbClr val="1B2A41"/>
                </a:solidFill>
              </a:rPr>
              <a:t>8 weeks</a:t>
            </a:r>
            <a:endParaRPr lang="en-US" sz="1500" dirty="0"/>
          </a:p>
          <a:p>
            <a:pPr marL="203200" indent="-203200">
              <a:spcAft>
                <a:spcPts val="800"/>
              </a:spcAft>
              <a:buSzPct val="100000"/>
              <a:buChar char="•"/>
            </a:pPr>
            <a:r>
              <a:rPr lang="en-US" sz="1500" dirty="0">
                <a:solidFill>
                  <a:srgbClr val="1B2A41"/>
                </a:solidFill>
              </a:rPr>
              <a:t>Success: units within 1% of control and stock still sells out</a:t>
            </a:r>
            <a:endParaRPr lang="en-US" sz="1500" dirty="0"/>
          </a:p>
        </p:txBody>
      </p:sp>
      <p:sp>
        <p:nvSpPr>
          <p:cNvPr id="9" name="Pilot card"/>
          <p:cNvSpPr/>
          <p:nvPr/>
        </p:nvSpPr>
        <p:spPr>
          <a:xfrm>
            <a:off x="6172200" y="1691640"/>
            <a:ext cx="5440680" cy="3063240"/>
          </a:xfrm>
          <a:prstGeom prst="roundRect">
            <a:avLst>
              <a:gd name="adj" fmla="val 2388"/>
            </a:avLst>
          </a:prstGeom>
          <a:solidFill>
            <a:srgbClr val="F2F6FB"/>
          </a:solidFill>
          <a:ln w="12700">
            <a:solidFill>
              <a:srgbClr val="F2F6FB"/>
            </a:solidFill>
            <a:prstDash val="solid"/>
          </a:ln>
        </p:spPr>
      </p:sp>
      <p:sp>
        <p:nvSpPr>
          <p:cNvPr id="10" name="Text 7"/>
          <p:cNvSpPr txBox="1"/>
          <p:nvPr/>
        </p:nvSpPr>
        <p:spPr>
          <a:xfrm>
            <a:off x="6400800" y="1828800"/>
            <a:ext cx="1828800" cy="365760"/>
          </a:xfrm>
          <a:prstGeom prst="rect">
            <a:avLst/>
          </a:prstGeom>
          <a:noFill/>
          <a:ln/>
        </p:spPr>
        <p:txBody>
          <a:bodyPr wrap="square" lIns="0" tIns="0" rIns="0" bIns="0" rtlCol="0" anchor="ctr"/>
          <a:lstStyle/>
          <a:p>
            <a:pPr indent="0" marL="0">
              <a:buNone/>
            </a:pPr>
            <a:r>
              <a:rPr lang="en-US" sz="2000" b="1" dirty="0">
                <a:solidFill>
                  <a:srgbClr val="1BAF7A"/>
                </a:solidFill>
              </a:rPr>
              <a:t>Pilot B</a:t>
            </a:r>
            <a:endParaRPr lang="en-US" sz="2000" dirty="0"/>
          </a:p>
        </p:txBody>
      </p:sp>
      <p:sp>
        <p:nvSpPr>
          <p:cNvPr id="11" name="Text 8"/>
          <p:cNvSpPr txBox="1"/>
          <p:nvPr/>
        </p:nvSpPr>
        <p:spPr>
          <a:xfrm>
            <a:off x="6400800" y="2212848"/>
            <a:ext cx="4937760" cy="411480"/>
          </a:xfrm>
          <a:prstGeom prst="rect">
            <a:avLst/>
          </a:prstGeom>
          <a:noFill/>
          <a:ln/>
        </p:spPr>
        <p:txBody>
          <a:bodyPr wrap="square" lIns="0" tIns="0" rIns="0" bIns="0" rtlCol="0" anchor="ctr"/>
          <a:lstStyle/>
          <a:p>
            <a:pPr indent="0" marL="0">
              <a:buNone/>
            </a:pPr>
            <a:r>
              <a:rPr lang="en-US" sz="1800" b="1" dirty="0">
                <a:solidFill>
                  <a:schemeClr val="tx1"/>
                </a:solidFill>
              </a:rPr>
              <a:t>How sensitive are customers?</a:t>
            </a:r>
            <a:endParaRPr lang="en-US" sz="1800" dirty="0"/>
          </a:p>
        </p:txBody>
      </p:sp>
      <p:sp>
        <p:nvSpPr>
          <p:cNvPr id="12" name="Text 9"/>
          <p:cNvSpPr txBox="1"/>
          <p:nvPr/>
        </p:nvSpPr>
        <p:spPr>
          <a:xfrm>
            <a:off x="6400800" y="2743200"/>
            <a:ext cx="4983480" cy="192024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41"/>
                </a:solidFill>
              </a:rPr>
              <a:t>High-stock products, price +3% / -3% in random weeks</a:t>
            </a:r>
            <a:endParaRPr lang="en-US" sz="1500" dirty="0"/>
          </a:p>
          <a:p>
            <a:pPr marL="203200" indent="-203200">
              <a:spcAft>
                <a:spcPts val="800"/>
              </a:spcAft>
              <a:buSzPct val="100000"/>
              <a:buChar char="•"/>
            </a:pPr>
            <a:r>
              <a:rPr lang="en-US" sz="1500" dirty="0">
                <a:solidFill>
                  <a:srgbClr val="1B2A41"/>
                </a:solidFill>
              </a:rPr>
              <a:t>8 weeks, weekly demand noise about 8%</a:t>
            </a:r>
            <a:endParaRPr lang="en-US" sz="1500" dirty="0"/>
          </a:p>
          <a:p>
            <a:pPr marL="203200" indent="-203200">
              <a:spcAft>
                <a:spcPts val="800"/>
              </a:spcAft>
              <a:buSzPct val="100000"/>
              <a:buChar char="•"/>
            </a:pPr>
            <a:r>
              <a:rPr lang="en-US" sz="1500" dirty="0">
                <a:solidFill>
                  <a:srgbClr val="1B2A41"/>
                </a:solidFill>
              </a:rPr>
              <a:t>Output: price sensitivity to replace the planning assumption</a:t>
            </a:r>
            <a:endParaRPr lang="en-US" sz="1500" dirty="0"/>
          </a:p>
        </p:txBody>
      </p:sp>
      <p:sp>
        <p:nvSpPr>
          <p:cNvPr id="13" name="Callout"/>
          <p:cNvSpPr/>
          <p:nvPr/>
        </p:nvSpPr>
        <p:spPr>
          <a:xfrm>
            <a:off x="548640" y="4937760"/>
            <a:ext cx="11064240" cy="1325880"/>
          </a:xfrm>
          <a:prstGeom prst="roundRect">
            <a:avLst>
              <a:gd name="adj" fmla="val 5517"/>
            </a:avLst>
          </a:prstGeom>
          <a:solidFill>
            <a:srgbClr val="F2F6FB"/>
          </a:solidFill>
          <a:ln w="12700">
            <a:solidFill>
              <a:srgbClr val="D9E1EC"/>
            </a:solidFill>
            <a:prstDash val="solid"/>
          </a:ln>
        </p:spPr>
      </p:sp>
      <p:sp>
        <p:nvSpPr>
          <p:cNvPr id="14" name="Text 11"/>
          <p:cNvSpPr txBox="1"/>
          <p:nvPr/>
        </p:nvSpPr>
        <p:spPr>
          <a:xfrm>
            <a:off x="731520" y="5047488"/>
            <a:ext cx="10698480" cy="292608"/>
          </a:xfrm>
          <a:prstGeom prst="rect">
            <a:avLst/>
          </a:prstGeom>
          <a:noFill/>
          <a:ln/>
        </p:spPr>
        <p:txBody>
          <a:bodyPr wrap="square" lIns="0" tIns="0" rIns="0" bIns="0" rtlCol="0" anchor="ctr"/>
          <a:lstStyle/>
          <a:p>
            <a:pPr indent="0" marL="0">
              <a:buNone/>
            </a:pPr>
            <a:r>
              <a:rPr lang="en-US" sz="1400" b="1" dirty="0">
                <a:solidFill>
                  <a:schemeClr val="accent1"/>
                </a:solidFill>
              </a:rPr>
              <a:t>Data we would ask for next</a:t>
            </a:r>
            <a:endParaRPr lang="en-US" sz="1400" dirty="0"/>
          </a:p>
        </p:txBody>
      </p:sp>
      <p:sp>
        <p:nvSpPr>
          <p:cNvPr id="15" name="Text 12"/>
          <p:cNvSpPr txBox="1"/>
          <p:nvPr/>
        </p:nvSpPr>
        <p:spPr>
          <a:xfrm>
            <a:off x="731520" y="5394960"/>
            <a:ext cx="10698480" cy="77724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B2A41"/>
                </a:solidFill>
              </a:rPr>
              <a:t>Customer invoices and payment history (replaces the credit scenario).</a:t>
            </a:r>
            <a:endParaRPr lang="en-US" sz="1400" dirty="0"/>
          </a:p>
          <a:p>
            <a:pPr marL="177800" indent="-177800">
              <a:spcAft>
                <a:spcPts val="500"/>
              </a:spcAft>
              <a:buSzPct val="100000"/>
              <a:buChar char="•"/>
            </a:pPr>
            <a:r>
              <a:rPr lang="en-US" sz="1400" dirty="0">
                <a:solidFill>
                  <a:srgbClr val="1B2A41"/>
                </a:solidFill>
              </a:rPr>
              <a:t>Competitor price observations (replaces the 13-week average proxy).</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rgbClr val="7FB2F0"/>
                </a:solidFill>
              </a:rPr>
              <a:t>RECOMMENDATIONS</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Four actions, in order of value</a:t>
            </a:r>
            <a:endParaRPr lang="en-US" sz="3000" dirty="0"/>
          </a:p>
        </p:txBody>
      </p:sp>
      <p:sp>
        <p:nvSpPr>
          <p:cNvPr id="5" name="Action number"/>
          <p:cNvSpPr/>
          <p:nvPr/>
        </p:nvSpPr>
        <p:spPr>
          <a:xfrm>
            <a:off x="548640" y="1828800"/>
            <a:ext cx="685800" cy="685800"/>
          </a:xfrm>
          <a:prstGeom prst="ellipse">
            <a:avLst/>
          </a:prstGeom>
          <a:solidFill>
            <a:srgbClr val="EB6834"/>
          </a:solidFill>
          <a:ln w="12700">
            <a:solidFill>
              <a:srgbClr val="12263F"/>
            </a:solidFill>
            <a:prstDash val="solid"/>
          </a:ln>
        </p:spPr>
      </p:sp>
      <p:sp>
        <p:nvSpPr>
          <p:cNvPr id="6" name="Text 3"/>
          <p:cNvSpPr txBox="1"/>
          <p:nvPr/>
        </p:nvSpPr>
        <p:spPr>
          <a:xfrm>
            <a:off x="548640" y="1828800"/>
            <a:ext cx="685800" cy="685800"/>
          </a:xfrm>
          <a:prstGeom prst="rect">
            <a:avLst/>
          </a:prstGeom>
          <a:noFill/>
          <a:ln/>
        </p:spPr>
        <p:txBody>
          <a:bodyPr wrap="square" lIns="0" tIns="0" rIns="0" bIns="0" rtlCol="0" anchor="ctr"/>
          <a:lstStyle/>
          <a:p>
            <a:pPr algn="ctr" indent="0" marL="0">
              <a:buNone/>
            </a:pPr>
            <a:r>
              <a:rPr lang="en-US" sz="2400" b="1" dirty="0">
                <a:solidFill>
                  <a:srgbClr val="12263F"/>
                </a:solidFill>
              </a:rPr>
              <a:t>1</a:t>
            </a:r>
            <a:endParaRPr lang="en-US" sz="2400" dirty="0"/>
          </a:p>
        </p:txBody>
      </p:sp>
      <p:sp>
        <p:nvSpPr>
          <p:cNvPr id="7" name="Text 4"/>
          <p:cNvSpPr txBox="1"/>
          <p:nvPr/>
        </p:nvSpPr>
        <p:spPr>
          <a:xfrm>
            <a:off x="1554480" y="1737360"/>
            <a:ext cx="9966960" cy="411480"/>
          </a:xfrm>
          <a:prstGeom prst="rect">
            <a:avLst/>
          </a:prstGeom>
          <a:noFill/>
          <a:ln/>
        </p:spPr>
        <p:txBody>
          <a:bodyPr wrap="square" lIns="0" tIns="0" rIns="0" bIns="0" rtlCol="0" anchor="ctr"/>
          <a:lstStyle/>
          <a:p>
            <a:pPr indent="0" marL="0">
              <a:buNone/>
            </a:pPr>
            <a:r>
              <a:rPr lang="en-US" sz="2100" b="1" dirty="0">
                <a:solidFill>
                  <a:srgbClr val="FFFFFF"/>
                </a:solidFill>
              </a:rPr>
              <a:t>Stop buying the 5 over-stocked products</a:t>
            </a:r>
            <a:endParaRPr lang="en-US" sz="2100" dirty="0"/>
          </a:p>
        </p:txBody>
      </p:sp>
      <p:sp>
        <p:nvSpPr>
          <p:cNvPr id="8" name="Text 5"/>
          <p:cNvSpPr txBox="1"/>
          <p:nvPr/>
        </p:nvSpPr>
        <p:spPr>
          <a:xfrm>
            <a:off x="1554480" y="2176272"/>
            <a:ext cx="9966960" cy="457200"/>
          </a:xfrm>
          <a:prstGeom prst="rect">
            <a:avLst/>
          </a:prstGeom>
          <a:noFill/>
          <a:ln/>
        </p:spPr>
        <p:txBody>
          <a:bodyPr wrap="square" lIns="0" tIns="0" rIns="0" bIns="0" rtlCol="0" anchor="ctr"/>
          <a:lstStyle/>
          <a:p>
            <a:pPr indent="0" marL="0">
              <a:buNone/>
            </a:pPr>
            <a:r>
              <a:rPr lang="en-US" sz="1600" dirty="0">
                <a:solidFill>
                  <a:srgbClr val="CADCFC"/>
                </a:solidFill>
              </a:rPr>
              <a:t>Frees $10.8M of cash over time and saves about $1.3M a year; offer bulk or export deals.</a:t>
            </a:r>
            <a:endParaRPr lang="en-US" sz="1600" dirty="0"/>
          </a:p>
        </p:txBody>
      </p:sp>
      <p:sp>
        <p:nvSpPr>
          <p:cNvPr id="9" name="Action number"/>
          <p:cNvSpPr/>
          <p:nvPr/>
        </p:nvSpPr>
        <p:spPr>
          <a:xfrm>
            <a:off x="548640" y="2944368"/>
            <a:ext cx="685800" cy="685800"/>
          </a:xfrm>
          <a:prstGeom prst="ellipse">
            <a:avLst/>
          </a:prstGeom>
          <a:solidFill>
            <a:srgbClr val="2A78D6"/>
          </a:solidFill>
          <a:ln w="12700">
            <a:solidFill>
              <a:srgbClr val="12263F"/>
            </a:solidFill>
            <a:prstDash val="solid"/>
          </a:ln>
        </p:spPr>
      </p:sp>
      <p:sp>
        <p:nvSpPr>
          <p:cNvPr id="10" name="Text 7"/>
          <p:cNvSpPr txBox="1"/>
          <p:nvPr/>
        </p:nvSpPr>
        <p:spPr>
          <a:xfrm>
            <a:off x="548640" y="2944368"/>
            <a:ext cx="685800" cy="685800"/>
          </a:xfrm>
          <a:prstGeom prst="rect">
            <a:avLst/>
          </a:prstGeom>
          <a:noFill/>
          <a:ln/>
        </p:spPr>
        <p:txBody>
          <a:bodyPr wrap="square" lIns="0" tIns="0" rIns="0" bIns="0" rtlCol="0" anchor="ctr"/>
          <a:lstStyle/>
          <a:p>
            <a:pPr algn="ctr" indent="0" marL="0">
              <a:buNone/>
            </a:pPr>
            <a:r>
              <a:rPr lang="en-US" sz="2400" b="1" dirty="0">
                <a:solidFill>
                  <a:srgbClr val="12263F"/>
                </a:solidFill>
              </a:rPr>
              <a:t>2</a:t>
            </a:r>
            <a:endParaRPr lang="en-US" sz="2400" dirty="0"/>
          </a:p>
        </p:txBody>
      </p:sp>
      <p:sp>
        <p:nvSpPr>
          <p:cNvPr id="11" name="Text 8"/>
          <p:cNvSpPr txBox="1"/>
          <p:nvPr/>
        </p:nvSpPr>
        <p:spPr>
          <a:xfrm>
            <a:off x="1554480" y="2852928"/>
            <a:ext cx="9966960" cy="411480"/>
          </a:xfrm>
          <a:prstGeom prst="rect">
            <a:avLst/>
          </a:prstGeom>
          <a:noFill/>
          <a:ln/>
        </p:spPr>
        <p:txBody>
          <a:bodyPr wrap="square" lIns="0" tIns="0" rIns="0" bIns="0" rtlCol="0" anchor="ctr"/>
          <a:lstStyle/>
          <a:p>
            <a:pPr indent="0" marL="0">
              <a:buNone/>
            </a:pPr>
            <a:r>
              <a:rPr lang="en-US" sz="2100" b="1" dirty="0">
                <a:solidFill>
                  <a:srgbClr val="FFFFFF"/>
                </a:solidFill>
              </a:rPr>
              <a:t>Raise stock cover on lean products</a:t>
            </a:r>
            <a:endParaRPr lang="en-US" sz="2100" dirty="0"/>
          </a:p>
        </p:txBody>
      </p:sp>
      <p:sp>
        <p:nvSpPr>
          <p:cNvPr id="12" name="Text 9"/>
          <p:cNvSpPr txBox="1"/>
          <p:nvPr/>
        </p:nvSpPr>
        <p:spPr>
          <a:xfrm>
            <a:off x="1554480" y="3291840"/>
            <a:ext cx="9966960" cy="457200"/>
          </a:xfrm>
          <a:prstGeom prst="rect">
            <a:avLst/>
          </a:prstGeom>
          <a:noFill/>
          <a:ln/>
        </p:spPr>
        <p:txBody>
          <a:bodyPr wrap="square" lIns="0" tIns="0" rIns="0" bIns="0" rtlCol="0" anchor="ctr"/>
          <a:lstStyle/>
          <a:p>
            <a:pPr indent="0" marL="0">
              <a:buNone/>
            </a:pPr>
            <a:r>
              <a:rPr lang="en-US" sz="1600" dirty="0">
                <a:solidFill>
                  <a:srgbClr val="CADCFC"/>
                </a:solidFill>
              </a:rPr>
              <a:t>Use the P90 demand in the dashboard alerts; 44% of next-26-week demand is at risk at today's stock.</a:t>
            </a:r>
            <a:endParaRPr lang="en-US" sz="1600" dirty="0"/>
          </a:p>
        </p:txBody>
      </p:sp>
      <p:sp>
        <p:nvSpPr>
          <p:cNvPr id="13" name="Action number"/>
          <p:cNvSpPr/>
          <p:nvPr/>
        </p:nvSpPr>
        <p:spPr>
          <a:xfrm>
            <a:off x="548640" y="4059936"/>
            <a:ext cx="685800" cy="685800"/>
          </a:xfrm>
          <a:prstGeom prst="ellipse">
            <a:avLst/>
          </a:prstGeom>
          <a:solidFill>
            <a:srgbClr val="1BAF7A"/>
          </a:solidFill>
          <a:ln w="12700">
            <a:solidFill>
              <a:srgbClr val="12263F"/>
            </a:solidFill>
            <a:prstDash val="solid"/>
          </a:ln>
        </p:spPr>
      </p:sp>
      <p:sp>
        <p:nvSpPr>
          <p:cNvPr id="14" name="Text 11"/>
          <p:cNvSpPr txBox="1"/>
          <p:nvPr/>
        </p:nvSpPr>
        <p:spPr>
          <a:xfrm>
            <a:off x="548640" y="4059936"/>
            <a:ext cx="685800" cy="685800"/>
          </a:xfrm>
          <a:prstGeom prst="rect">
            <a:avLst/>
          </a:prstGeom>
          <a:noFill/>
          <a:ln/>
        </p:spPr>
        <p:txBody>
          <a:bodyPr wrap="square" lIns="0" tIns="0" rIns="0" bIns="0" rtlCol="0" anchor="ctr"/>
          <a:lstStyle/>
          <a:p>
            <a:pPr algn="ctr" indent="0" marL="0">
              <a:buNone/>
            </a:pPr>
            <a:r>
              <a:rPr lang="en-US" sz="2400" b="1" dirty="0">
                <a:solidFill>
                  <a:srgbClr val="12263F"/>
                </a:solidFill>
              </a:rPr>
              <a:t>3</a:t>
            </a:r>
            <a:endParaRPr lang="en-US" sz="2400" dirty="0"/>
          </a:p>
        </p:txBody>
      </p:sp>
      <p:sp>
        <p:nvSpPr>
          <p:cNvPr id="15" name="Text 12"/>
          <p:cNvSpPr txBox="1"/>
          <p:nvPr/>
        </p:nvSpPr>
        <p:spPr>
          <a:xfrm>
            <a:off x="1554480" y="3968496"/>
            <a:ext cx="9966960" cy="411480"/>
          </a:xfrm>
          <a:prstGeom prst="rect">
            <a:avLst/>
          </a:prstGeom>
          <a:noFill/>
          <a:ln/>
        </p:spPr>
        <p:txBody>
          <a:bodyPr wrap="square" lIns="0" tIns="0" rIns="0" bIns="0" rtlCol="0" anchor="ctr"/>
          <a:lstStyle/>
          <a:p>
            <a:pPr indent="0" marL="0">
              <a:buNone/>
            </a:pPr>
            <a:r>
              <a:rPr lang="en-US" sz="2100" b="1" dirty="0">
                <a:solidFill>
                  <a:srgbClr val="FFFFFF"/>
                </a:solidFill>
              </a:rPr>
              <a:t>Run Pilots A and B, then roll out pricing</a:t>
            </a:r>
            <a:endParaRPr lang="en-US" sz="2100" dirty="0"/>
          </a:p>
        </p:txBody>
      </p:sp>
      <p:sp>
        <p:nvSpPr>
          <p:cNvPr id="16" name="Text 13"/>
          <p:cNvSpPr txBox="1"/>
          <p:nvPr/>
        </p:nvSpPr>
        <p:spPr>
          <a:xfrm>
            <a:off x="1554480" y="4407408"/>
            <a:ext cx="9966960" cy="457200"/>
          </a:xfrm>
          <a:prstGeom prst="rect">
            <a:avLst/>
          </a:prstGeom>
          <a:noFill/>
          <a:ln/>
        </p:spPr>
        <p:txBody>
          <a:bodyPr wrap="square" lIns="0" tIns="0" rIns="0" bIns="0" rtlCol="0" anchor="ctr"/>
          <a:lstStyle/>
          <a:p>
            <a:pPr indent="0" marL="0">
              <a:buNone/>
            </a:pPr>
            <a:r>
              <a:rPr lang="en-US" sz="1600" dirty="0">
                <a:solidFill>
                  <a:srgbClr val="CADCFC"/>
                </a:solidFill>
              </a:rPr>
              <a:t>About +$1.3M in 26 weeks, protected by the safety limits; learn the real price sensitivity.</a:t>
            </a:r>
            <a:endParaRPr lang="en-US" sz="1600" dirty="0"/>
          </a:p>
        </p:txBody>
      </p:sp>
      <p:sp>
        <p:nvSpPr>
          <p:cNvPr id="17" name="Action number"/>
          <p:cNvSpPr/>
          <p:nvPr/>
        </p:nvSpPr>
        <p:spPr>
          <a:xfrm>
            <a:off x="548640" y="5175504"/>
            <a:ext cx="685800" cy="685800"/>
          </a:xfrm>
          <a:prstGeom prst="ellipse">
            <a:avLst/>
          </a:prstGeom>
          <a:solidFill>
            <a:srgbClr val="9EC5F4"/>
          </a:solidFill>
          <a:ln w="12700">
            <a:solidFill>
              <a:srgbClr val="12263F"/>
            </a:solidFill>
            <a:prstDash val="solid"/>
          </a:ln>
        </p:spPr>
      </p:sp>
      <p:sp>
        <p:nvSpPr>
          <p:cNvPr id="18" name="Text 15"/>
          <p:cNvSpPr txBox="1"/>
          <p:nvPr/>
        </p:nvSpPr>
        <p:spPr>
          <a:xfrm>
            <a:off x="548640" y="5175504"/>
            <a:ext cx="685800" cy="685800"/>
          </a:xfrm>
          <a:prstGeom prst="rect">
            <a:avLst/>
          </a:prstGeom>
          <a:noFill/>
          <a:ln/>
        </p:spPr>
        <p:txBody>
          <a:bodyPr wrap="square" lIns="0" tIns="0" rIns="0" bIns="0" rtlCol="0" anchor="ctr"/>
          <a:lstStyle/>
          <a:p>
            <a:pPr algn="ctr" indent="0" marL="0">
              <a:buNone/>
            </a:pPr>
            <a:r>
              <a:rPr lang="en-US" sz="2400" b="1" dirty="0">
                <a:solidFill>
                  <a:srgbClr val="12263F"/>
                </a:solidFill>
              </a:rPr>
              <a:t>4</a:t>
            </a:r>
            <a:endParaRPr lang="en-US" sz="2400" dirty="0"/>
          </a:p>
        </p:txBody>
      </p:sp>
      <p:sp>
        <p:nvSpPr>
          <p:cNvPr id="19" name="Text 16"/>
          <p:cNvSpPr txBox="1"/>
          <p:nvPr/>
        </p:nvSpPr>
        <p:spPr>
          <a:xfrm>
            <a:off x="1554480" y="5084064"/>
            <a:ext cx="9966960" cy="411480"/>
          </a:xfrm>
          <a:prstGeom prst="rect">
            <a:avLst/>
          </a:prstGeom>
          <a:noFill/>
          <a:ln/>
        </p:spPr>
        <p:txBody>
          <a:bodyPr wrap="square" lIns="0" tIns="0" rIns="0" bIns="0" rtlCol="0" anchor="ctr"/>
          <a:lstStyle/>
          <a:p>
            <a:pPr indent="0" marL="0">
              <a:buNone/>
            </a:pPr>
            <a:r>
              <a:rPr lang="en-US" sz="2100" b="1" dirty="0">
                <a:solidFill>
                  <a:srgbClr val="FFFFFF"/>
                </a:solidFill>
              </a:rPr>
              <a:t>Use the dashboard weekly and add real data</a:t>
            </a:r>
            <a:endParaRPr lang="en-US" sz="2100" dirty="0"/>
          </a:p>
        </p:txBody>
      </p:sp>
      <p:sp>
        <p:nvSpPr>
          <p:cNvPr id="20" name="Text 17"/>
          <p:cNvSpPr txBox="1"/>
          <p:nvPr/>
        </p:nvSpPr>
        <p:spPr>
          <a:xfrm>
            <a:off x="1554480" y="5522976"/>
            <a:ext cx="9966960" cy="457200"/>
          </a:xfrm>
          <a:prstGeom prst="rect">
            <a:avLst/>
          </a:prstGeom>
          <a:noFill/>
          <a:ln/>
        </p:spPr>
        <p:txBody>
          <a:bodyPr wrap="square" lIns="0" tIns="0" rIns="0" bIns="0" rtlCol="0" anchor="ctr"/>
          <a:lstStyle/>
          <a:p>
            <a:pPr indent="0" marL="0">
              <a:buNone/>
            </a:pPr>
            <a:r>
              <a:rPr lang="en-US" sz="1600" dirty="0">
                <a:solidFill>
                  <a:srgbClr val="CADCFC"/>
                </a:solidFill>
              </a:rPr>
              <a:t>Review alerts weekly; add customer payment and competitor data to replace assumptions.</a:t>
            </a:r>
            <a:endParaRPr lang="en-US" sz="1600" dirty="0"/>
          </a:p>
        </p:txBody>
      </p:sp>
      <p:sp>
        <p:nvSpPr>
          <p:cNvPr id="21" name="Text 18"/>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200" i="1" dirty="0">
                <a:solidFill>
                  <a:srgbClr val="9FB3CC"/>
                </a:solidFill>
              </a:rPr>
              <a:t>Everything is reproducible: five notebooks, one Excel workbook each, README with run order; earlier versions are kept in a history folder.</a:t>
            </a:r>
            <a:endParaRPr lang="en-US" sz="12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Part tag"/>
          <p:cNvSpPr txBox="1"/>
          <p:nvPr/>
        </p:nvSpPr>
        <p:spPr>
          <a:xfrm>
            <a:off x="548640" y="274320"/>
            <a:ext cx="8229600" cy="256032"/>
          </a:xfrm>
          <a:prstGeom prst="rect">
            <a:avLst/>
          </a:prstGeom>
          <a:noFill/>
          <a:ln/>
        </p:spPr>
        <p:txBody>
          <a:bodyPr wrap="square" lIns="0" tIns="0" rIns="0" bIns="0" rtlCol="0" anchor="ctr"/>
          <a:lstStyle/>
          <a:p>
            <a:pPr indent="0" marL="0">
              <a:buNone/>
            </a:pPr>
            <a:r>
              <a:rPr lang="en-US" sz="1200" b="1" spc="200" kern="0" dirty="0">
                <a:solidFill>
                  <a:schemeClr val="accent1"/>
                </a:solidFill>
              </a:rPr>
              <a:t>ASSUMPTIONS REGISTER</a:t>
            </a:r>
            <a:endParaRPr lang="en-US" sz="1200" dirty="0"/>
          </a:p>
        </p:txBody>
      </p:sp>
      <p:sp>
        <p:nvSpPr>
          <p:cNvPr id="3" name="Text 0"/>
          <p:cNvSpPr/>
          <p:nvPr>
            <p:ph idx="100" type="title" hasCustomPrompt="1"/>
          </p:nvPr>
        </p:nvSpPr>
        <p:spPr>
          <a:xfrm>
            <a:off x="548640" y="566928"/>
            <a:ext cx="11064240" cy="960120"/>
          </a:xfrm>
          <a:prstGeom prst="rect">
            <a:avLst/>
          </a:prstGeom>
          <a:noFill/>
          <a:ln/>
        </p:spPr>
        <p:txBody>
          <a:bodyPr wrap="square" lIns="0" tIns="0" rIns="0" bIns="0" rtlCol="0" anchor="t"/>
          <a:lstStyle/>
          <a:p>
            <a:pPr algn="l" indent="0" marL="0">
              <a:buNone/>
            </a:pPr>
            <a:r>
              <a:rPr lang="en-US" sz="3000" b="1" dirty="0">
                <a:solidFill>
                  <a:schemeClr val="tx1"/>
                </a:solidFill>
                <a:latin typeface="Cambria" pitchFamily="34" charset="0"/>
                <a:ea typeface="Cambria" pitchFamily="34" charset="-122"/>
                <a:cs typeface="Cambria" pitchFamily="34" charset="-120"/>
              </a:rPr>
              <a:t>What we assumed, why, and how it gets replaced</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474720"/>
                <a:gridCol w="3566160"/>
                <a:gridCol w="4023360"/>
              </a:tblGrid>
              <a:tr h="384048">
                <a:tc>
                  <a:txBody>
                    <a:bodyPr/>
                    <a:lstStyle/>
                    <a:p>
                      <a:pPr indent="0" marL="0">
                        <a:buNone/>
                      </a:pPr>
                      <a:r>
                        <a:rPr lang="en-US" sz="1300" b="1" dirty="0">
                          <a:solidFill>
                            <a:srgbClr val="FFFFFF"/>
                          </a:solidFill>
                        </a:rPr>
                        <a:t>Assumption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Why we made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c>
                  <a:txBody>
                    <a:bodyPr/>
                    <a:lstStyle/>
                    <a:p>
                      <a:pPr indent="0" marL="0">
                        <a:buNone/>
                      </a:pPr>
                      <a:r>
                        <a:rPr lang="en-US" sz="1300" b="1" dirty="0">
                          <a:solidFill>
                            <a:srgbClr val="FFFFFF"/>
                          </a:solidFill>
                        </a:rPr>
                        <a:t>How it is checked or replaced</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2263F"/>
                    </a:solidFill>
                  </a:tcPr>
                </a:tc>
              </a:tr>
              <a:tr h="566928">
                <a:tc>
                  <a:txBody>
                    <a:bodyPr/>
                    <a:lstStyle/>
                    <a:p>
                      <a:pPr indent="0" marL="0">
                        <a:buNone/>
                      </a:pPr>
                      <a:r>
                        <a:rPr lang="en-US" sz="1300" dirty="0">
                          <a:solidFill>
                            <a:srgbClr val="1B2A41"/>
                          </a:solidFill>
                        </a:rPr>
                        <a:t>Synthetic calendar from 6 Jan 2020</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the file has week numbers only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real dates replace it; no result depends on the start date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Sales = min(demand, stock)</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stock-outs give zero sales; pile-ups sit at the stock caps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verified: zero violations in the database</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Old forecast is a usable demand signal</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unbiased (-0.4%) on weeks where truth is 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blend weight learned out-of-fold; accuracy also on clean weeks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Future stock follows its own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future purchasing is unknown</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dashboard shows the stock-limited and unconstrained views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B2A41"/>
                          </a:solidFill>
                        </a:rPr>
                        <a:t>Credit terms, delays, default rates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customer or invoice data exists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editable in the dashboard; replace with payment history</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Price sensitivity -1 (plan) and -2 (stress)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price barely varies (4%), so the data cannot measure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results shown from 0 to -3; Pilot B measures it</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B2A41"/>
                          </a:solidFill>
                        </a:rPr>
                        <a:t>Competitor band -8% / +10%, holding 12%, funding 8%</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no competitor data; standard cost-of-capital levels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c>
                  <a:txBody>
                    <a:bodyPr/>
                    <a:lstStyle/>
                    <a:p>
                      <a:pPr indent="0" marL="0">
                        <a:buNone/>
                      </a:pPr>
                      <a:r>
                        <a:rPr lang="en-US" sz="1300" dirty="0">
                          <a:solidFill>
                            <a:srgbClr val="1B2A41"/>
                          </a:solidFill>
                        </a:rPr>
                        <a:t>adjustable parameters; replace with observations</a:t>
                      </a:r>
                      <a:endParaRPr lang="en-US" sz="1300" dirty="0"/>
                    </a:p>
                  </a:txBody>
                  <a:tcPr marL="91440" marR="91440" marT="54864" marB="54864"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rmani Trade">
  <a:themeElements>
    <a:clrScheme name="Armani Trade">
      <a:dk1>
        <a:srgbClr val="1B2A41"/>
      </a:dk1>
      <a:lt1>
        <a:srgbClr val="FFFFFF"/>
      </a:lt1>
      <a:dk2>
        <a:srgbClr val="12263F"/>
      </a:dk2>
      <a:lt2>
        <a:srgbClr val="F2F6FB"/>
      </a:lt2>
      <a:accent1>
        <a:srgbClr val="2A78D6"/>
      </a:accent1>
      <a:accent2>
        <a:srgbClr val="EB6834"/>
      </a:accent2>
      <a:accent3>
        <a:srgbClr val="1BAF7A"/>
      </a:accent3>
      <a:accent4>
        <a:srgbClr val="8A8F98"/>
      </a:accent4>
      <a:accent5>
        <a:srgbClr val="EDA100"/>
      </a:accent5>
      <a:accent6>
        <a:srgbClr val="D03B3B"/>
      </a:accent6>
      <a:hlink>
        <a:srgbClr val="2A78D6"/>
      </a:hlink>
      <a:folHlink>
        <a:srgbClr val="8A8F98"/>
      </a:folHlink>
    </a:clrScheme>
    <a:fontScheme name="Armani T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Armani Middle East Trading - Data Science Technical Assessment</dc:title>
  <dc:subject>PptxGenJS Presentation</dc:subject>
  <dc:creator>Hamidreza Nademi</dc:creator>
  <cp:lastModifiedBy>Hamidreza Nademi</cp:lastModifiedBy>
  <cp:revision>1</cp:revision>
  <dcterms:created xsi:type="dcterms:W3CDTF">2026-10-06T19:33:55Z</dcterms:created>
  <dcterms:modified xsi:type="dcterms:W3CDTF">2026-10-06T19:33:55Z</dcterms:modified>
</cp:coreProperties>
</file>