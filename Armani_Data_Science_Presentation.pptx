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6.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7.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 id="{c9b699af-873a-71ff-b0d1-403290d867d7}">
          <p14:sldIdLst>
            <p14:sldId id="256"/>
            <p14:sldId id="257"/>
          </p14:sldIdLst>
        </p14:section>
        <p14:section name="Summary" id="{f0fae52d-bddd-6beb-76b3-8ea72df6a50e}">
          <p14:sldIdLst>
            <p14:sldId id="258"/>
          </p14:sldIdLst>
        </p14:section>
        <p14:section name="Part 1 - Data" id="{fecdd00c-1b84-be73-54e7-84720bf5365b}">
          <p14:sldIdLst>
            <p14:sldId id="259"/>
            <p14:sldId id="260"/>
            <p14:sldId id="261"/>
          </p14:sldIdLst>
        </p14:section>
        <p14:section name="Part 2 - Forecast" id="{2ee80790-7010-87b2-5be5-e441b216278e}">
          <p14:sldIdLst>
            <p14:sldId id="262"/>
            <p14:sldId id="263"/>
            <p14:sldId id="264"/>
            <p14:sldId id="265"/>
            <p14:sldId id="266"/>
            <p14:sldId id="267"/>
          </p14:sldIdLst>
        </p14:section>
        <p14:section name="Part 3 - Dashboard" id="{5ed98c10-28df-6797-2f4d-7533740e455e}">
          <p14:sldIdLst>
            <p14:sldId id="268"/>
          </p14:sldIdLst>
        </p14:section>
        <p14:section name="Part 4 - Pricing" id="{7deb42d5-dfd2-4cf1-ee90-384be369e858}">
          <p14:sldIdLst>
            <p14:sldId id="269"/>
            <p14:sldId id="270"/>
            <p14:sldId id="271"/>
            <p14:sldId id="272"/>
            <p14:sldId id="273"/>
            <p14:sldId id="274"/>
          </p14:sldIdLst>
        </p14:section>
        <p14:section name="Wrap-up" id="{c22b4904-e718-48bf-0f65-94701aa0e092}">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41"/>
                </a:solidFill>
                <a:latin typeface="Calibri"/>
              </a:defRPr>
            </a:pPr>
            <a:r>
              <a:rPr sz="1300" b="0" i="0" u="none" strike="noStrike">
                <a:solidFill>
                  <a:srgbClr val="1B2A41"/>
                </a:solidFill>
                <a:latin typeface="Calibri"/>
              </a:rPr>
              <a:t>Data-quality score, before vs after (0-100)</a:t>
            </a:r>
          </a:p>
        </c:rich>
      </c:tx>
      <c:layout/>
      <c:overlay val="0"/>
    </c:title>
    <c:autoTitleDeleted val="0"/>
    <c:plotArea>
      <c:layout/>
      <c:barChart>
        <c:barDir val="col"/>
        <c:grouping val="clustered"/>
        <c:varyColors val="0"/>
        <c:ser>
          <c:idx val="0"/>
          <c:order val="0"/>
          <c:tx>
            <c:strRef>
              <c:f>Sheet1!$B$1</c:f>
              <c:strCache>
                <c:ptCount val="1"/>
                <c:pt idx="0">
                  <c:v>Raw file</c:v>
                </c:pt>
              </c:strCache>
            </c:strRef>
          </c:tx>
          <c:spPr>
            <a:solidFill>
              <a:srgbClr val="8A8F98"/>
            </a:solidFill>
            <a:effectLst/>
          </c:spPr>
          <c:invertIfNegative val="0"/>
          <c:dLbls>
            <c:numFmt formatCode="0" sourceLinked="0"/>
            <c:txPr>
              <a:bodyPr/>
              <a:lstStyle/>
              <a:p>
                <a:pPr>
                  <a:defRPr b="0" i="0" strike="noStrike" sz="1000" u="none">
                    <a:solidFill>
                      <a:srgbClr val="1B2A41"/>
                    </a:solidFill>
                    <a:latin typeface="Calibri"/>
                  </a:defRPr>
                </a:pPr>
              </a:p>
            </c:txPr>
            <c:showLegendKey val="0"/>
            <c:showVal val="1"/>
            <c:showCatName val="0"/>
            <c:showSerName val="0"/>
            <c:showPercent val="0"/>
            <c:showBubbleSize val="0"/>
            <c:showLeaderLines val="0"/>
          </c:dLbls>
          <c:cat>
            <c:multiLvlStrRef>
              <c:f>Sheet1!$A$2:$A$7</c:f>
              <c:multiLvlStrCache>
                <c:ptCount val="6"/>
                <c:lvl>
                  <c:pt idx="0">
                    <c:v>Completeness</c:v>
                  </c:pt>
                  <c:pt idx="1">
                    <c:v>Uniqueness</c:v>
                  </c:pt>
                  <c:pt idx="2">
                    <c:v>Validity</c:v>
                  </c:pt>
                  <c:pt idx="3">
                    <c:v>Derived fields</c:v>
                  </c:pt>
                  <c:pt idx="4">
                    <c:v>Stock plausibility</c:v>
                  </c:pt>
                  <c:pt idx="5">
                    <c:v>Integrity index</c:v>
                  </c:pt>
                </c:lvl>
              </c:multiLvlStrCache>
            </c:multiLvlStrRef>
          </c:cat>
          <c:val>
            <c:numRef>
              <c:f>Sheet1!$B$2:$B$7</c:f>
              <c:numCache>
                <c:formatCode>General</c:formatCode>
                <c:ptCount val="6"/>
                <c:pt idx="0">
                  <c:v>98.4</c:v>
                </c:pt>
                <c:pt idx="1">
                  <c:v>99.5</c:v>
                </c:pt>
                <c:pt idx="2">
                  <c:v>88.6</c:v>
                </c:pt>
                <c:pt idx="3">
                  <c:v>36.6</c:v>
                </c:pt>
                <c:pt idx="4">
                  <c:v>75.4</c:v>
                </c:pt>
                <c:pt idx="5">
                  <c:v>79.7</c:v>
                </c:pt>
              </c:numCache>
            </c:numRef>
          </c:val>
        </c:ser>
        <c:ser>
          <c:idx val="1"/>
          <c:order val="1"/>
          <c:tx>
            <c:strRef>
              <c:f>Sheet1!$C$1</c:f>
              <c:strCache>
                <c:ptCount val="1"/>
                <c:pt idx="0">
                  <c:v>Database</c:v>
                </c:pt>
              </c:strCache>
            </c:strRef>
          </c:tx>
          <c:spPr>
            <a:solidFill>
              <a:srgbClr val="2A78D6"/>
            </a:solidFill>
            <a:effectLst/>
          </c:spPr>
          <c:invertIfNegative val="0"/>
          <c:dLbls>
            <c:numFmt formatCode="0" sourceLinked="0"/>
            <c:txPr>
              <a:bodyPr/>
              <a:lstStyle/>
              <a:p>
                <a:pPr>
                  <a:defRPr b="0" i="0" strike="noStrike" sz="1000" u="none">
                    <a:solidFill>
                      <a:srgbClr val="1B2A41"/>
                    </a:solidFill>
                    <a:latin typeface="Calibri"/>
                  </a:defRPr>
                </a:pPr>
              </a:p>
            </c:txPr>
            <c:showLegendKey val="0"/>
            <c:showVal val="1"/>
            <c:showCatName val="0"/>
            <c:showSerName val="0"/>
            <c:showPercent val="0"/>
            <c:showBubbleSize val="0"/>
            <c:showLeaderLines val="0"/>
          </c:dLbls>
          <c:cat>
            <c:multiLvlStrRef>
              <c:f>Sheet1!$A$2:$A$7</c:f>
              <c:multiLvlStrCache>
                <c:ptCount val="6"/>
                <c:lvl>
                  <c:pt idx="0">
                    <c:v>Completeness</c:v>
                  </c:pt>
                  <c:pt idx="1">
                    <c:v>Uniqueness</c:v>
                  </c:pt>
                  <c:pt idx="2">
                    <c:v>Validity</c:v>
                  </c:pt>
                  <c:pt idx="3">
                    <c:v>Derived fields</c:v>
                  </c:pt>
                  <c:pt idx="4">
                    <c:v>Stock plausibility</c:v>
                  </c:pt>
                  <c:pt idx="5">
                    <c:v>Integrity index</c:v>
                  </c:pt>
                </c:lvl>
              </c:multiLvlStrCache>
            </c:multiLvlStrRef>
          </c:cat>
          <c:val>
            <c:numRef>
              <c:f>Sheet1!$C$2:$C$7</c:f>
              <c:numCache>
                <c:formatCode>General</c:formatCode>
                <c:ptCount val="6"/>
                <c:pt idx="0">
                  <c:v>98.5</c:v>
                </c:pt>
                <c:pt idx="1">
                  <c:v>100</c:v>
                </c:pt>
                <c:pt idx="2">
                  <c:v>100</c:v>
                </c:pt>
                <c:pt idx="3">
                  <c:v>100</c:v>
                </c:pt>
                <c:pt idx="4">
                  <c:v>100</c:v>
                </c:pt>
                <c:pt idx="5">
                  <c:v>99.7</c:v>
                </c:pt>
              </c:numCache>
            </c:numRef>
          </c:val>
        </c:ser>
        <c:dLbls>
          <c:numFmt formatCode="0" sourceLinked="0"/>
          <c:txPr>
            <a:bodyPr/>
            <a:lstStyle/>
            <a:p>
              <a:pPr>
                <a:defRPr b="0" i="0" strike="noStrike" sz="1000" u="none">
                  <a:solidFill>
                    <a:srgbClr val="1B2A41"/>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80"/>
                </a:solidFill>
                <a:latin typeface="Calibri"/>
              </a:defRPr>
            </a:pPr>
            <a:endParaRPr lang="en-US"/>
          </a:p>
        </c:txPr>
        <c:crossAx val="2094734552"/>
        <c:crosses val="autoZero"/>
        <c:auto val="1"/>
        <c:lblAlgn val="ctr"/>
        <c:noMultiLvlLbl val="1"/>
      </c:catAx>
      <c:valAx>
        <c:axId val="2094734552"/>
        <c:scaling>
          <c:orientation val="minMax"/>
          <c:max val="120"/>
          <c:min val="0"/>
        </c:scaling>
        <c:delete val="0"/>
        <c:axPos val="l"/>
        <c:majorGridlines>
          <c:spPr>
            <a:ln w="9525" cap="flat">
              <a:solidFill>
                <a:srgbClr val="E3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80"/>
                </a:solidFill>
                <a:latin typeface="Calibri"/>
              </a:defRPr>
            </a:pPr>
            <a:endParaRPr lang="en-US"/>
          </a:p>
        </c:txPr>
        <c:crossAx val="2094734554"/>
        <c:crosses val="autoZero"/>
        <c:crossBetween val="between"/>
        <c:majorUnit val="40"/>
      </c:valAx>
      <c:spPr>
        <a:noFill/>
        <a:ln>
          <a:noFill/>
        </a:ln>
        <a:effectLst/>
      </c:spPr>
    </c:plotArea>
    <c:legend>
      <c:legendPos val="r"/>
      <c:overlay val="0"/>
      <c:txPr>
        <a:bodyPr/>
        <a:lstStyle/>
        <a:p>
          <a:pPr>
            <a:defRPr sz="1200">
              <a:solidFill>
                <a:srgbClr val="1B2A41"/>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41"/>
                </a:solidFill>
                <a:latin typeface="Calibri"/>
              </a:defRPr>
            </a:pPr>
            <a:r>
              <a:rPr sz="1300" b="0" i="0" u="none" strike="noStrike">
                <a:solidFill>
                  <a:srgbClr val="1B2A41"/>
                </a:solidFill>
                <a:latin typeface="Calibri"/>
              </a:rPr>
              <a:t>Error on weeks with known demand (MAPE, lower is better)</a:t>
            </a:r>
          </a:p>
        </c:rich>
      </c:tx>
      <c:layout/>
      <c:overlay val="0"/>
    </c:title>
    <c:autoTitleDeleted val="0"/>
    <c:plotArea>
      <c:layout/>
      <c:barChart>
        <c:barDir val="col"/>
        <c:grouping val="clustered"/>
        <c:varyColors val="0"/>
        <c:ser>
          <c:idx val="0"/>
          <c:order val="0"/>
          <c:tx>
            <c:strRef>
              <c:f>Sheet1!$B$1</c:f>
              <c:strCache>
                <c:ptCount val="1"/>
                <c:pt idx="0">
                  <c:v>MAPE %</c:v>
                </c:pt>
              </c:strCache>
            </c:strRef>
          </c:tx>
          <c:spPr>
            <a:solidFill>
              <a:srgbClr val="8A8F98"/>
            </a:solidFill>
            <a:effectLst/>
          </c:spPr>
          <c:invertIfNegative val="0"/>
          <c:dLbls>
            <c:numFmt formatCode="0.0&quot;%&quot;" sourceLinked="0"/>
            <c:txPr>
              <a:bodyPr/>
              <a:lstStyle/>
              <a:p>
                <a:pPr>
                  <a:defRPr b="0" i="0" strike="noStrike" sz="1200" u="none">
                    <a:solidFill>
                      <a:srgbClr val="1B2A41"/>
                    </a:solidFill>
                    <a:latin typeface="Calibri"/>
                  </a:defRPr>
                </a:pPr>
              </a:p>
            </c:txPr>
            <c:showLegendKey val="0"/>
            <c:showVal val="1"/>
            <c:showCatName val="0"/>
            <c:showSerName val="0"/>
            <c:showPercent val="0"/>
            <c:showBubbleSize val="0"/>
            <c:showLeaderLines val="0"/>
          </c:dLbls>
          <c:dPt>
            <c:idx val="0"/>
            <c:invertIfNegative val="0"/>
            <c:bubble3D val="0"/>
            <c:spPr>
              <a:solidFill>
                <a:srgbClr val="8A8F98"/>
              </a:solidFill>
              <a:effectLst/>
            </c:spPr>
          </c:dPt>
          <c:dPt>
            <c:idx val="1"/>
            <c:invertIfNegative val="0"/>
            <c:bubble3D val="0"/>
            <c:spPr>
              <a:solidFill>
                <a:srgbClr val="2A78D6"/>
              </a:solidFill>
              <a:effectLst/>
            </c:spPr>
          </c:dPt>
          <c:dPt>
            <c:idx val="2"/>
            <c:invertIfNegative val="0"/>
            <c:bubble3D val="0"/>
            <c:spPr>
              <a:solidFill>
                <a:srgbClr val="1BAF7A"/>
              </a:solidFill>
              <a:effectLst/>
            </c:spPr>
          </c:dPt>
          <c:cat>
            <c:multiLvlStrRef>
              <c:f>Sheet1!$A$2:$A$4</c:f>
              <c:multiLvlStrCache>
                <c:ptCount val="3"/>
                <c:lvl>
                  <c:pt idx="0">
                    <c:v>Legacy forecast</c:v>
                  </c:pt>
                  <c:pt idx="1">
                    <c:v>Seasonal model</c:v>
                  </c:pt>
                  <c:pt idx="2">
                    <c:v>Blend 0.40 / 0.60</c:v>
                  </c:pt>
                </c:lvl>
              </c:multiLvlStrCache>
            </c:multiLvlStrRef>
          </c:cat>
          <c:val>
            <c:numRef>
              <c:f>Sheet1!$B$2:$B$4</c:f>
              <c:numCache>
                <c:formatCode>General</c:formatCode>
                <c:ptCount val="3"/>
                <c:pt idx="0">
                  <c:v>7.9</c:v>
                </c:pt>
                <c:pt idx="1">
                  <c:v>6.6</c:v>
                </c:pt>
                <c:pt idx="2">
                  <c:v>5</c:v>
                </c:pt>
              </c:numCache>
            </c:numRef>
          </c:val>
        </c:ser>
        <c:dLbls>
          <c:numFmt formatCode="0.0&quot;%&quot;" sourceLinked="0"/>
          <c:txPr>
            <a:bodyPr/>
            <a:lstStyle/>
            <a:p>
              <a:pPr>
                <a:defRPr b="0" i="0" strike="noStrike" sz="1200" u="none">
                  <a:solidFill>
                    <a:srgbClr val="1B2A41"/>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80"/>
                </a:solidFill>
                <a:latin typeface="Calibri"/>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9525" cap="flat">
              <a:solidFill>
                <a:srgbClr val="E3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80"/>
                </a:solidFill>
                <a:latin typeface="Calibri"/>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41"/>
                </a:solidFill>
                <a:latin typeface="Calibri"/>
              </a:defRPr>
            </a:pPr>
            <a:r>
              <a:rPr sz="1300" b="0" i="0" u="none" strike="noStrike">
                <a:solidFill>
                  <a:srgbClr val="1B2A41"/>
                </a:solidFill>
                <a:latin typeface="Calibri"/>
              </a:rPr>
              <a:t>LightGBM feature importance (share of gain)</a:t>
            </a:r>
          </a:p>
        </c:rich>
      </c:tx>
      <c:layout/>
      <c:overlay val="0"/>
    </c:title>
    <c:autoTitleDeleted val="0"/>
    <c:plotArea>
      <c:layout/>
      <c:barChart>
        <c:barDir val="bar"/>
        <c:grouping val="clustered"/>
        <c:varyColors val="0"/>
        <c:ser>
          <c:idx val="0"/>
          <c:order val="0"/>
          <c:tx>
            <c:strRef>
              <c:f>Sheet1!$B$1</c:f>
              <c:strCache>
                <c:ptCount val="1"/>
                <c:pt idx="0">
                  <c:v>Gain %</c:v>
                </c:pt>
              </c:strCache>
            </c:strRef>
          </c:tx>
          <c:spPr>
            <a:solidFill>
              <a:srgbClr val="2A78D6"/>
            </a:solidFill>
            <a:effectLst/>
          </c:spPr>
          <c:invertIfNegative val="0"/>
          <c:dLbls>
            <c:numFmt formatCode="0.0&quot;%&quot;" sourceLinked="0"/>
            <c:txPr>
              <a:bodyPr/>
              <a:lstStyle/>
              <a:p>
                <a:pPr>
                  <a:defRPr b="0" i="0" strike="noStrike" sz="1200" u="none">
                    <a:solidFill>
                      <a:srgbClr val="1B2A41"/>
                    </a:solidFill>
                    <a:latin typeface="Calibri"/>
                  </a:defRPr>
                </a:pPr>
              </a:p>
            </c:txPr>
            <c:showLegendKey val="0"/>
            <c:showVal val="1"/>
            <c:showCatName val="0"/>
            <c:showSerName val="0"/>
            <c:showPercent val="0"/>
            <c:showBubbleSize val="0"/>
            <c:showLeaderLines val="0"/>
          </c:dLbls>
          <c:cat>
            <c:multiLvlStrRef>
              <c:f>Sheet1!$A$2:$A$7</c:f>
              <c:multiLvlStrCache>
                <c:ptCount val="6"/>
                <c:lvl>
                  <c:pt idx="0">
                    <c:v>Week of year</c:v>
                  </c:pt>
                  <c:pt idx="1">
                    <c:v>Season (sin 1)</c:v>
                  </c:pt>
                  <c:pt idx="2">
                    <c:v>Last year, neighbours</c:v>
                  </c:pt>
                  <c:pt idx="3">
                    <c:v>Season (cos 2)</c:v>
                  </c:pt>
                  <c:pt idx="4">
                    <c:v>Last year, same week</c:v>
                  </c:pt>
                  <c:pt idx="5">
                    <c:v>Season (sin 3)</c:v>
                  </c:pt>
                </c:lvl>
              </c:multiLvlStrCache>
            </c:multiLvlStrRef>
          </c:cat>
          <c:val>
            <c:numRef>
              <c:f>Sheet1!$B$2:$B$7</c:f>
              <c:numCache>
                <c:formatCode>General</c:formatCode>
                <c:ptCount val="6"/>
                <c:pt idx="0">
                  <c:v>45.6</c:v>
                </c:pt>
                <c:pt idx="1">
                  <c:v>31.9</c:v>
                </c:pt>
                <c:pt idx="2">
                  <c:v>10.7</c:v>
                </c:pt>
                <c:pt idx="3">
                  <c:v>6.8</c:v>
                </c:pt>
                <c:pt idx="4">
                  <c:v>2.9</c:v>
                </c:pt>
                <c:pt idx="5">
                  <c:v>1.7</c:v>
                </c:pt>
              </c:numCache>
            </c:numRef>
          </c:val>
        </c:ser>
        <c:dLbls>
          <c:numFmt formatCode="0.0&quot;%&quot;" sourceLinked="0"/>
          <c:txPr>
            <a:bodyPr/>
            <a:lstStyle/>
            <a:p>
              <a:pPr>
                <a:defRPr b="0" i="0" strike="noStrike" sz="1200" u="none">
                  <a:solidFill>
                    <a:srgbClr val="1B2A41"/>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B80"/>
                </a:solidFill>
                <a:latin typeface="Calibri"/>
              </a:defRPr>
            </a:pPr>
            <a:endParaRPr lang="en-US"/>
          </a:p>
        </c:txPr>
        <c:crossAx val="2094734552"/>
        <c:crosses val="autoZero"/>
        <c:auto val="1"/>
        <c:lblAlgn val="ctr"/>
        <c:noMultiLvlLbl val="1"/>
      </c:catAx>
      <c:valAx>
        <c:axId val="2094734552"/>
        <c:scaling>
          <c:orientation val="minMax"/>
          <c:max val="60"/>
          <c:min val="0"/>
        </c:scaling>
        <c:delete val="0"/>
        <c:axPos val="b"/>
        <c:majorGridlines>
          <c:spPr>
            <a:ln w="9525" cap="flat">
              <a:solidFill>
                <a:srgbClr val="E3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80"/>
                </a:solidFill>
                <a:latin typeface="Calibri"/>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41"/>
                </a:solidFill>
                <a:latin typeface="Calibri"/>
              </a:defRPr>
            </a:pPr>
            <a:r>
              <a:rPr sz="1400" b="0" i="0" u="none" strike="noStrike">
                <a:solidFill>
                  <a:srgbClr val="1B2A41"/>
                </a:solidFill>
                <a:latin typeface="Calibri"/>
              </a:rPr>
              <a:t>Average miss, % of total demand (lower is better)</a:t>
            </a:r>
          </a:p>
        </c:rich>
      </c:tx>
      <c:layout/>
      <c:overlay val="0"/>
    </c:title>
    <c:autoTitleDeleted val="0"/>
    <c:plotArea>
      <c:layout/>
      <c:barChart>
        <c:barDir val="bar"/>
        <c:grouping val="clustered"/>
        <c:varyColors val="0"/>
        <c:ser>
          <c:idx val="0"/>
          <c:order val="0"/>
          <c:tx>
            <c:strRef>
              <c:f>Sheet1!$B$1</c:f>
              <c:strCache>
                <c:ptCount val="1"/>
                <c:pt idx="0">
                  <c:v>WAPE %</c:v>
                </c:pt>
              </c:strCache>
            </c:strRef>
          </c:tx>
          <c:spPr>
            <a:solidFill>
              <a:srgbClr val="1BAF7A"/>
            </a:solidFill>
            <a:effectLst/>
          </c:spPr>
          <c:invertIfNegative val="0"/>
          <c:dLbls>
            <c:numFmt formatCode="0.00" sourceLinked="0"/>
            <c:txPr>
              <a:bodyPr/>
              <a:lstStyle/>
              <a:p>
                <a:pPr>
                  <a:defRPr b="0" i="0" strike="noStrike" sz="1200" u="none">
                    <a:solidFill>
                      <a:srgbClr val="1B2A41"/>
                    </a:solidFill>
                    <a:latin typeface="Calibri"/>
                  </a:defRPr>
                </a:pPr>
              </a:p>
            </c:txPr>
            <c:showLegendKey val="0"/>
            <c:showVal val="1"/>
            <c:showCatName val="0"/>
            <c:showSerName val="0"/>
            <c:showPercent val="0"/>
            <c:showBubbleSize val="0"/>
            <c:showLeaderLines val="0"/>
          </c:dLbls>
          <c:dPt>
            <c:idx val="0"/>
            <c:invertIfNegative val="0"/>
            <c:bubble3D val="0"/>
            <c:spPr>
              <a:solidFill>
                <a:srgbClr val="1BAF7A"/>
              </a:solidFill>
              <a:effectLst/>
            </c:spPr>
          </c:dPt>
          <c:dPt>
            <c:idx val="1"/>
            <c:invertIfNegative val="0"/>
            <c:bubble3D val="0"/>
            <c:spPr>
              <a:solidFill>
                <a:srgbClr val="1BAF7A"/>
              </a:solidFill>
              <a:effectLst/>
            </c:spPr>
          </c:dPt>
          <c:dPt>
            <c:idx val="2"/>
            <c:invertIfNegative val="0"/>
            <c:bubble3D val="0"/>
            <c:spPr>
              <a:solidFill>
                <a:srgbClr val="9EC5F4"/>
              </a:solidFill>
              <a:effectLst/>
            </c:spPr>
          </c:dPt>
          <c:dPt>
            <c:idx val="3"/>
            <c:invertIfNegative val="0"/>
            <c:bubble3D val="0"/>
            <c:spPr>
              <a:solidFill>
                <a:srgbClr val="2A78D6"/>
              </a:solidFill>
              <a:effectLst/>
            </c:spPr>
          </c:dPt>
          <c:dPt>
            <c:idx val="4"/>
            <c:invertIfNegative val="0"/>
            <c:bubble3D val="0"/>
            <c:spPr>
              <a:solidFill>
                <a:srgbClr val="9EC5F4"/>
              </a:solidFill>
              <a:effectLst/>
            </c:spPr>
          </c:dPt>
          <c:dPt>
            <c:idx val="5"/>
            <c:invertIfNegative val="0"/>
            <c:bubble3D val="0"/>
            <c:spPr>
              <a:solidFill>
                <a:srgbClr val="1BAF7A"/>
              </a:solidFill>
              <a:effectLst/>
            </c:spPr>
          </c:dPt>
          <c:dPt>
            <c:idx val="6"/>
            <c:invertIfNegative val="0"/>
            <c:bubble3D val="0"/>
            <c:spPr>
              <a:solidFill>
                <a:srgbClr val="EB6834"/>
              </a:solidFill>
              <a:effectLst/>
            </c:spPr>
          </c:dPt>
          <c:dPt>
            <c:idx val="7"/>
            <c:invertIfNegative val="0"/>
            <c:bubble3D val="0"/>
            <c:spPr>
              <a:solidFill>
                <a:srgbClr val="EB6834"/>
              </a:solidFill>
              <a:effectLst/>
            </c:spPr>
          </c:dPt>
          <c:dPt>
            <c:idx val="8"/>
            <c:invertIfNegative val="0"/>
            <c:bubble3D val="0"/>
            <c:spPr>
              <a:solidFill>
                <a:srgbClr val="EB6834"/>
              </a:solidFill>
              <a:effectLst/>
            </c:spPr>
          </c:dPt>
          <c:dPt>
            <c:idx val="9"/>
            <c:invertIfNegative val="0"/>
            <c:bubble3D val="0"/>
            <c:spPr>
              <a:solidFill>
                <a:srgbClr val="8A8F98"/>
              </a:solidFill>
              <a:effectLst/>
            </c:spPr>
          </c:dPt>
          <c:dPt>
            <c:idx val="10"/>
            <c:invertIfNegative val="0"/>
            <c:bubble3D val="0"/>
            <c:spPr>
              <a:solidFill>
                <a:srgbClr val="2A78D6"/>
              </a:solidFill>
              <a:effectLst/>
            </c:spPr>
          </c:dPt>
          <c:dPt>
            <c:idx val="11"/>
            <c:invertIfNegative val="0"/>
            <c:bubble3D val="0"/>
            <c:spPr>
              <a:solidFill>
                <a:srgbClr val="8A8F98"/>
              </a:solidFill>
              <a:effectLst/>
            </c:spPr>
          </c:dPt>
          <c:cat>
            <c:multiLvlStrRef>
              <c:f>Sheet1!$A$2:$A$13</c:f>
              <c:multiLvlStrCache>
                <c:ptCount val="12"/>
                <c:lvl>
                  <c:pt idx="0">
                    <c:v>Structural model (winner)</c:v>
                  </c:pt>
                  <c:pt idx="1">
                    <c:v>Structural per segment</c:v>
                  </c:pt>
                  <c:pt idx="2">
                    <c:v>Average of best 3</c:v>
                  </c:pt>
                  <c:pt idx="3">
                    <c:v>Seasonal regression</c:v>
                  </c:pt>
                  <c:pt idx="4">
                    <c:v>Average of 5 methods</c:v>
                  </c:pt>
                  <c:pt idx="5">
                    <c:v>Size x Season x Growth</c:v>
                  </c:pt>
                  <c:pt idx="6">
                    <c:v>Prophet</c:v>
                  </c:pt>
                  <c:pt idx="7">
                    <c:v>LightGBM</c:v>
                  </c:pt>
                  <c:pt idx="8">
                    <c:v>LightGBM per segment</c:v>
                  </c:pt>
                  <c:pt idx="9">
                    <c:v>Last year's average x season</c:v>
                  </c:pt>
                  <c:pt idx="10">
                    <c:v>Holt-Winters</c:v>
                  </c:pt>
                  <c:pt idx="11">
                    <c:v>Same week last year</c:v>
                  </c:pt>
                </c:lvl>
              </c:multiLvlStrCache>
            </c:multiLvlStrRef>
          </c:cat>
          <c:val>
            <c:numRef>
              <c:f>Sheet1!$B$2:$B$13</c:f>
              <c:numCache>
                <c:formatCode>General</c:formatCode>
                <c:ptCount val="12"/>
                <c:pt idx="0">
                  <c:v>4.57</c:v>
                </c:pt>
                <c:pt idx="1">
                  <c:v>4.57</c:v>
                </c:pt>
                <c:pt idx="2">
                  <c:v>4.61</c:v>
                </c:pt>
                <c:pt idx="3">
                  <c:v>4.68</c:v>
                </c:pt>
                <c:pt idx="4">
                  <c:v>4.69</c:v>
                </c:pt>
                <c:pt idx="5">
                  <c:v>4.72</c:v>
                </c:pt>
                <c:pt idx="6">
                  <c:v>4.76</c:v>
                </c:pt>
                <c:pt idx="7">
                  <c:v>4.78</c:v>
                </c:pt>
                <c:pt idx="8">
                  <c:v>4.9</c:v>
                </c:pt>
                <c:pt idx="9">
                  <c:v>5.28</c:v>
                </c:pt>
                <c:pt idx="10">
                  <c:v>5.55</c:v>
                </c:pt>
                <c:pt idx="11">
                  <c:v>6.96</c:v>
                </c:pt>
              </c:numCache>
            </c:numRef>
          </c:val>
        </c:ser>
        <c:dLbls>
          <c:numFmt formatCode="0.00" sourceLinked="0"/>
          <c:txPr>
            <a:bodyPr/>
            <a:lstStyle/>
            <a:p>
              <a:pPr>
                <a:defRPr b="0" i="0" strike="noStrike" sz="1200" u="none">
                  <a:solidFill>
                    <a:srgbClr val="1B2A41"/>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B80"/>
                </a:solidFill>
                <a:latin typeface="Calibri"/>
              </a:defRPr>
            </a:pPr>
            <a:endParaRPr lang="en-US"/>
          </a:p>
        </c:txPr>
        <c:crossAx val="2094734552"/>
        <c:crosses val="autoZero"/>
        <c:auto val="1"/>
        <c:lblAlgn val="ctr"/>
        <c:noMultiLvlLbl val="1"/>
      </c:catAx>
      <c:valAx>
        <c:axId val="2094734552"/>
        <c:scaling>
          <c:orientation val="minMax"/>
          <c:max val="8"/>
          <c:min val="0"/>
        </c:scaling>
        <c:delete val="0"/>
        <c:axPos val="b"/>
        <c:majorGridlines>
          <c:spPr>
            <a:ln w="9525" cap="flat">
              <a:solidFill>
                <a:srgbClr val="E3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80"/>
                </a:solidFill>
                <a:latin typeface="Calibri"/>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41"/>
                </a:solidFill>
                <a:latin typeface="Calibri"/>
              </a:defRPr>
            </a:pPr>
            <a:r>
              <a:rPr sz="1400" b="0" i="0" u="none" strike="noStrike">
                <a:solidFill>
                  <a:srgbClr val="1B2A41"/>
                </a:solidFill>
                <a:latin typeface="Calibri"/>
              </a:rPr>
              <a:t>Price rise (%) by share of demand that cannot be served</a:t>
            </a:r>
          </a:p>
        </c:rich>
      </c:tx>
      <c:layout/>
      <c:overlay val="0"/>
    </c:title>
    <c:autoTitleDeleted val="0"/>
    <c:plotArea>
      <c:layout/>
      <c:lineChart>
        <c:varyColors val="0"/>
        <c:ser>
          <c:idx val="0"/>
          <c:order val="0"/>
          <c:tx>
            <c:strRef>
              <c:f>Sheet1!$B$1</c:f>
              <c:strCache>
                <c:ptCount val="1"/>
                <c:pt idx="0">
                  <c:v>Peak season</c:v>
                </c:pt>
              </c:strCache>
            </c:strRef>
          </c:tx>
          <c:spPr>
            <a:solidFill>
              <a:srgbClr val="2A78D6"/>
            </a:solidFill>
            <a:ln w="38100" cap="flat">
              <a:solidFill>
                <a:srgbClr val="2A78D6"/>
              </a:solidFill>
              <a:prstDash val="solid"/>
              <a:round/>
            </a:ln>
            <a:effectLst/>
          </c:spPr>
          <c:invertIfNegative val="0"/>
          <c:dLbls>
            <c:numFmt formatCode="#,##0" sourceLinked="0"/>
            <c:txPr>
              <a:bodyPr/>
              <a:lstStyle/>
              <a:p>
                <a:pPr>
                  <a:defRPr b="0" i="0" strike="noStrike" sz="1200" u="none">
                    <a:solidFill>
                      <a:srgbClr val="1B2A41"/>
                    </a:solidFill>
                    <a:latin typeface="Calibri"/>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Sheet1!$A$2:$A$11</c:f>
              <c:multiLvlStrCache>
                <c:ptCount val="10"/>
                <c:lvl>
                  <c:pt idx="0">
                    <c:v>0%</c:v>
                  </c:pt>
                  <c:pt idx="1">
                    <c:v>5%</c:v>
                  </c:pt>
                  <c:pt idx="2">
                    <c:v>10%</c:v>
                  </c:pt>
                  <c:pt idx="3">
                    <c:v>15%</c:v>
                  </c:pt>
                  <c:pt idx="4">
                    <c:v>20%</c:v>
                  </c:pt>
                  <c:pt idx="5">
                    <c:v>25%</c:v>
                  </c:pt>
                  <c:pt idx="6">
                    <c:v>30%</c:v>
                  </c:pt>
                  <c:pt idx="7">
                    <c:v>40%</c:v>
                  </c:pt>
                  <c:pt idx="8">
                    <c:v>50%</c:v>
                  </c:pt>
                  <c:pt idx="9">
                    <c:v>60%</c:v>
                  </c:pt>
                </c:lvl>
              </c:multiLvlStrCache>
            </c:multiLvlStrRef>
          </c:cat>
          <c:val>
            <c:numRef>
              <c:f>Sheet1!$B$2:$B$11</c:f>
              <c:numCache>
                <c:formatCode>General</c:formatCode>
                <c:ptCount val="10"/>
                <c:pt idx="0">
                  <c:v>0</c:v>
                </c:pt>
                <c:pt idx="1">
                  <c:v>0</c:v>
                </c:pt>
                <c:pt idx="2">
                  <c:v>2.67</c:v>
                </c:pt>
                <c:pt idx="3">
                  <c:v>4</c:v>
                </c:pt>
                <c:pt idx="4">
                  <c:v>5.33</c:v>
                </c:pt>
                <c:pt idx="5">
                  <c:v>6.67</c:v>
                </c:pt>
                <c:pt idx="6">
                  <c:v>8</c:v>
                </c:pt>
                <c:pt idx="7">
                  <c:v>8</c:v>
                </c:pt>
                <c:pt idx="8">
                  <c:v>8</c:v>
                </c:pt>
                <c:pt idx="9">
                  <c:v>8</c:v>
                </c:pt>
              </c:numCache>
            </c:numRef>
          </c:val>
          <c:smooth val="0"/>
        </c:ser>
        <c:ser>
          <c:idx val="1"/>
          <c:order val="1"/>
          <c:tx>
            <c:strRef>
              <c:f>Sheet1!$C$1</c:f>
              <c:strCache>
                <c:ptCount val="1"/>
                <c:pt idx="0">
                  <c:v>Normal season</c:v>
                </c:pt>
              </c:strCache>
            </c:strRef>
          </c:tx>
          <c:spPr>
            <a:solidFill>
              <a:srgbClr val="1BAF7A"/>
            </a:solidFill>
            <a:ln w="38100" cap="flat">
              <a:solidFill>
                <a:srgbClr val="1BAF7A"/>
              </a:solidFill>
              <a:prstDash val="solid"/>
              <a:round/>
            </a:ln>
            <a:effectLst/>
          </c:spPr>
          <c:invertIfNegative val="0"/>
          <c:dLbls>
            <c:numFmt formatCode="#,##0" sourceLinked="0"/>
            <c:txPr>
              <a:bodyPr/>
              <a:lstStyle/>
              <a:p>
                <a:pPr>
                  <a:defRPr b="0" i="0" strike="noStrike" sz="1200" u="none">
                    <a:solidFill>
                      <a:srgbClr val="1B2A41"/>
                    </a:solidFill>
                    <a:latin typeface="Calibri"/>
                  </a:defRPr>
                </a:pPr>
              </a:p>
            </c:txPr>
            <c:showLegendKey val="0"/>
            <c:showVal val="0"/>
            <c:showCatName val="0"/>
            <c:showSerName val="0"/>
            <c:showPercent val="0"/>
            <c:showBubbleSize val="0"/>
            <c:showLeaderLines val="0"/>
          </c:dLbls>
          <c:marker>
            <c:symbol val="none"/>
            <c:size val="6"/>
            <c:spPr>
              <a:solidFill>
                <a:srgbClr val="1BAF7A"/>
              </a:solidFill>
              <a:ln w="9525" cap="flat">
                <a:solidFill>
                  <a:srgbClr val="1BAF7A"/>
                </a:solidFill>
                <a:prstDash val="solid"/>
                <a:round/>
              </a:ln>
              <a:effectLst/>
            </c:spPr>
          </c:marker>
          <c:cat>
            <c:multiLvlStrRef>
              <c:f>Sheet1!$A$2:$A$11</c:f>
              <c:multiLvlStrCache>
                <c:ptCount val="10"/>
                <c:lvl>
                  <c:pt idx="0">
                    <c:v>0%</c:v>
                  </c:pt>
                  <c:pt idx="1">
                    <c:v>5%</c:v>
                  </c:pt>
                  <c:pt idx="2">
                    <c:v>10%</c:v>
                  </c:pt>
                  <c:pt idx="3">
                    <c:v>15%</c:v>
                  </c:pt>
                  <c:pt idx="4">
                    <c:v>20%</c:v>
                  </c:pt>
                  <c:pt idx="5">
                    <c:v>25%</c:v>
                  </c:pt>
                  <c:pt idx="6">
                    <c:v>30%</c:v>
                  </c:pt>
                  <c:pt idx="7">
                    <c:v>40%</c:v>
                  </c:pt>
                  <c:pt idx="8">
                    <c:v>50%</c:v>
                  </c:pt>
                  <c:pt idx="9">
                    <c:v>60%</c:v>
                  </c:pt>
                </c:lvl>
              </c:multiLvlStrCache>
            </c:multiLvlStrRef>
          </c:cat>
          <c:val>
            <c:numRef>
              <c:f>Sheet1!$C$2:$C$11</c:f>
              <c:numCache>
                <c:formatCode>General</c:formatCode>
                <c:ptCount val="10"/>
                <c:pt idx="0">
                  <c:v>0</c:v>
                </c:pt>
                <c:pt idx="1">
                  <c:v>0</c:v>
                </c:pt>
                <c:pt idx="2">
                  <c:v>2</c:v>
                </c:pt>
                <c:pt idx="3">
                  <c:v>3</c:v>
                </c:pt>
                <c:pt idx="4">
                  <c:v>4</c:v>
                </c:pt>
                <c:pt idx="5">
                  <c:v>5</c:v>
                </c:pt>
                <c:pt idx="6">
                  <c:v>6</c:v>
                </c:pt>
                <c:pt idx="7">
                  <c:v>6</c:v>
                </c:pt>
                <c:pt idx="8">
                  <c:v>6</c:v>
                </c:pt>
                <c:pt idx="9">
                  <c:v>6</c:v>
                </c:pt>
              </c:numCache>
            </c:numRef>
          </c:val>
          <c:smooth val="0"/>
        </c:ser>
        <c:ser>
          <c:idx val="2"/>
          <c:order val="2"/>
          <c:tx>
            <c:strRef>
              <c:f>Sheet1!$D$1</c:f>
              <c:strCache>
                <c:ptCount val="1"/>
                <c:pt idx="0">
                  <c:v>Off-peak season</c:v>
                </c:pt>
              </c:strCache>
            </c:strRef>
          </c:tx>
          <c:spPr>
            <a:solidFill>
              <a:srgbClr val="EB6834"/>
            </a:solidFill>
            <a:ln w="38100" cap="flat">
              <a:solidFill>
                <a:srgbClr val="EB6834"/>
              </a:solidFill>
              <a:prstDash val="solid"/>
              <a:round/>
            </a:ln>
            <a:effectLst/>
          </c:spPr>
          <c:invertIfNegative val="0"/>
          <c:dLbls>
            <c:numFmt formatCode="#,##0" sourceLinked="0"/>
            <c:txPr>
              <a:bodyPr/>
              <a:lstStyle/>
              <a:p>
                <a:pPr>
                  <a:defRPr b="0" i="0" strike="noStrike" sz="1200" u="none">
                    <a:solidFill>
                      <a:srgbClr val="1B2A41"/>
                    </a:solidFill>
                    <a:latin typeface="Calibri"/>
                  </a:defRPr>
                </a:pPr>
              </a:p>
            </c:txPr>
            <c:showLegendKey val="0"/>
            <c:showVal val="0"/>
            <c:showCatName val="0"/>
            <c:showSerName val="0"/>
            <c:showPercent val="0"/>
            <c:showBubbleSize val="0"/>
            <c:showLeaderLines val="0"/>
          </c:dLbls>
          <c:marker>
            <c:symbol val="none"/>
            <c:size val="6"/>
            <c:spPr>
              <a:solidFill>
                <a:srgbClr val="EB6834"/>
              </a:solidFill>
              <a:ln w="9525" cap="flat">
                <a:solidFill>
                  <a:srgbClr val="EB6834"/>
                </a:solidFill>
                <a:prstDash val="solid"/>
                <a:round/>
              </a:ln>
              <a:effectLst/>
            </c:spPr>
          </c:marker>
          <c:cat>
            <c:multiLvlStrRef>
              <c:f>Sheet1!$A$2:$A$11</c:f>
              <c:multiLvlStrCache>
                <c:ptCount val="10"/>
                <c:lvl>
                  <c:pt idx="0">
                    <c:v>0%</c:v>
                  </c:pt>
                  <c:pt idx="1">
                    <c:v>5%</c:v>
                  </c:pt>
                  <c:pt idx="2">
                    <c:v>10%</c:v>
                  </c:pt>
                  <c:pt idx="3">
                    <c:v>15%</c:v>
                  </c:pt>
                  <c:pt idx="4">
                    <c:v>20%</c:v>
                  </c:pt>
                  <c:pt idx="5">
                    <c:v>25%</c:v>
                  </c:pt>
                  <c:pt idx="6">
                    <c:v>30%</c:v>
                  </c:pt>
                  <c:pt idx="7">
                    <c:v>40%</c:v>
                  </c:pt>
                  <c:pt idx="8">
                    <c:v>50%</c:v>
                  </c:pt>
                  <c:pt idx="9">
                    <c:v>60%</c:v>
                  </c:pt>
                </c:lvl>
              </c:multiLvlStrCache>
            </c:multiLvlStrRef>
          </c:cat>
          <c:val>
            <c:numRef>
              <c:f>Sheet1!$D$2:$D$11</c:f>
              <c:numCache>
                <c:formatCode>General</c:formatCode>
                <c:ptCount val="10"/>
                <c:pt idx="0">
                  <c:v>0</c:v>
                </c:pt>
                <c:pt idx="1">
                  <c:v>0</c:v>
                </c:pt>
                <c:pt idx="2">
                  <c:v>1.33</c:v>
                </c:pt>
                <c:pt idx="3">
                  <c:v>2</c:v>
                </c:pt>
                <c:pt idx="4">
                  <c:v>2.67</c:v>
                </c:pt>
                <c:pt idx="5">
                  <c:v>3.33</c:v>
                </c:pt>
                <c:pt idx="6">
                  <c:v>4</c:v>
                </c:pt>
                <c:pt idx="7">
                  <c:v>4</c:v>
                </c:pt>
                <c:pt idx="8">
                  <c:v>4</c:v>
                </c:pt>
                <c:pt idx="9">
                  <c:v>4</c:v>
                </c:pt>
              </c:numCache>
            </c:numRef>
          </c:val>
          <c:smooth val="0"/>
        </c:ser>
        <c:dLbls>
          <c:numFmt formatCode="#,##0" sourceLinked="0"/>
          <c:txPr>
            <a:bodyPr/>
            <a:lstStyle/>
            <a:p>
              <a:pPr>
                <a:defRPr b="0" i="0" strike="noStrike" sz="1200" u="none">
                  <a:solidFill>
                    <a:srgbClr val="1B2A41"/>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B80"/>
                    </a:solidFill>
                    <a:latin typeface="Arial"/>
                  </a:defRPr>
                </a:pPr>
                <a:r>
                  <a:rPr sz="1200" b="0" i="0" u="none" strike="noStrike">
                    <a:solidFill>
                      <a:srgbClr val="5B6B80"/>
                    </a:solidFill>
                    <a:latin typeface="Arial"/>
                  </a:rPr>
                  <a:t>share of expected demand that cannot be served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80"/>
                </a:solidFill>
                <a:latin typeface="Calibri"/>
              </a:defRPr>
            </a:pPr>
            <a:endParaRPr lang="en-US"/>
          </a:p>
        </c:txPr>
        <c:crossAx val="2094734552"/>
        <c:crosses val="autoZero"/>
        <c:auto val="1"/>
        <c:lblAlgn val="ctr"/>
        <c:noMultiLvlLbl val="1"/>
      </c:catAx>
      <c:valAx>
        <c:axId val="2094734552"/>
        <c:scaling>
          <c:orientation val="minMax"/>
          <c:max val="9"/>
          <c:min val="0"/>
        </c:scaling>
        <c:delete val="0"/>
        <c:axPos val="l"/>
        <c:majorGridlines>
          <c:spPr>
            <a:ln w="9525" cap="flat">
              <a:solidFill>
                <a:srgbClr val="E3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80"/>
                </a:solidFill>
                <a:latin typeface="Calibri"/>
              </a:defRPr>
            </a:pPr>
            <a:endParaRPr lang="en-US"/>
          </a:p>
        </c:txPr>
        <c:crossAx val="2094734554"/>
        <c:crosses val="autoZero"/>
        <c:crossBetween val="between"/>
        <c:majorUnit val="3"/>
      </c:valAx>
      <c:spPr>
        <a:noFill/>
        <a:ln>
          <a:noFill/>
        </a:ln>
        <a:effectLst/>
      </c:spPr>
    </c:plotArea>
    <c:legend>
      <c:legendPos val="b"/>
      <c:overlay val="0"/>
      <c:txPr>
        <a:bodyPr/>
        <a:lstStyle/>
        <a:p>
          <a:pPr>
            <a:defRPr sz="1200">
              <a:solidFill>
                <a:srgbClr val="1B2A41"/>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41"/>
                </a:solidFill>
                <a:latin typeface="Calibri"/>
              </a:defRPr>
            </a:pPr>
            <a:r>
              <a:rPr sz="1400" b="0" i="0" u="none" strike="noStrike">
                <a:solidFill>
                  <a:srgbClr val="1B2A41"/>
                </a:solidFill>
                <a:latin typeface="Calibri"/>
              </a:rPr>
              <a:t>Profit gain over 26 weeks by customer price sensitivity</a:t>
            </a:r>
          </a:p>
        </c:rich>
      </c:tx>
      <c:layout/>
      <c:overlay val="0"/>
    </c:title>
    <c:autoTitleDeleted val="0"/>
    <c:plotArea>
      <c:layout/>
      <c:barChart>
        <c:barDir val="col"/>
        <c:grouping val="clustered"/>
        <c:varyColors val="0"/>
        <c:ser>
          <c:idx val="0"/>
          <c:order val="0"/>
          <c:tx>
            <c:strRef>
              <c:f>Sheet1!$B$1</c:f>
              <c:strCache>
                <c:ptCount val="1"/>
                <c:pt idx="0">
                  <c:v>Profit gain, $M</c:v>
                </c:pt>
              </c:strCache>
            </c:strRef>
          </c:tx>
          <c:spPr>
            <a:solidFill>
              <a:srgbClr val="9EC5F4"/>
            </a:solidFill>
            <a:effectLst/>
          </c:spPr>
          <c:invertIfNegative val="0"/>
          <c:dLbls>
            <c:numFmt formatCode="&quot;$&quot;0.00&quot;M&quot;" sourceLinked="0"/>
            <c:txPr>
              <a:bodyPr/>
              <a:lstStyle/>
              <a:p>
                <a:pPr>
                  <a:defRPr b="0" i="0" strike="noStrike" sz="1200" u="none">
                    <a:solidFill>
                      <a:srgbClr val="1B2A41"/>
                    </a:solidFill>
                    <a:latin typeface="Calibri"/>
                  </a:defRPr>
                </a:pPr>
              </a:p>
            </c:txPr>
            <c:showLegendKey val="0"/>
            <c:showVal val="1"/>
            <c:showCatName val="0"/>
            <c:showSerName val="0"/>
            <c:showPercent val="0"/>
            <c:showBubbleSize val="0"/>
            <c:showLeaderLines val="0"/>
          </c:dLbls>
          <c:dPt>
            <c:idx val="0"/>
            <c:invertIfNegative val="0"/>
            <c:bubble3D val="0"/>
            <c:spPr>
              <a:solidFill>
                <a:srgbClr val="9EC5F4"/>
              </a:solidFill>
              <a:effectLst/>
            </c:spPr>
          </c:dPt>
          <c:dPt>
            <c:idx val="1"/>
            <c:invertIfNegative val="0"/>
            <c:bubble3D val="0"/>
            <c:spPr>
              <a:solidFill>
                <a:srgbClr val="9EC5F4"/>
              </a:solidFill>
              <a:effectLst/>
            </c:spPr>
          </c:dPt>
          <c:dPt>
            <c:idx val="2"/>
            <c:invertIfNegative val="0"/>
            <c:bubble3D val="0"/>
            <c:spPr>
              <a:solidFill>
                <a:srgbClr val="2A78D6"/>
              </a:solidFill>
              <a:effectLst/>
            </c:spPr>
          </c:dPt>
          <c:dPt>
            <c:idx val="3"/>
            <c:invertIfNegative val="0"/>
            <c:bubble3D val="0"/>
            <c:spPr>
              <a:solidFill>
                <a:srgbClr val="9EC5F4"/>
              </a:solidFill>
              <a:effectLst/>
            </c:spPr>
          </c:dPt>
          <c:dPt>
            <c:idx val="4"/>
            <c:invertIfNegative val="0"/>
            <c:bubble3D val="0"/>
            <c:spPr>
              <a:solidFill>
                <a:srgbClr val="9EC5F4"/>
              </a:solidFill>
              <a:effectLst/>
            </c:spPr>
          </c:dPt>
          <c:cat>
            <c:multiLvlStrRef>
              <c:f>Sheet1!$A$2:$A$6</c:f>
              <c:multiLvlStrCache>
                <c:ptCount val="5"/>
                <c:lvl>
                  <c:pt idx="0">
                    <c:v>Very sensitive (-3)</c:v>
                  </c:pt>
                  <c:pt idx="1">
                    <c:v>High (-2)</c:v>
                  </c:pt>
                  <c:pt idx="2">
                    <c:v>Planning case (-1)</c:v>
                  </c:pt>
                  <c:pt idx="3">
                    <c:v>Low (-0.5)</c:v>
                  </c:pt>
                  <c:pt idx="4">
                    <c:v>Ignore price (0)</c:v>
                  </c:pt>
                </c:lvl>
              </c:multiLvlStrCache>
            </c:multiLvlStrRef>
          </c:cat>
          <c:val>
            <c:numRef>
              <c:f>Sheet1!$B$2:$B$6</c:f>
              <c:numCache>
                <c:formatCode>General</c:formatCode>
                <c:ptCount val="5"/>
                <c:pt idx="0">
                  <c:v>1.15</c:v>
                </c:pt>
                <c:pt idx="1">
                  <c:v>1.22</c:v>
                </c:pt>
                <c:pt idx="2">
                  <c:v>1.26</c:v>
                </c:pt>
                <c:pt idx="3">
                  <c:v>1.28</c:v>
                </c:pt>
                <c:pt idx="4">
                  <c:v>1.3</c:v>
                </c:pt>
              </c:numCache>
            </c:numRef>
          </c:val>
        </c:ser>
        <c:dLbls>
          <c:numFmt formatCode="&quot;$&quot;0.00&quot;M&quot;" sourceLinked="0"/>
          <c:txPr>
            <a:bodyPr/>
            <a:lstStyle/>
            <a:p>
              <a:pPr>
                <a:defRPr b="0" i="0" strike="noStrike" sz="1200" u="none">
                  <a:solidFill>
                    <a:srgbClr val="1B2A41"/>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80"/>
                </a:solidFill>
                <a:latin typeface="Calibri"/>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E3E8F0"/>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80"/>
                </a:solidFill>
                <a:latin typeface="Calibri"/>
              </a:defRPr>
            </a:pPr>
            <a:endParaRPr lang="en-US"/>
          </a:p>
        </c:txPr>
        <c:crossAx val="2094734554"/>
        <c:crosses val="autoZero"/>
        <c:crossBetween val="between"/>
        <c:majorUnit val="0.4"/>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41"/>
                </a:solidFill>
                <a:latin typeface="Calibri"/>
              </a:defRPr>
            </a:pPr>
            <a:r>
              <a:rPr sz="1300" b="0" i="0" u="none" strike="noStrike">
                <a:solidFill>
                  <a:srgbClr val="1B2A41"/>
                </a:solidFill>
                <a:latin typeface="Calibri"/>
              </a:rPr>
              <a:t>Capital tied up above 26 weeks of stock (at cost)</a:t>
            </a:r>
          </a:p>
        </c:rich>
      </c:tx>
      <c:layout/>
      <c:overlay val="0"/>
    </c:title>
    <c:autoTitleDeleted val="0"/>
    <c:plotArea>
      <c:layout/>
      <c:barChart>
        <c:barDir val="bar"/>
        <c:grouping val="clustered"/>
        <c:varyColors val="0"/>
        <c:ser>
          <c:idx val="0"/>
          <c:order val="0"/>
          <c:tx>
            <c:strRef>
              <c:f>Sheet1!$B$1</c:f>
              <c:strCache>
                <c:ptCount val="1"/>
                <c:pt idx="0">
                  <c:v>Excess stock $M</c:v>
                </c:pt>
              </c:strCache>
            </c:strRef>
          </c:tx>
          <c:spPr>
            <a:solidFill>
              <a:srgbClr val="EB6834"/>
            </a:solidFill>
            <a:effectLst/>
          </c:spPr>
          <c:invertIfNegative val="0"/>
          <c:dLbls>
            <c:numFmt formatCode="&quot;$&quot;0.0&quot;M&quot;" sourceLinked="0"/>
            <c:txPr>
              <a:bodyPr/>
              <a:lstStyle/>
              <a:p>
                <a:pPr>
                  <a:defRPr b="0" i="0" strike="noStrike" sz="1200" u="none">
                    <a:solidFill>
                      <a:srgbClr val="1B2A41"/>
                    </a:solidFill>
                    <a:latin typeface="Calibri"/>
                  </a:defRPr>
                </a:pPr>
              </a:p>
            </c:txPr>
            <c:showLegendKey val="0"/>
            <c:showVal val="1"/>
            <c:showCatName val="0"/>
            <c:showSerName val="0"/>
            <c:showPercent val="0"/>
            <c:showBubbleSize val="0"/>
            <c:showLeaderLines val="0"/>
          </c:dLbls>
          <c:cat>
            <c:multiLvlStrRef>
              <c:f>Sheet1!$A$2:$A$6</c:f>
              <c:multiLvlStrCache>
                <c:ptCount val="5"/>
                <c:lvl>
                  <c:pt idx="0">
                    <c:v>Wheat - Hard Red</c:v>
                  </c:pt>
                  <c:pt idx="1">
                    <c:v>Milk Powder - Whole</c:v>
                  </c:pt>
                  <c:pt idx="2">
                    <c:v>Spices - Turmeric</c:v>
                  </c:pt>
                  <c:pt idx="3">
                    <c:v>Sunflower Oil</c:v>
                  </c:pt>
                  <c:pt idx="4">
                    <c:v>Chickpeas</c:v>
                  </c:pt>
                </c:lvl>
              </c:multiLvlStrCache>
            </c:multiLvlStrRef>
          </c:cat>
          <c:val>
            <c:numRef>
              <c:f>Sheet1!$B$2:$B$6</c:f>
              <c:numCache>
                <c:formatCode>General</c:formatCode>
                <c:ptCount val="5"/>
                <c:pt idx="0">
                  <c:v>6.5</c:v>
                </c:pt>
                <c:pt idx="1">
                  <c:v>1.4</c:v>
                </c:pt>
                <c:pt idx="2">
                  <c:v>1.3</c:v>
                </c:pt>
                <c:pt idx="3">
                  <c:v>1.1</c:v>
                </c:pt>
                <c:pt idx="4">
                  <c:v>0.5</c:v>
                </c:pt>
              </c:numCache>
            </c:numRef>
          </c:val>
        </c:ser>
        <c:dLbls>
          <c:numFmt formatCode="&quot;$&quot;0.0&quot;M&quot;" sourceLinked="0"/>
          <c:txPr>
            <a:bodyPr/>
            <a:lstStyle/>
            <a:p>
              <a:pPr>
                <a:defRPr b="0" i="0" strike="noStrike" sz="1200" u="none">
                  <a:solidFill>
                    <a:srgbClr val="1B2A41"/>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B80"/>
                </a:solidFill>
                <a:latin typeface="Calibri"/>
              </a:defRPr>
            </a:pPr>
            <a:endParaRPr lang="en-US"/>
          </a:p>
        </c:txPr>
        <c:crossAx val="2094734552"/>
        <c:crosses val="autoZero"/>
        <c:auto val="1"/>
        <c:lblAlgn val="ctr"/>
        <c:noMultiLvlLbl val="1"/>
      </c:catAx>
      <c:valAx>
        <c:axId val="2094734552"/>
        <c:scaling>
          <c:orientation val="minMax"/>
          <c:max val="8"/>
          <c:min val="0"/>
        </c:scaling>
        <c:delete val="0"/>
        <c:axPos val="b"/>
        <c:majorGridlines>
          <c:spPr>
            <a:ln w="9525" cap="flat">
              <a:solidFill>
                <a:srgbClr val="E3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80"/>
                </a:solidFill>
                <a:latin typeface="Calibri"/>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walks through how I approached the assessment: what problem each part poses, how I investigated it, which technical decisions I made and why, and what the results are. The emphasis is on the reasoning and the method, not only the final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assessment names three business problems: demand volatility, static prices and credit/liquidity risk. I treated them as one chain: you cannot forecast before the data is trustworthy, you cannot price before you know demand, and a dashboard makes the whole thing usable. For each part I started from a question rather than a technique. Four habits guided every decision: diagnose before modelling, test on unseen data, prefer the simple solution unless evidence says otherwise, and state every assumption and stress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carry the story. About 40% of customer demand went unserved last year because stock ran out; a simple model forecasts the next 26 weeks within 4.6%; five over-stocked products tie up $10.8M; and pricing that respects scarcity adds about $1.3M profit without selling fewer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goal: every number in later parts must be trustworthy and every correction traceable. The raw file is copied untouched into a staging table first, so nothing is lost. Validation separates fatal problems (stop the load) from fixable ones (log and correct). Exact duplicates are dropped because a repeated row would double count sales. Missing sales are recovered from revenue / price. Odd values are flagged, not deleted, because later analysis shows they carry information. The load is one transaction so it is repeatable. Exception handling was proven on a deliberately corrupted copy: 15 tests, all passed. The integrity index rises from 79.7 to 99.7.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data challenges met in the raw file, in the order they were found. Principle: fix what is provably wrong, flag what is merely unusual, and never delete information whose meaning is not yet understood. Duplicates and missing sales were corrected because the correct value is determinable. The legacy forecast was not imputed because that would invent a baseline. The inventory timing issue looked like data corruption (907 rows with zero stock but positive sales) but was in fact a misaligned column: sales in a week are limited by the previous row's inventory. The pile-ups and zero weeks looked like errors but turned out to be stock caps, which later became the key to the whole solution. Outliers were flagged with a robust z-score and a winsorised copy was added, leaving the choice to the model. The data has no dates, customers or competitor prices, so those parts rely on labelled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in a week track the previous row's inventory (correlation 0.85), zero stock means zero sales, and sales pile up exactly at the stock caps 1,500 and 2,500. So sales equal min(demand, stock). 53% of product-weeks are affected. Forecasting raw sales would forecast stock availability.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every product-week is classified by the stock available for sales (previous row's inventory): unconstrained if sales are below stock, stock-limited if sales equal stock, stock-out if stock is zero. Step 2: the legacy forecast is validated on unconstrained weeks, where true demand equals sales: bias -0.4 percent, correlation 0.97, about 10 percent multiplicative noise, so it is a usable noisy measure of demand. Step 3: a seasonal model is fitted in log space with a product level, a shared trend and a Fourier seasonal curve. The Fourier order K and the trend structure are chosen by blocked 5-fold cross-validation with the one-standard-error rule: K=2, shared trend. Step 4: the demand estimate in censored weeks is the larger of observed sales and a 0.40 / 0.60 blend of the legacy forecast and the model; the weight is fitted on out-of-fold predictions and confirmed on held-out products. Where the legacy forecast is missing (606 rows) the model alone is used. One caveat: unconstrained weeks are slightly biased toward lower demand, so the accuracy of the blend is an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engineering happened in three layers. Layer A, in the ETL: the most important feature of the whole project is stock_available_for_sales, the previous row's inventory, which turned an apparent data error into the explanation of the sales pattern. Together with the censoring status and the flags it describes what each sales number really measures. Layer B, in pre-processing: the reconstructed demand target, the seasonal-model prediction, calendar fields from the synthetic dates, and product descriptors: stock regime from k-means on stock-out rate, capped-week rate and stock cover, and the high-stock versus normal-stock profile. Layer C, model inputs: the structural model needs only product level, a trend and two Fourier pairs. LightGBM received a richer set known at the forecast origin: horizon, week of year with sine and cosine, trend index, demand of the same week last year and its neighbours, 13, 26 and 52-week levels, and product, segment, regime and category codes; its target is demand relative to the 52-week level, which removes product size. Three rules protect the features: only information known at the forecast origin is used, the legacy forecast is never a model input (it only helps build the target), and price and cost were tested and left out because they have no measurable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Features were kept or dropped based on evidence. Calendar effects were tested by the share of variance explained by week of year, compared with a permutation null in which labels are shuffled within each product: week of year explains 78 to 86 percent of demand variance, whereas price, cost and unit margin show no calendar effect and stock level only 5 percent. Product profiles correlate 0.97, so one shared seasonal curve is justified; clustering products by shape added little. In the LightGBM model, importance is concentrated in week of year and its sine and cosine terms plus demand of the same week last year; product size, level features and category codes carry almost nothing once the target is relative to the 52-week level. A within-product regression of log demand on log price gives -0.017 (95 percent interval -0.056 to +0.021), so price is not a demand driver in this data. These findings justify the simple structure and the exclusion of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risks make forecasting comparisons misleading: peeking at the future and choosing one lucky window. Rolling-origin backtests were used: train on 156, 182, 208 and 234 weeks and test on the next 26, the same task as the real forecast. Every free parameter is tuned inside the training window only: AICc for Holt-Winters and SARIMAX, inner time-series cross-validation for the structural model and Prophet, a trailing validation block for LightGBM. WAPE is primary because it weights errors by volume and is robust to small values; MAE, RMSE, MAPE, MASE and bias are also reported. A paired bootstrap over products tests whether differences are real. Simple baselines are included on purpose: a complex model must beat a plain rule to be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Rolling-origin backtests: train on 156, 182, 208 and 234 weeks and test on the next 26. All tuning happens inside the training window. Metrics: WAPE (primary), MAE, RMSE, MAPE, MASE, bias. The winner is statistically better than the best simple rule (bootstrap CI excludes zero) and equal to the per-segment version, so the simpler pooled model is selected. Honest accuracy on directly observed weeks is 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forecast covers weeks 261 to 286. P10-P90 bands come from backtest errors and cover 80% of outcomes. At historical stock levels 44% of the forecast revenue would again be unserved, because stock, not demand, is the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designed the dashboard around the reader: senior managers who are not technical. Each of the eight tabs answers one business question and opens with a one-sentence bottom line. KPIs are grouped as financial (margin, growth, operating profit), operational (turnover, days of stock, service level, lost sales), credit (DSO, A-E default-risk rating) and forward-looking (26-week forecast with a likely range, recommended prices). The data has no customers or invoices, so the credit layer is a scenario with editable assumptions, labelled as such. Alerts are six rules with editable thresholds and show the money at stake and a suggested action. 24 automatic tests reconcile KPIs to the database. I will show the live dashboard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product-week is scarce, balanced or surplus. When part of the demand cannot be served the product sells out anyway, so a small price rise is extra profit. The rise grows with scarcity, is largest in peak season, and is capped at 8%. 78% of the forecast product-weeks are scarce.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algorithm in plain terms; the full mathematics is in the Word rulebook. Rule 1: the share g of expected demand that cannot be served drives a premium of up to 8 percent, scaled by season (peak 1.0, normal 0.75, off-peak 0.5). Rule 2: sell-out protection finds the largest rise M for which expected units sold stay at least 99 percent of the baseline, even if customers were twice as price-sensitive, using 1,000 simulated demand draws. Rule 3: for surplus stock a markdown of up to 10 percent is applied only if simulated profit rises, counting the carrying-cost saving. Rule 4: credit-risky categories get no markdown and pay a risk premium covering default loss and funding. Rule 5: hard guardrails. Rule 6: assembly, recording which limit was binding so every price is explainable.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guardrail answers a business risk. All are tested automatically on the 26-week plan and on a 52-week replay: 19 checks passed. Competitor prices are not in the data, so the 13-week average price is the proxy for the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difficulty is that customer price sensitivity cannot be measured from this data: prices move only about 4 percent within a product, and the estimated effect is -0.017 with a 95 percent range from -0.056 to +0.021, which includes zero. So instead of pretending to know it, I designed the engine so that its gain does not depend on it, and I tested that claim four ways. Each test uses the same simulated demand and stock for the engine and for the do-nothing case, so the difference is purely the pricing.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Profit means gross profit minus expected credit losses, versus holding today's price, using the same simulated demand and stock. Because prices are raised only where stock sells out anyway, the result barely depends on how customers react: $1.15M if they are very price-sensitive, $1.30M if they ignore price. Replaying the last 52 weeks with only past information gives +$1.4M. If real demand were only 60% of the estimate the gain would still be $0.94M.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products hold between 64 and 370 weeks of stock: $10.8M at cost and about $1.3M a year to carry, which is more than the whole pricing gain. Selling the excess within a year by price alone would need cuts of 17 to 49 percent even for very price-sensitive customers, and a price below cost at the planning sensitivity. 200 candidate markdowns were tested and rejected because they do not pay. Beverages and Cocoa is rated D in the credit scenario. Two assumptions remain open, price sensitivity and competitor prices, so two pilots are proposed. For products that sell out, units sold equal stock, so a price test there only shows whether they still sell out; real sensitivity needs products with ample 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assumption is documented in the notebooks and the README. The three that matter most for decisions are price sensitivity, credit data, and the demand reconstruction; each has a test or a pilot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2263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103120"/>
            <a:ext cx="1051560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822960" y="4023360"/>
            <a:ext cx="10515600" cy="822960"/>
          </a:xfrm>
          <a:prstGeom prst="rect">
            <a:avLst/>
          </a:prstGeom>
          <a:noFill/>
          <a:ln/>
        </p:spPr>
        <p:txBody>
          <a:bodyPr wrap="square" rtlCol="0"/>
          <a:lstStyle>
            <a:lvl1pPr indent="0" marL="0">
              <a:buNone/>
              <a:defRPr lang="en-US" sz="2200" dirty="0">
                <a:solidFill>
                  <a:srgbClr val="CADCFC"/>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96012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5B6B80"/>
                </a:solidFill>
              </a:rPr>
              <a:t>Armani Middle East Trading  ·  Data Science assessment</a:t>
            </a:r>
            <a:endParaRPr lang="en-US" sz="10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2263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960120"/>
          </a:xfrm>
          <a:prstGeom prst="rect">
            <a:avLst/>
          </a:prstGeom>
          <a:noFill/>
          <a:ln/>
        </p:spPr>
        <p:txBody>
          <a:bodyPr wrap="square" rtlCol="0"/>
          <a:lstStyle>
            <a:lvl1pPr algn="l" indent="0" marL="0">
              <a:buNone/>
              <a:defRPr lang="en-US" sz="3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9-1.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2103120"/>
            <a:ext cx="10515600" cy="17373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Technical Assessment for Data Scientist Position</a:t>
            </a:r>
            <a:endParaRPr lang="en-US" sz="4400" dirty="0"/>
          </a:p>
        </p:txBody>
      </p:sp>
      <p:sp>
        <p:nvSpPr>
          <p:cNvPr id="3" name="Text 0"/>
          <p:cNvSpPr/>
          <p:nvPr>
            <p:ph idx="101" type="body" hasCustomPrompt="1"/>
          </p:nvPr>
        </p:nvSpPr>
        <p:spPr>
          <a:xfrm>
            <a:off x="822960" y="4023360"/>
            <a:ext cx="10515600" cy="822960"/>
          </a:xfrm>
          <a:prstGeom prst="rect">
            <a:avLst/>
          </a:prstGeom>
          <a:noFill/>
          <a:ln/>
        </p:spPr>
        <p:txBody>
          <a:bodyPr wrap="square" lIns="0" tIns="0" rIns="0" bIns="0" rtlCol="0" anchor="t"/>
          <a:lstStyle/>
          <a:p>
            <a:pPr indent="0" marL="0">
              <a:buNone/>
            </a:pPr>
            <a:r>
              <a:rPr lang="en-US" sz="2200" dirty="0">
                <a:solidFill>
                  <a:srgbClr val="CADCFC"/>
                </a:solidFill>
              </a:rPr>
              <a:t>Presenter: Hamidreza Nademi</a:t>
            </a:r>
            <a:endParaRPr lang="en-US" sz="2200" dirty="0"/>
          </a:p>
        </p:txBody>
      </p:sp>
      <p:sp>
        <p:nvSpPr>
          <p:cNvPr id="4" name="Text 2"/>
          <p:cNvSpPr txBox="1"/>
          <p:nvPr/>
        </p:nvSpPr>
        <p:spPr>
          <a:xfrm>
            <a:off x="822960" y="5852160"/>
            <a:ext cx="10515600" cy="365760"/>
          </a:xfrm>
          <a:prstGeom prst="rect">
            <a:avLst/>
          </a:prstGeom>
          <a:noFill/>
          <a:ln/>
        </p:spPr>
        <p:txBody>
          <a:bodyPr wrap="square" lIns="0" tIns="0" rIns="0" bIns="0" rtlCol="0" anchor="ctr"/>
          <a:lstStyle/>
          <a:p>
            <a:pPr indent="0" marL="0">
              <a:buNone/>
            </a:pPr>
            <a:r>
              <a:rPr lang="en-US" sz="1600" dirty="0">
                <a:solidFill>
                  <a:srgbClr val="9FB3CC"/>
                </a:solidFill>
              </a:rPr>
              <a:t>Armani Middle East Trading  |  Data engineering  ·  Forecasting  ·  Dashboard  ·  Dynamic pricing</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Part tag"/>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THE BRIEF AND MY APPROACH</a:t>
            </a:r>
            <a:endParaRPr lang="en-US" sz="1200" dirty="0"/>
          </a:p>
        </p:txBody>
      </p:sp>
      <p:sp>
        <p:nvSpPr>
          <p:cNvPr id="3" name="Text 0"/>
          <p:cNvSpPr/>
          <p:nvPr>
            <p:ph idx="100"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Four parts, one chain: each answer feeds the next</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1920240"/>
                <a:gridCol w="2651760"/>
                <a:gridCol w="3840480"/>
                <a:gridCol w="2651760"/>
              </a:tblGrid>
              <a:tr h="365760">
                <a:tc>
                  <a:txBody>
                    <a:bodyPr/>
                    <a:lstStyle/>
                    <a:p>
                      <a:pPr indent="0" marL="0">
                        <a:buNone/>
                      </a:pPr>
                      <a:r>
                        <a:rPr lang="en-US" sz="1300" b="1" dirty="0">
                          <a:solidFill>
                            <a:srgbClr val="FFFFFF"/>
                          </a:solidFill>
                        </a:rPr>
                        <a:t>Part</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12263F"/>
                    </a:solidFill>
                  </a:tcPr>
                </a:tc>
                <a:tc>
                  <a:txBody>
                    <a:bodyPr/>
                    <a:lstStyle/>
                    <a:p>
                      <a:pPr indent="0" marL="0">
                        <a:buNone/>
                      </a:pPr>
                      <a:r>
                        <a:rPr lang="en-US" sz="1300" b="1" dirty="0">
                          <a:solidFill>
                            <a:srgbClr val="FFFFFF"/>
                          </a:solidFill>
                        </a:rPr>
                        <a:t>Business problem</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12263F"/>
                    </a:solidFill>
                  </a:tcPr>
                </a:tc>
                <a:tc>
                  <a:txBody>
                    <a:bodyPr/>
                    <a:lstStyle/>
                    <a:p>
                      <a:pPr indent="0" marL="0">
                        <a:buNone/>
                      </a:pPr>
                      <a:r>
                        <a:rPr lang="en-US" sz="1300" b="1" dirty="0">
                          <a:solidFill>
                            <a:srgbClr val="FFFFFF"/>
                          </a:solidFill>
                        </a:rPr>
                        <a:t>The question I asked first</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12263F"/>
                    </a:solidFill>
                  </a:tcPr>
                </a:tc>
                <a:tc>
                  <a:txBody>
                    <a:bodyPr/>
                    <a:lstStyle/>
                    <a:p>
                      <a:pPr indent="0" marL="0">
                        <a:buNone/>
                      </a:pPr>
                      <a:r>
                        <a:rPr lang="en-US" sz="1300" b="1" dirty="0">
                          <a:solidFill>
                            <a:srgbClr val="FFFFFF"/>
                          </a:solidFill>
                        </a:rPr>
                        <a:t>What I built</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12263F"/>
                    </a:solidFill>
                  </a:tcPr>
                </a:tc>
              </a:tr>
              <a:tr h="566928">
                <a:tc>
                  <a:txBody>
                    <a:bodyPr/>
                    <a:lstStyle/>
                    <a:p>
                      <a:pPr indent="0" marL="0">
                        <a:buNone/>
                      </a:pPr>
                      <a:r>
                        <a:rPr lang="en-US" sz="1300" b="1" dirty="0">
                          <a:solidFill>
                            <a:srgbClr val="1B2A41"/>
                          </a:solidFill>
                        </a:rPr>
                        <a:t>1  Data and ETL</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rPr>
                        <a:t>Raw weekly file of 30 products</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rPr>
                        <a:t>Can I trust every number, and what does each column really measure?</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rPr>
                        <a:t>Validated pipeline, star schema, audit trail</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2A41"/>
                          </a:solidFill>
                        </a:rPr>
                        <a:t>2  Forecast</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rPr>
                        <a:t>Demand volatility</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rPr>
                        <a:t>What exactly should I forecast, and how do I prove a model works?</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rPr>
                        <a:t>Demand rebuild, 13-model test, 26-week forecast</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2A41"/>
                          </a:solidFill>
                        </a:rPr>
                        <a:t>3  Dashboard</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rPr>
                        <a:t>Managers need KPIs and alerts</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rPr>
                        <a:t>What would a manager decide on Monday morning?</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rPr>
                        <a:t>Plain-language dashboard with alerts</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2A41"/>
                          </a:solidFill>
                        </a:rPr>
                        <a:t>4  Pricing and risk</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rPr>
                        <a:t>Static prices, credit and liquidity</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rPr>
                        <a:t>Where does price really earn money, and what could go wrong?</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rPr>
                        <a:t>Rule engine, safety limits, pilot plan</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bl>
          </a:graphicData>
        </a:graphic>
      </p:graphicFrame>
      <p:sp>
        <p:nvSpPr>
          <p:cNvPr id="6" name="Principle card"/>
          <p:cNvSpPr/>
          <p:nvPr/>
        </p:nvSpPr>
        <p:spPr>
          <a:xfrm>
            <a:off x="548640" y="4846320"/>
            <a:ext cx="2651760" cy="1463040"/>
          </a:xfrm>
          <a:prstGeom prst="roundRect">
            <a:avLst>
              <a:gd name="adj" fmla="val 5000"/>
            </a:avLst>
          </a:prstGeom>
          <a:solidFill>
            <a:srgbClr val="F2F6FB"/>
          </a:solidFill>
          <a:ln w="12700">
            <a:solidFill>
              <a:srgbClr val="F2F6FB"/>
            </a:solidFill>
            <a:prstDash val="solid"/>
          </a:ln>
        </p:spPr>
      </p:sp>
      <p:sp>
        <p:nvSpPr>
          <p:cNvPr id="7" name="Principle accent"/>
          <p:cNvSpPr/>
          <p:nvPr/>
        </p:nvSpPr>
        <p:spPr>
          <a:xfrm>
            <a:off x="548640" y="4846320"/>
            <a:ext cx="82296" cy="1463040"/>
          </a:xfrm>
          <a:prstGeom prst="rect">
            <a:avLst/>
          </a:prstGeom>
          <a:solidFill>
            <a:srgbClr val="2A78D6"/>
          </a:solidFill>
          <a:ln w="12700">
            <a:solidFill>
              <a:srgbClr val="2A78D6"/>
            </a:solidFill>
            <a:prstDash val="solid"/>
          </a:ln>
        </p:spPr>
      </p:sp>
      <p:sp>
        <p:nvSpPr>
          <p:cNvPr id="8" name="Text 4"/>
          <p:cNvSpPr txBox="1"/>
          <p:nvPr/>
        </p:nvSpPr>
        <p:spPr>
          <a:xfrm>
            <a:off x="777240" y="4937760"/>
            <a:ext cx="2331720" cy="502920"/>
          </a:xfrm>
          <a:prstGeom prst="rect">
            <a:avLst/>
          </a:prstGeom>
          <a:noFill/>
          <a:ln/>
        </p:spPr>
        <p:txBody>
          <a:bodyPr wrap="square" lIns="0" tIns="0" rIns="0" bIns="0" rtlCol="0" anchor="t"/>
          <a:lstStyle/>
          <a:p>
            <a:pPr indent="0" marL="0">
              <a:buNone/>
            </a:pPr>
            <a:r>
              <a:rPr lang="en-US" sz="1500" b="1" dirty="0">
                <a:solidFill>
                  <a:schemeClr val="tx1"/>
                </a:solidFill>
              </a:rPr>
              <a:t>Diagnose before modelling</a:t>
            </a:r>
            <a:endParaRPr lang="en-US" sz="1500" dirty="0"/>
          </a:p>
        </p:txBody>
      </p:sp>
      <p:sp>
        <p:nvSpPr>
          <p:cNvPr id="9" name="Text 5"/>
          <p:cNvSpPr txBox="1"/>
          <p:nvPr/>
        </p:nvSpPr>
        <p:spPr>
          <a:xfrm>
            <a:off x="777240" y="5468112"/>
            <a:ext cx="2331720" cy="777240"/>
          </a:xfrm>
          <a:prstGeom prst="rect">
            <a:avLst/>
          </a:prstGeom>
          <a:noFill/>
          <a:ln/>
        </p:spPr>
        <p:txBody>
          <a:bodyPr wrap="square" lIns="0" tIns="0" rIns="0" bIns="0" rtlCol="0" anchor="t"/>
          <a:lstStyle/>
          <a:p>
            <a:pPr indent="0" marL="0">
              <a:buNone/>
            </a:pPr>
            <a:r>
              <a:rPr lang="en-US" sz="1300" dirty="0">
                <a:solidFill>
                  <a:srgbClr val="5B6B80"/>
                </a:solidFill>
              </a:rPr>
              <a:t>What the data measures is understood before a method is chosen.</a:t>
            </a:r>
            <a:endParaRPr lang="en-US" sz="1300" dirty="0"/>
          </a:p>
        </p:txBody>
      </p:sp>
      <p:sp>
        <p:nvSpPr>
          <p:cNvPr id="10" name="Principle card"/>
          <p:cNvSpPr/>
          <p:nvPr/>
        </p:nvSpPr>
        <p:spPr>
          <a:xfrm>
            <a:off x="3337560" y="4846320"/>
            <a:ext cx="2651760" cy="1463040"/>
          </a:xfrm>
          <a:prstGeom prst="roundRect">
            <a:avLst>
              <a:gd name="adj" fmla="val 5000"/>
            </a:avLst>
          </a:prstGeom>
          <a:solidFill>
            <a:srgbClr val="F2F6FB"/>
          </a:solidFill>
          <a:ln w="12700">
            <a:solidFill>
              <a:srgbClr val="F2F6FB"/>
            </a:solidFill>
            <a:prstDash val="solid"/>
          </a:ln>
        </p:spPr>
      </p:sp>
      <p:sp>
        <p:nvSpPr>
          <p:cNvPr id="11" name="Principle accent"/>
          <p:cNvSpPr/>
          <p:nvPr/>
        </p:nvSpPr>
        <p:spPr>
          <a:xfrm>
            <a:off x="3337560" y="4846320"/>
            <a:ext cx="82296" cy="1463040"/>
          </a:xfrm>
          <a:prstGeom prst="rect">
            <a:avLst/>
          </a:prstGeom>
          <a:solidFill>
            <a:srgbClr val="1BAF7A"/>
          </a:solidFill>
          <a:ln w="12700">
            <a:solidFill>
              <a:srgbClr val="1BAF7A"/>
            </a:solidFill>
            <a:prstDash val="solid"/>
          </a:ln>
        </p:spPr>
      </p:sp>
      <p:sp>
        <p:nvSpPr>
          <p:cNvPr id="12" name="Text 8"/>
          <p:cNvSpPr txBox="1"/>
          <p:nvPr/>
        </p:nvSpPr>
        <p:spPr>
          <a:xfrm>
            <a:off x="3566160" y="4937760"/>
            <a:ext cx="2331720" cy="502920"/>
          </a:xfrm>
          <a:prstGeom prst="rect">
            <a:avLst/>
          </a:prstGeom>
          <a:noFill/>
          <a:ln/>
        </p:spPr>
        <p:txBody>
          <a:bodyPr wrap="square" lIns="0" tIns="0" rIns="0" bIns="0" rtlCol="0" anchor="t"/>
          <a:lstStyle/>
          <a:p>
            <a:pPr indent="0" marL="0">
              <a:buNone/>
            </a:pPr>
            <a:r>
              <a:rPr lang="en-US" sz="1500" b="1" dirty="0">
                <a:solidFill>
                  <a:schemeClr val="tx1"/>
                </a:solidFill>
              </a:rPr>
              <a:t>Test on unseen data</a:t>
            </a:r>
            <a:endParaRPr lang="en-US" sz="1500" dirty="0"/>
          </a:p>
        </p:txBody>
      </p:sp>
      <p:sp>
        <p:nvSpPr>
          <p:cNvPr id="13" name="Text 9"/>
          <p:cNvSpPr txBox="1"/>
          <p:nvPr/>
        </p:nvSpPr>
        <p:spPr>
          <a:xfrm>
            <a:off x="3566160" y="5468112"/>
            <a:ext cx="2331720" cy="777240"/>
          </a:xfrm>
          <a:prstGeom prst="rect">
            <a:avLst/>
          </a:prstGeom>
          <a:noFill/>
          <a:ln/>
        </p:spPr>
        <p:txBody>
          <a:bodyPr wrap="square" lIns="0" tIns="0" rIns="0" bIns="0" rtlCol="0" anchor="t"/>
          <a:lstStyle/>
          <a:p>
            <a:pPr indent="0" marL="0">
              <a:buNone/>
            </a:pPr>
            <a:r>
              <a:rPr lang="en-US" sz="1300" dirty="0">
                <a:solidFill>
                  <a:srgbClr val="5B6B80"/>
                </a:solidFill>
              </a:rPr>
              <a:t>Every choice is judged on weeks the model has not seen.</a:t>
            </a:r>
            <a:endParaRPr lang="en-US" sz="1300" dirty="0"/>
          </a:p>
        </p:txBody>
      </p:sp>
      <p:sp>
        <p:nvSpPr>
          <p:cNvPr id="14" name="Principle card"/>
          <p:cNvSpPr/>
          <p:nvPr/>
        </p:nvSpPr>
        <p:spPr>
          <a:xfrm>
            <a:off x="6126480" y="4846320"/>
            <a:ext cx="2651760" cy="1463040"/>
          </a:xfrm>
          <a:prstGeom prst="roundRect">
            <a:avLst>
              <a:gd name="adj" fmla="val 5000"/>
            </a:avLst>
          </a:prstGeom>
          <a:solidFill>
            <a:srgbClr val="F2F6FB"/>
          </a:solidFill>
          <a:ln w="12700">
            <a:solidFill>
              <a:srgbClr val="F2F6FB"/>
            </a:solidFill>
            <a:prstDash val="solid"/>
          </a:ln>
        </p:spPr>
      </p:sp>
      <p:sp>
        <p:nvSpPr>
          <p:cNvPr id="15" name="Principle accent"/>
          <p:cNvSpPr/>
          <p:nvPr/>
        </p:nvSpPr>
        <p:spPr>
          <a:xfrm>
            <a:off x="6126480" y="4846320"/>
            <a:ext cx="82296" cy="1463040"/>
          </a:xfrm>
          <a:prstGeom prst="rect">
            <a:avLst/>
          </a:prstGeom>
          <a:solidFill>
            <a:srgbClr val="EB6834"/>
          </a:solidFill>
          <a:ln w="12700">
            <a:solidFill>
              <a:srgbClr val="EB6834"/>
            </a:solidFill>
            <a:prstDash val="solid"/>
          </a:ln>
        </p:spPr>
      </p:sp>
      <p:sp>
        <p:nvSpPr>
          <p:cNvPr id="16" name="Text 12"/>
          <p:cNvSpPr txBox="1"/>
          <p:nvPr/>
        </p:nvSpPr>
        <p:spPr>
          <a:xfrm>
            <a:off x="6355080" y="4937760"/>
            <a:ext cx="2331720" cy="502920"/>
          </a:xfrm>
          <a:prstGeom prst="rect">
            <a:avLst/>
          </a:prstGeom>
          <a:noFill/>
          <a:ln/>
        </p:spPr>
        <p:txBody>
          <a:bodyPr wrap="square" lIns="0" tIns="0" rIns="0" bIns="0" rtlCol="0" anchor="t"/>
          <a:lstStyle/>
          <a:p>
            <a:pPr indent="0" marL="0">
              <a:buNone/>
            </a:pPr>
            <a:r>
              <a:rPr lang="en-US" sz="1500" b="1" dirty="0">
                <a:solidFill>
                  <a:schemeClr val="tx1"/>
                </a:solidFill>
              </a:rPr>
              <a:t>Simple unless proven otherwise</a:t>
            </a:r>
            <a:endParaRPr lang="en-US" sz="1500" dirty="0"/>
          </a:p>
        </p:txBody>
      </p:sp>
      <p:sp>
        <p:nvSpPr>
          <p:cNvPr id="17" name="Text 13"/>
          <p:cNvSpPr txBox="1"/>
          <p:nvPr/>
        </p:nvSpPr>
        <p:spPr>
          <a:xfrm>
            <a:off x="6355080" y="5468112"/>
            <a:ext cx="2331720" cy="777240"/>
          </a:xfrm>
          <a:prstGeom prst="rect">
            <a:avLst/>
          </a:prstGeom>
          <a:noFill/>
          <a:ln/>
        </p:spPr>
        <p:txBody>
          <a:bodyPr wrap="square" lIns="0" tIns="0" rIns="0" bIns="0" rtlCol="0" anchor="t"/>
          <a:lstStyle/>
          <a:p>
            <a:pPr indent="0" marL="0">
              <a:buNone/>
            </a:pPr>
            <a:r>
              <a:rPr lang="en-US" sz="1300" dirty="0">
                <a:solidFill>
                  <a:srgbClr val="5B6B80"/>
                </a:solidFill>
              </a:rPr>
              <a:t>A complex model must beat a plain rule to be used.</a:t>
            </a:r>
            <a:endParaRPr lang="en-US" sz="1300" dirty="0"/>
          </a:p>
        </p:txBody>
      </p:sp>
      <p:sp>
        <p:nvSpPr>
          <p:cNvPr id="18" name="Principle card"/>
          <p:cNvSpPr/>
          <p:nvPr/>
        </p:nvSpPr>
        <p:spPr>
          <a:xfrm>
            <a:off x="8915400" y="4846320"/>
            <a:ext cx="2651760" cy="1463040"/>
          </a:xfrm>
          <a:prstGeom prst="roundRect">
            <a:avLst>
              <a:gd name="adj" fmla="val 5000"/>
            </a:avLst>
          </a:prstGeom>
          <a:solidFill>
            <a:srgbClr val="F2F6FB"/>
          </a:solidFill>
          <a:ln w="12700">
            <a:solidFill>
              <a:srgbClr val="F2F6FB"/>
            </a:solidFill>
            <a:prstDash val="solid"/>
          </a:ln>
        </p:spPr>
      </p:sp>
      <p:sp>
        <p:nvSpPr>
          <p:cNvPr id="19" name="Principle accent"/>
          <p:cNvSpPr/>
          <p:nvPr/>
        </p:nvSpPr>
        <p:spPr>
          <a:xfrm>
            <a:off x="8915400" y="4846320"/>
            <a:ext cx="82296" cy="1463040"/>
          </a:xfrm>
          <a:prstGeom prst="rect">
            <a:avLst/>
          </a:prstGeom>
          <a:solidFill>
            <a:srgbClr val="D03B3B"/>
          </a:solidFill>
          <a:ln w="12700">
            <a:solidFill>
              <a:srgbClr val="D03B3B"/>
            </a:solidFill>
            <a:prstDash val="solid"/>
          </a:ln>
        </p:spPr>
      </p:sp>
      <p:sp>
        <p:nvSpPr>
          <p:cNvPr id="20" name="Text 16"/>
          <p:cNvSpPr txBox="1"/>
          <p:nvPr/>
        </p:nvSpPr>
        <p:spPr>
          <a:xfrm>
            <a:off x="9144000" y="4937760"/>
            <a:ext cx="2331720" cy="502920"/>
          </a:xfrm>
          <a:prstGeom prst="rect">
            <a:avLst/>
          </a:prstGeom>
          <a:noFill/>
          <a:ln/>
        </p:spPr>
        <p:txBody>
          <a:bodyPr wrap="square" lIns="0" tIns="0" rIns="0" bIns="0" rtlCol="0" anchor="t"/>
          <a:lstStyle/>
          <a:p>
            <a:pPr indent="0" marL="0">
              <a:buNone/>
            </a:pPr>
            <a:r>
              <a:rPr lang="en-US" sz="1500" b="1" dirty="0">
                <a:solidFill>
                  <a:schemeClr val="tx1"/>
                </a:solidFill>
              </a:rPr>
              <a:t>State and stress assumptions</a:t>
            </a:r>
            <a:endParaRPr lang="en-US" sz="1500" dirty="0"/>
          </a:p>
        </p:txBody>
      </p:sp>
      <p:sp>
        <p:nvSpPr>
          <p:cNvPr id="21" name="Text 17"/>
          <p:cNvSpPr txBox="1"/>
          <p:nvPr/>
        </p:nvSpPr>
        <p:spPr>
          <a:xfrm>
            <a:off x="9144000" y="5468112"/>
            <a:ext cx="2331720" cy="777240"/>
          </a:xfrm>
          <a:prstGeom prst="rect">
            <a:avLst/>
          </a:prstGeom>
          <a:noFill/>
          <a:ln/>
        </p:spPr>
        <p:txBody>
          <a:bodyPr wrap="square" lIns="0" tIns="0" rIns="0" bIns="0" rtlCol="0" anchor="t"/>
          <a:lstStyle/>
          <a:p>
            <a:pPr indent="0" marL="0">
              <a:buNone/>
            </a:pPr>
            <a:r>
              <a:rPr lang="en-US" sz="1300" dirty="0">
                <a:solidFill>
                  <a:srgbClr val="5B6B80"/>
                </a:solidFill>
              </a:rPr>
              <a:t>Where data is missing, assume openly and show the range.</a:t>
            </a:r>
            <a:endParaRPr lang="en-US" sz="13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Part tag"/>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EXECUTIVE SUMMARY</a:t>
            </a:r>
            <a:endParaRPr lang="en-US" sz="1200" dirty="0"/>
          </a:p>
        </p:txBody>
      </p:sp>
      <p:sp>
        <p:nvSpPr>
          <p:cNvPr id="3" name="Text 0"/>
          <p:cNvSpPr/>
          <p:nvPr>
            <p:ph idx="100"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The constraint is availability, not demand or price</a:t>
            </a:r>
            <a:endParaRPr lang="en-US" sz="3000" dirty="0"/>
          </a:p>
        </p:txBody>
      </p:sp>
      <p:sp>
        <p:nvSpPr>
          <p:cNvPr id="5" name="Stat card"/>
          <p:cNvSpPr/>
          <p:nvPr/>
        </p:nvSpPr>
        <p:spPr>
          <a:xfrm>
            <a:off x="548640" y="1783080"/>
            <a:ext cx="2606040" cy="2331720"/>
          </a:xfrm>
          <a:prstGeom prst="roundRect">
            <a:avLst>
              <a:gd name="adj" fmla="val 3137"/>
            </a:avLst>
          </a:prstGeom>
          <a:solidFill>
            <a:srgbClr val="F2F6FB"/>
          </a:solidFill>
          <a:ln w="12700">
            <a:solidFill>
              <a:srgbClr val="F2F6FB"/>
            </a:solidFill>
            <a:prstDash val="solid"/>
          </a:ln>
        </p:spPr>
      </p:sp>
      <p:sp>
        <p:nvSpPr>
          <p:cNvPr id="6" name="Text 3"/>
          <p:cNvSpPr txBox="1"/>
          <p:nvPr/>
        </p:nvSpPr>
        <p:spPr>
          <a:xfrm>
            <a:off x="685800" y="1856232"/>
            <a:ext cx="2331720" cy="1049274"/>
          </a:xfrm>
          <a:prstGeom prst="rect">
            <a:avLst/>
          </a:prstGeom>
          <a:noFill/>
          <a:ln/>
        </p:spPr>
        <p:txBody>
          <a:bodyPr wrap="square" lIns="0" tIns="0" rIns="0" bIns="0" rtlCol="0" anchor="ctr"/>
          <a:lstStyle/>
          <a:p>
            <a:pPr indent="0" marL="0">
              <a:buNone/>
            </a:pPr>
            <a:r>
              <a:rPr lang="en-US" sz="4000" b="1" dirty="0">
                <a:solidFill>
                  <a:srgbClr val="EB6834"/>
                </a:solidFill>
                <a:latin typeface="Cambria" pitchFamily="34" charset="0"/>
                <a:ea typeface="Cambria" pitchFamily="34" charset="-122"/>
                <a:cs typeface="Cambria" pitchFamily="34" charset="-120"/>
              </a:rPr>
              <a:t>~40%</a:t>
            </a:r>
            <a:endParaRPr lang="en-US" sz="4000" dirty="0"/>
          </a:p>
        </p:txBody>
      </p:sp>
      <p:sp>
        <p:nvSpPr>
          <p:cNvPr id="7" name="Text 4"/>
          <p:cNvSpPr txBox="1"/>
          <p:nvPr/>
        </p:nvSpPr>
        <p:spPr>
          <a:xfrm>
            <a:off x="685800" y="2995574"/>
            <a:ext cx="2331720" cy="1072591"/>
          </a:xfrm>
          <a:prstGeom prst="rect">
            <a:avLst/>
          </a:prstGeom>
          <a:noFill/>
          <a:ln/>
        </p:spPr>
        <p:txBody>
          <a:bodyPr wrap="square" lIns="0" tIns="0" rIns="0" bIns="0" rtlCol="0" anchor="t"/>
          <a:lstStyle/>
          <a:p>
            <a:pPr indent="0" marL="0">
              <a:buNone/>
            </a:pPr>
            <a:r>
              <a:rPr lang="en-US" sz="1300" dirty="0">
                <a:solidFill>
                  <a:srgbClr val="5B6B80"/>
                </a:solidFill>
              </a:rPr>
              <a:t>of customer demand went unserved in the last 52 weeks: products ran out of stock</a:t>
            </a:r>
            <a:endParaRPr lang="en-US" sz="1300" dirty="0"/>
          </a:p>
        </p:txBody>
      </p:sp>
      <p:sp>
        <p:nvSpPr>
          <p:cNvPr id="8" name="Stat card"/>
          <p:cNvSpPr/>
          <p:nvPr/>
        </p:nvSpPr>
        <p:spPr>
          <a:xfrm>
            <a:off x="3337560" y="1783080"/>
            <a:ext cx="2606040" cy="2331720"/>
          </a:xfrm>
          <a:prstGeom prst="roundRect">
            <a:avLst>
              <a:gd name="adj" fmla="val 3137"/>
            </a:avLst>
          </a:prstGeom>
          <a:solidFill>
            <a:srgbClr val="F2F6FB"/>
          </a:solidFill>
          <a:ln w="12700">
            <a:solidFill>
              <a:srgbClr val="F2F6FB"/>
            </a:solidFill>
            <a:prstDash val="solid"/>
          </a:ln>
        </p:spPr>
      </p:sp>
      <p:sp>
        <p:nvSpPr>
          <p:cNvPr id="9" name="Text 6"/>
          <p:cNvSpPr txBox="1"/>
          <p:nvPr/>
        </p:nvSpPr>
        <p:spPr>
          <a:xfrm>
            <a:off x="3474720" y="1856232"/>
            <a:ext cx="2331720" cy="1049274"/>
          </a:xfrm>
          <a:prstGeom prst="rect">
            <a:avLst/>
          </a:prstGeom>
          <a:noFill/>
          <a:ln/>
        </p:spPr>
        <p:txBody>
          <a:bodyPr wrap="square" lIns="0" tIns="0" rIns="0" bIns="0" rtlCol="0" anchor="ctr"/>
          <a:lstStyle/>
          <a:p>
            <a:pPr indent="0" marL="0">
              <a:buNone/>
            </a:pPr>
            <a:r>
              <a:rPr lang="en-US" sz="4000" b="1" dirty="0">
                <a:solidFill>
                  <a:srgbClr val="2A78D6"/>
                </a:solidFill>
                <a:latin typeface="Cambria" pitchFamily="34" charset="0"/>
                <a:ea typeface="Cambria" pitchFamily="34" charset="-122"/>
                <a:cs typeface="Cambria" pitchFamily="34" charset="-120"/>
              </a:rPr>
              <a:t>4.6%</a:t>
            </a:r>
            <a:endParaRPr lang="en-US" sz="4000" dirty="0"/>
          </a:p>
        </p:txBody>
      </p:sp>
      <p:sp>
        <p:nvSpPr>
          <p:cNvPr id="10" name="Text 7"/>
          <p:cNvSpPr txBox="1"/>
          <p:nvPr/>
        </p:nvSpPr>
        <p:spPr>
          <a:xfrm>
            <a:off x="3474720" y="2995574"/>
            <a:ext cx="2331720" cy="1072591"/>
          </a:xfrm>
          <a:prstGeom prst="rect">
            <a:avLst/>
          </a:prstGeom>
          <a:noFill/>
          <a:ln/>
        </p:spPr>
        <p:txBody>
          <a:bodyPr wrap="square" lIns="0" tIns="0" rIns="0" bIns="0" rtlCol="0" anchor="t"/>
          <a:lstStyle/>
          <a:p>
            <a:pPr indent="0" marL="0">
              <a:buNone/>
            </a:pPr>
            <a:r>
              <a:rPr lang="en-US" sz="1300" dirty="0">
                <a:solidFill>
                  <a:srgbClr val="5B6B80"/>
                </a:solidFill>
              </a:rPr>
              <a:t>average forecast miss (WAPE) for the next 26 weeks, 13% better than the best simple rule</a:t>
            </a:r>
            <a:endParaRPr lang="en-US" sz="1300" dirty="0"/>
          </a:p>
        </p:txBody>
      </p:sp>
      <p:sp>
        <p:nvSpPr>
          <p:cNvPr id="11" name="Stat card"/>
          <p:cNvSpPr/>
          <p:nvPr/>
        </p:nvSpPr>
        <p:spPr>
          <a:xfrm>
            <a:off x="6126480" y="1783080"/>
            <a:ext cx="2606040" cy="2331720"/>
          </a:xfrm>
          <a:prstGeom prst="roundRect">
            <a:avLst>
              <a:gd name="adj" fmla="val 3137"/>
            </a:avLst>
          </a:prstGeom>
          <a:solidFill>
            <a:srgbClr val="F2F6FB"/>
          </a:solidFill>
          <a:ln w="12700">
            <a:solidFill>
              <a:srgbClr val="F2F6FB"/>
            </a:solidFill>
            <a:prstDash val="solid"/>
          </a:ln>
        </p:spPr>
      </p:sp>
      <p:sp>
        <p:nvSpPr>
          <p:cNvPr id="12" name="Text 9"/>
          <p:cNvSpPr txBox="1"/>
          <p:nvPr/>
        </p:nvSpPr>
        <p:spPr>
          <a:xfrm>
            <a:off x="6263640" y="1856232"/>
            <a:ext cx="2331720" cy="1049274"/>
          </a:xfrm>
          <a:prstGeom prst="rect">
            <a:avLst/>
          </a:prstGeom>
          <a:noFill/>
          <a:ln/>
        </p:spPr>
        <p:txBody>
          <a:bodyPr wrap="square" lIns="0" tIns="0" rIns="0" bIns="0" rtlCol="0" anchor="ctr"/>
          <a:lstStyle/>
          <a:p>
            <a:pPr indent="0" marL="0">
              <a:buNone/>
            </a:pPr>
            <a:r>
              <a:rPr lang="en-US" sz="4000" b="1" dirty="0">
                <a:solidFill>
                  <a:srgbClr val="D03B3B"/>
                </a:solidFill>
                <a:latin typeface="Cambria" pitchFamily="34" charset="0"/>
                <a:ea typeface="Cambria" pitchFamily="34" charset="-122"/>
                <a:cs typeface="Cambria" pitchFamily="34" charset="-120"/>
              </a:rPr>
              <a:t>$10.8M</a:t>
            </a:r>
            <a:endParaRPr lang="en-US" sz="4000" dirty="0"/>
          </a:p>
        </p:txBody>
      </p:sp>
      <p:sp>
        <p:nvSpPr>
          <p:cNvPr id="13" name="Text 10"/>
          <p:cNvSpPr txBox="1"/>
          <p:nvPr/>
        </p:nvSpPr>
        <p:spPr>
          <a:xfrm>
            <a:off x="6263640" y="2995574"/>
            <a:ext cx="2331720" cy="1072591"/>
          </a:xfrm>
          <a:prstGeom prst="rect">
            <a:avLst/>
          </a:prstGeom>
          <a:noFill/>
          <a:ln/>
        </p:spPr>
        <p:txBody>
          <a:bodyPr wrap="square" lIns="0" tIns="0" rIns="0" bIns="0" rtlCol="0" anchor="t"/>
          <a:lstStyle/>
          <a:p>
            <a:pPr indent="0" marL="0">
              <a:buNone/>
            </a:pPr>
            <a:r>
              <a:rPr lang="en-US" sz="1300" dirty="0">
                <a:solidFill>
                  <a:srgbClr val="5B6B80"/>
                </a:solidFill>
              </a:rPr>
              <a:t>tied up in 5 over-stocked products, while the other products sell out</a:t>
            </a:r>
            <a:endParaRPr lang="en-US" sz="1300" dirty="0"/>
          </a:p>
        </p:txBody>
      </p:sp>
      <p:sp>
        <p:nvSpPr>
          <p:cNvPr id="14" name="Stat card"/>
          <p:cNvSpPr/>
          <p:nvPr/>
        </p:nvSpPr>
        <p:spPr>
          <a:xfrm>
            <a:off x="8915400" y="1783080"/>
            <a:ext cx="2606040" cy="2331720"/>
          </a:xfrm>
          <a:prstGeom prst="roundRect">
            <a:avLst>
              <a:gd name="adj" fmla="val 3137"/>
            </a:avLst>
          </a:prstGeom>
          <a:solidFill>
            <a:srgbClr val="F2F6FB"/>
          </a:solidFill>
          <a:ln w="12700">
            <a:solidFill>
              <a:srgbClr val="F2F6FB"/>
            </a:solidFill>
            <a:prstDash val="solid"/>
          </a:ln>
        </p:spPr>
      </p:sp>
      <p:sp>
        <p:nvSpPr>
          <p:cNvPr id="15" name="Text 12"/>
          <p:cNvSpPr txBox="1"/>
          <p:nvPr/>
        </p:nvSpPr>
        <p:spPr>
          <a:xfrm>
            <a:off x="9052560" y="1856232"/>
            <a:ext cx="2331720" cy="1049274"/>
          </a:xfrm>
          <a:prstGeom prst="rect">
            <a:avLst/>
          </a:prstGeom>
          <a:noFill/>
          <a:ln/>
        </p:spPr>
        <p:txBody>
          <a:bodyPr wrap="square" lIns="0" tIns="0" rIns="0" bIns="0" rtlCol="0" anchor="ctr"/>
          <a:lstStyle/>
          <a:p>
            <a:pPr indent="0" marL="0">
              <a:buNone/>
            </a:pPr>
            <a:r>
              <a:rPr lang="en-US" sz="4000" b="1" dirty="0">
                <a:solidFill>
                  <a:srgbClr val="1BAF7A"/>
                </a:solidFill>
                <a:latin typeface="Cambria" pitchFamily="34" charset="0"/>
                <a:ea typeface="Cambria" pitchFamily="34" charset="-122"/>
                <a:cs typeface="Cambria" pitchFamily="34" charset="-120"/>
              </a:rPr>
              <a:t>+$1.3M</a:t>
            </a:r>
            <a:endParaRPr lang="en-US" sz="4000" dirty="0"/>
          </a:p>
        </p:txBody>
      </p:sp>
      <p:sp>
        <p:nvSpPr>
          <p:cNvPr id="16" name="Text 13"/>
          <p:cNvSpPr txBox="1"/>
          <p:nvPr/>
        </p:nvSpPr>
        <p:spPr>
          <a:xfrm>
            <a:off x="9052560" y="2995574"/>
            <a:ext cx="2331720" cy="1072591"/>
          </a:xfrm>
          <a:prstGeom prst="rect">
            <a:avLst/>
          </a:prstGeom>
          <a:noFill/>
          <a:ln/>
        </p:spPr>
        <p:txBody>
          <a:bodyPr wrap="square" lIns="0" tIns="0" rIns="0" bIns="0" rtlCol="0" anchor="t"/>
          <a:lstStyle/>
          <a:p>
            <a:pPr indent="0" marL="0">
              <a:buNone/>
            </a:pPr>
            <a:r>
              <a:rPr lang="en-US" sz="1300" dirty="0">
                <a:solidFill>
                  <a:srgbClr val="5B6B80"/>
                </a:solidFill>
              </a:rPr>
              <a:t>extra profit in 26 weeks from stock-aware pricing (range $1.2M to $1.3M)</a:t>
            </a:r>
            <a:endParaRPr lang="en-US" sz="1300" dirty="0"/>
          </a:p>
        </p:txBody>
      </p:sp>
      <p:sp>
        <p:nvSpPr>
          <p:cNvPr id="17" name="Text 14"/>
          <p:cNvSpPr txBox="1"/>
          <p:nvPr/>
        </p:nvSpPr>
        <p:spPr>
          <a:xfrm>
            <a:off x="548640" y="4434840"/>
            <a:ext cx="11064240" cy="1737360"/>
          </a:xfrm>
          <a:prstGeom prst="rect">
            <a:avLst/>
          </a:prstGeom>
          <a:noFill/>
          <a:ln/>
        </p:spPr>
        <p:txBody>
          <a:bodyPr wrap="square" lIns="0" tIns="0" rIns="0" bIns="0" rtlCol="0" anchor="t"/>
          <a:lstStyle/>
          <a:p>
            <a:pPr marL="203200" indent="-203200">
              <a:spcAft>
                <a:spcPts val="800"/>
              </a:spcAft>
              <a:buSzPct val="100000"/>
              <a:buChar char="•"/>
            </a:pPr>
            <a:r>
              <a:rPr lang="en-US" sz="1700" b="1" dirty="0">
                <a:solidFill>
                  <a:srgbClr val="1B2A41"/>
                </a:solidFill>
              </a:rPr>
              <a:t>What it means: </a:t>
            </a:r>
            <a:pPr indent="0" marL="0">
              <a:spcAft>
                <a:spcPts val="800"/>
              </a:spcAft>
              <a:buNone/>
            </a:pPr>
            <a:r>
              <a:rPr lang="en-US" sz="1700" dirty="0">
                <a:solidFill>
                  <a:srgbClr val="1B2A41"/>
                </a:solidFill>
              </a:rPr>
              <a:t>customers want more than can be served, so the money is in stock planning first and pricing second.</a:t>
            </a:r>
            <a:endParaRPr lang="en-US" sz="1700" dirty="0"/>
          </a:p>
          <a:p>
            <a:pPr marL="203200" indent="-203200">
              <a:spcAft>
                <a:spcPts val="800"/>
              </a:spcAft>
              <a:buSzPct val="100000"/>
              <a:buChar char="•"/>
            </a:pPr>
            <a:r>
              <a:rPr lang="en-US" sz="1700" b="1" dirty="0">
                <a:solidFill>
                  <a:srgbClr val="1B2A41"/>
                </a:solidFill>
              </a:rPr>
              <a:t>What was built: </a:t>
            </a:r>
            <a:pPr indent="0" marL="0">
              <a:spcAft>
                <a:spcPts val="800"/>
              </a:spcAft>
              <a:buNone/>
            </a:pPr>
            <a:r>
              <a:rPr lang="en-US" sz="1700" dirty="0">
                <a:solidFill>
                  <a:srgbClr val="1B2A41"/>
                </a:solidFill>
              </a:rPr>
              <a:t>a clean database, a forecast engine, a manager dashboard with alerts, and a rule-based pricing framework with safety limits.</a:t>
            </a:r>
            <a:endParaRPr lang="en-US" sz="1700" dirty="0"/>
          </a:p>
          <a:p>
            <a:pPr marL="203200" indent="-203200">
              <a:spcAft>
                <a:spcPts val="800"/>
              </a:spcAft>
              <a:buSzPct val="100000"/>
              <a:buChar char="•"/>
            </a:pPr>
            <a:r>
              <a:rPr lang="en-US" sz="1700" b="1" dirty="0">
                <a:solidFill>
                  <a:srgbClr val="1B2A41"/>
                </a:solidFill>
              </a:rPr>
              <a:t>Next steps: </a:t>
            </a:r>
            <a:pPr indent="0" marL="0">
              <a:spcAft>
                <a:spcPts val="800"/>
              </a:spcAft>
              <a:buNone/>
            </a:pPr>
            <a:r>
              <a:rPr lang="en-US" sz="1700" dirty="0">
                <a:solidFill>
                  <a:srgbClr val="1B2A41"/>
                </a:solidFill>
              </a:rPr>
              <a:t>purchasing of the five over-stocked products stops, cover for the lean ones rises, and a short pricing pilot precedes roll-out.</a:t>
            </a:r>
            <a:endParaRPr lang="en-US" sz="17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art tag"/>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PART 1 · DATA ENGINEERING</a:t>
            </a:r>
            <a:endParaRPr lang="en-US" sz="1200" dirty="0"/>
          </a:p>
        </p:txBody>
      </p:sp>
      <p:sp>
        <p:nvSpPr>
          <p:cNvPr id="3" name="Text 0"/>
          <p:cNvSpPr/>
          <p:nvPr>
            <p:ph idx="100"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A pipeline that never loses or hides information</a:t>
            </a:r>
            <a:endParaRPr lang="en-US" sz="3000" dirty="0"/>
          </a:p>
        </p:txBody>
      </p:sp>
      <p:sp>
        <p:nvSpPr>
          <p:cNvPr id="5" name="Pipeline step"/>
          <p:cNvSpPr/>
          <p:nvPr/>
        </p:nvSpPr>
        <p:spPr>
          <a:xfrm>
            <a:off x="548640" y="1645920"/>
            <a:ext cx="2103120" cy="1965960"/>
          </a:xfrm>
          <a:prstGeom prst="roundRect">
            <a:avLst>
              <a:gd name="adj" fmla="val 3721"/>
            </a:avLst>
          </a:prstGeom>
          <a:solidFill>
            <a:srgbClr val="F2F6FB"/>
          </a:solidFill>
          <a:ln w="12700">
            <a:solidFill>
              <a:srgbClr val="D9E1EC"/>
            </a:solidFill>
            <a:prstDash val="solid"/>
          </a:ln>
        </p:spPr>
      </p:sp>
      <p:sp>
        <p:nvSpPr>
          <p:cNvPr id="6" name="Step number"/>
          <p:cNvSpPr/>
          <p:nvPr/>
        </p:nvSpPr>
        <p:spPr>
          <a:xfrm>
            <a:off x="685800" y="1755648"/>
            <a:ext cx="384048" cy="384048"/>
          </a:xfrm>
          <a:prstGeom prst="ellipse">
            <a:avLst/>
          </a:prstGeom>
          <a:solidFill>
            <a:srgbClr val="2A78D6"/>
          </a:solidFill>
          <a:ln w="12700">
            <a:solidFill>
              <a:srgbClr val="FFFFFF"/>
            </a:solidFill>
            <a:prstDash val="solid"/>
          </a:ln>
        </p:spPr>
      </p:sp>
      <p:sp>
        <p:nvSpPr>
          <p:cNvPr id="7" name="Text 4"/>
          <p:cNvSpPr txBox="1"/>
          <p:nvPr/>
        </p:nvSpPr>
        <p:spPr>
          <a:xfrm>
            <a:off x="685800" y="1755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5"/>
          <p:cNvSpPr txBox="1"/>
          <p:nvPr/>
        </p:nvSpPr>
        <p:spPr>
          <a:xfrm>
            <a:off x="1143000" y="1755648"/>
            <a:ext cx="1463040" cy="384048"/>
          </a:xfrm>
          <a:prstGeom prst="rect">
            <a:avLst/>
          </a:prstGeom>
          <a:noFill/>
          <a:ln/>
        </p:spPr>
        <p:txBody>
          <a:bodyPr wrap="square" lIns="0" tIns="0" rIns="0" bIns="0" rtlCol="0" anchor="ctr"/>
          <a:lstStyle/>
          <a:p>
            <a:pPr indent="0" marL="0">
              <a:buNone/>
            </a:pPr>
            <a:r>
              <a:rPr lang="en-US" sz="1400" b="1" dirty="0">
                <a:solidFill>
                  <a:schemeClr val="tx1"/>
                </a:solidFill>
              </a:rPr>
              <a:t>Extract and check</a:t>
            </a:r>
            <a:endParaRPr lang="en-US" sz="1400" dirty="0"/>
          </a:p>
        </p:txBody>
      </p:sp>
      <p:sp>
        <p:nvSpPr>
          <p:cNvPr id="9" name="Text 6"/>
          <p:cNvSpPr txBox="1"/>
          <p:nvPr/>
        </p:nvSpPr>
        <p:spPr>
          <a:xfrm>
            <a:off x="685800" y="2240280"/>
            <a:ext cx="1828800" cy="777240"/>
          </a:xfrm>
          <a:prstGeom prst="rect">
            <a:avLst/>
          </a:prstGeom>
          <a:noFill/>
          <a:ln/>
        </p:spPr>
        <p:txBody>
          <a:bodyPr wrap="square" lIns="0" tIns="0" rIns="0" bIns="0" rtlCol="0" anchor="t"/>
          <a:lstStyle/>
          <a:p>
            <a:pPr indent="0" marL="0">
              <a:buNone/>
            </a:pPr>
            <a:r>
              <a:rPr lang="en-US" sz="1200" dirty="0">
                <a:solidFill>
                  <a:srgbClr val="1B2A41"/>
                </a:solidFill>
              </a:rPr>
              <a:t>schema, types, untouched raw copy kept</a:t>
            </a:r>
            <a:endParaRPr lang="en-US" sz="1200" dirty="0"/>
          </a:p>
        </p:txBody>
      </p:sp>
      <p:sp>
        <p:nvSpPr>
          <p:cNvPr id="10" name="Text 7"/>
          <p:cNvSpPr txBox="1"/>
          <p:nvPr/>
        </p:nvSpPr>
        <p:spPr>
          <a:xfrm>
            <a:off x="685800" y="3017520"/>
            <a:ext cx="1828800" cy="502920"/>
          </a:xfrm>
          <a:prstGeom prst="rect">
            <a:avLst/>
          </a:prstGeom>
          <a:noFill/>
          <a:ln/>
        </p:spPr>
        <p:txBody>
          <a:bodyPr wrap="square" lIns="0" tIns="0" rIns="0" bIns="0" rtlCol="0" anchor="t"/>
          <a:lstStyle/>
          <a:p>
            <a:pPr indent="0" marL="0">
              <a:buNone/>
            </a:pPr>
            <a:r>
              <a:rPr lang="en-US" sz="1200" i="1" dirty="0">
                <a:solidFill>
                  <a:srgbClr val="5B6B80"/>
                </a:solidFill>
              </a:rPr>
              <a:t>Why: nothing is ever lost</a:t>
            </a:r>
            <a:endParaRPr lang="en-US" sz="1200" dirty="0"/>
          </a:p>
        </p:txBody>
      </p:sp>
      <p:sp>
        <p:nvSpPr>
          <p:cNvPr id="11" name="Flow arrow"/>
          <p:cNvSpPr/>
          <p:nvPr/>
        </p:nvSpPr>
        <p:spPr>
          <a:xfrm>
            <a:off x="2651760" y="2606040"/>
            <a:ext cx="128016" cy="0"/>
          </a:xfrm>
          <a:prstGeom prst="line">
            <a:avLst/>
          </a:prstGeom>
          <a:noFill/>
          <a:ln w="19050">
            <a:solidFill>
              <a:srgbClr val="8A8F98"/>
            </a:solidFill>
            <a:prstDash val="solid"/>
            <a:tailEnd type="triangle"/>
          </a:ln>
        </p:spPr>
      </p:sp>
      <p:sp>
        <p:nvSpPr>
          <p:cNvPr id="12" name="Pipeline step"/>
          <p:cNvSpPr/>
          <p:nvPr/>
        </p:nvSpPr>
        <p:spPr>
          <a:xfrm>
            <a:off x="2779776" y="1645920"/>
            <a:ext cx="2103120" cy="1965960"/>
          </a:xfrm>
          <a:prstGeom prst="roundRect">
            <a:avLst>
              <a:gd name="adj" fmla="val 3721"/>
            </a:avLst>
          </a:prstGeom>
          <a:solidFill>
            <a:srgbClr val="F2F6FB"/>
          </a:solidFill>
          <a:ln w="12700">
            <a:solidFill>
              <a:srgbClr val="D9E1EC"/>
            </a:solidFill>
            <a:prstDash val="solid"/>
          </a:ln>
        </p:spPr>
      </p:sp>
      <p:sp>
        <p:nvSpPr>
          <p:cNvPr id="13" name="Step number"/>
          <p:cNvSpPr/>
          <p:nvPr/>
        </p:nvSpPr>
        <p:spPr>
          <a:xfrm>
            <a:off x="2916936" y="1755648"/>
            <a:ext cx="384048" cy="384048"/>
          </a:xfrm>
          <a:prstGeom prst="ellipse">
            <a:avLst/>
          </a:prstGeom>
          <a:solidFill>
            <a:srgbClr val="2A78D6"/>
          </a:solidFill>
          <a:ln w="12700">
            <a:solidFill>
              <a:srgbClr val="FFFFFF"/>
            </a:solidFill>
            <a:prstDash val="solid"/>
          </a:ln>
        </p:spPr>
      </p:sp>
      <p:sp>
        <p:nvSpPr>
          <p:cNvPr id="14" name="Text 11"/>
          <p:cNvSpPr txBox="1"/>
          <p:nvPr/>
        </p:nvSpPr>
        <p:spPr>
          <a:xfrm>
            <a:off x="2916936" y="1755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5" name="Text 12"/>
          <p:cNvSpPr txBox="1"/>
          <p:nvPr/>
        </p:nvSpPr>
        <p:spPr>
          <a:xfrm>
            <a:off x="3374136" y="1755648"/>
            <a:ext cx="1463040" cy="384048"/>
          </a:xfrm>
          <a:prstGeom prst="rect">
            <a:avLst/>
          </a:prstGeom>
          <a:noFill/>
          <a:ln/>
        </p:spPr>
        <p:txBody>
          <a:bodyPr wrap="square" lIns="0" tIns="0" rIns="0" bIns="0" rtlCol="0" anchor="ctr"/>
          <a:lstStyle/>
          <a:p>
            <a:pPr indent="0" marL="0">
              <a:buNone/>
            </a:pPr>
            <a:r>
              <a:rPr lang="en-US" sz="1400" b="1" dirty="0">
                <a:solidFill>
                  <a:schemeClr val="tx1"/>
                </a:solidFill>
              </a:rPr>
              <a:t>Validate</a:t>
            </a:r>
            <a:endParaRPr lang="en-US" sz="1400" dirty="0"/>
          </a:p>
        </p:txBody>
      </p:sp>
      <p:sp>
        <p:nvSpPr>
          <p:cNvPr id="16" name="Text 13"/>
          <p:cNvSpPr txBox="1"/>
          <p:nvPr/>
        </p:nvSpPr>
        <p:spPr>
          <a:xfrm>
            <a:off x="2916936" y="2240280"/>
            <a:ext cx="1828800" cy="777240"/>
          </a:xfrm>
          <a:prstGeom prst="rect">
            <a:avLst/>
          </a:prstGeom>
          <a:noFill/>
          <a:ln/>
        </p:spPr>
        <p:txBody>
          <a:bodyPr wrap="square" lIns="0" tIns="0" rIns="0" bIns="0" rtlCol="0" anchor="t"/>
          <a:lstStyle/>
          <a:p>
            <a:pPr indent="0" marL="0">
              <a:buNone/>
            </a:pPr>
            <a:r>
              <a:rPr lang="en-US" sz="1200" dirty="0">
                <a:solidFill>
                  <a:srgbClr val="1B2A41"/>
                </a:solidFill>
              </a:rPr>
              <a:t>typed exceptions, bad rows to quarantine</a:t>
            </a:r>
            <a:endParaRPr lang="en-US" sz="1200" dirty="0"/>
          </a:p>
        </p:txBody>
      </p:sp>
      <p:sp>
        <p:nvSpPr>
          <p:cNvPr id="17" name="Text 14"/>
          <p:cNvSpPr txBox="1"/>
          <p:nvPr/>
        </p:nvSpPr>
        <p:spPr>
          <a:xfrm>
            <a:off x="2916936" y="3017520"/>
            <a:ext cx="1828800" cy="502920"/>
          </a:xfrm>
          <a:prstGeom prst="rect">
            <a:avLst/>
          </a:prstGeom>
          <a:noFill/>
          <a:ln/>
        </p:spPr>
        <p:txBody>
          <a:bodyPr wrap="square" lIns="0" tIns="0" rIns="0" bIns="0" rtlCol="0" anchor="t"/>
          <a:lstStyle/>
          <a:p>
            <a:pPr indent="0" marL="0">
              <a:buNone/>
            </a:pPr>
            <a:r>
              <a:rPr lang="en-US" sz="1200" i="1" dirty="0">
                <a:solidFill>
                  <a:srgbClr val="5B6B80"/>
                </a:solidFill>
              </a:rPr>
              <a:t>Why: fatal errors stop the load</a:t>
            </a:r>
            <a:endParaRPr lang="en-US" sz="1200" dirty="0"/>
          </a:p>
        </p:txBody>
      </p:sp>
      <p:sp>
        <p:nvSpPr>
          <p:cNvPr id="18" name="Flow arrow"/>
          <p:cNvSpPr/>
          <p:nvPr/>
        </p:nvSpPr>
        <p:spPr>
          <a:xfrm>
            <a:off x="4882896" y="2606040"/>
            <a:ext cx="128016" cy="0"/>
          </a:xfrm>
          <a:prstGeom prst="line">
            <a:avLst/>
          </a:prstGeom>
          <a:noFill/>
          <a:ln w="19050">
            <a:solidFill>
              <a:srgbClr val="8A8F98"/>
            </a:solidFill>
            <a:prstDash val="solid"/>
            <a:tailEnd type="triangle"/>
          </a:ln>
        </p:spPr>
      </p:sp>
      <p:sp>
        <p:nvSpPr>
          <p:cNvPr id="19" name="Pipeline step"/>
          <p:cNvSpPr/>
          <p:nvPr/>
        </p:nvSpPr>
        <p:spPr>
          <a:xfrm>
            <a:off x="5010912" y="1645920"/>
            <a:ext cx="2103120" cy="1965960"/>
          </a:xfrm>
          <a:prstGeom prst="roundRect">
            <a:avLst>
              <a:gd name="adj" fmla="val 3721"/>
            </a:avLst>
          </a:prstGeom>
          <a:solidFill>
            <a:srgbClr val="F2F6FB"/>
          </a:solidFill>
          <a:ln w="12700">
            <a:solidFill>
              <a:srgbClr val="D9E1EC"/>
            </a:solidFill>
            <a:prstDash val="solid"/>
          </a:ln>
        </p:spPr>
      </p:sp>
      <p:sp>
        <p:nvSpPr>
          <p:cNvPr id="20" name="Step number"/>
          <p:cNvSpPr/>
          <p:nvPr/>
        </p:nvSpPr>
        <p:spPr>
          <a:xfrm>
            <a:off x="5148072" y="1755648"/>
            <a:ext cx="384048" cy="384048"/>
          </a:xfrm>
          <a:prstGeom prst="ellipse">
            <a:avLst/>
          </a:prstGeom>
          <a:solidFill>
            <a:srgbClr val="2A78D6"/>
          </a:solidFill>
          <a:ln w="12700">
            <a:solidFill>
              <a:srgbClr val="FFFFFF"/>
            </a:solidFill>
            <a:prstDash val="solid"/>
          </a:ln>
        </p:spPr>
      </p:sp>
      <p:sp>
        <p:nvSpPr>
          <p:cNvPr id="21" name="Text 18"/>
          <p:cNvSpPr txBox="1"/>
          <p:nvPr/>
        </p:nvSpPr>
        <p:spPr>
          <a:xfrm>
            <a:off x="5148072" y="1755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2" name="Text 19"/>
          <p:cNvSpPr txBox="1"/>
          <p:nvPr/>
        </p:nvSpPr>
        <p:spPr>
          <a:xfrm>
            <a:off x="5605272" y="1755648"/>
            <a:ext cx="1463040" cy="384048"/>
          </a:xfrm>
          <a:prstGeom prst="rect">
            <a:avLst/>
          </a:prstGeom>
          <a:noFill/>
          <a:ln/>
        </p:spPr>
        <p:txBody>
          <a:bodyPr wrap="square" lIns="0" tIns="0" rIns="0" bIns="0" rtlCol="0" anchor="ctr"/>
          <a:lstStyle/>
          <a:p>
            <a:pPr indent="0" marL="0">
              <a:buNone/>
            </a:pPr>
            <a:r>
              <a:rPr lang="en-US" sz="1400" b="1" dirty="0">
                <a:solidFill>
                  <a:schemeClr val="tx1"/>
                </a:solidFill>
              </a:rPr>
              <a:t>Clean</a:t>
            </a:r>
            <a:endParaRPr lang="en-US" sz="1400" dirty="0"/>
          </a:p>
        </p:txBody>
      </p:sp>
      <p:sp>
        <p:nvSpPr>
          <p:cNvPr id="23" name="Text 20"/>
          <p:cNvSpPr txBox="1"/>
          <p:nvPr/>
        </p:nvSpPr>
        <p:spPr>
          <a:xfrm>
            <a:off x="5148072" y="2240280"/>
            <a:ext cx="1828800" cy="777240"/>
          </a:xfrm>
          <a:prstGeom prst="rect">
            <a:avLst/>
          </a:prstGeom>
          <a:noFill/>
          <a:ln/>
        </p:spPr>
        <p:txBody>
          <a:bodyPr wrap="square" lIns="0" tIns="0" rIns="0" bIns="0" rtlCol="0" anchor="t"/>
          <a:lstStyle/>
          <a:p>
            <a:pPr indent="0" marL="0">
              <a:buNone/>
            </a:pPr>
            <a:r>
              <a:rPr lang="en-US" sz="1200" dirty="0">
                <a:solidFill>
                  <a:srgbClr val="1B2A41"/>
                </a:solidFill>
              </a:rPr>
              <a:t>39 exact duplicates dropped, infinite growth values nulled</a:t>
            </a:r>
            <a:endParaRPr lang="en-US" sz="1200" dirty="0"/>
          </a:p>
        </p:txBody>
      </p:sp>
      <p:sp>
        <p:nvSpPr>
          <p:cNvPr id="24" name="Text 21"/>
          <p:cNvSpPr txBox="1"/>
          <p:nvPr/>
        </p:nvSpPr>
        <p:spPr>
          <a:xfrm>
            <a:off x="5148072" y="3017520"/>
            <a:ext cx="1828800" cy="502920"/>
          </a:xfrm>
          <a:prstGeom prst="rect">
            <a:avLst/>
          </a:prstGeom>
          <a:noFill/>
          <a:ln/>
        </p:spPr>
        <p:txBody>
          <a:bodyPr wrap="square" lIns="0" tIns="0" rIns="0" bIns="0" rtlCol="0" anchor="t"/>
          <a:lstStyle/>
          <a:p>
            <a:pPr indent="0" marL="0">
              <a:buNone/>
            </a:pPr>
            <a:r>
              <a:rPr lang="en-US" sz="1200" i="1" dirty="0">
                <a:solidFill>
                  <a:srgbClr val="5B6B80"/>
                </a:solidFill>
              </a:rPr>
              <a:t>Why: repeats would double count</a:t>
            </a:r>
            <a:endParaRPr lang="en-US" sz="1200" dirty="0"/>
          </a:p>
        </p:txBody>
      </p:sp>
      <p:sp>
        <p:nvSpPr>
          <p:cNvPr id="25" name="Flow arrow"/>
          <p:cNvSpPr/>
          <p:nvPr/>
        </p:nvSpPr>
        <p:spPr>
          <a:xfrm>
            <a:off x="7114032" y="2606040"/>
            <a:ext cx="128016" cy="0"/>
          </a:xfrm>
          <a:prstGeom prst="line">
            <a:avLst/>
          </a:prstGeom>
          <a:noFill/>
          <a:ln w="19050">
            <a:solidFill>
              <a:srgbClr val="8A8F98"/>
            </a:solidFill>
            <a:prstDash val="solid"/>
            <a:tailEnd type="triangle"/>
          </a:ln>
        </p:spPr>
      </p:sp>
      <p:sp>
        <p:nvSpPr>
          <p:cNvPr id="26" name="Pipeline step"/>
          <p:cNvSpPr/>
          <p:nvPr/>
        </p:nvSpPr>
        <p:spPr>
          <a:xfrm>
            <a:off x="7242048" y="1645920"/>
            <a:ext cx="2103120" cy="1965960"/>
          </a:xfrm>
          <a:prstGeom prst="roundRect">
            <a:avLst>
              <a:gd name="adj" fmla="val 3721"/>
            </a:avLst>
          </a:prstGeom>
          <a:solidFill>
            <a:srgbClr val="F2F6FB"/>
          </a:solidFill>
          <a:ln w="12700">
            <a:solidFill>
              <a:srgbClr val="D9E1EC"/>
            </a:solidFill>
            <a:prstDash val="solid"/>
          </a:ln>
        </p:spPr>
      </p:sp>
      <p:sp>
        <p:nvSpPr>
          <p:cNvPr id="27" name="Step number"/>
          <p:cNvSpPr/>
          <p:nvPr/>
        </p:nvSpPr>
        <p:spPr>
          <a:xfrm>
            <a:off x="7379208" y="1755648"/>
            <a:ext cx="384048" cy="384048"/>
          </a:xfrm>
          <a:prstGeom prst="ellipse">
            <a:avLst/>
          </a:prstGeom>
          <a:solidFill>
            <a:srgbClr val="2A78D6"/>
          </a:solidFill>
          <a:ln w="12700">
            <a:solidFill>
              <a:srgbClr val="FFFFFF"/>
            </a:solidFill>
            <a:prstDash val="solid"/>
          </a:ln>
        </p:spPr>
      </p:sp>
      <p:sp>
        <p:nvSpPr>
          <p:cNvPr id="28" name="Text 25"/>
          <p:cNvSpPr txBox="1"/>
          <p:nvPr/>
        </p:nvSpPr>
        <p:spPr>
          <a:xfrm>
            <a:off x="7379208" y="1755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9" name="Text 26"/>
          <p:cNvSpPr txBox="1"/>
          <p:nvPr/>
        </p:nvSpPr>
        <p:spPr>
          <a:xfrm>
            <a:off x="7836408" y="1755648"/>
            <a:ext cx="1463040" cy="384048"/>
          </a:xfrm>
          <a:prstGeom prst="rect">
            <a:avLst/>
          </a:prstGeom>
          <a:noFill/>
          <a:ln/>
        </p:spPr>
        <p:txBody>
          <a:bodyPr wrap="square" lIns="0" tIns="0" rIns="0" bIns="0" rtlCol="0" anchor="ctr"/>
          <a:lstStyle/>
          <a:p>
            <a:pPr indent="0" marL="0">
              <a:buNone/>
            </a:pPr>
            <a:r>
              <a:rPr lang="en-US" sz="1400" b="1" dirty="0">
                <a:solidFill>
                  <a:schemeClr val="tx1"/>
                </a:solidFill>
              </a:rPr>
              <a:t>Recover and flag</a:t>
            </a:r>
            <a:endParaRPr lang="en-US" sz="1400" dirty="0"/>
          </a:p>
        </p:txBody>
      </p:sp>
      <p:sp>
        <p:nvSpPr>
          <p:cNvPr id="30" name="Text 27"/>
          <p:cNvSpPr txBox="1"/>
          <p:nvPr/>
        </p:nvSpPr>
        <p:spPr>
          <a:xfrm>
            <a:off x="7379208" y="2240280"/>
            <a:ext cx="1828800" cy="777240"/>
          </a:xfrm>
          <a:prstGeom prst="rect">
            <a:avLst/>
          </a:prstGeom>
          <a:noFill/>
          <a:ln/>
        </p:spPr>
        <p:txBody>
          <a:bodyPr wrap="square" lIns="0" tIns="0" rIns="0" bIns="0" rtlCol="0" anchor="t"/>
          <a:lstStyle/>
          <a:p>
            <a:pPr indent="0" marL="0">
              <a:buNone/>
            </a:pPr>
            <a:r>
              <a:rPr lang="en-US" sz="1200" dirty="0">
                <a:solidFill>
                  <a:srgbClr val="1B2A41"/>
                </a:solidFill>
              </a:rPr>
              <a:t>16 missing sales = revenue / price; odd rows flagged</a:t>
            </a:r>
            <a:endParaRPr lang="en-US" sz="1200" dirty="0"/>
          </a:p>
        </p:txBody>
      </p:sp>
      <p:sp>
        <p:nvSpPr>
          <p:cNvPr id="31" name="Text 28"/>
          <p:cNvSpPr txBox="1"/>
          <p:nvPr/>
        </p:nvSpPr>
        <p:spPr>
          <a:xfrm>
            <a:off x="7379208" y="3017520"/>
            <a:ext cx="1828800" cy="502920"/>
          </a:xfrm>
          <a:prstGeom prst="rect">
            <a:avLst/>
          </a:prstGeom>
          <a:noFill/>
          <a:ln/>
        </p:spPr>
        <p:txBody>
          <a:bodyPr wrap="square" lIns="0" tIns="0" rIns="0" bIns="0" rtlCol="0" anchor="t"/>
          <a:lstStyle/>
          <a:p>
            <a:pPr indent="0" marL="0">
              <a:buNone/>
            </a:pPr>
            <a:r>
              <a:rPr lang="en-US" sz="1200" i="1" dirty="0">
                <a:solidFill>
                  <a:srgbClr val="5B6B80"/>
                </a:solidFill>
              </a:rPr>
              <a:t>Why: information is kept, not erased</a:t>
            </a:r>
            <a:endParaRPr lang="en-US" sz="1200" dirty="0"/>
          </a:p>
        </p:txBody>
      </p:sp>
      <p:sp>
        <p:nvSpPr>
          <p:cNvPr id="32" name="Flow arrow"/>
          <p:cNvSpPr/>
          <p:nvPr/>
        </p:nvSpPr>
        <p:spPr>
          <a:xfrm>
            <a:off x="9345168" y="2606040"/>
            <a:ext cx="128016" cy="0"/>
          </a:xfrm>
          <a:prstGeom prst="line">
            <a:avLst/>
          </a:prstGeom>
          <a:noFill/>
          <a:ln w="19050">
            <a:solidFill>
              <a:srgbClr val="8A8F98"/>
            </a:solidFill>
            <a:prstDash val="solid"/>
            <a:tailEnd type="triangle"/>
          </a:ln>
        </p:spPr>
      </p:sp>
      <p:sp>
        <p:nvSpPr>
          <p:cNvPr id="33" name="Pipeline step"/>
          <p:cNvSpPr/>
          <p:nvPr/>
        </p:nvSpPr>
        <p:spPr>
          <a:xfrm>
            <a:off x="9473184" y="1645920"/>
            <a:ext cx="2103120" cy="1965960"/>
          </a:xfrm>
          <a:prstGeom prst="roundRect">
            <a:avLst>
              <a:gd name="adj" fmla="val 3721"/>
            </a:avLst>
          </a:prstGeom>
          <a:solidFill>
            <a:srgbClr val="F2F6FB"/>
          </a:solidFill>
          <a:ln w="12700">
            <a:solidFill>
              <a:srgbClr val="D9E1EC"/>
            </a:solidFill>
            <a:prstDash val="solid"/>
          </a:ln>
        </p:spPr>
      </p:sp>
      <p:sp>
        <p:nvSpPr>
          <p:cNvPr id="34" name="Step number"/>
          <p:cNvSpPr/>
          <p:nvPr/>
        </p:nvSpPr>
        <p:spPr>
          <a:xfrm>
            <a:off x="9610344" y="1755648"/>
            <a:ext cx="384048" cy="384048"/>
          </a:xfrm>
          <a:prstGeom prst="ellipse">
            <a:avLst/>
          </a:prstGeom>
          <a:solidFill>
            <a:srgbClr val="2A78D6"/>
          </a:solidFill>
          <a:ln w="12700">
            <a:solidFill>
              <a:srgbClr val="FFFFFF"/>
            </a:solidFill>
            <a:prstDash val="solid"/>
          </a:ln>
        </p:spPr>
      </p:sp>
      <p:sp>
        <p:nvSpPr>
          <p:cNvPr id="35" name="Text 32"/>
          <p:cNvSpPr txBox="1"/>
          <p:nvPr/>
        </p:nvSpPr>
        <p:spPr>
          <a:xfrm>
            <a:off x="9610344" y="1755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36" name="Text 33"/>
          <p:cNvSpPr txBox="1"/>
          <p:nvPr/>
        </p:nvSpPr>
        <p:spPr>
          <a:xfrm>
            <a:off x="10067544" y="1755648"/>
            <a:ext cx="1463040" cy="384048"/>
          </a:xfrm>
          <a:prstGeom prst="rect">
            <a:avLst/>
          </a:prstGeom>
          <a:noFill/>
          <a:ln/>
        </p:spPr>
        <p:txBody>
          <a:bodyPr wrap="square" lIns="0" tIns="0" rIns="0" bIns="0" rtlCol="0" anchor="ctr"/>
          <a:lstStyle/>
          <a:p>
            <a:pPr indent="0" marL="0">
              <a:buNone/>
            </a:pPr>
            <a:r>
              <a:rPr lang="en-US" sz="1400" b="1" dirty="0">
                <a:solidFill>
                  <a:schemeClr val="tx1"/>
                </a:solidFill>
              </a:rPr>
              <a:t>Load</a:t>
            </a:r>
            <a:endParaRPr lang="en-US" sz="1400" dirty="0"/>
          </a:p>
        </p:txBody>
      </p:sp>
      <p:sp>
        <p:nvSpPr>
          <p:cNvPr id="37" name="Text 34"/>
          <p:cNvSpPr txBox="1"/>
          <p:nvPr/>
        </p:nvSpPr>
        <p:spPr>
          <a:xfrm>
            <a:off x="9610344" y="2240280"/>
            <a:ext cx="1828800" cy="777240"/>
          </a:xfrm>
          <a:prstGeom prst="rect">
            <a:avLst/>
          </a:prstGeom>
          <a:noFill/>
          <a:ln/>
        </p:spPr>
        <p:txBody>
          <a:bodyPr wrap="square" lIns="0" tIns="0" rIns="0" bIns="0" rtlCol="0" anchor="t"/>
          <a:lstStyle/>
          <a:p>
            <a:pPr indent="0" marL="0">
              <a:buNone/>
            </a:pPr>
            <a:r>
              <a:rPr lang="en-US" sz="1200" dirty="0">
                <a:solidFill>
                  <a:srgbClr val="1B2A41"/>
                </a:solidFill>
              </a:rPr>
              <a:t>star schema in one transaction, run log</a:t>
            </a:r>
            <a:endParaRPr lang="en-US" sz="1200" dirty="0"/>
          </a:p>
        </p:txBody>
      </p:sp>
      <p:sp>
        <p:nvSpPr>
          <p:cNvPr id="38" name="Text 35"/>
          <p:cNvSpPr txBox="1"/>
          <p:nvPr/>
        </p:nvSpPr>
        <p:spPr>
          <a:xfrm>
            <a:off x="9610344" y="3017520"/>
            <a:ext cx="1828800" cy="502920"/>
          </a:xfrm>
          <a:prstGeom prst="rect">
            <a:avLst/>
          </a:prstGeom>
          <a:noFill/>
          <a:ln/>
        </p:spPr>
        <p:txBody>
          <a:bodyPr wrap="square" lIns="0" tIns="0" rIns="0" bIns="0" rtlCol="0" anchor="t"/>
          <a:lstStyle/>
          <a:p>
            <a:pPr indent="0" marL="0">
              <a:buNone/>
            </a:pPr>
            <a:r>
              <a:rPr lang="en-US" sz="1200" i="1" dirty="0">
                <a:solidFill>
                  <a:srgbClr val="5B6B80"/>
                </a:solidFill>
              </a:rPr>
              <a:t>Why: repeatable and auditable</a:t>
            </a:r>
            <a:endParaRPr lang="en-US" sz="1200" dirty="0"/>
          </a:p>
        </p:txBody>
      </p:sp>
      <p:graphicFrame>
        <p:nvGraphicFramePr>
          <p:cNvPr id="39" name="Chart 0" descr=""/>
          <p:cNvGraphicFramePr/>
          <p:nvPr/>
        </p:nvGraphicFramePr>
        <p:xfrm>
          <a:off x="548640" y="3749040"/>
          <a:ext cx="6675120" cy="2606040"/>
        </p:xfrm>
        <a:graphic xmlns:a="http://schemas.openxmlformats.org/drawingml/2006/main">
          <a:graphicData uri="http://schemas.openxmlformats.org/drawingml/2006/chart">
            <c:chart xmlns:c="http://schemas.openxmlformats.org/drawingml/2006/chart" r:id="rId1"/>
          </a:graphicData>
        </a:graphic>
      </p:graphicFrame>
      <p:sp>
        <p:nvSpPr>
          <p:cNvPr id="40" name="Stat card"/>
          <p:cNvSpPr/>
          <p:nvPr/>
        </p:nvSpPr>
        <p:spPr>
          <a:xfrm>
            <a:off x="7498080" y="3840480"/>
            <a:ext cx="1920240" cy="1188720"/>
          </a:xfrm>
          <a:prstGeom prst="roundRect">
            <a:avLst>
              <a:gd name="adj" fmla="val 6154"/>
            </a:avLst>
          </a:prstGeom>
          <a:solidFill>
            <a:srgbClr val="F2F6FB"/>
          </a:solidFill>
          <a:ln w="12700">
            <a:solidFill>
              <a:srgbClr val="F2F6FB"/>
            </a:solidFill>
            <a:prstDash val="solid"/>
          </a:ln>
        </p:spPr>
      </p:sp>
      <p:sp>
        <p:nvSpPr>
          <p:cNvPr id="41" name="Text 37"/>
          <p:cNvSpPr txBox="1"/>
          <p:nvPr/>
        </p:nvSpPr>
        <p:spPr>
          <a:xfrm>
            <a:off x="7635240" y="3913632"/>
            <a:ext cx="1645920" cy="534924"/>
          </a:xfrm>
          <a:prstGeom prst="rect">
            <a:avLst/>
          </a:prstGeom>
          <a:noFill/>
          <a:ln/>
        </p:spPr>
        <p:txBody>
          <a:bodyPr wrap="square" lIns="0" tIns="0" rIns="0" bIns="0" rtlCol="0" anchor="ctr"/>
          <a:lstStyle/>
          <a:p>
            <a:pPr indent="0" marL="0">
              <a:buNone/>
            </a:pPr>
            <a:r>
              <a:rPr lang="en-US" sz="2600" b="1" dirty="0">
                <a:solidFill>
                  <a:srgbClr val="2A78D6"/>
                </a:solidFill>
                <a:latin typeface="Cambria" pitchFamily="34" charset="0"/>
                <a:ea typeface="Cambria" pitchFamily="34" charset="-122"/>
                <a:cs typeface="Cambria" pitchFamily="34" charset="-120"/>
              </a:rPr>
              <a:t>7,800</a:t>
            </a:r>
            <a:endParaRPr lang="en-US" sz="2600" dirty="0"/>
          </a:p>
        </p:txBody>
      </p:sp>
      <p:sp>
        <p:nvSpPr>
          <p:cNvPr id="42" name="Text 38"/>
          <p:cNvSpPr txBox="1"/>
          <p:nvPr/>
        </p:nvSpPr>
        <p:spPr>
          <a:xfrm>
            <a:off x="7635240" y="4458614"/>
            <a:ext cx="1645920" cy="546811"/>
          </a:xfrm>
          <a:prstGeom prst="rect">
            <a:avLst/>
          </a:prstGeom>
          <a:noFill/>
          <a:ln/>
        </p:spPr>
        <p:txBody>
          <a:bodyPr wrap="square" lIns="0" tIns="0" rIns="0" bIns="0" rtlCol="0" anchor="t"/>
          <a:lstStyle/>
          <a:p>
            <a:pPr indent="0" marL="0">
              <a:buNone/>
            </a:pPr>
            <a:r>
              <a:rPr lang="en-US" sz="1300" dirty="0">
                <a:solidFill>
                  <a:srgbClr val="5B6B80"/>
                </a:solidFill>
              </a:rPr>
              <a:t>unique product-weeks from 7,839 raw rows</a:t>
            </a:r>
            <a:endParaRPr lang="en-US" sz="1300" dirty="0"/>
          </a:p>
        </p:txBody>
      </p:sp>
      <p:sp>
        <p:nvSpPr>
          <p:cNvPr id="43" name="Stat card"/>
          <p:cNvSpPr/>
          <p:nvPr/>
        </p:nvSpPr>
        <p:spPr>
          <a:xfrm>
            <a:off x="9555480" y="3840480"/>
            <a:ext cx="2057400" cy="1188720"/>
          </a:xfrm>
          <a:prstGeom prst="roundRect">
            <a:avLst>
              <a:gd name="adj" fmla="val 6154"/>
            </a:avLst>
          </a:prstGeom>
          <a:solidFill>
            <a:srgbClr val="F2F6FB"/>
          </a:solidFill>
          <a:ln w="12700">
            <a:solidFill>
              <a:srgbClr val="F2F6FB"/>
            </a:solidFill>
            <a:prstDash val="solid"/>
          </a:ln>
        </p:spPr>
      </p:sp>
      <p:sp>
        <p:nvSpPr>
          <p:cNvPr id="44" name="Text 40"/>
          <p:cNvSpPr txBox="1"/>
          <p:nvPr/>
        </p:nvSpPr>
        <p:spPr>
          <a:xfrm>
            <a:off x="9692640" y="3913632"/>
            <a:ext cx="1783080" cy="534924"/>
          </a:xfrm>
          <a:prstGeom prst="rect">
            <a:avLst/>
          </a:prstGeom>
          <a:noFill/>
          <a:ln/>
        </p:spPr>
        <p:txBody>
          <a:bodyPr wrap="square" lIns="0" tIns="0" rIns="0" bIns="0" rtlCol="0" anchor="ctr"/>
          <a:lstStyle/>
          <a:p>
            <a:pPr indent="0" marL="0">
              <a:buNone/>
            </a:pPr>
            <a:r>
              <a:rPr lang="en-US" sz="2600" b="1" dirty="0">
                <a:solidFill>
                  <a:srgbClr val="1BAF7A"/>
                </a:solidFill>
                <a:latin typeface="Cambria" pitchFamily="34" charset="0"/>
                <a:ea typeface="Cambria" pitchFamily="34" charset="-122"/>
                <a:cs typeface="Cambria" pitchFamily="34" charset="-120"/>
              </a:rPr>
              <a:t>15 / 15</a:t>
            </a:r>
            <a:endParaRPr lang="en-US" sz="2600" dirty="0"/>
          </a:p>
        </p:txBody>
      </p:sp>
      <p:sp>
        <p:nvSpPr>
          <p:cNvPr id="45" name="Text 41"/>
          <p:cNvSpPr txBox="1"/>
          <p:nvPr/>
        </p:nvSpPr>
        <p:spPr>
          <a:xfrm>
            <a:off x="9692640" y="4458614"/>
            <a:ext cx="1783080" cy="546811"/>
          </a:xfrm>
          <a:prstGeom prst="rect">
            <a:avLst/>
          </a:prstGeom>
          <a:noFill/>
          <a:ln/>
        </p:spPr>
        <p:txBody>
          <a:bodyPr wrap="square" lIns="0" tIns="0" rIns="0" bIns="0" rtlCol="0" anchor="t"/>
          <a:lstStyle/>
          <a:p>
            <a:pPr indent="0" marL="0">
              <a:buNone/>
            </a:pPr>
            <a:r>
              <a:rPr lang="en-US" sz="1300" dirty="0">
                <a:solidFill>
                  <a:srgbClr val="5B6B80"/>
                </a:solidFill>
              </a:rPr>
              <a:t>exception tests passed on a corrupted copy</a:t>
            </a:r>
            <a:endParaRPr lang="en-US" sz="1300" dirty="0"/>
          </a:p>
        </p:txBody>
      </p:sp>
      <p:sp>
        <p:nvSpPr>
          <p:cNvPr id="46" name="Text 42"/>
          <p:cNvSpPr txBox="1"/>
          <p:nvPr/>
        </p:nvSpPr>
        <p:spPr>
          <a:xfrm>
            <a:off x="7498080" y="5212080"/>
            <a:ext cx="4114800" cy="1005840"/>
          </a:xfrm>
          <a:prstGeom prst="rect">
            <a:avLst/>
          </a:prstGeom>
          <a:noFill/>
          <a:ln/>
        </p:spPr>
        <p:txBody>
          <a:bodyPr wrap="square" lIns="0" tIns="0" rIns="0" bIns="0" rtlCol="0" anchor="t"/>
          <a:lstStyle/>
          <a:p>
            <a:pPr indent="0" marL="0">
              <a:buNone/>
            </a:pPr>
            <a:r>
              <a:rPr lang="en-US" sz="1300" i="1" dirty="0">
                <a:solidFill>
                  <a:srgbClr val="5B6B80"/>
                </a:solidFill>
              </a:rPr>
              <a:t>Star schema: product, date and weekly-sales tables plus audit tables, so every later question is a simple query.</a:t>
            </a:r>
            <a:endParaRPr lang="en-US" sz="13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Part tag"/>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PART 1 · DATA CHALLENGES</a:t>
            </a:r>
            <a:endParaRPr lang="en-US" sz="1200" dirty="0"/>
          </a:p>
        </p:txBody>
      </p:sp>
      <p:sp>
        <p:nvSpPr>
          <p:cNvPr id="3" name="Text 0"/>
          <p:cNvSpPr/>
          <p:nvPr>
            <p:ph idx="100"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Nine data problems, each treated with a reason</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468880"/>
                <a:gridCol w="2834640"/>
                <a:gridCol w="3383280"/>
                <a:gridCol w="2377440"/>
              </a:tblGrid>
              <a:tr h="329184">
                <a:tc>
                  <a:txBody>
                    <a:bodyPr/>
                    <a:lstStyle/>
                    <a:p>
                      <a:pPr indent="0" marL="0">
                        <a:buNone/>
                      </a:pPr>
                      <a:r>
                        <a:rPr lang="en-US" sz="1150" b="1" dirty="0">
                          <a:solidFill>
                            <a:srgbClr val="FFFFFF"/>
                          </a:solidFill>
                        </a:rPr>
                        <a:t>Challenge</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12263F"/>
                    </a:solidFill>
                  </a:tcPr>
                </a:tc>
                <a:tc>
                  <a:txBody>
                    <a:bodyPr/>
                    <a:lstStyle/>
                    <a:p>
                      <a:pPr indent="0" marL="0">
                        <a:buNone/>
                      </a:pPr>
                      <a:r>
                        <a:rPr lang="en-US" sz="1150" b="1" dirty="0">
                          <a:solidFill>
                            <a:srgbClr val="FFFFFF"/>
                          </a:solidFill>
                        </a:rPr>
                        <a:t>Evidence</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12263F"/>
                    </a:solidFill>
                  </a:tcPr>
                </a:tc>
                <a:tc>
                  <a:txBody>
                    <a:bodyPr/>
                    <a:lstStyle/>
                    <a:p>
                      <a:pPr indent="0" marL="0">
                        <a:buNone/>
                      </a:pPr>
                      <a:r>
                        <a:rPr lang="en-US" sz="1150" b="1" dirty="0">
                          <a:solidFill>
                            <a:srgbClr val="FFFFFF"/>
                          </a:solidFill>
                        </a:rPr>
                        <a:t>Treatment</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12263F"/>
                    </a:solidFill>
                  </a:tcPr>
                </a:tc>
                <a:tc>
                  <a:txBody>
                    <a:bodyPr/>
                    <a:lstStyle/>
                    <a:p>
                      <a:pPr indent="0" marL="0">
                        <a:buNone/>
                      </a:pPr>
                      <a:r>
                        <a:rPr lang="en-US" sz="1150" b="1" dirty="0">
                          <a:solidFill>
                            <a:srgbClr val="FFFFFF"/>
                          </a:solidFill>
                        </a:rPr>
                        <a:t>Reason</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12263F"/>
                    </a:solidFill>
                  </a:tcPr>
                </a:tc>
              </a:tr>
              <a:tr h="457200">
                <a:tc>
                  <a:txBody>
                    <a:bodyPr/>
                    <a:lstStyle/>
                    <a:p>
                      <a:pPr indent="0" marL="0">
                        <a:buNone/>
                      </a:pPr>
                      <a:r>
                        <a:rPr lang="en-US" sz="1150" b="1" dirty="0">
                          <a:solidFill>
                            <a:srgbClr val="1B2A41"/>
                          </a:solidFill>
                        </a:rPr>
                        <a:t>1  Exact duplicate rows</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39 rows (0.5%)</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Dropped, first kept; conflicting keys would be quarantined (none)</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A repeated week double counts sales</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B2A41"/>
                          </a:solidFill>
                        </a:rPr>
                        <a:t>2  Missing Sales_Units</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16 rows</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Recovered as revenue / price, flagged</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Revenue and price were intact</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B2A41"/>
                          </a:solidFill>
                        </a:rPr>
                        <a:t>3  Missing legacy forecast</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606 rows (7.8%)</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Kept empty and flagged, not imputed</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Imputing would invent a baseline</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B2A41"/>
                          </a:solidFill>
                        </a:rPr>
                        <a:t>4  Infinite revenue growth</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897 rows</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Set to NULL, growth recomputed</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Growth from zero revenue is undefined</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B2A41"/>
                          </a:solidFill>
                        </a:rPr>
                        <a:t>5  Inconsistent derived fields</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consistency score 36.6%</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Revenue, profit, margin, growth, turnover recomputed</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KPIs must reproduce 100%</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B2A41"/>
                          </a:solidFill>
                        </a:rPr>
                        <a:t>6  Inventory in the wrong week</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907 rows: zero stock, positive sales</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Stock available = previous row's inventory (lag 1)</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After the shift: 0 sales above stock</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r h="530352">
                <a:tc>
                  <a:txBody>
                    <a:bodyPr/>
                    <a:lstStyle/>
                    <a:p>
                      <a:pPr indent="0" marL="0">
                        <a:buNone/>
                      </a:pPr>
                      <a:r>
                        <a:rPr lang="en-US" sz="1150" b="1" dirty="0">
                          <a:solidFill>
                            <a:srgbClr val="1B2A41"/>
                          </a:solidFill>
                        </a:rPr>
                        <a:t>7  Pile-ups and zero weeks</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27% of sales, 53% of inventory at 1,500 / 2,500; 1,329 zero weeks</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Flagged, never deleted</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They are stock caps and carry information</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B2A41"/>
                          </a:solidFill>
                        </a:rPr>
                        <a:t>8  Outliers</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23 sales values (robust z &gt; 4)</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Flagged; winsorised copy added, original untouched</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Extremes may be real peaks</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B2A41"/>
                          </a:solidFill>
                        </a:rPr>
                        <a:t>9  No dates, customers, competitors</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week numbers only</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Synthetic calendar; labelled scenario inputs</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150" dirty="0">
                          <a:solidFill>
                            <a:srgbClr val="1B2A41"/>
                          </a:solidFill>
                        </a:rPr>
                        <a:t>Nothing is invented silently</a:t>
                      </a:r>
                      <a:endParaRPr lang="en-US" sz="115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Part tag"/>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PART 1 · KEY DISCOVERY</a:t>
            </a:r>
            <a:endParaRPr lang="en-US" sz="1200" dirty="0"/>
          </a:p>
        </p:txBody>
      </p:sp>
      <p:sp>
        <p:nvSpPr>
          <p:cNvPr id="3" name="Text 0"/>
          <p:cNvSpPr/>
          <p:nvPr>
            <p:ph idx="100"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Stock caps sales, so sales understate demand</a:t>
            </a:r>
            <a:endParaRPr lang="en-US" sz="3000" dirty="0"/>
          </a:p>
        </p:txBody>
      </p:sp>
      <p:pic>
        <p:nvPicPr>
          <p:cNvPr id="5" name="Inventory timing figure" descr="/home/user/Technical_Assessment_HamidrezaNademi/part1_etl_pipeline_v1.2/figures/inventory_timing_v1.2.png">    </p:cNvPr>
          <p:cNvPicPr>
            <a:picLocks noChangeAspect="1"/>
          </p:cNvPicPr>
          <p:nvPr/>
        </p:nvPicPr>
        <p:blipFill>
          <a:blip r:embed="rId1"/>
          <a:stretch>
            <a:fillRect/>
          </a:stretch>
        </p:blipFill>
        <p:spPr>
          <a:xfrm>
            <a:off x="548640" y="1691640"/>
            <a:ext cx="5760720" cy="2880360"/>
          </a:xfrm>
          <a:prstGeom prst="rect">
            <a:avLst/>
          </a:prstGeom>
        </p:spPr>
      </p:pic>
      <p:sp>
        <p:nvSpPr>
          <p:cNvPr id="6" name="Stat card"/>
          <p:cNvSpPr/>
          <p:nvPr/>
        </p:nvSpPr>
        <p:spPr>
          <a:xfrm>
            <a:off x="6583680" y="1691640"/>
            <a:ext cx="1600200" cy="1463040"/>
          </a:xfrm>
          <a:prstGeom prst="roundRect">
            <a:avLst>
              <a:gd name="adj" fmla="val 5000"/>
            </a:avLst>
          </a:prstGeom>
          <a:solidFill>
            <a:srgbClr val="F2F6FB"/>
          </a:solidFill>
          <a:ln w="12700">
            <a:solidFill>
              <a:srgbClr val="F2F6FB"/>
            </a:solidFill>
            <a:prstDash val="solid"/>
          </a:ln>
        </p:spPr>
      </p:sp>
      <p:sp>
        <p:nvSpPr>
          <p:cNvPr id="7" name="Text 3"/>
          <p:cNvSpPr txBox="1"/>
          <p:nvPr/>
        </p:nvSpPr>
        <p:spPr>
          <a:xfrm>
            <a:off x="6720840" y="1764792"/>
            <a:ext cx="1325880" cy="658368"/>
          </a:xfrm>
          <a:prstGeom prst="rect">
            <a:avLst/>
          </a:prstGeom>
          <a:noFill/>
          <a:ln/>
        </p:spPr>
        <p:txBody>
          <a:bodyPr wrap="square" lIns="0" tIns="0" rIns="0" bIns="0" rtlCol="0" anchor="ctr"/>
          <a:lstStyle/>
          <a:p>
            <a:pPr indent="0" marL="0">
              <a:buNone/>
            </a:pPr>
            <a:r>
              <a:rPr lang="en-US" sz="2800" b="1" dirty="0">
                <a:solidFill>
                  <a:srgbClr val="2A78D6"/>
                </a:solidFill>
                <a:latin typeface="Cambria" pitchFamily="34" charset="0"/>
                <a:ea typeface="Cambria" pitchFamily="34" charset="-122"/>
                <a:cs typeface="Cambria" pitchFamily="34" charset="-120"/>
              </a:rPr>
              <a:t>0.85</a:t>
            </a:r>
            <a:endParaRPr lang="en-US" sz="2800" dirty="0"/>
          </a:p>
        </p:txBody>
      </p:sp>
      <p:sp>
        <p:nvSpPr>
          <p:cNvPr id="8" name="Text 4"/>
          <p:cNvSpPr txBox="1"/>
          <p:nvPr/>
        </p:nvSpPr>
        <p:spPr>
          <a:xfrm>
            <a:off x="6720840" y="2452421"/>
            <a:ext cx="1325880" cy="672998"/>
          </a:xfrm>
          <a:prstGeom prst="rect">
            <a:avLst/>
          </a:prstGeom>
          <a:noFill/>
          <a:ln/>
        </p:spPr>
        <p:txBody>
          <a:bodyPr wrap="square" lIns="0" tIns="0" rIns="0" bIns="0" rtlCol="0" anchor="t"/>
          <a:lstStyle/>
          <a:p>
            <a:pPr indent="0" marL="0">
              <a:buNone/>
            </a:pPr>
            <a:r>
              <a:rPr lang="en-US" sz="1300" dirty="0">
                <a:solidFill>
                  <a:srgbClr val="5B6B80"/>
                </a:solidFill>
              </a:rPr>
              <a:t>sales vs last week's stock (correlation)</a:t>
            </a:r>
            <a:endParaRPr lang="en-US" sz="1300" dirty="0"/>
          </a:p>
        </p:txBody>
      </p:sp>
      <p:sp>
        <p:nvSpPr>
          <p:cNvPr id="9" name="Stat card"/>
          <p:cNvSpPr/>
          <p:nvPr/>
        </p:nvSpPr>
        <p:spPr>
          <a:xfrm>
            <a:off x="8275320" y="1691640"/>
            <a:ext cx="1600200" cy="1463040"/>
          </a:xfrm>
          <a:prstGeom prst="roundRect">
            <a:avLst>
              <a:gd name="adj" fmla="val 5000"/>
            </a:avLst>
          </a:prstGeom>
          <a:solidFill>
            <a:srgbClr val="F2F6FB"/>
          </a:solidFill>
          <a:ln w="12700">
            <a:solidFill>
              <a:srgbClr val="F2F6FB"/>
            </a:solidFill>
            <a:prstDash val="solid"/>
          </a:ln>
        </p:spPr>
      </p:sp>
      <p:sp>
        <p:nvSpPr>
          <p:cNvPr id="10" name="Text 6"/>
          <p:cNvSpPr txBox="1"/>
          <p:nvPr/>
        </p:nvSpPr>
        <p:spPr>
          <a:xfrm>
            <a:off x="8412480" y="1764792"/>
            <a:ext cx="1325880" cy="658368"/>
          </a:xfrm>
          <a:prstGeom prst="rect">
            <a:avLst/>
          </a:prstGeom>
          <a:noFill/>
          <a:ln/>
        </p:spPr>
        <p:txBody>
          <a:bodyPr wrap="square" lIns="0" tIns="0" rIns="0" bIns="0" rtlCol="0" anchor="ctr"/>
          <a:lstStyle/>
          <a:p>
            <a:pPr indent="0" marL="0">
              <a:buNone/>
            </a:pPr>
            <a:r>
              <a:rPr lang="en-US" sz="2800" b="1" dirty="0">
                <a:solidFill>
                  <a:srgbClr val="EB6834"/>
                </a:solidFill>
                <a:latin typeface="Cambria" pitchFamily="34" charset="0"/>
                <a:ea typeface="Cambria" pitchFamily="34" charset="-122"/>
                <a:cs typeface="Cambria" pitchFamily="34" charset="-120"/>
              </a:rPr>
              <a:t>1,329</a:t>
            </a:r>
            <a:endParaRPr lang="en-US" sz="2800" dirty="0"/>
          </a:p>
        </p:txBody>
      </p:sp>
      <p:sp>
        <p:nvSpPr>
          <p:cNvPr id="11" name="Text 7"/>
          <p:cNvSpPr txBox="1"/>
          <p:nvPr/>
        </p:nvSpPr>
        <p:spPr>
          <a:xfrm>
            <a:off x="8412480" y="2452421"/>
            <a:ext cx="1325880" cy="672998"/>
          </a:xfrm>
          <a:prstGeom prst="rect">
            <a:avLst/>
          </a:prstGeom>
          <a:noFill/>
          <a:ln/>
        </p:spPr>
        <p:txBody>
          <a:bodyPr wrap="square" lIns="0" tIns="0" rIns="0" bIns="0" rtlCol="0" anchor="t"/>
          <a:lstStyle/>
          <a:p>
            <a:pPr indent="0" marL="0">
              <a:buNone/>
            </a:pPr>
            <a:r>
              <a:rPr lang="en-US" sz="1300" dirty="0">
                <a:solidFill>
                  <a:srgbClr val="5B6B80"/>
                </a:solidFill>
              </a:rPr>
              <a:t>stock-out weeks, all zero sales</a:t>
            </a:r>
            <a:endParaRPr lang="en-US" sz="1300" dirty="0"/>
          </a:p>
        </p:txBody>
      </p:sp>
      <p:sp>
        <p:nvSpPr>
          <p:cNvPr id="12" name="Stat card"/>
          <p:cNvSpPr/>
          <p:nvPr/>
        </p:nvSpPr>
        <p:spPr>
          <a:xfrm>
            <a:off x="9966960" y="1691640"/>
            <a:ext cx="1645920" cy="1463040"/>
          </a:xfrm>
          <a:prstGeom prst="roundRect">
            <a:avLst>
              <a:gd name="adj" fmla="val 5000"/>
            </a:avLst>
          </a:prstGeom>
          <a:solidFill>
            <a:srgbClr val="F2F6FB"/>
          </a:solidFill>
          <a:ln w="12700">
            <a:solidFill>
              <a:srgbClr val="F2F6FB"/>
            </a:solidFill>
            <a:prstDash val="solid"/>
          </a:ln>
        </p:spPr>
      </p:sp>
      <p:sp>
        <p:nvSpPr>
          <p:cNvPr id="13" name="Text 9"/>
          <p:cNvSpPr txBox="1"/>
          <p:nvPr/>
        </p:nvSpPr>
        <p:spPr>
          <a:xfrm>
            <a:off x="10104120" y="1764792"/>
            <a:ext cx="1371600" cy="658368"/>
          </a:xfrm>
          <a:prstGeom prst="rect">
            <a:avLst/>
          </a:prstGeom>
          <a:noFill/>
          <a:ln/>
        </p:spPr>
        <p:txBody>
          <a:bodyPr wrap="square" lIns="0" tIns="0" rIns="0" bIns="0" rtlCol="0" anchor="ctr"/>
          <a:lstStyle/>
          <a:p>
            <a:pPr indent="0" marL="0">
              <a:buNone/>
            </a:pPr>
            <a:r>
              <a:rPr lang="en-US" sz="2800" b="1" dirty="0">
                <a:solidFill>
                  <a:srgbClr val="D03B3B"/>
                </a:solidFill>
                <a:latin typeface="Cambria" pitchFamily="34" charset="0"/>
                <a:ea typeface="Cambria" pitchFamily="34" charset="-122"/>
                <a:cs typeface="Cambria" pitchFamily="34" charset="-120"/>
              </a:rPr>
              <a:t>53%</a:t>
            </a:r>
            <a:endParaRPr lang="en-US" sz="2800" dirty="0"/>
          </a:p>
        </p:txBody>
      </p:sp>
      <p:sp>
        <p:nvSpPr>
          <p:cNvPr id="14" name="Text 10"/>
          <p:cNvSpPr txBox="1"/>
          <p:nvPr/>
        </p:nvSpPr>
        <p:spPr>
          <a:xfrm>
            <a:off x="10104120" y="2452421"/>
            <a:ext cx="1371600" cy="672998"/>
          </a:xfrm>
          <a:prstGeom prst="rect">
            <a:avLst/>
          </a:prstGeom>
          <a:noFill/>
          <a:ln/>
        </p:spPr>
        <p:txBody>
          <a:bodyPr wrap="square" lIns="0" tIns="0" rIns="0" bIns="0" rtlCol="0" anchor="t"/>
          <a:lstStyle/>
          <a:p>
            <a:pPr indent="0" marL="0">
              <a:buNone/>
            </a:pPr>
            <a:r>
              <a:rPr lang="en-US" sz="1300" dirty="0">
                <a:solidFill>
                  <a:srgbClr val="5B6B80"/>
                </a:solidFill>
              </a:rPr>
              <a:t>of weeks capped by stock</a:t>
            </a:r>
            <a:endParaRPr lang="en-US" sz="1300" dirty="0"/>
          </a:p>
        </p:txBody>
      </p:sp>
      <p:sp>
        <p:nvSpPr>
          <p:cNvPr id="15" name="Text 11"/>
          <p:cNvSpPr txBox="1"/>
          <p:nvPr/>
        </p:nvSpPr>
        <p:spPr>
          <a:xfrm>
            <a:off x="6583680" y="3291840"/>
            <a:ext cx="5029200" cy="141732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1B2A41"/>
                </a:solidFill>
              </a:rPr>
              <a:t>Zero stock always means zero sales; 2,813 more weeks sell exactly the stock.</a:t>
            </a:r>
            <a:endParaRPr lang="en-US" sz="1400" dirty="0"/>
          </a:p>
          <a:p>
            <a:pPr marL="203200" indent="-203200">
              <a:spcAft>
                <a:spcPts val="800"/>
              </a:spcAft>
              <a:buSzPct val="100000"/>
              <a:buChar char="•"/>
            </a:pPr>
            <a:r>
              <a:rPr lang="en-US" sz="1400" dirty="0">
                <a:solidFill>
                  <a:srgbClr val="1B2A41"/>
                </a:solidFill>
              </a:rPr>
              <a:t>So sales = min(demand, stock): they understate what customers wanted.</a:t>
            </a:r>
            <a:endParaRPr lang="en-US" sz="1400" dirty="0"/>
          </a:p>
          <a:p>
            <a:pPr marL="203200" indent="-203200">
              <a:spcAft>
                <a:spcPts val="800"/>
              </a:spcAft>
              <a:buSzPct val="100000"/>
              <a:buChar char="•"/>
            </a:pPr>
            <a:r>
              <a:rPr lang="en-US" sz="1400" dirty="0">
                <a:solidFill>
                  <a:srgbClr val="1B2A41"/>
                </a:solidFill>
              </a:rPr>
              <a:t>Later steps rely on this: forecast demand, lost sales, pricing.</a:t>
            </a:r>
            <a:endParaRPr lang="en-US" sz="1400" dirty="0"/>
          </a:p>
        </p:txBody>
      </p:sp>
      <p:sp>
        <p:nvSpPr>
          <p:cNvPr id="16" name="Callout"/>
          <p:cNvSpPr/>
          <p:nvPr/>
        </p:nvSpPr>
        <p:spPr>
          <a:xfrm>
            <a:off x="548640" y="4846320"/>
            <a:ext cx="11064240" cy="1417320"/>
          </a:xfrm>
          <a:prstGeom prst="roundRect">
            <a:avLst>
              <a:gd name="adj" fmla="val 5161"/>
            </a:avLst>
          </a:prstGeom>
          <a:solidFill>
            <a:srgbClr val="F2F6FB"/>
          </a:solidFill>
          <a:ln w="12700">
            <a:solidFill>
              <a:srgbClr val="D9E1EC"/>
            </a:solidFill>
            <a:prstDash val="solid"/>
          </a:ln>
        </p:spPr>
      </p:sp>
      <p:sp>
        <p:nvSpPr>
          <p:cNvPr id="17" name="Text 13"/>
          <p:cNvSpPr txBox="1"/>
          <p:nvPr/>
        </p:nvSpPr>
        <p:spPr>
          <a:xfrm>
            <a:off x="731520" y="4956048"/>
            <a:ext cx="10698480" cy="292608"/>
          </a:xfrm>
          <a:prstGeom prst="rect">
            <a:avLst/>
          </a:prstGeom>
          <a:noFill/>
          <a:ln/>
        </p:spPr>
        <p:txBody>
          <a:bodyPr wrap="square" lIns="0" tIns="0" rIns="0" bIns="0" rtlCol="0" anchor="ctr"/>
          <a:lstStyle/>
          <a:p>
            <a:pPr indent="0" marL="0">
              <a:buNone/>
            </a:pPr>
            <a:r>
              <a:rPr lang="en-US" sz="1400" b="1" dirty="0">
                <a:solidFill>
                  <a:schemeClr val="accent1"/>
                </a:solidFill>
              </a:rPr>
              <a:t>Assumptions made, and why</a:t>
            </a:r>
            <a:endParaRPr lang="en-US" sz="1400" dirty="0"/>
          </a:p>
        </p:txBody>
      </p:sp>
      <p:sp>
        <p:nvSpPr>
          <p:cNvPr id="18" name="Text 14"/>
          <p:cNvSpPr txBox="1"/>
          <p:nvPr/>
        </p:nvSpPr>
        <p:spPr>
          <a:xfrm>
            <a:off x="731520" y="5303520"/>
            <a:ext cx="10698480" cy="8686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B2A41"/>
                </a:solidFill>
              </a:rPr>
              <a:t>Synthetic calendar (week 1 = 6 Jan 2020): the file has week numbers only; seasonal findings are relative to it.</a:t>
            </a:r>
            <a:endParaRPr lang="en-US" sz="1400" dirty="0"/>
          </a:p>
          <a:p>
            <a:pPr marL="177800" indent="-177800">
              <a:spcAft>
                <a:spcPts val="500"/>
              </a:spcAft>
              <a:buSzPct val="100000"/>
              <a:buChar char="•"/>
            </a:pPr>
            <a:r>
              <a:rPr lang="en-US" sz="1400" dirty="0">
                <a:solidFill>
                  <a:srgbClr val="1B2A41"/>
                </a:solidFill>
              </a:rPr>
              <a:t>Odd values are flagged, never deleted: pile-ups and zero weeks are signals of stock limits, not errors.</a:t>
            </a:r>
            <a:endParaRPr lang="en-US" sz="1400" dirty="0"/>
          </a:p>
          <a:p>
            <a:pPr marL="177800" indent="-177800">
              <a:spcAft>
                <a:spcPts val="500"/>
              </a:spcAft>
              <a:buSzPct val="100000"/>
              <a:buChar char="•"/>
            </a:pPr>
            <a:r>
              <a:rPr lang="en-US" sz="1400" dirty="0">
                <a:solidFill>
                  <a:srgbClr val="1B2A41"/>
                </a:solidFill>
              </a:rPr>
              <a:t>Inventory read as the previous row's stock: verified, zero violations after the realignment.</a:t>
            </a:r>
            <a:endParaRPr lang="en-US" sz="14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Part tag"/>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PART 2 · PRE-PROCESSING</a:t>
            </a:r>
            <a:endParaRPr lang="en-US" sz="1200" dirty="0"/>
          </a:p>
        </p:txBody>
      </p:sp>
      <p:sp>
        <p:nvSpPr>
          <p:cNvPr id="3" name="Text 0"/>
          <p:cNvSpPr/>
          <p:nvPr>
            <p:ph idx="100"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Demand is reconstructed before forecasting</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5394960" cy="914400"/>
        </p:xfrm>
        <a:graphic>
          <a:graphicData uri="http://schemas.openxmlformats.org/drawingml/2006/table">
            <a:tbl>
              <a:tblPr/>
              <a:tblGrid>
                <a:gridCol w="2651760"/>
                <a:gridCol w="822960"/>
                <a:gridCol w="1920240"/>
              </a:tblGrid>
              <a:tr h="329184">
                <a:tc>
                  <a:txBody>
                    <a:bodyPr/>
                    <a:lstStyle/>
                    <a:p>
                      <a:pPr indent="0" marL="0">
                        <a:buNone/>
                      </a:pPr>
                      <a:r>
                        <a:rPr lang="en-US" sz="1200" b="1" dirty="0">
                          <a:solidFill>
                            <a:srgbClr val="FFFFFF"/>
                          </a:solidFill>
                        </a:rPr>
                        <a:t>Week type</a:t>
                      </a:r>
                      <a:endParaRPr lang="en-US" sz="120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12263F"/>
                    </a:solidFill>
                  </a:tcPr>
                </a:tc>
                <a:tc>
                  <a:txBody>
                    <a:bodyPr/>
                    <a:lstStyle/>
                    <a:p>
                      <a:pPr indent="0" marL="0">
                        <a:buNone/>
                      </a:pPr>
                      <a:r>
                        <a:rPr lang="en-US" sz="1200" b="1" dirty="0">
                          <a:solidFill>
                            <a:srgbClr val="FFFFFF"/>
                          </a:solidFill>
                        </a:rPr>
                        <a:t>Share</a:t>
                      </a:r>
                      <a:endParaRPr lang="en-US" sz="120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12263F"/>
                    </a:solidFill>
                  </a:tcPr>
                </a:tc>
                <a:tc>
                  <a:txBody>
                    <a:bodyPr/>
                    <a:lstStyle/>
                    <a:p>
                      <a:pPr indent="0" marL="0">
                        <a:buNone/>
                      </a:pPr>
                      <a:r>
                        <a:rPr lang="en-US" sz="1200" b="1" dirty="0">
                          <a:solidFill>
                            <a:srgbClr val="FFFFFF"/>
                          </a:solidFill>
                        </a:rPr>
                        <a:t>Demand used</a:t>
                      </a:r>
                      <a:endParaRPr lang="en-US" sz="120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12263F"/>
                    </a:solidFill>
                  </a:tcPr>
                </a:tc>
              </a:tr>
              <a:tr h="365760">
                <a:tc>
                  <a:txBody>
                    <a:bodyPr/>
                    <a:lstStyle/>
                    <a:p>
                      <a:pPr indent="0" marL="0">
                        <a:buNone/>
                      </a:pPr>
                      <a:r>
                        <a:rPr lang="en-US" sz="1200" dirty="0">
                          <a:solidFill>
                            <a:srgbClr val="1B2A41"/>
                          </a:solidFill>
                        </a:rPr>
                        <a:t>Unconstrained (sales &lt; stock)</a:t>
                      </a:r>
                      <a:endParaRPr lang="en-US" sz="120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rPr>
                        <a:t>46.5%</a:t>
                      </a:r>
                      <a:endParaRPr lang="en-US" sz="120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rPr>
                        <a:t>observed sales</a:t>
                      </a:r>
                      <a:endParaRPr lang="en-US" sz="120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B2A41"/>
                          </a:solidFill>
                        </a:rPr>
                        <a:t>Stock-limited (sales = stock)</a:t>
                      </a:r>
                      <a:endParaRPr lang="en-US" sz="120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rPr>
                        <a:t>36.1%</a:t>
                      </a:r>
                      <a:endParaRPr lang="en-US" sz="120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rPr>
                        <a:t>max(sales, blend)</a:t>
                      </a:r>
                      <a:endParaRPr lang="en-US" sz="120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B2A41"/>
                          </a:solidFill>
                        </a:rPr>
                        <a:t>Stock-out (stock = 0)</a:t>
                      </a:r>
                      <a:endParaRPr lang="en-US" sz="120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rPr>
                        <a:t>17.0%</a:t>
                      </a:r>
                      <a:endParaRPr lang="en-US" sz="120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rPr>
                        <a:t>max(sales, blend)</a:t>
                      </a:r>
                      <a:endParaRPr lang="en-US" sz="120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B2A41"/>
                          </a:solidFill>
                        </a:rPr>
                        <a:t>First week (stock unknown)</a:t>
                      </a:r>
                      <a:endParaRPr lang="en-US" sz="120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rPr>
                        <a:t>0.4%</a:t>
                      </a:r>
                      <a:endParaRPr lang="en-US" sz="120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rPr>
                        <a:t>max(sales, blend)</a:t>
                      </a:r>
                      <a:endParaRPr lang="en-US" sz="1200" dirty="0"/>
                    </a:p>
                  </a:txBody>
                  <a:tcPr marL="73152" marR="73152" marT="36576" marB="36576"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bl>
          </a:graphicData>
        </a:graphic>
      </p:graphicFrame>
      <p:graphicFrame>
        <p:nvGraphicFramePr>
          <p:cNvPr id="6" name="Chart 0" descr=""/>
          <p:cNvGraphicFramePr/>
          <p:nvPr/>
        </p:nvGraphicFramePr>
        <p:xfrm>
          <a:off x="548640" y="3566160"/>
          <a:ext cx="5394960" cy="2697480"/>
        </p:xfrm>
        <a:graphic xmlns:a="http://schemas.openxmlformats.org/drawingml/2006/main">
          <a:graphicData uri="http://schemas.openxmlformats.org/drawingml/2006/chart">
            <c:chart xmlns:c="http://schemas.openxmlformats.org/drawingml/2006/chart" r:id="rId1"/>
          </a:graphicData>
        </a:graphic>
      </p:graphicFrame>
      <p:sp>
        <p:nvSpPr>
          <p:cNvPr id="7" name="Callout"/>
          <p:cNvSpPr/>
          <p:nvPr/>
        </p:nvSpPr>
        <p:spPr>
          <a:xfrm>
            <a:off x="6309360" y="1645920"/>
            <a:ext cx="5303520" cy="1554480"/>
          </a:xfrm>
          <a:prstGeom prst="roundRect">
            <a:avLst>
              <a:gd name="adj" fmla="val 4706"/>
            </a:avLst>
          </a:prstGeom>
          <a:solidFill>
            <a:srgbClr val="F2F6FB"/>
          </a:solidFill>
          <a:ln w="12700">
            <a:solidFill>
              <a:srgbClr val="D9E1EC"/>
            </a:solidFill>
            <a:prstDash val="solid"/>
          </a:ln>
        </p:spPr>
      </p:sp>
      <p:sp>
        <p:nvSpPr>
          <p:cNvPr id="8" name="Text 3"/>
          <p:cNvSpPr txBox="1"/>
          <p:nvPr/>
        </p:nvSpPr>
        <p:spPr>
          <a:xfrm>
            <a:off x="6492240" y="1755648"/>
            <a:ext cx="4937760" cy="292608"/>
          </a:xfrm>
          <a:prstGeom prst="rect">
            <a:avLst/>
          </a:prstGeom>
          <a:noFill/>
          <a:ln/>
        </p:spPr>
        <p:txBody>
          <a:bodyPr wrap="square" lIns="0" tIns="0" rIns="0" bIns="0" rtlCol="0" anchor="ctr"/>
          <a:lstStyle/>
          <a:p>
            <a:pPr indent="0" marL="0">
              <a:buNone/>
            </a:pPr>
            <a:r>
              <a:rPr lang="en-US" sz="1400" b="1" dirty="0">
                <a:solidFill>
                  <a:schemeClr val="accent1"/>
                </a:solidFill>
              </a:rPr>
              <a:t>Seasonal model (the structure)</a:t>
            </a:r>
            <a:endParaRPr lang="en-US" sz="1400" dirty="0"/>
          </a:p>
        </p:txBody>
      </p:sp>
      <p:sp>
        <p:nvSpPr>
          <p:cNvPr id="9" name="Text 4"/>
          <p:cNvSpPr txBox="1"/>
          <p:nvPr/>
        </p:nvSpPr>
        <p:spPr>
          <a:xfrm>
            <a:off x="6492240" y="2103120"/>
            <a:ext cx="4937760" cy="10058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B2A41"/>
                </a:solidFill>
              </a:rPr>
              <a:t>log demand = product level + shared trend + Fourier seasonality over week of year</a:t>
            </a:r>
            <a:endParaRPr lang="en-US" sz="1250" dirty="0"/>
          </a:p>
          <a:p>
            <a:pPr marL="177800" indent="-177800">
              <a:spcAft>
                <a:spcPts val="500"/>
              </a:spcAft>
              <a:buSzPct val="100000"/>
              <a:buChar char="•"/>
            </a:pPr>
            <a:r>
              <a:rPr lang="en-US" sz="1250" dirty="0">
                <a:solidFill>
                  <a:srgbClr val="1B2A41"/>
                </a:solidFill>
              </a:rPr>
              <a:t>Fourier order K = 2 and shared trend chosen by blocked 5-fold CV, 1-SE rule (CV MAPE 6.66%)</a:t>
            </a:r>
            <a:endParaRPr lang="en-US" sz="1250" dirty="0"/>
          </a:p>
        </p:txBody>
      </p:sp>
      <p:sp>
        <p:nvSpPr>
          <p:cNvPr id="10" name="Callout"/>
          <p:cNvSpPr/>
          <p:nvPr/>
        </p:nvSpPr>
        <p:spPr>
          <a:xfrm>
            <a:off x="6309360" y="3337560"/>
            <a:ext cx="5303520" cy="1554480"/>
          </a:xfrm>
          <a:prstGeom prst="roundRect">
            <a:avLst>
              <a:gd name="adj" fmla="val 4706"/>
            </a:avLst>
          </a:prstGeom>
          <a:solidFill>
            <a:srgbClr val="F2F6FB"/>
          </a:solidFill>
          <a:ln w="12700">
            <a:solidFill>
              <a:srgbClr val="D9E1EC"/>
            </a:solidFill>
            <a:prstDash val="solid"/>
          </a:ln>
        </p:spPr>
      </p:sp>
      <p:sp>
        <p:nvSpPr>
          <p:cNvPr id="11" name="Text 6"/>
          <p:cNvSpPr txBox="1"/>
          <p:nvPr/>
        </p:nvSpPr>
        <p:spPr>
          <a:xfrm>
            <a:off x="6492240" y="3447288"/>
            <a:ext cx="4937760" cy="292608"/>
          </a:xfrm>
          <a:prstGeom prst="rect">
            <a:avLst/>
          </a:prstGeom>
          <a:noFill/>
          <a:ln/>
        </p:spPr>
        <p:txBody>
          <a:bodyPr wrap="square" lIns="0" tIns="0" rIns="0" bIns="0" rtlCol="0" anchor="ctr"/>
          <a:lstStyle/>
          <a:p>
            <a:pPr indent="0" marL="0">
              <a:buNone/>
            </a:pPr>
            <a:r>
              <a:rPr lang="en-US" sz="1400" b="1" dirty="0">
                <a:solidFill>
                  <a:schemeClr val="accent1"/>
                </a:solidFill>
              </a:rPr>
              <a:t>Blend and legacy forecast</a:t>
            </a:r>
            <a:endParaRPr lang="en-US" sz="1400" dirty="0"/>
          </a:p>
        </p:txBody>
      </p:sp>
      <p:sp>
        <p:nvSpPr>
          <p:cNvPr id="12" name="Text 7"/>
          <p:cNvSpPr txBox="1"/>
          <p:nvPr/>
        </p:nvSpPr>
        <p:spPr>
          <a:xfrm>
            <a:off x="6492240" y="3794760"/>
            <a:ext cx="4937760" cy="10058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B2A41"/>
                </a:solidFill>
              </a:rPr>
              <a:t>Legacy forecast on known weeks: bias -0.4%, corr. 0.97</a:t>
            </a:r>
            <a:endParaRPr lang="en-US" sz="1250" dirty="0"/>
          </a:p>
          <a:p>
            <a:pPr marL="177800" indent="-177800">
              <a:spcAft>
                <a:spcPts val="500"/>
              </a:spcAft>
              <a:buSzPct val="100000"/>
              <a:buChar char="•"/>
            </a:pPr>
            <a:r>
              <a:rPr lang="en-US" sz="1250" dirty="0">
                <a:solidFill>
                  <a:srgbClr val="1B2A41"/>
                </a:solidFill>
              </a:rPr>
              <a:t>Weight 0.40 fitted out-of-fold; held-out products agree</a:t>
            </a:r>
            <a:endParaRPr lang="en-US" sz="1250" dirty="0"/>
          </a:p>
          <a:p>
            <a:pPr marL="177800" indent="-177800">
              <a:spcAft>
                <a:spcPts val="500"/>
              </a:spcAft>
              <a:buSzPct val="100000"/>
              <a:buChar char="•"/>
            </a:pPr>
            <a:r>
              <a:rPr lang="en-US" sz="1250" dirty="0">
                <a:solidFill>
                  <a:srgbClr val="1B2A41"/>
                </a:solidFill>
              </a:rPr>
              <a:t>606 missing legacy values: model-only (325 weeks)</a:t>
            </a:r>
            <a:endParaRPr lang="en-US" sz="1250" dirty="0"/>
          </a:p>
        </p:txBody>
      </p:sp>
      <p:sp>
        <p:nvSpPr>
          <p:cNvPr id="13" name="Callout"/>
          <p:cNvSpPr/>
          <p:nvPr/>
        </p:nvSpPr>
        <p:spPr>
          <a:xfrm>
            <a:off x="6309360" y="5029200"/>
            <a:ext cx="5303520" cy="1280160"/>
          </a:xfrm>
          <a:prstGeom prst="roundRect">
            <a:avLst>
              <a:gd name="adj" fmla="val 5714"/>
            </a:avLst>
          </a:prstGeom>
          <a:solidFill>
            <a:srgbClr val="F2F6FB"/>
          </a:solidFill>
          <a:ln w="12700">
            <a:solidFill>
              <a:srgbClr val="D9E1EC"/>
            </a:solidFill>
            <a:prstDash val="solid"/>
          </a:ln>
        </p:spPr>
      </p:sp>
      <p:sp>
        <p:nvSpPr>
          <p:cNvPr id="14" name="Text 9"/>
          <p:cNvSpPr txBox="1"/>
          <p:nvPr/>
        </p:nvSpPr>
        <p:spPr>
          <a:xfrm>
            <a:off x="6492240" y="5138928"/>
            <a:ext cx="4937760" cy="292608"/>
          </a:xfrm>
          <a:prstGeom prst="rect">
            <a:avLst/>
          </a:prstGeom>
          <a:noFill/>
          <a:ln/>
        </p:spPr>
        <p:txBody>
          <a:bodyPr wrap="square" lIns="0" tIns="0" rIns="0" bIns="0" rtlCol="0" anchor="ctr"/>
          <a:lstStyle/>
          <a:p>
            <a:pPr indent="0" marL="0">
              <a:buNone/>
            </a:pPr>
            <a:r>
              <a:rPr lang="en-US" sz="1400" b="1" dirty="0">
                <a:solidFill>
                  <a:schemeClr val="accent1"/>
                </a:solidFill>
              </a:rPr>
              <a:t>Result</a:t>
            </a:r>
            <a:endParaRPr lang="en-US" sz="1400" dirty="0"/>
          </a:p>
        </p:txBody>
      </p:sp>
      <p:sp>
        <p:nvSpPr>
          <p:cNvPr id="15" name="Text 10"/>
          <p:cNvSpPr txBox="1"/>
          <p:nvPr/>
        </p:nvSpPr>
        <p:spPr>
          <a:xfrm>
            <a:off x="6492240" y="5486400"/>
            <a:ext cx="4937760" cy="73152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B2A41"/>
                </a:solidFill>
              </a:rPr>
              <a:t>6.2M units of demand (39%) were lost to stock limits</a:t>
            </a:r>
            <a:endParaRPr lang="en-US" sz="1250" dirty="0"/>
          </a:p>
          <a:p>
            <a:pPr marL="177800" indent="-177800">
              <a:spcAft>
                <a:spcPts val="500"/>
              </a:spcAft>
              <a:buSzPct val="100000"/>
              <a:buChar char="•"/>
            </a:pPr>
            <a:r>
              <a:rPr lang="en-US" sz="1250" dirty="0">
                <a:solidFill>
                  <a:srgbClr val="1B2A41"/>
                </a:solidFill>
              </a:rPr>
              <a:t>Limitation: unconstrained weeks lean to lower demand, so the blend error is an estimate</a:t>
            </a:r>
            <a:endParaRPr lang="en-US" sz="125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Part tag"/>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PART 2 · FEATURE ENGINEERING</a:t>
            </a:r>
            <a:endParaRPr lang="en-US" sz="1200" dirty="0"/>
          </a:p>
        </p:txBody>
      </p:sp>
      <p:sp>
        <p:nvSpPr>
          <p:cNvPr id="3" name="Text 0"/>
          <p:cNvSpPr/>
          <p:nvPr>
            <p:ph idx="100"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Features built in three layers</a:t>
            </a:r>
            <a:endParaRPr lang="en-US" sz="3000" dirty="0"/>
          </a:p>
        </p:txBody>
      </p:sp>
      <p:sp>
        <p:nvSpPr>
          <p:cNvPr id="5" name="Feature layer"/>
          <p:cNvSpPr/>
          <p:nvPr/>
        </p:nvSpPr>
        <p:spPr>
          <a:xfrm>
            <a:off x="548640" y="1645920"/>
            <a:ext cx="3566160" cy="3429000"/>
          </a:xfrm>
          <a:prstGeom prst="roundRect">
            <a:avLst>
              <a:gd name="adj" fmla="val 2133"/>
            </a:avLst>
          </a:prstGeom>
          <a:solidFill>
            <a:srgbClr val="F2F6FB"/>
          </a:solidFill>
          <a:ln w="12700">
            <a:solidFill>
              <a:srgbClr val="F2F6FB"/>
            </a:solidFill>
            <a:prstDash val="solid"/>
          </a:ln>
        </p:spPr>
      </p:sp>
      <p:sp>
        <p:nvSpPr>
          <p:cNvPr id="6" name="Layer accent"/>
          <p:cNvSpPr/>
          <p:nvPr/>
        </p:nvSpPr>
        <p:spPr>
          <a:xfrm>
            <a:off x="548640" y="1645920"/>
            <a:ext cx="3566160" cy="64008"/>
          </a:xfrm>
          <a:prstGeom prst="rect">
            <a:avLst/>
          </a:prstGeom>
          <a:solidFill>
            <a:srgbClr val="2A78D6"/>
          </a:solidFill>
          <a:ln w="12700">
            <a:solidFill>
              <a:srgbClr val="2A78D6"/>
            </a:solidFill>
            <a:prstDash val="solid"/>
          </a:ln>
        </p:spPr>
      </p:sp>
      <p:sp>
        <p:nvSpPr>
          <p:cNvPr id="7" name="Text 4"/>
          <p:cNvSpPr txBox="1"/>
          <p:nvPr/>
        </p:nvSpPr>
        <p:spPr>
          <a:xfrm>
            <a:off x="731520" y="1764792"/>
            <a:ext cx="3200400" cy="310896"/>
          </a:xfrm>
          <a:prstGeom prst="rect">
            <a:avLst/>
          </a:prstGeom>
          <a:noFill/>
          <a:ln/>
        </p:spPr>
        <p:txBody>
          <a:bodyPr wrap="square" lIns="0" tIns="0" rIns="0" bIns="0" rtlCol="0" anchor="ctr"/>
          <a:lstStyle/>
          <a:p>
            <a:pPr indent="0" marL="0">
              <a:buNone/>
            </a:pPr>
            <a:r>
              <a:rPr lang="en-US" sz="1500" b="1" dirty="0">
                <a:solidFill>
                  <a:schemeClr val="tx1"/>
                </a:solidFill>
              </a:rPr>
              <a:t>A  Data and stock features</a:t>
            </a:r>
            <a:endParaRPr lang="en-US" sz="1500" dirty="0"/>
          </a:p>
        </p:txBody>
      </p:sp>
      <p:sp>
        <p:nvSpPr>
          <p:cNvPr id="8" name="Text 5"/>
          <p:cNvSpPr txBox="1"/>
          <p:nvPr/>
        </p:nvSpPr>
        <p:spPr>
          <a:xfrm>
            <a:off x="731520" y="2075688"/>
            <a:ext cx="3200400" cy="237744"/>
          </a:xfrm>
          <a:prstGeom prst="rect">
            <a:avLst/>
          </a:prstGeom>
          <a:noFill/>
          <a:ln/>
        </p:spPr>
        <p:txBody>
          <a:bodyPr wrap="square" lIns="0" tIns="0" rIns="0" bIns="0" rtlCol="0" anchor="ctr"/>
          <a:lstStyle/>
          <a:p>
            <a:pPr indent="0" marL="0">
              <a:buNone/>
            </a:pPr>
            <a:r>
              <a:rPr lang="en-US" sz="1150" i="1" dirty="0">
                <a:solidFill>
                  <a:srgbClr val="5B6B80"/>
                </a:solidFill>
              </a:rPr>
              <a:t>built in the ETL</a:t>
            </a:r>
            <a:endParaRPr lang="en-US" sz="1150" dirty="0"/>
          </a:p>
        </p:txBody>
      </p:sp>
      <p:sp>
        <p:nvSpPr>
          <p:cNvPr id="9" name="Text 6"/>
          <p:cNvSpPr txBox="1"/>
          <p:nvPr/>
        </p:nvSpPr>
        <p:spPr>
          <a:xfrm>
            <a:off x="731520" y="2377440"/>
            <a:ext cx="3200400" cy="2148840"/>
          </a:xfrm>
          <a:prstGeom prst="rect">
            <a:avLst/>
          </a:prstGeom>
          <a:noFill/>
          <a:ln/>
        </p:spPr>
        <p:txBody>
          <a:bodyPr wrap="square" lIns="0" tIns="0" rIns="0" bIns="0" rtlCol="0" anchor="t"/>
          <a:lstStyle/>
          <a:p>
            <a:pPr marL="203200" indent="-203200">
              <a:spcAft>
                <a:spcPts val="800"/>
              </a:spcAft>
              <a:buSzPct val="100000"/>
              <a:buChar char="•"/>
            </a:pPr>
            <a:r>
              <a:rPr lang="en-US" sz="1150" dirty="0">
                <a:solidFill>
                  <a:srgbClr val="1B2A41"/>
                </a:solidFill>
              </a:rPr>
              <a:t>stock_available_for_sales = previous row's inventory (lag 1)</a:t>
            </a:r>
            <a:endParaRPr lang="en-US" sz="1150" dirty="0"/>
          </a:p>
          <a:p>
            <a:pPr marL="203200" indent="-203200">
              <a:spcAft>
                <a:spcPts val="800"/>
              </a:spcAft>
              <a:buSzPct val="100000"/>
              <a:buChar char="•"/>
            </a:pPr>
            <a:r>
              <a:rPr lang="en-US" sz="1150" dirty="0">
                <a:solidFill>
                  <a:srgbClr val="1B2A41"/>
                </a:solidFill>
              </a:rPr>
              <a:t>censor status: unconstrained, stock-limited, stock-out, unknown</a:t>
            </a:r>
            <a:endParaRPr lang="en-US" sz="1150" dirty="0"/>
          </a:p>
          <a:p>
            <a:pPr marL="203200" indent="-203200">
              <a:spcAft>
                <a:spcPts val="800"/>
              </a:spcAft>
              <a:buSzPct val="100000"/>
              <a:buChar char="•"/>
            </a:pPr>
            <a:r>
              <a:rPr lang="en-US" sz="1150" dirty="0">
                <a:solidFill>
                  <a:srgbClr val="1B2A41"/>
                </a:solidFill>
              </a:rPr>
              <a:t>flags: stock-out, stock-limited, pile-up, imputed, outlier, forecast missing</a:t>
            </a:r>
            <a:endParaRPr lang="en-US" sz="1150" dirty="0"/>
          </a:p>
          <a:p>
            <a:pPr marL="203200" indent="-203200">
              <a:spcAft>
                <a:spcPts val="800"/>
              </a:spcAft>
              <a:buSzPct val="100000"/>
              <a:buChar char="•"/>
            </a:pPr>
            <a:r>
              <a:rPr lang="en-US" sz="1150" dirty="0">
                <a:solidFill>
                  <a:srgbClr val="1B2A41"/>
                </a:solidFill>
              </a:rPr>
              <a:t>recomputed margin, growth, turnover; winsorised sales copy</a:t>
            </a:r>
            <a:endParaRPr lang="en-US" sz="1150" dirty="0"/>
          </a:p>
        </p:txBody>
      </p:sp>
      <p:sp>
        <p:nvSpPr>
          <p:cNvPr id="10" name="Text 7"/>
          <p:cNvSpPr txBox="1"/>
          <p:nvPr/>
        </p:nvSpPr>
        <p:spPr>
          <a:xfrm>
            <a:off x="731520" y="4617720"/>
            <a:ext cx="3200400" cy="384048"/>
          </a:xfrm>
          <a:prstGeom prst="rect">
            <a:avLst/>
          </a:prstGeom>
          <a:noFill/>
          <a:ln/>
        </p:spPr>
        <p:txBody>
          <a:bodyPr wrap="square" lIns="0" tIns="0" rIns="0" bIns="0" rtlCol="0" anchor="t"/>
          <a:lstStyle/>
          <a:p>
            <a:pPr indent="0" marL="0">
              <a:buNone/>
            </a:pPr>
            <a:r>
              <a:rPr lang="en-US" sz="1150" b="1" dirty="0">
                <a:solidFill>
                  <a:srgbClr val="1F5FB0"/>
                </a:solidFill>
              </a:rPr>
              <a:t>Purpose: what does each sales number measure?</a:t>
            </a:r>
            <a:endParaRPr lang="en-US" sz="1150" dirty="0"/>
          </a:p>
        </p:txBody>
      </p:sp>
      <p:sp>
        <p:nvSpPr>
          <p:cNvPr id="11" name="Feature layer"/>
          <p:cNvSpPr/>
          <p:nvPr/>
        </p:nvSpPr>
        <p:spPr>
          <a:xfrm>
            <a:off x="4297680" y="1645920"/>
            <a:ext cx="3566160" cy="3429000"/>
          </a:xfrm>
          <a:prstGeom prst="roundRect">
            <a:avLst>
              <a:gd name="adj" fmla="val 2133"/>
            </a:avLst>
          </a:prstGeom>
          <a:solidFill>
            <a:srgbClr val="F2F6FB"/>
          </a:solidFill>
          <a:ln w="12700">
            <a:solidFill>
              <a:srgbClr val="F2F6FB"/>
            </a:solidFill>
            <a:prstDash val="solid"/>
          </a:ln>
        </p:spPr>
      </p:sp>
      <p:sp>
        <p:nvSpPr>
          <p:cNvPr id="12" name="Layer accent"/>
          <p:cNvSpPr/>
          <p:nvPr/>
        </p:nvSpPr>
        <p:spPr>
          <a:xfrm>
            <a:off x="4297680" y="1645920"/>
            <a:ext cx="3566160" cy="64008"/>
          </a:xfrm>
          <a:prstGeom prst="rect">
            <a:avLst/>
          </a:prstGeom>
          <a:solidFill>
            <a:srgbClr val="1BAF7A"/>
          </a:solidFill>
          <a:ln w="12700">
            <a:solidFill>
              <a:srgbClr val="1BAF7A"/>
            </a:solidFill>
            <a:prstDash val="solid"/>
          </a:ln>
        </p:spPr>
      </p:sp>
      <p:sp>
        <p:nvSpPr>
          <p:cNvPr id="13" name="Text 10"/>
          <p:cNvSpPr txBox="1"/>
          <p:nvPr/>
        </p:nvSpPr>
        <p:spPr>
          <a:xfrm>
            <a:off x="4480560" y="1764792"/>
            <a:ext cx="3200400" cy="310896"/>
          </a:xfrm>
          <a:prstGeom prst="rect">
            <a:avLst/>
          </a:prstGeom>
          <a:noFill/>
          <a:ln/>
        </p:spPr>
        <p:txBody>
          <a:bodyPr wrap="square" lIns="0" tIns="0" rIns="0" bIns="0" rtlCol="0" anchor="ctr"/>
          <a:lstStyle/>
          <a:p>
            <a:pPr indent="0" marL="0">
              <a:buNone/>
            </a:pPr>
            <a:r>
              <a:rPr lang="en-US" sz="1500" b="1" dirty="0">
                <a:solidFill>
                  <a:schemeClr val="tx1"/>
                </a:solidFill>
              </a:rPr>
              <a:t>B  Target and structure</a:t>
            </a:r>
            <a:endParaRPr lang="en-US" sz="1500" dirty="0"/>
          </a:p>
        </p:txBody>
      </p:sp>
      <p:sp>
        <p:nvSpPr>
          <p:cNvPr id="14" name="Text 11"/>
          <p:cNvSpPr txBox="1"/>
          <p:nvPr/>
        </p:nvSpPr>
        <p:spPr>
          <a:xfrm>
            <a:off x="4480560" y="2075688"/>
            <a:ext cx="3200400" cy="237744"/>
          </a:xfrm>
          <a:prstGeom prst="rect">
            <a:avLst/>
          </a:prstGeom>
          <a:noFill/>
          <a:ln/>
        </p:spPr>
        <p:txBody>
          <a:bodyPr wrap="square" lIns="0" tIns="0" rIns="0" bIns="0" rtlCol="0" anchor="ctr"/>
          <a:lstStyle/>
          <a:p>
            <a:pPr indent="0" marL="0">
              <a:buNone/>
            </a:pPr>
            <a:r>
              <a:rPr lang="en-US" sz="1150" i="1" dirty="0">
                <a:solidFill>
                  <a:srgbClr val="5B6B80"/>
                </a:solidFill>
              </a:rPr>
              <a:t>built in pre-processing</a:t>
            </a:r>
            <a:endParaRPr lang="en-US" sz="1150" dirty="0"/>
          </a:p>
        </p:txBody>
      </p:sp>
      <p:sp>
        <p:nvSpPr>
          <p:cNvPr id="15" name="Text 12"/>
          <p:cNvSpPr txBox="1"/>
          <p:nvPr/>
        </p:nvSpPr>
        <p:spPr>
          <a:xfrm>
            <a:off x="4480560" y="2377440"/>
            <a:ext cx="3200400" cy="2148840"/>
          </a:xfrm>
          <a:prstGeom prst="rect">
            <a:avLst/>
          </a:prstGeom>
          <a:noFill/>
          <a:ln/>
        </p:spPr>
        <p:txBody>
          <a:bodyPr wrap="square" lIns="0" tIns="0" rIns="0" bIns="0" rtlCol="0" anchor="t"/>
          <a:lstStyle/>
          <a:p>
            <a:pPr marL="203200" indent="-203200">
              <a:spcAft>
                <a:spcPts val="800"/>
              </a:spcAft>
              <a:buSzPct val="100000"/>
              <a:buChar char="•"/>
            </a:pPr>
            <a:r>
              <a:rPr lang="en-US" sz="1150" dirty="0">
                <a:solidFill>
                  <a:srgbClr val="1B2A41"/>
                </a:solidFill>
              </a:rPr>
              <a:t>demand_est: reconstructed demand, with source and uplift %</a:t>
            </a:r>
            <a:endParaRPr lang="en-US" sz="1150" dirty="0"/>
          </a:p>
          <a:p>
            <a:pPr marL="203200" indent="-203200">
              <a:spcAft>
                <a:spcPts val="800"/>
              </a:spcAft>
              <a:buSzPct val="100000"/>
              <a:buChar char="•"/>
            </a:pPr>
            <a:r>
              <a:rPr lang="en-US" sz="1150" dirty="0">
                <a:solidFill>
                  <a:srgbClr val="1B2A41"/>
                </a:solidFill>
              </a:rPr>
              <a:t>seasonal-model prediction (shared Fourier curve)</a:t>
            </a:r>
            <a:endParaRPr lang="en-US" sz="1150" dirty="0"/>
          </a:p>
          <a:p>
            <a:pPr marL="203200" indent="-203200">
              <a:spcAft>
                <a:spcPts val="800"/>
              </a:spcAft>
              <a:buSzPct val="100000"/>
              <a:buChar char="•"/>
            </a:pPr>
            <a:r>
              <a:rPr lang="en-US" sz="1150" dirty="0">
                <a:solidFill>
                  <a:srgbClr val="1B2A41"/>
                </a:solidFill>
              </a:rPr>
              <a:t>calendar: week of year, quarter, season, year index</a:t>
            </a:r>
            <a:endParaRPr lang="en-US" sz="1150" dirty="0"/>
          </a:p>
          <a:p>
            <a:pPr marL="203200" indent="-203200">
              <a:spcAft>
                <a:spcPts val="800"/>
              </a:spcAft>
              <a:buSzPct val="100000"/>
              <a:buChar char="•"/>
            </a:pPr>
            <a:r>
              <a:rPr lang="en-US" sz="1150" dirty="0">
                <a:solidFill>
                  <a:srgbClr val="1B2A41"/>
                </a:solidFill>
              </a:rPr>
              <a:t>stock regime (k-means, 2 regimes) and high / normal stock profile</a:t>
            </a:r>
            <a:endParaRPr lang="en-US" sz="1150" dirty="0"/>
          </a:p>
        </p:txBody>
      </p:sp>
      <p:sp>
        <p:nvSpPr>
          <p:cNvPr id="16" name="Text 13"/>
          <p:cNvSpPr txBox="1"/>
          <p:nvPr/>
        </p:nvSpPr>
        <p:spPr>
          <a:xfrm>
            <a:off x="4480560" y="4617720"/>
            <a:ext cx="3200400" cy="384048"/>
          </a:xfrm>
          <a:prstGeom prst="rect">
            <a:avLst/>
          </a:prstGeom>
          <a:noFill/>
          <a:ln/>
        </p:spPr>
        <p:txBody>
          <a:bodyPr wrap="square" lIns="0" tIns="0" rIns="0" bIns="0" rtlCol="0" anchor="t"/>
          <a:lstStyle/>
          <a:p>
            <a:pPr indent="0" marL="0">
              <a:buNone/>
            </a:pPr>
            <a:r>
              <a:rPr lang="en-US" sz="1150" b="1" dirty="0">
                <a:solidFill>
                  <a:srgbClr val="138A5F"/>
                </a:solidFill>
              </a:rPr>
              <a:t>Purpose: the target and the product descriptors.</a:t>
            </a:r>
            <a:endParaRPr lang="en-US" sz="1150" dirty="0"/>
          </a:p>
        </p:txBody>
      </p:sp>
      <p:sp>
        <p:nvSpPr>
          <p:cNvPr id="17" name="Feature layer"/>
          <p:cNvSpPr/>
          <p:nvPr/>
        </p:nvSpPr>
        <p:spPr>
          <a:xfrm>
            <a:off x="8046720" y="1645920"/>
            <a:ext cx="3566160" cy="3429000"/>
          </a:xfrm>
          <a:prstGeom prst="roundRect">
            <a:avLst>
              <a:gd name="adj" fmla="val 2133"/>
            </a:avLst>
          </a:prstGeom>
          <a:solidFill>
            <a:srgbClr val="F2F6FB"/>
          </a:solidFill>
          <a:ln w="12700">
            <a:solidFill>
              <a:srgbClr val="F2F6FB"/>
            </a:solidFill>
            <a:prstDash val="solid"/>
          </a:ln>
        </p:spPr>
      </p:sp>
      <p:sp>
        <p:nvSpPr>
          <p:cNvPr id="18" name="Layer accent"/>
          <p:cNvSpPr/>
          <p:nvPr/>
        </p:nvSpPr>
        <p:spPr>
          <a:xfrm>
            <a:off x="8046720" y="1645920"/>
            <a:ext cx="3566160" cy="64008"/>
          </a:xfrm>
          <a:prstGeom prst="rect">
            <a:avLst/>
          </a:prstGeom>
          <a:solidFill>
            <a:srgbClr val="EB6834"/>
          </a:solidFill>
          <a:ln w="12700">
            <a:solidFill>
              <a:srgbClr val="EB6834"/>
            </a:solidFill>
            <a:prstDash val="solid"/>
          </a:ln>
        </p:spPr>
      </p:sp>
      <p:sp>
        <p:nvSpPr>
          <p:cNvPr id="19" name="Text 16"/>
          <p:cNvSpPr txBox="1"/>
          <p:nvPr/>
        </p:nvSpPr>
        <p:spPr>
          <a:xfrm>
            <a:off x="8229600" y="1764792"/>
            <a:ext cx="3200400" cy="310896"/>
          </a:xfrm>
          <a:prstGeom prst="rect">
            <a:avLst/>
          </a:prstGeom>
          <a:noFill/>
          <a:ln/>
        </p:spPr>
        <p:txBody>
          <a:bodyPr wrap="square" lIns="0" tIns="0" rIns="0" bIns="0" rtlCol="0" anchor="ctr"/>
          <a:lstStyle/>
          <a:p>
            <a:pPr indent="0" marL="0">
              <a:buNone/>
            </a:pPr>
            <a:r>
              <a:rPr lang="en-US" sz="1500" b="1" dirty="0">
                <a:solidFill>
                  <a:schemeClr val="tx1"/>
                </a:solidFill>
              </a:rPr>
              <a:t>C  Model inputs</a:t>
            </a:r>
            <a:endParaRPr lang="en-US" sz="1500" dirty="0"/>
          </a:p>
        </p:txBody>
      </p:sp>
      <p:sp>
        <p:nvSpPr>
          <p:cNvPr id="20" name="Text 17"/>
          <p:cNvSpPr txBox="1"/>
          <p:nvPr/>
        </p:nvSpPr>
        <p:spPr>
          <a:xfrm>
            <a:off x="8229600" y="2075688"/>
            <a:ext cx="3200400" cy="237744"/>
          </a:xfrm>
          <a:prstGeom prst="rect">
            <a:avLst/>
          </a:prstGeom>
          <a:noFill/>
          <a:ln/>
        </p:spPr>
        <p:txBody>
          <a:bodyPr wrap="square" lIns="0" tIns="0" rIns="0" bIns="0" rtlCol="0" anchor="ctr"/>
          <a:lstStyle/>
          <a:p>
            <a:pPr indent="0" marL="0">
              <a:buNone/>
            </a:pPr>
            <a:r>
              <a:rPr lang="en-US" sz="1150" i="1" dirty="0">
                <a:solidFill>
                  <a:srgbClr val="5B6B80"/>
                </a:solidFill>
              </a:rPr>
              <a:t>built in forecasting</a:t>
            </a:r>
            <a:endParaRPr lang="en-US" sz="1150" dirty="0"/>
          </a:p>
        </p:txBody>
      </p:sp>
      <p:sp>
        <p:nvSpPr>
          <p:cNvPr id="21" name="Text 18"/>
          <p:cNvSpPr txBox="1"/>
          <p:nvPr/>
        </p:nvSpPr>
        <p:spPr>
          <a:xfrm>
            <a:off x="8229600" y="2377440"/>
            <a:ext cx="3200400" cy="2148840"/>
          </a:xfrm>
          <a:prstGeom prst="rect">
            <a:avLst/>
          </a:prstGeom>
          <a:noFill/>
          <a:ln/>
        </p:spPr>
        <p:txBody>
          <a:bodyPr wrap="square" lIns="0" tIns="0" rIns="0" bIns="0" rtlCol="0" anchor="t"/>
          <a:lstStyle/>
          <a:p>
            <a:pPr marL="203200" indent="-203200">
              <a:spcAft>
                <a:spcPts val="800"/>
              </a:spcAft>
              <a:buSzPct val="100000"/>
              <a:buChar char="•"/>
            </a:pPr>
            <a:r>
              <a:rPr lang="en-US" sz="1150" dirty="0">
                <a:solidFill>
                  <a:srgbClr val="1B2A41"/>
                </a:solidFill>
              </a:rPr>
              <a:t>Structural: product level, shared trend, sin / cos pairs (K = 2)</a:t>
            </a:r>
            <a:endParaRPr lang="en-US" sz="1150" dirty="0"/>
          </a:p>
          <a:p>
            <a:pPr marL="203200" indent="-203200">
              <a:spcAft>
                <a:spcPts val="800"/>
              </a:spcAft>
              <a:buSzPct val="100000"/>
              <a:buChar char="•"/>
            </a:pPr>
            <a:r>
              <a:rPr lang="en-US" sz="1150" dirty="0">
                <a:solidFill>
                  <a:srgbClr val="1B2A41"/>
                </a:solidFill>
              </a:rPr>
              <a:t>LightGBM: horizon, week of year, trend index, same week last year and neighbours, 13 / 26 / 52-week levels, product and regime codes</a:t>
            </a:r>
            <a:endParaRPr lang="en-US" sz="1150" dirty="0"/>
          </a:p>
          <a:p>
            <a:pPr marL="203200" indent="-203200">
              <a:spcAft>
                <a:spcPts val="800"/>
              </a:spcAft>
              <a:buSzPct val="100000"/>
              <a:buChar char="•"/>
            </a:pPr>
            <a:r>
              <a:rPr lang="en-US" sz="1150" dirty="0">
                <a:solidFill>
                  <a:srgbClr val="1B2A41"/>
                </a:solidFill>
              </a:rPr>
              <a:t>target relative to the 52-week level (removes product size)</a:t>
            </a:r>
            <a:endParaRPr lang="en-US" sz="1150" dirty="0"/>
          </a:p>
        </p:txBody>
      </p:sp>
      <p:sp>
        <p:nvSpPr>
          <p:cNvPr id="22" name="Text 19"/>
          <p:cNvSpPr txBox="1"/>
          <p:nvPr/>
        </p:nvSpPr>
        <p:spPr>
          <a:xfrm>
            <a:off x="8229600" y="4617720"/>
            <a:ext cx="3200400" cy="384048"/>
          </a:xfrm>
          <a:prstGeom prst="rect">
            <a:avLst/>
          </a:prstGeom>
          <a:noFill/>
          <a:ln/>
        </p:spPr>
        <p:txBody>
          <a:bodyPr wrap="square" lIns="0" tIns="0" rIns="0" bIns="0" rtlCol="0" anchor="t"/>
          <a:lstStyle/>
          <a:p>
            <a:pPr indent="0" marL="0">
              <a:buNone/>
            </a:pPr>
            <a:r>
              <a:rPr lang="en-US" sz="1150" b="1" dirty="0">
                <a:solidFill>
                  <a:srgbClr val="C24E1F"/>
                </a:solidFill>
              </a:rPr>
              <a:t>Purpose: simple structure vs richer learner.</a:t>
            </a:r>
            <a:endParaRPr lang="en-US" sz="1150" dirty="0"/>
          </a:p>
        </p:txBody>
      </p:sp>
      <p:sp>
        <p:nvSpPr>
          <p:cNvPr id="23" name="Callout"/>
          <p:cNvSpPr/>
          <p:nvPr/>
        </p:nvSpPr>
        <p:spPr>
          <a:xfrm>
            <a:off x="548640" y="5212080"/>
            <a:ext cx="11064240" cy="1097280"/>
          </a:xfrm>
          <a:prstGeom prst="roundRect">
            <a:avLst>
              <a:gd name="adj" fmla="val 6667"/>
            </a:avLst>
          </a:prstGeom>
          <a:solidFill>
            <a:srgbClr val="F2F6FB"/>
          </a:solidFill>
          <a:ln w="12700">
            <a:solidFill>
              <a:srgbClr val="D9E1EC"/>
            </a:solidFill>
            <a:prstDash val="solid"/>
          </a:ln>
        </p:spPr>
      </p:sp>
      <p:sp>
        <p:nvSpPr>
          <p:cNvPr id="24" name="Text 21"/>
          <p:cNvSpPr txBox="1"/>
          <p:nvPr/>
        </p:nvSpPr>
        <p:spPr>
          <a:xfrm>
            <a:off x="731520" y="5321808"/>
            <a:ext cx="10698480" cy="292608"/>
          </a:xfrm>
          <a:prstGeom prst="rect">
            <a:avLst/>
          </a:prstGeom>
          <a:noFill/>
          <a:ln/>
        </p:spPr>
        <p:txBody>
          <a:bodyPr wrap="square" lIns="0" tIns="0" rIns="0" bIns="0" rtlCol="0" anchor="ctr"/>
          <a:lstStyle/>
          <a:p>
            <a:pPr indent="0" marL="0">
              <a:buNone/>
            </a:pPr>
            <a:r>
              <a:rPr lang="en-US" sz="1400" b="1" dirty="0">
                <a:solidFill>
                  <a:schemeClr val="accent1"/>
                </a:solidFill>
              </a:rPr>
              <a:t>Rules that protect the features</a:t>
            </a:r>
            <a:endParaRPr lang="en-US" sz="1400" dirty="0"/>
          </a:p>
        </p:txBody>
      </p:sp>
      <p:sp>
        <p:nvSpPr>
          <p:cNvPr id="25" name="Text 22"/>
          <p:cNvSpPr txBox="1"/>
          <p:nvPr/>
        </p:nvSpPr>
        <p:spPr>
          <a:xfrm>
            <a:off x="731520" y="5669280"/>
            <a:ext cx="10698480" cy="5486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B2A41"/>
                </a:solidFill>
              </a:rPr>
              <a:t>Only information known at the forecast origin is used; the legacy forecast builds the target but is never an input.</a:t>
            </a:r>
            <a:endParaRPr lang="en-US" sz="1250" dirty="0"/>
          </a:p>
          <a:p>
            <a:pPr marL="177800" indent="-177800">
              <a:spcAft>
                <a:spcPts val="500"/>
              </a:spcAft>
              <a:buSzPct val="100000"/>
              <a:buChar char="•"/>
            </a:pPr>
            <a:r>
              <a:rPr lang="en-US" sz="1250" dirty="0">
                <a:solidFill>
                  <a:srgbClr val="1B2A41"/>
                </a:solidFill>
              </a:rPr>
              <a:t>Price, cost and margin were tested and left out: no calendar effect and no measurable demand effect.</a:t>
            </a:r>
            <a:endParaRPr lang="en-US" sz="125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Part tag"/>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PART 2 · EVIDENCE FOR THE FEATURES</a:t>
            </a:r>
            <a:endParaRPr lang="en-US" sz="1200" dirty="0"/>
          </a:p>
        </p:txBody>
      </p:sp>
      <p:sp>
        <p:nvSpPr>
          <p:cNvPr id="3" name="Text 0"/>
          <p:cNvSpPr/>
          <p:nvPr>
            <p:ph idx="100"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The evidence behind the feature choices</a:t>
            </a:r>
            <a:endParaRPr lang="en-US" sz="3000" dirty="0"/>
          </a:p>
        </p:txBody>
      </p:sp>
      <p:pic>
        <p:nvPicPr>
          <p:cNvPr id="5" name="Seasonal rhythm figure" descr="/home/user/Technical_Assessment_HamidrezaNademi/part2_forecasting_v1.2/figures/shared_seasonal_rhythm_v1.2.png">    </p:cNvPr>
          <p:cNvPicPr>
            <a:picLocks noChangeAspect="1"/>
          </p:cNvPicPr>
          <p:nvPr/>
        </p:nvPicPr>
        <p:blipFill>
          <a:blip r:embed="rId1"/>
          <a:stretch>
            <a:fillRect/>
          </a:stretch>
        </p:blipFill>
        <p:spPr>
          <a:xfrm>
            <a:off x="548640" y="1645920"/>
            <a:ext cx="5486400" cy="2240280"/>
          </a:xfrm>
          <a:prstGeom prst="rect">
            <a:avLst/>
          </a:prstGeom>
        </p:spPr>
      </p:pic>
      <p:sp>
        <p:nvSpPr>
          <p:cNvPr id="6" name="Stat card"/>
          <p:cNvSpPr/>
          <p:nvPr/>
        </p:nvSpPr>
        <p:spPr>
          <a:xfrm>
            <a:off x="548640" y="4023360"/>
            <a:ext cx="1737360" cy="1005840"/>
          </a:xfrm>
          <a:prstGeom prst="roundRect">
            <a:avLst>
              <a:gd name="adj" fmla="val 7273"/>
            </a:avLst>
          </a:prstGeom>
          <a:solidFill>
            <a:srgbClr val="F2F6FB"/>
          </a:solidFill>
          <a:ln w="12700">
            <a:solidFill>
              <a:srgbClr val="F2F6FB"/>
            </a:solidFill>
            <a:prstDash val="solid"/>
          </a:ln>
        </p:spPr>
      </p:sp>
      <p:sp>
        <p:nvSpPr>
          <p:cNvPr id="7" name="Text 3"/>
          <p:cNvSpPr txBox="1"/>
          <p:nvPr/>
        </p:nvSpPr>
        <p:spPr>
          <a:xfrm>
            <a:off x="685800" y="4096512"/>
            <a:ext cx="1463040" cy="452628"/>
          </a:xfrm>
          <a:prstGeom prst="rect">
            <a:avLst/>
          </a:prstGeom>
          <a:noFill/>
          <a:ln/>
        </p:spPr>
        <p:txBody>
          <a:bodyPr wrap="square" lIns="0" tIns="0" rIns="0" bIns="0" rtlCol="0" anchor="ctr"/>
          <a:lstStyle/>
          <a:p>
            <a:pPr indent="0" marL="0">
              <a:buNone/>
            </a:pPr>
            <a:r>
              <a:rPr lang="en-US" sz="2200" b="1" dirty="0">
                <a:solidFill>
                  <a:srgbClr val="2A78D6"/>
                </a:solidFill>
                <a:latin typeface="Cambria" pitchFamily="34" charset="0"/>
                <a:ea typeface="Cambria" pitchFamily="34" charset="-122"/>
                <a:cs typeface="Cambria" pitchFamily="34" charset="-120"/>
              </a:rPr>
              <a:t>78-86%</a:t>
            </a:r>
            <a:endParaRPr lang="en-US" sz="2200" dirty="0"/>
          </a:p>
        </p:txBody>
      </p:sp>
      <p:sp>
        <p:nvSpPr>
          <p:cNvPr id="8" name="Text 4"/>
          <p:cNvSpPr txBox="1"/>
          <p:nvPr/>
        </p:nvSpPr>
        <p:spPr>
          <a:xfrm>
            <a:off x="685800" y="4546397"/>
            <a:ext cx="1463040" cy="462686"/>
          </a:xfrm>
          <a:prstGeom prst="rect">
            <a:avLst/>
          </a:prstGeom>
          <a:noFill/>
          <a:ln/>
        </p:spPr>
        <p:txBody>
          <a:bodyPr wrap="square" lIns="0" tIns="0" rIns="0" bIns="0" rtlCol="0" anchor="t"/>
          <a:lstStyle/>
          <a:p>
            <a:pPr indent="0" marL="0">
              <a:buNone/>
            </a:pPr>
            <a:r>
              <a:rPr lang="en-US" sz="1300" dirty="0">
                <a:solidFill>
                  <a:srgbClr val="5B6B80"/>
                </a:solidFill>
              </a:rPr>
              <a:t>demand variance by week of year</a:t>
            </a:r>
            <a:endParaRPr lang="en-US" sz="1300" dirty="0"/>
          </a:p>
        </p:txBody>
      </p:sp>
      <p:sp>
        <p:nvSpPr>
          <p:cNvPr id="9" name="Stat card"/>
          <p:cNvSpPr/>
          <p:nvPr/>
        </p:nvSpPr>
        <p:spPr>
          <a:xfrm>
            <a:off x="2423160" y="4023360"/>
            <a:ext cx="1737360" cy="1005840"/>
          </a:xfrm>
          <a:prstGeom prst="roundRect">
            <a:avLst>
              <a:gd name="adj" fmla="val 7273"/>
            </a:avLst>
          </a:prstGeom>
          <a:solidFill>
            <a:srgbClr val="F2F6FB"/>
          </a:solidFill>
          <a:ln w="12700">
            <a:solidFill>
              <a:srgbClr val="F2F6FB"/>
            </a:solidFill>
            <a:prstDash val="solid"/>
          </a:ln>
        </p:spPr>
      </p:sp>
      <p:sp>
        <p:nvSpPr>
          <p:cNvPr id="10" name="Text 6"/>
          <p:cNvSpPr txBox="1"/>
          <p:nvPr/>
        </p:nvSpPr>
        <p:spPr>
          <a:xfrm>
            <a:off x="2560320" y="4096512"/>
            <a:ext cx="1463040" cy="452628"/>
          </a:xfrm>
          <a:prstGeom prst="rect">
            <a:avLst/>
          </a:prstGeom>
          <a:noFill/>
          <a:ln/>
        </p:spPr>
        <p:txBody>
          <a:bodyPr wrap="square" lIns="0" tIns="0" rIns="0" bIns="0" rtlCol="0" anchor="ctr"/>
          <a:lstStyle/>
          <a:p>
            <a:pPr indent="0" marL="0">
              <a:buNone/>
            </a:pPr>
            <a:r>
              <a:rPr lang="en-US" sz="2200" b="1" dirty="0">
                <a:solidFill>
                  <a:srgbClr val="1BAF7A"/>
                </a:solidFill>
                <a:latin typeface="Cambria" pitchFamily="34" charset="0"/>
                <a:ea typeface="Cambria" pitchFamily="34" charset="-122"/>
                <a:cs typeface="Cambria" pitchFamily="34" charset="-120"/>
              </a:rPr>
              <a:t>0.97</a:t>
            </a:r>
            <a:endParaRPr lang="en-US" sz="2200" dirty="0"/>
          </a:p>
        </p:txBody>
      </p:sp>
      <p:sp>
        <p:nvSpPr>
          <p:cNvPr id="11" name="Text 7"/>
          <p:cNvSpPr txBox="1"/>
          <p:nvPr/>
        </p:nvSpPr>
        <p:spPr>
          <a:xfrm>
            <a:off x="2560320" y="4546397"/>
            <a:ext cx="1463040" cy="462686"/>
          </a:xfrm>
          <a:prstGeom prst="rect">
            <a:avLst/>
          </a:prstGeom>
          <a:noFill/>
          <a:ln/>
        </p:spPr>
        <p:txBody>
          <a:bodyPr wrap="square" lIns="0" tIns="0" rIns="0" bIns="0" rtlCol="0" anchor="t"/>
          <a:lstStyle/>
          <a:p>
            <a:pPr indent="0" marL="0">
              <a:buNone/>
            </a:pPr>
            <a:r>
              <a:rPr lang="en-US" sz="1300" dirty="0">
                <a:solidFill>
                  <a:srgbClr val="5B6B80"/>
                </a:solidFill>
              </a:rPr>
              <a:t>profile correlation</a:t>
            </a:r>
            <a:endParaRPr lang="en-US" sz="1300" dirty="0"/>
          </a:p>
        </p:txBody>
      </p:sp>
      <p:sp>
        <p:nvSpPr>
          <p:cNvPr id="12" name="Stat card"/>
          <p:cNvSpPr/>
          <p:nvPr/>
        </p:nvSpPr>
        <p:spPr>
          <a:xfrm>
            <a:off x="4297680" y="4023360"/>
            <a:ext cx="1737360" cy="1005840"/>
          </a:xfrm>
          <a:prstGeom prst="roundRect">
            <a:avLst>
              <a:gd name="adj" fmla="val 7273"/>
            </a:avLst>
          </a:prstGeom>
          <a:solidFill>
            <a:srgbClr val="F2F6FB"/>
          </a:solidFill>
          <a:ln w="12700">
            <a:solidFill>
              <a:srgbClr val="F2F6FB"/>
            </a:solidFill>
            <a:prstDash val="solid"/>
          </a:ln>
        </p:spPr>
      </p:sp>
      <p:sp>
        <p:nvSpPr>
          <p:cNvPr id="13" name="Text 9"/>
          <p:cNvSpPr txBox="1"/>
          <p:nvPr/>
        </p:nvSpPr>
        <p:spPr>
          <a:xfrm>
            <a:off x="4434840" y="4096512"/>
            <a:ext cx="1463040" cy="452628"/>
          </a:xfrm>
          <a:prstGeom prst="rect">
            <a:avLst/>
          </a:prstGeom>
          <a:noFill/>
          <a:ln/>
        </p:spPr>
        <p:txBody>
          <a:bodyPr wrap="square" lIns="0" tIns="0" rIns="0" bIns="0" rtlCol="0" anchor="ctr"/>
          <a:lstStyle/>
          <a:p>
            <a:pPr indent="0" marL="0">
              <a:buNone/>
            </a:pPr>
            <a:r>
              <a:rPr lang="en-US" sz="2200" b="1" dirty="0">
                <a:solidFill>
                  <a:srgbClr val="EB6834"/>
                </a:solidFill>
                <a:latin typeface="Cambria" pitchFamily="34" charset="0"/>
                <a:ea typeface="Cambria" pitchFamily="34" charset="-122"/>
                <a:cs typeface="Cambria" pitchFamily="34" charset="-120"/>
              </a:rPr>
              <a:t>-0.017</a:t>
            </a:r>
            <a:endParaRPr lang="en-US" sz="2200" dirty="0"/>
          </a:p>
        </p:txBody>
      </p:sp>
      <p:sp>
        <p:nvSpPr>
          <p:cNvPr id="14" name="Text 10"/>
          <p:cNvSpPr txBox="1"/>
          <p:nvPr/>
        </p:nvSpPr>
        <p:spPr>
          <a:xfrm>
            <a:off x="4434840" y="4546397"/>
            <a:ext cx="1463040" cy="462686"/>
          </a:xfrm>
          <a:prstGeom prst="rect">
            <a:avLst/>
          </a:prstGeom>
          <a:noFill/>
          <a:ln/>
        </p:spPr>
        <p:txBody>
          <a:bodyPr wrap="square" lIns="0" tIns="0" rIns="0" bIns="0" rtlCol="0" anchor="t"/>
          <a:lstStyle/>
          <a:p>
            <a:pPr indent="0" marL="0">
              <a:buNone/>
            </a:pPr>
            <a:r>
              <a:rPr lang="en-US" sz="1300" dirty="0">
                <a:solidFill>
                  <a:srgbClr val="5B6B80"/>
                </a:solidFill>
              </a:rPr>
              <a:t>price effect (not significant)</a:t>
            </a:r>
            <a:endParaRPr lang="en-US" sz="1300" dirty="0"/>
          </a:p>
        </p:txBody>
      </p:sp>
      <p:graphicFrame>
        <p:nvGraphicFramePr>
          <p:cNvPr id="15" name="Chart 0" descr=""/>
          <p:cNvGraphicFramePr/>
          <p:nvPr/>
        </p:nvGraphicFramePr>
        <p:xfrm>
          <a:off x="6309360" y="1600200"/>
          <a:ext cx="5303520" cy="3429000"/>
        </p:xfrm>
        <a:graphic xmlns:a="http://schemas.openxmlformats.org/drawingml/2006/main">
          <a:graphicData uri="http://schemas.openxmlformats.org/drawingml/2006/chart">
            <c:chart xmlns:c="http://schemas.openxmlformats.org/drawingml/2006/chart" r:id="rId2"/>
          </a:graphicData>
        </a:graphic>
      </p:graphicFrame>
      <p:sp>
        <p:nvSpPr>
          <p:cNvPr id="16" name="Callout"/>
          <p:cNvSpPr/>
          <p:nvPr/>
        </p:nvSpPr>
        <p:spPr>
          <a:xfrm>
            <a:off x="548640" y="5166360"/>
            <a:ext cx="11064240" cy="1143000"/>
          </a:xfrm>
          <a:prstGeom prst="roundRect">
            <a:avLst>
              <a:gd name="adj" fmla="val 6400"/>
            </a:avLst>
          </a:prstGeom>
          <a:solidFill>
            <a:srgbClr val="F2F6FB"/>
          </a:solidFill>
          <a:ln w="12700">
            <a:solidFill>
              <a:srgbClr val="D9E1EC"/>
            </a:solidFill>
            <a:prstDash val="solid"/>
          </a:ln>
        </p:spPr>
      </p:sp>
      <p:sp>
        <p:nvSpPr>
          <p:cNvPr id="17" name="Text 12"/>
          <p:cNvSpPr txBox="1"/>
          <p:nvPr/>
        </p:nvSpPr>
        <p:spPr>
          <a:xfrm>
            <a:off x="731520" y="5276088"/>
            <a:ext cx="10698480" cy="292608"/>
          </a:xfrm>
          <a:prstGeom prst="rect">
            <a:avLst/>
          </a:prstGeom>
          <a:noFill/>
          <a:ln/>
        </p:spPr>
        <p:txBody>
          <a:bodyPr wrap="square" lIns="0" tIns="0" rIns="0" bIns="0" rtlCol="0" anchor="ctr"/>
          <a:lstStyle/>
          <a:p>
            <a:pPr indent="0" marL="0">
              <a:buNone/>
            </a:pPr>
            <a:r>
              <a:rPr lang="en-US" sz="1400" b="1" dirty="0">
                <a:solidFill>
                  <a:schemeClr val="accent1"/>
                </a:solidFill>
              </a:rPr>
              <a:t>Decisions that follow from the evidence</a:t>
            </a:r>
            <a:endParaRPr lang="en-US" sz="1400" dirty="0"/>
          </a:p>
        </p:txBody>
      </p:sp>
      <p:sp>
        <p:nvSpPr>
          <p:cNvPr id="18" name="Text 13"/>
          <p:cNvSpPr txBox="1"/>
          <p:nvPr/>
        </p:nvSpPr>
        <p:spPr>
          <a:xfrm>
            <a:off x="731520" y="5623560"/>
            <a:ext cx="10698480" cy="59436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B2A41"/>
                </a:solidFill>
              </a:rPr>
              <a:t>One shared seasonal curve for all 30 products; sub-clusters by shape add noise, not signal.</a:t>
            </a:r>
            <a:endParaRPr lang="en-US" sz="1200" dirty="0"/>
          </a:p>
          <a:p>
            <a:pPr marL="177800" indent="-177800">
              <a:spcAft>
                <a:spcPts val="500"/>
              </a:spcAft>
              <a:buSzPct val="100000"/>
              <a:buChar char="•"/>
            </a:pPr>
            <a:r>
              <a:rPr lang="en-US" sz="1200" dirty="0">
                <a:solidFill>
                  <a:srgbClr val="1B2A41"/>
                </a:solidFill>
              </a:rPr>
              <a:t>Price and cost are not features; stock only caps sales and is not a demand driver.</a:t>
            </a:r>
            <a:endParaRPr lang="en-US" sz="1200" dirty="0"/>
          </a:p>
          <a:p>
            <a:pPr marL="177800" indent="-177800">
              <a:spcAft>
                <a:spcPts val="500"/>
              </a:spcAft>
              <a:buSzPct val="100000"/>
              <a:buChar char="•"/>
            </a:pPr>
            <a:r>
              <a:rPr lang="en-US" sz="1200" dirty="0">
                <a:solidFill>
                  <a:srgbClr val="1B2A41"/>
                </a:solidFill>
              </a:rPr>
              <a:t>Seasonality and last year's pattern carry about 95% of the learner's importance, which is why a simple structure matches it.</a:t>
            </a:r>
            <a:endParaRPr lang="en-US" sz="12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Part tag"/>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PART 2 · MODELLING METHOD</a:t>
            </a:r>
            <a:endParaRPr lang="en-US" sz="1200" dirty="0"/>
          </a:p>
        </p:txBody>
      </p:sp>
      <p:sp>
        <p:nvSpPr>
          <p:cNvPr id="3" name="Text 0"/>
          <p:cNvSpPr/>
          <p:nvPr>
            <p:ph idx="100"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13 candidate models, one fair test</a:t>
            </a:r>
            <a:endParaRPr lang="en-US" sz="3000" dirty="0"/>
          </a:p>
        </p:txBody>
      </p:sp>
      <p:pic>
        <p:nvPicPr>
          <p:cNvPr id="5" name="Backtest timeline" descr="/home/user/Technical_Assessment_HamidrezaNademi/part2_forecasting_v1.2/figures/train_test_timeline_v1.2.png">    </p:cNvPr>
          <p:cNvPicPr>
            <a:picLocks noChangeAspect="1"/>
          </p:cNvPicPr>
          <p:nvPr/>
        </p:nvPicPr>
        <p:blipFill>
          <a:blip r:embed="rId1"/>
          <a:stretch>
            <a:fillRect/>
          </a:stretch>
        </p:blipFill>
        <p:spPr>
          <a:xfrm>
            <a:off x="548640" y="1645920"/>
            <a:ext cx="5852160" cy="1856232"/>
          </a:xfrm>
          <a:prstGeom prst="rect">
            <a:avLst/>
          </a:prstGeom>
        </p:spPr>
      </p:pic>
      <p:sp>
        <p:nvSpPr>
          <p:cNvPr id="6" name="Text 2"/>
          <p:cNvSpPr txBox="1"/>
          <p:nvPr/>
        </p:nvSpPr>
        <p:spPr>
          <a:xfrm>
            <a:off x="548640" y="3529584"/>
            <a:ext cx="5852160" cy="365760"/>
          </a:xfrm>
          <a:prstGeom prst="rect">
            <a:avLst/>
          </a:prstGeom>
          <a:noFill/>
          <a:ln/>
        </p:spPr>
        <p:txBody>
          <a:bodyPr wrap="square" lIns="0" tIns="0" rIns="0" bIns="0" rtlCol="0" anchor="ctr"/>
          <a:lstStyle/>
          <a:p>
            <a:pPr indent="0" marL="0">
              <a:buNone/>
            </a:pPr>
            <a:r>
              <a:rPr lang="en-US" sz="1150" i="1" dirty="0">
                <a:solidFill>
                  <a:srgbClr val="5B6B80"/>
                </a:solidFill>
              </a:rPr>
              <a:t>Time order is never broken: each test learns from the past and is scored on the next 26 weeks.</a:t>
            </a:r>
            <a:endParaRPr lang="en-US" sz="1150" dirty="0"/>
          </a:p>
        </p:txBody>
      </p:sp>
      <p:sp>
        <p:nvSpPr>
          <p:cNvPr id="7" name="Callout"/>
          <p:cNvSpPr/>
          <p:nvPr/>
        </p:nvSpPr>
        <p:spPr>
          <a:xfrm>
            <a:off x="548640" y="3977640"/>
            <a:ext cx="5852160" cy="2331720"/>
          </a:xfrm>
          <a:prstGeom prst="roundRect">
            <a:avLst>
              <a:gd name="adj" fmla="val 3137"/>
            </a:avLst>
          </a:prstGeom>
          <a:solidFill>
            <a:srgbClr val="F2F6FB"/>
          </a:solidFill>
          <a:ln w="12700">
            <a:solidFill>
              <a:srgbClr val="D9E1EC"/>
            </a:solidFill>
            <a:prstDash val="solid"/>
          </a:ln>
        </p:spPr>
      </p:sp>
      <p:sp>
        <p:nvSpPr>
          <p:cNvPr id="8" name="Text 4"/>
          <p:cNvSpPr txBox="1"/>
          <p:nvPr/>
        </p:nvSpPr>
        <p:spPr>
          <a:xfrm>
            <a:off x="731520" y="4087368"/>
            <a:ext cx="5486400" cy="292608"/>
          </a:xfrm>
          <a:prstGeom prst="rect">
            <a:avLst/>
          </a:prstGeom>
          <a:noFill/>
          <a:ln/>
        </p:spPr>
        <p:txBody>
          <a:bodyPr wrap="square" lIns="0" tIns="0" rIns="0" bIns="0" rtlCol="0" anchor="ctr"/>
          <a:lstStyle/>
          <a:p>
            <a:pPr indent="0" marL="0">
              <a:buNone/>
            </a:pPr>
            <a:r>
              <a:rPr lang="en-US" sz="1400" b="1" dirty="0">
                <a:solidFill>
                  <a:schemeClr val="accent1"/>
                </a:solidFill>
              </a:rPr>
              <a:t>Why this design</a:t>
            </a:r>
            <a:endParaRPr lang="en-US" sz="1400" dirty="0"/>
          </a:p>
        </p:txBody>
      </p:sp>
      <p:sp>
        <p:nvSpPr>
          <p:cNvPr id="9" name="Text 5"/>
          <p:cNvSpPr txBox="1"/>
          <p:nvPr/>
        </p:nvSpPr>
        <p:spPr>
          <a:xfrm>
            <a:off x="731520" y="4434840"/>
            <a:ext cx="5486400" cy="178308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B2A41"/>
                </a:solidFill>
              </a:rPr>
              <a:t>No peeking: every free setting, including the 0.40 / 0.60 blend weight, is tuned on training weeks only.</a:t>
            </a:r>
            <a:endParaRPr lang="en-US" sz="1250" dirty="0"/>
          </a:p>
          <a:p>
            <a:pPr marL="177800" indent="-177800">
              <a:spcAft>
                <a:spcPts val="500"/>
              </a:spcAft>
              <a:buSzPct val="100000"/>
              <a:buChar char="•"/>
            </a:pPr>
            <a:r>
              <a:rPr lang="en-US" sz="1250" dirty="0">
                <a:solidFill>
                  <a:srgbClr val="1B2A41"/>
                </a:solidFill>
              </a:rPr>
              <a:t>Not one lucky window: four rolling origins, each 26 weeks ahead like the real task.</a:t>
            </a:r>
            <a:endParaRPr lang="en-US" sz="1250" dirty="0"/>
          </a:p>
          <a:p>
            <a:pPr marL="177800" indent="-177800">
              <a:spcAft>
                <a:spcPts val="500"/>
              </a:spcAft>
              <a:buSzPct val="100000"/>
              <a:buChar char="•"/>
            </a:pPr>
            <a:r>
              <a:rPr lang="en-US" sz="1250" dirty="0">
                <a:solidFill>
                  <a:srgbClr val="1B2A41"/>
                </a:solidFill>
              </a:rPr>
              <a:t>WAPE (volume-weighted) is primary; MAE, RMSE, MAPE, MASE and bias are also reported.</a:t>
            </a:r>
            <a:endParaRPr lang="en-US" sz="1250" dirty="0"/>
          </a:p>
          <a:p>
            <a:pPr marL="177800" indent="-177800">
              <a:spcAft>
                <a:spcPts val="500"/>
              </a:spcAft>
              <a:buSzPct val="100000"/>
              <a:buChar char="•"/>
            </a:pPr>
            <a:r>
              <a:rPr lang="en-US" sz="1250" dirty="0">
                <a:solidFill>
                  <a:srgbClr val="1B2A41"/>
                </a:solidFill>
              </a:rPr>
              <a:t>Paired bootstrap over products: is the winner really better than the best simple rule?</a:t>
            </a:r>
            <a:endParaRPr lang="en-US" sz="1250" dirty="0"/>
          </a:p>
        </p:txBody>
      </p:sp>
      <p:sp>
        <p:nvSpPr>
          <p:cNvPr id="10" name="Model family"/>
          <p:cNvSpPr/>
          <p:nvPr/>
        </p:nvSpPr>
        <p:spPr>
          <a:xfrm>
            <a:off x="6583680" y="1645920"/>
            <a:ext cx="5029200" cy="704088"/>
          </a:xfrm>
          <a:prstGeom prst="roundRect">
            <a:avLst>
              <a:gd name="adj" fmla="val 7792"/>
            </a:avLst>
          </a:prstGeom>
          <a:solidFill>
            <a:srgbClr val="F2F6FB"/>
          </a:solidFill>
          <a:ln w="12700">
            <a:solidFill>
              <a:srgbClr val="F2F6FB"/>
            </a:solidFill>
            <a:prstDash val="solid"/>
          </a:ln>
        </p:spPr>
      </p:sp>
      <p:sp>
        <p:nvSpPr>
          <p:cNvPr id="11" name="Text 7"/>
          <p:cNvSpPr txBox="1"/>
          <p:nvPr/>
        </p:nvSpPr>
        <p:spPr>
          <a:xfrm>
            <a:off x="6720840" y="1682496"/>
            <a:ext cx="1417320" cy="630936"/>
          </a:xfrm>
          <a:prstGeom prst="rect">
            <a:avLst/>
          </a:prstGeom>
          <a:noFill/>
          <a:ln/>
        </p:spPr>
        <p:txBody>
          <a:bodyPr wrap="square" lIns="0" tIns="0" rIns="0" bIns="0" rtlCol="0" anchor="ctr"/>
          <a:lstStyle/>
          <a:p>
            <a:pPr indent="0" marL="0">
              <a:buNone/>
            </a:pPr>
            <a:r>
              <a:rPr lang="en-US" sz="1150" b="1" dirty="0">
                <a:solidFill>
                  <a:schemeClr val="accent1"/>
                </a:solidFill>
              </a:rPr>
              <a:t>Baselines</a:t>
            </a:r>
            <a:endParaRPr lang="en-US" sz="1150" dirty="0"/>
          </a:p>
        </p:txBody>
      </p:sp>
      <p:sp>
        <p:nvSpPr>
          <p:cNvPr id="12" name="Text 8"/>
          <p:cNvSpPr txBox="1"/>
          <p:nvPr/>
        </p:nvSpPr>
        <p:spPr>
          <a:xfrm>
            <a:off x="8183880" y="1682496"/>
            <a:ext cx="3337560" cy="630936"/>
          </a:xfrm>
          <a:prstGeom prst="rect">
            <a:avLst/>
          </a:prstGeom>
          <a:noFill/>
          <a:ln/>
        </p:spPr>
        <p:txBody>
          <a:bodyPr wrap="square" lIns="0" tIns="0" rIns="0" bIns="0" rtlCol="0" anchor="ctr"/>
          <a:lstStyle/>
          <a:p>
            <a:pPr indent="0" marL="0">
              <a:buNone/>
            </a:pPr>
            <a:r>
              <a:rPr lang="en-US" sz="1100" dirty="0">
                <a:solidFill>
                  <a:srgbClr val="1B2A41"/>
                </a:solidFill>
              </a:rPr>
              <a:t>same week last year, 52-week mean, mean x shared season index; nothing to tune</a:t>
            </a:r>
            <a:endParaRPr lang="en-US" sz="1100" dirty="0"/>
          </a:p>
        </p:txBody>
      </p:sp>
      <p:sp>
        <p:nvSpPr>
          <p:cNvPr id="13" name="Model family"/>
          <p:cNvSpPr/>
          <p:nvPr/>
        </p:nvSpPr>
        <p:spPr>
          <a:xfrm>
            <a:off x="6583680" y="2423160"/>
            <a:ext cx="5029200" cy="704088"/>
          </a:xfrm>
          <a:prstGeom prst="roundRect">
            <a:avLst>
              <a:gd name="adj" fmla="val 7792"/>
            </a:avLst>
          </a:prstGeom>
          <a:solidFill>
            <a:srgbClr val="F2F6FB"/>
          </a:solidFill>
          <a:ln w="12700">
            <a:solidFill>
              <a:srgbClr val="F2F6FB"/>
            </a:solidFill>
            <a:prstDash val="solid"/>
          </a:ln>
        </p:spPr>
      </p:sp>
      <p:sp>
        <p:nvSpPr>
          <p:cNvPr id="14" name="Text 10"/>
          <p:cNvSpPr txBox="1"/>
          <p:nvPr/>
        </p:nvSpPr>
        <p:spPr>
          <a:xfrm>
            <a:off x="6720840" y="2459736"/>
            <a:ext cx="1417320" cy="630936"/>
          </a:xfrm>
          <a:prstGeom prst="rect">
            <a:avLst/>
          </a:prstGeom>
          <a:noFill/>
          <a:ln/>
        </p:spPr>
        <p:txBody>
          <a:bodyPr wrap="square" lIns="0" tIns="0" rIns="0" bIns="0" rtlCol="0" anchor="ctr"/>
          <a:lstStyle/>
          <a:p>
            <a:pPr indent="0" marL="0">
              <a:buNone/>
            </a:pPr>
            <a:r>
              <a:rPr lang="en-US" sz="1150" b="1" dirty="0">
                <a:solidFill>
                  <a:schemeClr val="accent1"/>
                </a:solidFill>
              </a:rPr>
              <a:t>Holt-Winters, SARIMAX</a:t>
            </a:r>
            <a:endParaRPr lang="en-US" sz="1150" dirty="0"/>
          </a:p>
        </p:txBody>
      </p:sp>
      <p:sp>
        <p:nvSpPr>
          <p:cNvPr id="15" name="Text 11"/>
          <p:cNvSpPr txBox="1"/>
          <p:nvPr/>
        </p:nvSpPr>
        <p:spPr>
          <a:xfrm>
            <a:off x="8183880" y="2459736"/>
            <a:ext cx="3337560" cy="630936"/>
          </a:xfrm>
          <a:prstGeom prst="rect">
            <a:avLst/>
          </a:prstGeom>
          <a:noFill/>
          <a:ln/>
        </p:spPr>
        <p:txBody>
          <a:bodyPr wrap="square" lIns="0" tIns="0" rIns="0" bIns="0" rtlCol="0" anchor="ctr"/>
          <a:lstStyle/>
          <a:p>
            <a:pPr indent="0" marL="0">
              <a:buNone/>
            </a:pPr>
            <a:r>
              <a:rPr lang="en-US" sz="1100" dirty="0">
                <a:solidFill>
                  <a:srgbClr val="1B2A41"/>
                </a:solidFill>
              </a:rPr>
              <a:t>per product; structure by AICc; SARIMAX with Fourier seasonality and ARMA errors</a:t>
            </a:r>
            <a:endParaRPr lang="en-US" sz="1100" dirty="0"/>
          </a:p>
        </p:txBody>
      </p:sp>
      <p:sp>
        <p:nvSpPr>
          <p:cNvPr id="16" name="Model family"/>
          <p:cNvSpPr/>
          <p:nvPr/>
        </p:nvSpPr>
        <p:spPr>
          <a:xfrm>
            <a:off x="6583680" y="3200400"/>
            <a:ext cx="5029200" cy="704088"/>
          </a:xfrm>
          <a:prstGeom prst="roundRect">
            <a:avLst>
              <a:gd name="adj" fmla="val 7792"/>
            </a:avLst>
          </a:prstGeom>
          <a:solidFill>
            <a:srgbClr val="F2F6FB"/>
          </a:solidFill>
          <a:ln w="12700">
            <a:solidFill>
              <a:srgbClr val="F2F6FB"/>
            </a:solidFill>
            <a:prstDash val="solid"/>
          </a:ln>
        </p:spPr>
      </p:sp>
      <p:sp>
        <p:nvSpPr>
          <p:cNvPr id="17" name="Text 13"/>
          <p:cNvSpPr txBox="1"/>
          <p:nvPr/>
        </p:nvSpPr>
        <p:spPr>
          <a:xfrm>
            <a:off x="6720840" y="3236976"/>
            <a:ext cx="1417320" cy="630936"/>
          </a:xfrm>
          <a:prstGeom prst="rect">
            <a:avLst/>
          </a:prstGeom>
          <a:noFill/>
          <a:ln/>
        </p:spPr>
        <p:txBody>
          <a:bodyPr wrap="square" lIns="0" tIns="0" rIns="0" bIns="0" rtlCol="0" anchor="ctr"/>
          <a:lstStyle/>
          <a:p>
            <a:pPr indent="0" marL="0">
              <a:buNone/>
            </a:pPr>
            <a:r>
              <a:rPr lang="en-US" sz="1150" b="1" dirty="0">
                <a:solidFill>
                  <a:schemeClr val="accent1"/>
                </a:solidFill>
              </a:rPr>
              <a:t>Structural (pooled / per segment)</a:t>
            </a:r>
            <a:endParaRPr lang="en-US" sz="1150" dirty="0"/>
          </a:p>
        </p:txBody>
      </p:sp>
      <p:sp>
        <p:nvSpPr>
          <p:cNvPr id="18" name="Text 14"/>
          <p:cNvSpPr txBox="1"/>
          <p:nvPr/>
        </p:nvSpPr>
        <p:spPr>
          <a:xfrm>
            <a:off x="8183880" y="3236976"/>
            <a:ext cx="3337560" cy="630936"/>
          </a:xfrm>
          <a:prstGeom prst="rect">
            <a:avLst/>
          </a:prstGeom>
          <a:noFill/>
          <a:ln/>
        </p:spPr>
        <p:txBody>
          <a:bodyPr wrap="square" lIns="0" tIns="0" rIns="0" bIns="0" rtlCol="0" anchor="ctr"/>
          <a:lstStyle/>
          <a:p>
            <a:pPr indent="0" marL="0">
              <a:buNone/>
            </a:pPr>
            <a:r>
              <a:rPr lang="en-US" sz="1100" dirty="0">
                <a:solidFill>
                  <a:srgbClr val="1B2A41"/>
                </a:solidFill>
              </a:rPr>
              <a:t>log demand = level + trend + Fourier terms; order K and trend by inner CV</a:t>
            </a:r>
            <a:endParaRPr lang="en-US" sz="1100" dirty="0"/>
          </a:p>
        </p:txBody>
      </p:sp>
      <p:sp>
        <p:nvSpPr>
          <p:cNvPr id="19" name="Model family"/>
          <p:cNvSpPr/>
          <p:nvPr/>
        </p:nvSpPr>
        <p:spPr>
          <a:xfrm>
            <a:off x="6583680" y="3977640"/>
            <a:ext cx="5029200" cy="704088"/>
          </a:xfrm>
          <a:prstGeom prst="roundRect">
            <a:avLst>
              <a:gd name="adj" fmla="val 7792"/>
            </a:avLst>
          </a:prstGeom>
          <a:solidFill>
            <a:srgbClr val="F2F6FB"/>
          </a:solidFill>
          <a:ln w="12700">
            <a:solidFill>
              <a:srgbClr val="F2F6FB"/>
            </a:solidFill>
            <a:prstDash val="solid"/>
          </a:ln>
        </p:spPr>
      </p:sp>
      <p:sp>
        <p:nvSpPr>
          <p:cNvPr id="20" name="Text 16"/>
          <p:cNvSpPr txBox="1"/>
          <p:nvPr/>
        </p:nvSpPr>
        <p:spPr>
          <a:xfrm>
            <a:off x="6720840" y="4014216"/>
            <a:ext cx="1417320" cy="630936"/>
          </a:xfrm>
          <a:prstGeom prst="rect">
            <a:avLst/>
          </a:prstGeom>
          <a:noFill/>
          <a:ln/>
        </p:spPr>
        <p:txBody>
          <a:bodyPr wrap="square" lIns="0" tIns="0" rIns="0" bIns="0" rtlCol="0" anchor="ctr"/>
          <a:lstStyle/>
          <a:p>
            <a:pPr indent="0" marL="0">
              <a:buNone/>
            </a:pPr>
            <a:r>
              <a:rPr lang="en-US" sz="1150" b="1" dirty="0">
                <a:solidFill>
                  <a:schemeClr val="accent1"/>
                </a:solidFill>
              </a:rPr>
              <a:t>LightGBM (global / per segment)</a:t>
            </a:r>
            <a:endParaRPr lang="en-US" sz="1150" dirty="0"/>
          </a:p>
        </p:txBody>
      </p:sp>
      <p:sp>
        <p:nvSpPr>
          <p:cNvPr id="21" name="Text 17"/>
          <p:cNvSpPr txBox="1"/>
          <p:nvPr/>
        </p:nvSpPr>
        <p:spPr>
          <a:xfrm>
            <a:off x="8183880" y="4014216"/>
            <a:ext cx="3337560" cy="630936"/>
          </a:xfrm>
          <a:prstGeom prst="rect">
            <a:avLst/>
          </a:prstGeom>
          <a:noFill/>
          <a:ln/>
        </p:spPr>
        <p:txBody>
          <a:bodyPr wrap="square" lIns="0" tIns="0" rIns="0" bIns="0" rtlCol="0" anchor="ctr"/>
          <a:lstStyle/>
          <a:p>
            <a:pPr indent="0" marL="0">
              <a:buNone/>
            </a:pPr>
            <a:r>
              <a:rPr lang="en-US" sz="1100" dirty="0">
                <a:solidFill>
                  <a:srgbClr val="1B2A41"/>
                </a:solidFill>
              </a:rPr>
              <a:t>direct multi-horizon; hyper-parameters on a trailing 26-week validation block</a:t>
            </a:r>
            <a:endParaRPr lang="en-US" sz="1100" dirty="0"/>
          </a:p>
        </p:txBody>
      </p:sp>
      <p:sp>
        <p:nvSpPr>
          <p:cNvPr id="22" name="Model family"/>
          <p:cNvSpPr/>
          <p:nvPr/>
        </p:nvSpPr>
        <p:spPr>
          <a:xfrm>
            <a:off x="6583680" y="4754880"/>
            <a:ext cx="5029200" cy="704088"/>
          </a:xfrm>
          <a:prstGeom prst="roundRect">
            <a:avLst>
              <a:gd name="adj" fmla="val 7792"/>
            </a:avLst>
          </a:prstGeom>
          <a:solidFill>
            <a:srgbClr val="F2F6FB"/>
          </a:solidFill>
          <a:ln w="12700">
            <a:solidFill>
              <a:srgbClr val="F2F6FB"/>
            </a:solidFill>
            <a:prstDash val="solid"/>
          </a:ln>
        </p:spPr>
      </p:sp>
      <p:sp>
        <p:nvSpPr>
          <p:cNvPr id="23" name="Text 19"/>
          <p:cNvSpPr txBox="1"/>
          <p:nvPr/>
        </p:nvSpPr>
        <p:spPr>
          <a:xfrm>
            <a:off x="6720840" y="4791456"/>
            <a:ext cx="1417320" cy="630936"/>
          </a:xfrm>
          <a:prstGeom prst="rect">
            <a:avLst/>
          </a:prstGeom>
          <a:noFill/>
          <a:ln/>
        </p:spPr>
        <p:txBody>
          <a:bodyPr wrap="square" lIns="0" tIns="0" rIns="0" bIns="0" rtlCol="0" anchor="ctr"/>
          <a:lstStyle/>
          <a:p>
            <a:pPr indent="0" marL="0">
              <a:buNone/>
            </a:pPr>
            <a:r>
              <a:rPr lang="en-US" sz="1150" b="1" dirty="0">
                <a:solidFill>
                  <a:schemeClr val="accent1"/>
                </a:solidFill>
              </a:rPr>
              <a:t>Prophet</a:t>
            </a:r>
            <a:endParaRPr lang="en-US" sz="1150" dirty="0"/>
          </a:p>
        </p:txBody>
      </p:sp>
      <p:sp>
        <p:nvSpPr>
          <p:cNvPr id="24" name="Text 20"/>
          <p:cNvSpPr txBox="1"/>
          <p:nvPr/>
        </p:nvSpPr>
        <p:spPr>
          <a:xfrm>
            <a:off x="8183880" y="4791456"/>
            <a:ext cx="3337560" cy="630936"/>
          </a:xfrm>
          <a:prstGeom prst="rect">
            <a:avLst/>
          </a:prstGeom>
          <a:noFill/>
          <a:ln/>
        </p:spPr>
        <p:txBody>
          <a:bodyPr wrap="square" lIns="0" tIns="0" rIns="0" bIns="0" rtlCol="0" anchor="ctr"/>
          <a:lstStyle/>
          <a:p>
            <a:pPr indent="0" marL="0">
              <a:buNone/>
            </a:pPr>
            <a:r>
              <a:rPr lang="en-US" sz="1100" dirty="0">
                <a:solidFill>
                  <a:srgbClr val="1B2A41"/>
                </a:solidFill>
              </a:rPr>
              <a:t>yearly seasonality; settings by inner CV on 6 sample products</a:t>
            </a:r>
            <a:endParaRPr lang="en-US" sz="1100" dirty="0"/>
          </a:p>
        </p:txBody>
      </p:sp>
      <p:sp>
        <p:nvSpPr>
          <p:cNvPr id="25" name="Model family"/>
          <p:cNvSpPr/>
          <p:nvPr/>
        </p:nvSpPr>
        <p:spPr>
          <a:xfrm>
            <a:off x="6583680" y="5532120"/>
            <a:ext cx="5029200" cy="704088"/>
          </a:xfrm>
          <a:prstGeom prst="roundRect">
            <a:avLst>
              <a:gd name="adj" fmla="val 7792"/>
            </a:avLst>
          </a:prstGeom>
          <a:solidFill>
            <a:srgbClr val="F2F6FB"/>
          </a:solidFill>
          <a:ln w="12700">
            <a:solidFill>
              <a:srgbClr val="F2F6FB"/>
            </a:solidFill>
            <a:prstDash val="solid"/>
          </a:ln>
        </p:spPr>
      </p:sp>
      <p:sp>
        <p:nvSpPr>
          <p:cNvPr id="26" name="Text 22"/>
          <p:cNvSpPr txBox="1"/>
          <p:nvPr/>
        </p:nvSpPr>
        <p:spPr>
          <a:xfrm>
            <a:off x="6720840" y="5568696"/>
            <a:ext cx="1417320" cy="630936"/>
          </a:xfrm>
          <a:prstGeom prst="rect">
            <a:avLst/>
          </a:prstGeom>
          <a:noFill/>
          <a:ln/>
        </p:spPr>
        <p:txBody>
          <a:bodyPr wrap="square" lIns="0" tIns="0" rIns="0" bIns="0" rtlCol="0" anchor="ctr"/>
          <a:lstStyle/>
          <a:p>
            <a:pPr indent="0" marL="0">
              <a:buNone/>
            </a:pPr>
            <a:r>
              <a:rPr lang="en-US" sz="1150" b="1" dirty="0">
                <a:solidFill>
                  <a:schemeClr val="accent1"/>
                </a:solidFill>
              </a:rPr>
              <a:t>Ensembles</a:t>
            </a:r>
            <a:endParaRPr lang="en-US" sz="1150" dirty="0"/>
          </a:p>
        </p:txBody>
      </p:sp>
      <p:sp>
        <p:nvSpPr>
          <p:cNvPr id="27" name="Text 23"/>
          <p:cNvSpPr txBox="1"/>
          <p:nvPr/>
        </p:nvSpPr>
        <p:spPr>
          <a:xfrm>
            <a:off x="8183880" y="5568696"/>
            <a:ext cx="3337560" cy="630936"/>
          </a:xfrm>
          <a:prstGeom prst="rect">
            <a:avLst/>
          </a:prstGeom>
          <a:noFill/>
          <a:ln/>
        </p:spPr>
        <p:txBody>
          <a:bodyPr wrap="square" lIns="0" tIns="0" rIns="0" bIns="0" rtlCol="0" anchor="ctr"/>
          <a:lstStyle/>
          <a:p>
            <a:pPr indent="0" marL="0">
              <a:buNone/>
            </a:pPr>
            <a:r>
              <a:rPr lang="en-US" sz="1100" dirty="0">
                <a:solidFill>
                  <a:srgbClr val="1B2A41"/>
                </a:solidFill>
              </a:rPr>
              <a:t>average of 5 fixed methods; average of best 3 chosen only from earlier folds</a:t>
            </a:r>
            <a:endParaRPr lang="en-US" sz="11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Part tag"/>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PART 2 · FORECASTING</a:t>
            </a:r>
            <a:endParaRPr lang="en-US" sz="1200" dirty="0"/>
          </a:p>
        </p:txBody>
      </p:sp>
      <p:sp>
        <p:nvSpPr>
          <p:cNvPr id="3" name="Text 0"/>
          <p:cNvSpPr/>
          <p:nvPr>
            <p:ph idx="100"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13 methods, 4 tests: the simple structure wins</a:t>
            </a:r>
            <a:endParaRPr lang="en-US" sz="3000" dirty="0"/>
          </a:p>
        </p:txBody>
      </p:sp>
      <p:graphicFrame>
        <p:nvGraphicFramePr>
          <p:cNvPr id="5" name="Chart 0" descr=""/>
          <p:cNvGraphicFramePr/>
          <p:nvPr/>
        </p:nvGraphicFramePr>
        <p:xfrm>
          <a:off x="548640" y="1645920"/>
          <a:ext cx="6766560" cy="4617720"/>
        </p:xfrm>
        <a:graphic xmlns:a="http://schemas.openxmlformats.org/drawingml/2006/main">
          <a:graphicData uri="http://schemas.openxmlformats.org/drawingml/2006/chart">
            <c:chart xmlns:c="http://schemas.openxmlformats.org/drawingml/2006/chart" r:id="rId1"/>
          </a:graphicData>
        </a:graphic>
      </p:graphicFrame>
      <p:sp>
        <p:nvSpPr>
          <p:cNvPr id="6" name="Stat card"/>
          <p:cNvSpPr/>
          <p:nvPr/>
        </p:nvSpPr>
        <p:spPr>
          <a:xfrm>
            <a:off x="7589520" y="1691640"/>
            <a:ext cx="1920240" cy="1325880"/>
          </a:xfrm>
          <a:prstGeom prst="roundRect">
            <a:avLst>
              <a:gd name="adj" fmla="val 5517"/>
            </a:avLst>
          </a:prstGeom>
          <a:solidFill>
            <a:srgbClr val="F2F6FB"/>
          </a:solidFill>
          <a:ln w="12700">
            <a:solidFill>
              <a:srgbClr val="F2F6FB"/>
            </a:solidFill>
            <a:prstDash val="solid"/>
          </a:ln>
        </p:spPr>
      </p:sp>
      <p:sp>
        <p:nvSpPr>
          <p:cNvPr id="7" name="Text 3"/>
          <p:cNvSpPr txBox="1"/>
          <p:nvPr/>
        </p:nvSpPr>
        <p:spPr>
          <a:xfrm>
            <a:off x="7726680" y="1764792"/>
            <a:ext cx="1645920" cy="596646"/>
          </a:xfrm>
          <a:prstGeom prst="rect">
            <a:avLst/>
          </a:prstGeom>
          <a:noFill/>
          <a:ln/>
        </p:spPr>
        <p:txBody>
          <a:bodyPr wrap="square" lIns="0" tIns="0" rIns="0" bIns="0" rtlCol="0" anchor="ctr"/>
          <a:lstStyle/>
          <a:p>
            <a:pPr indent="0" marL="0">
              <a:buNone/>
            </a:pPr>
            <a:r>
              <a:rPr lang="en-US" sz="3200" b="1" dirty="0">
                <a:solidFill>
                  <a:srgbClr val="1BAF7A"/>
                </a:solidFill>
                <a:latin typeface="Cambria" pitchFamily="34" charset="0"/>
                <a:ea typeface="Cambria" pitchFamily="34" charset="-122"/>
                <a:cs typeface="Cambria" pitchFamily="34" charset="-120"/>
              </a:rPr>
              <a:t>4.57%</a:t>
            </a:r>
            <a:endParaRPr lang="en-US" sz="3200" dirty="0"/>
          </a:p>
        </p:txBody>
      </p:sp>
      <p:sp>
        <p:nvSpPr>
          <p:cNvPr id="8" name="Text 4"/>
          <p:cNvSpPr txBox="1"/>
          <p:nvPr/>
        </p:nvSpPr>
        <p:spPr>
          <a:xfrm>
            <a:off x="7726680" y="2381098"/>
            <a:ext cx="1645920" cy="609905"/>
          </a:xfrm>
          <a:prstGeom prst="rect">
            <a:avLst/>
          </a:prstGeom>
          <a:noFill/>
          <a:ln/>
        </p:spPr>
        <p:txBody>
          <a:bodyPr wrap="square" lIns="0" tIns="0" rIns="0" bIns="0" rtlCol="0" anchor="t"/>
          <a:lstStyle/>
          <a:p>
            <a:pPr indent="0" marL="0">
              <a:buNone/>
            </a:pPr>
            <a:r>
              <a:rPr lang="en-US" sz="1300" dirty="0">
                <a:solidFill>
                  <a:srgbClr val="5B6B80"/>
                </a:solidFill>
              </a:rPr>
              <a:t>WAPE of the winner</a:t>
            </a:r>
            <a:endParaRPr lang="en-US" sz="1300" dirty="0"/>
          </a:p>
        </p:txBody>
      </p:sp>
      <p:sp>
        <p:nvSpPr>
          <p:cNvPr id="9" name="Stat card"/>
          <p:cNvSpPr/>
          <p:nvPr/>
        </p:nvSpPr>
        <p:spPr>
          <a:xfrm>
            <a:off x="9646920" y="1691640"/>
            <a:ext cx="1965960" cy="1325880"/>
          </a:xfrm>
          <a:prstGeom prst="roundRect">
            <a:avLst>
              <a:gd name="adj" fmla="val 5517"/>
            </a:avLst>
          </a:prstGeom>
          <a:solidFill>
            <a:srgbClr val="F2F6FB"/>
          </a:solidFill>
          <a:ln w="12700">
            <a:solidFill>
              <a:srgbClr val="F2F6FB"/>
            </a:solidFill>
            <a:prstDash val="solid"/>
          </a:ln>
        </p:spPr>
      </p:sp>
      <p:sp>
        <p:nvSpPr>
          <p:cNvPr id="10" name="Text 6"/>
          <p:cNvSpPr txBox="1"/>
          <p:nvPr/>
        </p:nvSpPr>
        <p:spPr>
          <a:xfrm>
            <a:off x="9784080" y="1764792"/>
            <a:ext cx="1691640" cy="596646"/>
          </a:xfrm>
          <a:prstGeom prst="rect">
            <a:avLst/>
          </a:prstGeom>
          <a:noFill/>
          <a:ln/>
        </p:spPr>
        <p:txBody>
          <a:bodyPr wrap="square" lIns="0" tIns="0" rIns="0" bIns="0" rtlCol="0" anchor="ctr"/>
          <a:lstStyle/>
          <a:p>
            <a:pPr indent="0" marL="0">
              <a:buNone/>
            </a:pPr>
            <a:r>
              <a:rPr lang="en-US" sz="3200" b="1" dirty="0">
                <a:solidFill>
                  <a:srgbClr val="2A78D6"/>
                </a:solidFill>
                <a:latin typeface="Cambria" pitchFamily="34" charset="0"/>
                <a:ea typeface="Cambria" pitchFamily="34" charset="-122"/>
                <a:cs typeface="Cambria" pitchFamily="34" charset="-120"/>
              </a:rPr>
              <a:t>97</a:t>
            </a:r>
            <a:endParaRPr lang="en-US" sz="3200" dirty="0"/>
          </a:p>
        </p:txBody>
      </p:sp>
      <p:sp>
        <p:nvSpPr>
          <p:cNvPr id="11" name="Text 7"/>
          <p:cNvSpPr txBox="1"/>
          <p:nvPr/>
        </p:nvSpPr>
        <p:spPr>
          <a:xfrm>
            <a:off x="9784080" y="2381098"/>
            <a:ext cx="1691640" cy="609905"/>
          </a:xfrm>
          <a:prstGeom prst="rect">
            <a:avLst/>
          </a:prstGeom>
          <a:noFill/>
          <a:ln/>
        </p:spPr>
        <p:txBody>
          <a:bodyPr wrap="square" lIns="0" tIns="0" rIns="0" bIns="0" rtlCol="0" anchor="t"/>
          <a:lstStyle/>
          <a:p>
            <a:pPr indent="0" marL="0">
              <a:buNone/>
            </a:pPr>
            <a:r>
              <a:rPr lang="en-US" sz="1300" dirty="0">
                <a:solidFill>
                  <a:srgbClr val="5B6B80"/>
                </a:solidFill>
              </a:rPr>
              <a:t>units: mean error per product-week</a:t>
            </a:r>
            <a:endParaRPr lang="en-US" sz="1300" dirty="0"/>
          </a:p>
        </p:txBody>
      </p:sp>
      <p:sp>
        <p:nvSpPr>
          <p:cNvPr id="12" name="Text 8"/>
          <p:cNvSpPr txBox="1"/>
          <p:nvPr/>
        </p:nvSpPr>
        <p:spPr>
          <a:xfrm>
            <a:off x="7589520" y="3246120"/>
            <a:ext cx="4023360" cy="3017520"/>
          </a:xfrm>
          <a:prstGeom prst="rect">
            <a:avLst/>
          </a:prstGeom>
          <a:noFill/>
          <a:ln/>
        </p:spPr>
        <p:txBody>
          <a:bodyPr wrap="square" lIns="0" tIns="0" rIns="0" bIns="0" rtlCol="0" anchor="t"/>
          <a:lstStyle/>
          <a:p>
            <a:pPr marL="203200" indent="-203200">
              <a:spcAft>
                <a:spcPts val="800"/>
              </a:spcAft>
              <a:buSzPct val="100000"/>
              <a:buChar char="•"/>
            </a:pPr>
            <a:r>
              <a:rPr lang="en-US" sz="1400" b="1" dirty="0">
                <a:solidFill>
                  <a:srgbClr val="1B2A41"/>
                </a:solidFill>
              </a:rPr>
              <a:t>13% better </a:t>
            </a:r>
            <a:pPr indent="0" marL="0">
              <a:spcAft>
                <a:spcPts val="800"/>
              </a:spcAft>
              <a:buNone/>
            </a:pPr>
            <a:r>
              <a:rPr lang="en-US" sz="1400" dirty="0">
                <a:solidFill>
                  <a:srgbClr val="1B2A41"/>
                </a:solidFill>
              </a:rPr>
              <a:t>than the best simple rule, 34% better than 'same week last year'.</a:t>
            </a:r>
            <a:endParaRPr lang="en-US" sz="1400" dirty="0"/>
          </a:p>
          <a:p>
            <a:pPr marL="203200" indent="-203200">
              <a:spcAft>
                <a:spcPts val="800"/>
              </a:spcAft>
              <a:buSzPct val="100000"/>
              <a:buChar char="•"/>
            </a:pPr>
            <a:r>
              <a:rPr lang="en-US" sz="1400" b="1" dirty="0">
                <a:solidFill>
                  <a:srgbClr val="1B2A41"/>
                </a:solidFill>
              </a:rPr>
              <a:t>How tested: </a:t>
            </a:r>
            <a:pPr indent="0" marL="0">
              <a:spcAft>
                <a:spcPts val="800"/>
              </a:spcAft>
              <a:buNone/>
            </a:pPr>
            <a:r>
              <a:rPr lang="en-US" sz="1400" dirty="0">
                <a:solidFill>
                  <a:srgbClr val="1B2A41"/>
                </a:solidFill>
              </a:rPr>
              <a:t>4 rolling origins, next 26 weeks each; every setting tuned on training data only.</a:t>
            </a:r>
            <a:endParaRPr lang="en-US" sz="1400" dirty="0"/>
          </a:p>
          <a:p>
            <a:pPr marL="203200" indent="-203200">
              <a:spcAft>
                <a:spcPts val="800"/>
              </a:spcAft>
              <a:buSzPct val="100000"/>
              <a:buChar char="•"/>
            </a:pPr>
            <a:r>
              <a:rPr lang="en-US" sz="1400" b="1" dirty="0">
                <a:solidFill>
                  <a:srgbClr val="1B2A41"/>
                </a:solidFill>
              </a:rPr>
              <a:t>Honest figure: </a:t>
            </a:r>
            <a:pPr indent="0" marL="0">
              <a:spcAft>
                <a:spcPts val="800"/>
              </a:spcAft>
              <a:buNone/>
            </a:pPr>
            <a:r>
              <a:rPr lang="en-US" sz="1400" dirty="0">
                <a:solidFill>
                  <a:srgbClr val="1B2A41"/>
                </a:solidFill>
              </a:rPr>
              <a:t>6.6% on weeks where demand was observed directly.</a:t>
            </a:r>
            <a:endParaRPr lang="en-US" sz="1400" dirty="0"/>
          </a:p>
          <a:p>
            <a:pPr marL="203200" indent="-203200">
              <a:spcAft>
                <a:spcPts val="800"/>
              </a:spcAft>
              <a:buSzPct val="100000"/>
              <a:buChar char="•"/>
            </a:pPr>
            <a:r>
              <a:rPr lang="en-US" sz="1400" b="1" dirty="0">
                <a:solidFill>
                  <a:srgbClr val="1B2A41"/>
                </a:solidFill>
              </a:rPr>
              <a:t>Simple is enough: </a:t>
            </a:r>
            <a:pPr indent="0" marL="0">
              <a:spcAft>
                <a:spcPts val="800"/>
              </a:spcAft>
              <a:buNone/>
            </a:pPr>
            <a:r>
              <a:rPr lang="en-US" sz="1400" dirty="0">
                <a:solidFill>
                  <a:srgbClr val="1B2A41"/>
                </a:solidFill>
              </a:rPr>
              <a:t>a plain size x season x growth recipe is within 0.15 points.</a:t>
            </a:r>
            <a:endParaRPr lang="en-US" sz="14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Part tag"/>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PART 2 · FORECASTING</a:t>
            </a:r>
            <a:endParaRPr lang="en-US" sz="1200" dirty="0"/>
          </a:p>
        </p:txBody>
      </p:sp>
      <p:sp>
        <p:nvSpPr>
          <p:cNvPr id="3" name="Text 0"/>
          <p:cNvSpPr/>
          <p:nvPr>
            <p:ph idx="100"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Next 26 weeks: demand up 2.8%</a:t>
            </a:r>
            <a:endParaRPr lang="en-US" sz="3000" dirty="0"/>
          </a:p>
        </p:txBody>
      </p:sp>
      <p:pic>
        <p:nvPicPr>
          <p:cNvPr id="5" name="Forecast figure" descr="/home/user/Technical_Assessment_HamidrezaNademi/part2_forecasting_v1.2/figures/final_forecast_v1.2.png">    </p:cNvPr>
          <p:cNvPicPr>
            <a:picLocks noChangeAspect="1"/>
          </p:cNvPicPr>
          <p:nvPr/>
        </p:nvPicPr>
        <p:blipFill>
          <a:blip r:embed="rId1"/>
          <a:stretch>
            <a:fillRect/>
          </a:stretch>
        </p:blipFill>
        <p:spPr>
          <a:xfrm>
            <a:off x="548640" y="1645920"/>
            <a:ext cx="8412480" cy="2688336"/>
          </a:xfrm>
          <a:prstGeom prst="rect">
            <a:avLst/>
          </a:prstGeom>
        </p:spPr>
      </p:pic>
      <p:sp>
        <p:nvSpPr>
          <p:cNvPr id="6" name="Stat card"/>
          <p:cNvSpPr/>
          <p:nvPr/>
        </p:nvSpPr>
        <p:spPr>
          <a:xfrm>
            <a:off x="9144000" y="1645920"/>
            <a:ext cx="2468880" cy="1325880"/>
          </a:xfrm>
          <a:prstGeom prst="roundRect">
            <a:avLst>
              <a:gd name="adj" fmla="val 5517"/>
            </a:avLst>
          </a:prstGeom>
          <a:solidFill>
            <a:srgbClr val="F2F6FB"/>
          </a:solidFill>
          <a:ln w="12700">
            <a:solidFill>
              <a:srgbClr val="F2F6FB"/>
            </a:solidFill>
            <a:prstDash val="solid"/>
          </a:ln>
        </p:spPr>
      </p:sp>
      <p:sp>
        <p:nvSpPr>
          <p:cNvPr id="7" name="Text 3"/>
          <p:cNvSpPr txBox="1"/>
          <p:nvPr/>
        </p:nvSpPr>
        <p:spPr>
          <a:xfrm>
            <a:off x="9281160" y="1719072"/>
            <a:ext cx="2194560" cy="596646"/>
          </a:xfrm>
          <a:prstGeom prst="rect">
            <a:avLst/>
          </a:prstGeom>
          <a:noFill/>
          <a:ln/>
        </p:spPr>
        <p:txBody>
          <a:bodyPr wrap="square" lIns="0" tIns="0" rIns="0" bIns="0" rtlCol="0" anchor="ctr"/>
          <a:lstStyle/>
          <a:p>
            <a:pPr indent="0" marL="0">
              <a:buNone/>
            </a:pPr>
            <a:r>
              <a:rPr lang="en-US" sz="3200" b="1" dirty="0">
                <a:solidFill>
                  <a:srgbClr val="2A78D6"/>
                </a:solidFill>
                <a:latin typeface="Cambria" pitchFamily="34" charset="0"/>
                <a:ea typeface="Cambria" pitchFamily="34" charset="-122"/>
                <a:cs typeface="Cambria" pitchFamily="34" charset="-120"/>
              </a:rPr>
              <a:t>2.0M</a:t>
            </a:r>
            <a:endParaRPr lang="en-US" sz="3200" dirty="0"/>
          </a:p>
        </p:txBody>
      </p:sp>
      <p:sp>
        <p:nvSpPr>
          <p:cNvPr id="8" name="Text 4"/>
          <p:cNvSpPr txBox="1"/>
          <p:nvPr/>
        </p:nvSpPr>
        <p:spPr>
          <a:xfrm>
            <a:off x="9281160" y="2335378"/>
            <a:ext cx="2194560" cy="609905"/>
          </a:xfrm>
          <a:prstGeom prst="rect">
            <a:avLst/>
          </a:prstGeom>
          <a:noFill/>
          <a:ln/>
        </p:spPr>
        <p:txBody>
          <a:bodyPr wrap="square" lIns="0" tIns="0" rIns="0" bIns="0" rtlCol="0" anchor="t"/>
          <a:lstStyle/>
          <a:p>
            <a:pPr indent="0" marL="0">
              <a:buNone/>
            </a:pPr>
            <a:r>
              <a:rPr lang="en-US" sz="1300" dirty="0">
                <a:solidFill>
                  <a:srgbClr val="5B6B80"/>
                </a:solidFill>
              </a:rPr>
              <a:t>units forecast, +2.8% vs same weeks last year</a:t>
            </a:r>
            <a:endParaRPr lang="en-US" sz="1300" dirty="0"/>
          </a:p>
        </p:txBody>
      </p:sp>
      <p:sp>
        <p:nvSpPr>
          <p:cNvPr id="9" name="Stat card"/>
          <p:cNvSpPr/>
          <p:nvPr/>
        </p:nvSpPr>
        <p:spPr>
          <a:xfrm>
            <a:off x="9144000" y="3035808"/>
            <a:ext cx="2468880" cy="1325880"/>
          </a:xfrm>
          <a:prstGeom prst="roundRect">
            <a:avLst>
              <a:gd name="adj" fmla="val 5517"/>
            </a:avLst>
          </a:prstGeom>
          <a:solidFill>
            <a:srgbClr val="F2F6FB"/>
          </a:solidFill>
          <a:ln w="12700">
            <a:solidFill>
              <a:srgbClr val="F2F6FB"/>
            </a:solidFill>
            <a:prstDash val="solid"/>
          </a:ln>
        </p:spPr>
      </p:sp>
      <p:sp>
        <p:nvSpPr>
          <p:cNvPr id="10" name="Text 6"/>
          <p:cNvSpPr txBox="1"/>
          <p:nvPr/>
        </p:nvSpPr>
        <p:spPr>
          <a:xfrm>
            <a:off x="9281160" y="3108960"/>
            <a:ext cx="2194560" cy="596646"/>
          </a:xfrm>
          <a:prstGeom prst="rect">
            <a:avLst/>
          </a:prstGeom>
          <a:noFill/>
          <a:ln/>
        </p:spPr>
        <p:txBody>
          <a:bodyPr wrap="square" lIns="0" tIns="0" rIns="0" bIns="0" rtlCol="0" anchor="ctr"/>
          <a:lstStyle/>
          <a:p>
            <a:pPr indent="0" marL="0">
              <a:buNone/>
            </a:pPr>
            <a:r>
              <a:rPr lang="en-US" sz="3200" b="1" dirty="0">
                <a:solidFill>
                  <a:srgbClr val="1BAF7A"/>
                </a:solidFill>
                <a:latin typeface="Cambria" pitchFamily="34" charset="0"/>
                <a:ea typeface="Cambria" pitchFamily="34" charset="-122"/>
                <a:cs typeface="Cambria" pitchFamily="34" charset="-120"/>
              </a:rPr>
              <a:t>80%</a:t>
            </a:r>
            <a:endParaRPr lang="en-US" sz="3200" dirty="0"/>
          </a:p>
        </p:txBody>
      </p:sp>
      <p:sp>
        <p:nvSpPr>
          <p:cNvPr id="11" name="Text 7"/>
          <p:cNvSpPr txBox="1"/>
          <p:nvPr/>
        </p:nvSpPr>
        <p:spPr>
          <a:xfrm>
            <a:off x="9281160" y="3725266"/>
            <a:ext cx="2194560" cy="609905"/>
          </a:xfrm>
          <a:prstGeom prst="rect">
            <a:avLst/>
          </a:prstGeom>
          <a:noFill/>
          <a:ln/>
        </p:spPr>
        <p:txBody>
          <a:bodyPr wrap="square" lIns="0" tIns="0" rIns="0" bIns="0" rtlCol="0" anchor="t"/>
          <a:lstStyle/>
          <a:p>
            <a:pPr indent="0" marL="0">
              <a:buNone/>
            </a:pPr>
            <a:r>
              <a:rPr lang="en-US" sz="1300" dirty="0">
                <a:solidFill>
                  <a:srgbClr val="5B6B80"/>
                </a:solidFill>
              </a:rPr>
              <a:t>of outcomes inside the P10-P90 band</a:t>
            </a:r>
            <a:endParaRPr lang="en-US" sz="1300" dirty="0"/>
          </a:p>
        </p:txBody>
      </p:sp>
      <p:sp>
        <p:nvSpPr>
          <p:cNvPr id="12" name="Stat card"/>
          <p:cNvSpPr/>
          <p:nvPr/>
        </p:nvSpPr>
        <p:spPr>
          <a:xfrm>
            <a:off x="548640" y="4526280"/>
            <a:ext cx="3566160" cy="1097280"/>
          </a:xfrm>
          <a:prstGeom prst="roundRect">
            <a:avLst>
              <a:gd name="adj" fmla="val 6667"/>
            </a:avLst>
          </a:prstGeom>
          <a:solidFill>
            <a:srgbClr val="F2F6FB"/>
          </a:solidFill>
          <a:ln w="12700">
            <a:solidFill>
              <a:srgbClr val="F2F6FB"/>
            </a:solidFill>
            <a:prstDash val="solid"/>
          </a:ln>
        </p:spPr>
      </p:sp>
      <p:sp>
        <p:nvSpPr>
          <p:cNvPr id="13" name="Text 9"/>
          <p:cNvSpPr txBox="1"/>
          <p:nvPr/>
        </p:nvSpPr>
        <p:spPr>
          <a:xfrm>
            <a:off x="685800" y="4599432"/>
            <a:ext cx="3291840" cy="493776"/>
          </a:xfrm>
          <a:prstGeom prst="rect">
            <a:avLst/>
          </a:prstGeom>
          <a:noFill/>
          <a:ln/>
        </p:spPr>
        <p:txBody>
          <a:bodyPr wrap="square" lIns="0" tIns="0" rIns="0" bIns="0" rtlCol="0" anchor="ctr"/>
          <a:lstStyle/>
          <a:p>
            <a:pPr indent="0" marL="0">
              <a:buNone/>
            </a:pPr>
            <a:r>
              <a:rPr lang="en-US" sz="2800" b="1" dirty="0">
                <a:solidFill>
                  <a:srgbClr val="2A78D6"/>
                </a:solidFill>
                <a:latin typeface="Cambria" pitchFamily="34" charset="0"/>
                <a:ea typeface="Cambria" pitchFamily="34" charset="-122"/>
                <a:cs typeface="Cambria" pitchFamily="34" charset="-120"/>
              </a:rPr>
              <a:t>$64.6M</a:t>
            </a:r>
            <a:endParaRPr lang="en-US" sz="2800" dirty="0"/>
          </a:p>
        </p:txBody>
      </p:sp>
      <p:sp>
        <p:nvSpPr>
          <p:cNvPr id="14" name="Text 10"/>
          <p:cNvSpPr txBox="1"/>
          <p:nvPr/>
        </p:nvSpPr>
        <p:spPr>
          <a:xfrm>
            <a:off x="685800" y="5096866"/>
            <a:ext cx="3291840" cy="504749"/>
          </a:xfrm>
          <a:prstGeom prst="rect">
            <a:avLst/>
          </a:prstGeom>
          <a:noFill/>
          <a:ln/>
        </p:spPr>
        <p:txBody>
          <a:bodyPr wrap="square" lIns="0" tIns="0" rIns="0" bIns="0" rtlCol="0" anchor="t"/>
          <a:lstStyle/>
          <a:p>
            <a:pPr indent="0" marL="0">
              <a:buNone/>
            </a:pPr>
            <a:r>
              <a:rPr lang="en-US" sz="1300" dirty="0">
                <a:solidFill>
                  <a:srgbClr val="5B6B80"/>
                </a:solidFill>
              </a:rPr>
              <a:t>revenue potential, no stock limit</a:t>
            </a:r>
            <a:endParaRPr lang="en-US" sz="1300" dirty="0"/>
          </a:p>
        </p:txBody>
      </p:sp>
      <p:sp>
        <p:nvSpPr>
          <p:cNvPr id="15" name="Stat card"/>
          <p:cNvSpPr/>
          <p:nvPr/>
        </p:nvSpPr>
        <p:spPr>
          <a:xfrm>
            <a:off x="4297680" y="4526280"/>
            <a:ext cx="3566160" cy="1097280"/>
          </a:xfrm>
          <a:prstGeom prst="roundRect">
            <a:avLst>
              <a:gd name="adj" fmla="val 6667"/>
            </a:avLst>
          </a:prstGeom>
          <a:solidFill>
            <a:srgbClr val="F2F6FB"/>
          </a:solidFill>
          <a:ln w="12700">
            <a:solidFill>
              <a:srgbClr val="F2F6FB"/>
            </a:solidFill>
            <a:prstDash val="solid"/>
          </a:ln>
        </p:spPr>
      </p:sp>
      <p:sp>
        <p:nvSpPr>
          <p:cNvPr id="16" name="Text 12"/>
          <p:cNvSpPr txBox="1"/>
          <p:nvPr/>
        </p:nvSpPr>
        <p:spPr>
          <a:xfrm>
            <a:off x="4434840" y="4599432"/>
            <a:ext cx="3291840" cy="493776"/>
          </a:xfrm>
          <a:prstGeom prst="rect">
            <a:avLst/>
          </a:prstGeom>
          <a:noFill/>
          <a:ln/>
        </p:spPr>
        <p:txBody>
          <a:bodyPr wrap="square" lIns="0" tIns="0" rIns="0" bIns="0" rtlCol="0" anchor="ctr"/>
          <a:lstStyle/>
          <a:p>
            <a:pPr indent="0" marL="0">
              <a:buNone/>
            </a:pPr>
            <a:r>
              <a:rPr lang="en-US" sz="2800" b="1" dirty="0">
                <a:solidFill>
                  <a:srgbClr val="EB6834"/>
                </a:solidFill>
                <a:latin typeface="Cambria" pitchFamily="34" charset="0"/>
                <a:ea typeface="Cambria" pitchFamily="34" charset="-122"/>
                <a:cs typeface="Cambria" pitchFamily="34" charset="-120"/>
              </a:rPr>
              <a:t>$28.7M</a:t>
            </a:r>
            <a:endParaRPr lang="en-US" sz="2800" dirty="0"/>
          </a:p>
        </p:txBody>
      </p:sp>
      <p:sp>
        <p:nvSpPr>
          <p:cNvPr id="17" name="Text 13"/>
          <p:cNvSpPr txBox="1"/>
          <p:nvPr/>
        </p:nvSpPr>
        <p:spPr>
          <a:xfrm>
            <a:off x="4434840" y="5096866"/>
            <a:ext cx="3291840" cy="504749"/>
          </a:xfrm>
          <a:prstGeom prst="rect">
            <a:avLst/>
          </a:prstGeom>
          <a:noFill/>
          <a:ln/>
        </p:spPr>
        <p:txBody>
          <a:bodyPr wrap="square" lIns="0" tIns="0" rIns="0" bIns="0" rtlCol="0" anchor="t"/>
          <a:lstStyle/>
          <a:p>
            <a:pPr indent="0" marL="0">
              <a:buNone/>
            </a:pPr>
            <a:r>
              <a:rPr lang="en-US" sz="1300" dirty="0">
                <a:solidFill>
                  <a:srgbClr val="5B6B80"/>
                </a:solidFill>
              </a:rPr>
              <a:t>at risk at today's stock levels (44%)</a:t>
            </a:r>
            <a:endParaRPr lang="en-US" sz="1300" dirty="0"/>
          </a:p>
        </p:txBody>
      </p:sp>
      <p:sp>
        <p:nvSpPr>
          <p:cNvPr id="18" name="Text 14"/>
          <p:cNvSpPr txBox="1"/>
          <p:nvPr/>
        </p:nvSpPr>
        <p:spPr>
          <a:xfrm>
            <a:off x="548640" y="5806440"/>
            <a:ext cx="11064240" cy="548640"/>
          </a:xfrm>
          <a:prstGeom prst="rect">
            <a:avLst/>
          </a:prstGeom>
          <a:noFill/>
          <a:ln/>
        </p:spPr>
        <p:txBody>
          <a:bodyPr wrap="square" lIns="0" tIns="0" rIns="0" bIns="0" rtlCol="0" anchor="t"/>
          <a:lstStyle/>
          <a:p>
            <a:pPr indent="0" marL="0">
              <a:buNone/>
            </a:pPr>
            <a:r>
              <a:rPr lang="en-US" sz="1400" i="1" dirty="0">
                <a:solidFill>
                  <a:srgbClr val="5B6B80"/>
                </a:solidFill>
              </a:rPr>
              <a:t>Assumptions: future stock follows each product's own last 104 weeks; prices stay at the last 13-week average; no promotions. The likely range comes from backtest errors, so it is measured, not assumed.</a:t>
            </a:r>
            <a:endParaRPr lang="en-US" sz="14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Part tag"/>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PART 3 · DASHBOARD</a:t>
            </a:r>
            <a:endParaRPr lang="en-US" sz="1200" dirty="0"/>
          </a:p>
        </p:txBody>
      </p:sp>
      <p:sp>
        <p:nvSpPr>
          <p:cNvPr id="3" name="Text 0"/>
          <p:cNvSpPr/>
          <p:nvPr>
            <p:ph idx="100"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A dashboard built for managers, not analysts</a:t>
            </a:r>
            <a:endParaRPr lang="en-US" sz="3000" dirty="0"/>
          </a:p>
        </p:txBody>
      </p:sp>
      <p:pic>
        <p:nvPicPr>
          <p:cNvPr id="5" name="Dashboard overview" descr="/tmp/claude-0/-home-user-Technical-Assessment-HamidrezaNademi/35a9d481-a40b-596b-a99c-a9e318cbdc12/scratchpad/deck/dash_overview_top.png">    </p:cNvPr>
          <p:cNvPicPr>
            <a:picLocks noChangeAspect="1"/>
          </p:cNvPicPr>
          <p:nvPr/>
        </p:nvPicPr>
        <p:blipFill>
          <a:blip r:embed="rId1"/>
          <a:stretch>
            <a:fillRect/>
          </a:stretch>
        </p:blipFill>
        <p:spPr>
          <a:xfrm>
            <a:off x="548640" y="1645920"/>
            <a:ext cx="5486400" cy="3044952"/>
          </a:xfrm>
          <a:prstGeom prst="rect">
            <a:avLst/>
          </a:prstGeom>
        </p:spPr>
      </p:pic>
      <p:sp>
        <p:nvSpPr>
          <p:cNvPr id="6" name="Text 2"/>
          <p:cNvSpPr txBox="1"/>
          <p:nvPr/>
        </p:nvSpPr>
        <p:spPr>
          <a:xfrm>
            <a:off x="548640" y="4727448"/>
            <a:ext cx="5486400" cy="274320"/>
          </a:xfrm>
          <a:prstGeom prst="rect">
            <a:avLst/>
          </a:prstGeom>
          <a:noFill/>
          <a:ln/>
        </p:spPr>
        <p:txBody>
          <a:bodyPr wrap="square" lIns="0" tIns="0" rIns="0" bIns="0" rtlCol="0" anchor="ctr"/>
          <a:lstStyle/>
          <a:p>
            <a:pPr indent="0" marL="0">
              <a:buNone/>
            </a:pPr>
            <a:r>
              <a:rPr lang="en-US" sz="1200" i="1" dirty="0">
                <a:solidFill>
                  <a:srgbClr val="5B6B80"/>
                </a:solidFill>
              </a:rPr>
              <a:t>Overview tab (live demo available)</a:t>
            </a:r>
            <a:endParaRPr lang="en-US" sz="1200" dirty="0"/>
          </a:p>
        </p:txBody>
      </p:sp>
      <p:sp>
        <p:nvSpPr>
          <p:cNvPr id="7" name="Text 3"/>
          <p:cNvSpPr txBox="1"/>
          <p:nvPr/>
        </p:nvSpPr>
        <p:spPr>
          <a:xfrm>
            <a:off x="6309360" y="1645920"/>
            <a:ext cx="5303520" cy="3383280"/>
          </a:xfrm>
          <a:prstGeom prst="rect">
            <a:avLst/>
          </a:prstGeom>
          <a:noFill/>
          <a:ln/>
        </p:spPr>
        <p:txBody>
          <a:bodyPr wrap="square" lIns="0" tIns="0" rIns="0" bIns="0" rtlCol="0" anchor="t"/>
          <a:lstStyle/>
          <a:p>
            <a:pPr marL="203200" indent="-203200">
              <a:spcAft>
                <a:spcPts val="800"/>
              </a:spcAft>
              <a:buSzPct val="100000"/>
              <a:buChar char="•"/>
            </a:pPr>
            <a:r>
              <a:rPr lang="en-US" sz="1400" b="1" dirty="0">
                <a:solidFill>
                  <a:srgbClr val="1B2A41"/>
                </a:solidFill>
              </a:rPr>
              <a:t>Start from the reader: </a:t>
            </a:r>
            <a:pPr indent="0" marL="0">
              <a:spcAft>
                <a:spcPts val="800"/>
              </a:spcAft>
              <a:buNone/>
            </a:pPr>
            <a:r>
              <a:rPr lang="en-US" sz="1400" dirty="0">
                <a:solidFill>
                  <a:srgbClr val="1B2A41"/>
                </a:solidFill>
              </a:rPr>
              <a:t>bottom line first, everyday words (days of stock, demand served).</a:t>
            </a:r>
            <a:endParaRPr lang="en-US" sz="1400" dirty="0"/>
          </a:p>
          <a:p>
            <a:pPr marL="203200" indent="-203200">
              <a:spcAft>
                <a:spcPts val="800"/>
              </a:spcAft>
              <a:buSzPct val="100000"/>
              <a:buChar char="•"/>
            </a:pPr>
            <a:r>
              <a:rPr lang="en-US" sz="1400" b="1" dirty="0">
                <a:solidFill>
                  <a:srgbClr val="1B2A41"/>
                </a:solidFill>
              </a:rPr>
              <a:t>One tab, one question: </a:t>
            </a:r>
            <a:pPr indent="0" marL="0">
              <a:spcAft>
                <a:spcPts val="800"/>
              </a:spcAft>
              <a:buNone/>
            </a:pPr>
            <a:r>
              <a:rPr lang="en-US" sz="1400" dirty="0">
                <a:solidFill>
                  <a:srgbClr val="1B2A41"/>
                </a:solidFill>
              </a:rPr>
              <a:t>financial, stock and service, credit, forecast, pricing, alerts.</a:t>
            </a:r>
            <a:endParaRPr lang="en-US" sz="1400" dirty="0"/>
          </a:p>
          <a:p>
            <a:pPr marL="203200" indent="-203200">
              <a:spcAft>
                <a:spcPts val="800"/>
              </a:spcAft>
              <a:buSzPct val="100000"/>
              <a:buChar char="•"/>
            </a:pPr>
            <a:r>
              <a:rPr lang="en-US" sz="1400" b="1" dirty="0">
                <a:solidFill>
                  <a:srgbClr val="1B2A41"/>
                </a:solidFill>
              </a:rPr>
              <a:t>No data, no pretending: </a:t>
            </a:r>
            <a:pPr indent="0" marL="0">
              <a:spcAft>
                <a:spcPts val="800"/>
              </a:spcAft>
              <a:buNone/>
            </a:pPr>
            <a:r>
              <a:rPr lang="en-US" sz="1400" dirty="0">
                <a:solidFill>
                  <a:srgbClr val="1B2A41"/>
                </a:solidFill>
              </a:rPr>
              <a:t>credit uses editable, labelled scenario inputs.</a:t>
            </a:r>
            <a:endParaRPr lang="en-US" sz="1400" dirty="0"/>
          </a:p>
          <a:p>
            <a:pPr marL="203200" indent="-203200">
              <a:spcAft>
                <a:spcPts val="800"/>
              </a:spcAft>
              <a:buSzPct val="100000"/>
              <a:buChar char="•"/>
            </a:pPr>
            <a:r>
              <a:rPr lang="en-US" sz="1400" b="1" dirty="0">
                <a:solidFill>
                  <a:srgbClr val="1B2A41"/>
                </a:solidFill>
              </a:rPr>
              <a:t>Alerts are rules, not black boxes: </a:t>
            </a:r>
            <a:pPr indent="0" marL="0">
              <a:spcAft>
                <a:spcPts val="800"/>
              </a:spcAft>
              <a:buNone/>
            </a:pPr>
            <a:r>
              <a:rPr lang="en-US" sz="1400" dirty="0">
                <a:solidFill>
                  <a:srgbClr val="1B2A41"/>
                </a:solidFill>
              </a:rPr>
              <a:t>six rules, editable thresholds, money at stake, next action.</a:t>
            </a:r>
            <a:endParaRPr lang="en-US" sz="1400" dirty="0"/>
          </a:p>
          <a:p>
            <a:pPr marL="203200" indent="-203200">
              <a:spcAft>
                <a:spcPts val="800"/>
              </a:spcAft>
              <a:buSzPct val="100000"/>
              <a:buChar char="•"/>
            </a:pPr>
            <a:r>
              <a:rPr lang="en-US" sz="1400" b="1" dirty="0">
                <a:solidFill>
                  <a:srgbClr val="1B2A41"/>
                </a:solidFill>
              </a:rPr>
              <a:t>Trust: </a:t>
            </a:r>
            <a:pPr indent="0" marL="0">
              <a:spcAft>
                <a:spcPts val="800"/>
              </a:spcAft>
              <a:buNone/>
            </a:pPr>
            <a:r>
              <a:rPr lang="en-US" sz="1400" dirty="0">
                <a:solidFill>
                  <a:srgbClr val="1B2A41"/>
                </a:solidFill>
              </a:rPr>
              <a:t>24 automatic tests reconcile every KPI to the database.</a:t>
            </a:r>
            <a:endParaRPr lang="en-US" sz="1400" dirty="0"/>
          </a:p>
        </p:txBody>
      </p:sp>
      <p:sp>
        <p:nvSpPr>
          <p:cNvPr id="8" name="Stat card"/>
          <p:cNvSpPr/>
          <p:nvPr/>
        </p:nvSpPr>
        <p:spPr>
          <a:xfrm>
            <a:off x="548640" y="5120640"/>
            <a:ext cx="2606040" cy="1143000"/>
          </a:xfrm>
          <a:prstGeom prst="roundRect">
            <a:avLst>
              <a:gd name="adj" fmla="val 6400"/>
            </a:avLst>
          </a:prstGeom>
          <a:solidFill>
            <a:srgbClr val="F2F6FB"/>
          </a:solidFill>
          <a:ln w="12700">
            <a:solidFill>
              <a:srgbClr val="F2F6FB"/>
            </a:solidFill>
            <a:prstDash val="solid"/>
          </a:ln>
        </p:spPr>
      </p:sp>
      <p:sp>
        <p:nvSpPr>
          <p:cNvPr id="9" name="Text 5"/>
          <p:cNvSpPr txBox="1"/>
          <p:nvPr/>
        </p:nvSpPr>
        <p:spPr>
          <a:xfrm>
            <a:off x="685800" y="5193792"/>
            <a:ext cx="2331720" cy="514350"/>
          </a:xfrm>
          <a:prstGeom prst="rect">
            <a:avLst/>
          </a:prstGeom>
          <a:noFill/>
          <a:ln/>
        </p:spPr>
        <p:txBody>
          <a:bodyPr wrap="square" lIns="0" tIns="0" rIns="0" bIns="0" rtlCol="0" anchor="ctr"/>
          <a:lstStyle/>
          <a:p>
            <a:pPr indent="0" marL="0">
              <a:buNone/>
            </a:pPr>
            <a:r>
              <a:rPr lang="en-US" sz="2800" b="1" dirty="0">
                <a:solidFill>
                  <a:srgbClr val="2A78D6"/>
                </a:solidFill>
                <a:latin typeface="Cambria" pitchFamily="34" charset="0"/>
                <a:ea typeface="Cambria" pitchFamily="34" charset="-122"/>
                <a:cs typeface="Cambria" pitchFamily="34" charset="-120"/>
              </a:rPr>
              <a:t>$65.4M</a:t>
            </a:r>
            <a:endParaRPr lang="en-US" sz="2800" dirty="0"/>
          </a:p>
        </p:txBody>
      </p:sp>
      <p:sp>
        <p:nvSpPr>
          <p:cNvPr id="10" name="Text 6"/>
          <p:cNvSpPr txBox="1"/>
          <p:nvPr/>
        </p:nvSpPr>
        <p:spPr>
          <a:xfrm>
            <a:off x="685800" y="5715000"/>
            <a:ext cx="2331720" cy="525780"/>
          </a:xfrm>
          <a:prstGeom prst="rect">
            <a:avLst/>
          </a:prstGeom>
          <a:noFill/>
          <a:ln/>
        </p:spPr>
        <p:txBody>
          <a:bodyPr wrap="square" lIns="0" tIns="0" rIns="0" bIns="0" rtlCol="0" anchor="t"/>
          <a:lstStyle/>
          <a:p>
            <a:pPr indent="0" marL="0">
              <a:buNone/>
            </a:pPr>
            <a:r>
              <a:rPr lang="en-US" sz="1300" dirty="0">
                <a:solidFill>
                  <a:srgbClr val="5B6B80"/>
                </a:solidFill>
              </a:rPr>
              <a:t>revenue, +3.3% vs last year</a:t>
            </a:r>
            <a:endParaRPr lang="en-US" sz="1300" dirty="0"/>
          </a:p>
        </p:txBody>
      </p:sp>
      <p:sp>
        <p:nvSpPr>
          <p:cNvPr id="11" name="Stat card"/>
          <p:cNvSpPr/>
          <p:nvPr/>
        </p:nvSpPr>
        <p:spPr>
          <a:xfrm>
            <a:off x="3337560" y="5120640"/>
            <a:ext cx="2606040" cy="1143000"/>
          </a:xfrm>
          <a:prstGeom prst="roundRect">
            <a:avLst>
              <a:gd name="adj" fmla="val 6400"/>
            </a:avLst>
          </a:prstGeom>
          <a:solidFill>
            <a:srgbClr val="F2F6FB"/>
          </a:solidFill>
          <a:ln w="12700">
            <a:solidFill>
              <a:srgbClr val="F2F6FB"/>
            </a:solidFill>
            <a:prstDash val="solid"/>
          </a:ln>
        </p:spPr>
      </p:sp>
      <p:sp>
        <p:nvSpPr>
          <p:cNvPr id="12" name="Text 8"/>
          <p:cNvSpPr txBox="1"/>
          <p:nvPr/>
        </p:nvSpPr>
        <p:spPr>
          <a:xfrm>
            <a:off x="3474720" y="5193792"/>
            <a:ext cx="2331720" cy="514350"/>
          </a:xfrm>
          <a:prstGeom prst="rect">
            <a:avLst/>
          </a:prstGeom>
          <a:noFill/>
          <a:ln/>
        </p:spPr>
        <p:txBody>
          <a:bodyPr wrap="square" lIns="0" tIns="0" rIns="0" bIns="0" rtlCol="0" anchor="ctr"/>
          <a:lstStyle/>
          <a:p>
            <a:pPr indent="0" marL="0">
              <a:buNone/>
            </a:pPr>
            <a:r>
              <a:rPr lang="en-US" sz="2800" b="1" dirty="0">
                <a:solidFill>
                  <a:srgbClr val="2A78D6"/>
                </a:solidFill>
                <a:latin typeface="Cambria" pitchFamily="34" charset="0"/>
                <a:ea typeface="Cambria" pitchFamily="34" charset="-122"/>
                <a:cs typeface="Cambria" pitchFamily="34" charset="-120"/>
              </a:rPr>
              <a:t>21.5%</a:t>
            </a:r>
            <a:endParaRPr lang="en-US" sz="2800" dirty="0"/>
          </a:p>
        </p:txBody>
      </p:sp>
      <p:sp>
        <p:nvSpPr>
          <p:cNvPr id="13" name="Text 9"/>
          <p:cNvSpPr txBox="1"/>
          <p:nvPr/>
        </p:nvSpPr>
        <p:spPr>
          <a:xfrm>
            <a:off x="3474720" y="5715000"/>
            <a:ext cx="2331720" cy="525780"/>
          </a:xfrm>
          <a:prstGeom prst="rect">
            <a:avLst/>
          </a:prstGeom>
          <a:noFill/>
          <a:ln/>
        </p:spPr>
        <p:txBody>
          <a:bodyPr wrap="square" lIns="0" tIns="0" rIns="0" bIns="0" rtlCol="0" anchor="t"/>
          <a:lstStyle/>
          <a:p>
            <a:pPr indent="0" marL="0">
              <a:buNone/>
            </a:pPr>
            <a:r>
              <a:rPr lang="en-US" sz="1300" dirty="0">
                <a:solidFill>
                  <a:srgbClr val="5B6B80"/>
                </a:solidFill>
              </a:rPr>
              <a:t>gross margin, flat</a:t>
            </a:r>
            <a:endParaRPr lang="en-US" sz="1300" dirty="0"/>
          </a:p>
        </p:txBody>
      </p:sp>
      <p:sp>
        <p:nvSpPr>
          <p:cNvPr id="14" name="Stat card"/>
          <p:cNvSpPr/>
          <p:nvPr/>
        </p:nvSpPr>
        <p:spPr>
          <a:xfrm>
            <a:off x="6126480" y="5120640"/>
            <a:ext cx="2606040" cy="1143000"/>
          </a:xfrm>
          <a:prstGeom prst="roundRect">
            <a:avLst>
              <a:gd name="adj" fmla="val 6400"/>
            </a:avLst>
          </a:prstGeom>
          <a:solidFill>
            <a:srgbClr val="F2F6FB"/>
          </a:solidFill>
          <a:ln w="12700">
            <a:solidFill>
              <a:srgbClr val="F2F6FB"/>
            </a:solidFill>
            <a:prstDash val="solid"/>
          </a:ln>
        </p:spPr>
      </p:sp>
      <p:sp>
        <p:nvSpPr>
          <p:cNvPr id="15" name="Text 11"/>
          <p:cNvSpPr txBox="1"/>
          <p:nvPr/>
        </p:nvSpPr>
        <p:spPr>
          <a:xfrm>
            <a:off x="6263640" y="5193792"/>
            <a:ext cx="2331720" cy="514350"/>
          </a:xfrm>
          <a:prstGeom prst="rect">
            <a:avLst/>
          </a:prstGeom>
          <a:noFill/>
          <a:ln/>
        </p:spPr>
        <p:txBody>
          <a:bodyPr wrap="square" lIns="0" tIns="0" rIns="0" bIns="0" rtlCol="0" anchor="ctr"/>
          <a:lstStyle/>
          <a:p>
            <a:pPr indent="0" marL="0">
              <a:buNone/>
            </a:pPr>
            <a:r>
              <a:rPr lang="en-US" sz="2800" b="1" dirty="0">
                <a:solidFill>
                  <a:srgbClr val="EB6834"/>
                </a:solidFill>
                <a:latin typeface="Cambria" pitchFamily="34" charset="0"/>
                <a:ea typeface="Cambria" pitchFamily="34" charset="-122"/>
                <a:cs typeface="Cambria" pitchFamily="34" charset="-120"/>
              </a:rPr>
              <a:t>60%</a:t>
            </a:r>
            <a:endParaRPr lang="en-US" sz="2800" dirty="0"/>
          </a:p>
        </p:txBody>
      </p:sp>
      <p:sp>
        <p:nvSpPr>
          <p:cNvPr id="16" name="Text 12"/>
          <p:cNvSpPr txBox="1"/>
          <p:nvPr/>
        </p:nvSpPr>
        <p:spPr>
          <a:xfrm>
            <a:off x="6263640" y="5715000"/>
            <a:ext cx="2331720" cy="525780"/>
          </a:xfrm>
          <a:prstGeom prst="rect">
            <a:avLst/>
          </a:prstGeom>
          <a:noFill/>
          <a:ln/>
        </p:spPr>
        <p:txBody>
          <a:bodyPr wrap="square" lIns="0" tIns="0" rIns="0" bIns="0" rtlCol="0" anchor="t"/>
          <a:lstStyle/>
          <a:p>
            <a:pPr indent="0" marL="0">
              <a:buNone/>
            </a:pPr>
            <a:r>
              <a:rPr lang="en-US" sz="1300" dirty="0">
                <a:solidFill>
                  <a:srgbClr val="5B6B80"/>
                </a:solidFill>
              </a:rPr>
              <a:t>of demand served; $43.2M lost</a:t>
            </a:r>
            <a:endParaRPr lang="en-US" sz="1300" dirty="0"/>
          </a:p>
        </p:txBody>
      </p:sp>
      <p:sp>
        <p:nvSpPr>
          <p:cNvPr id="17" name="Stat card"/>
          <p:cNvSpPr/>
          <p:nvPr/>
        </p:nvSpPr>
        <p:spPr>
          <a:xfrm>
            <a:off x="8915400" y="5120640"/>
            <a:ext cx="2606040" cy="1143000"/>
          </a:xfrm>
          <a:prstGeom prst="roundRect">
            <a:avLst>
              <a:gd name="adj" fmla="val 6400"/>
            </a:avLst>
          </a:prstGeom>
          <a:solidFill>
            <a:srgbClr val="F2F6FB"/>
          </a:solidFill>
          <a:ln w="12700">
            <a:solidFill>
              <a:srgbClr val="F2F6FB"/>
            </a:solidFill>
            <a:prstDash val="solid"/>
          </a:ln>
        </p:spPr>
      </p:sp>
      <p:sp>
        <p:nvSpPr>
          <p:cNvPr id="18" name="Text 14"/>
          <p:cNvSpPr txBox="1"/>
          <p:nvPr/>
        </p:nvSpPr>
        <p:spPr>
          <a:xfrm>
            <a:off x="9052560" y="5193792"/>
            <a:ext cx="2331720" cy="514350"/>
          </a:xfrm>
          <a:prstGeom prst="rect">
            <a:avLst/>
          </a:prstGeom>
          <a:noFill/>
          <a:ln/>
        </p:spPr>
        <p:txBody>
          <a:bodyPr wrap="square" lIns="0" tIns="0" rIns="0" bIns="0" rtlCol="0" anchor="ctr"/>
          <a:lstStyle/>
          <a:p>
            <a:pPr indent="0" marL="0">
              <a:buNone/>
            </a:pPr>
            <a:r>
              <a:rPr lang="en-US" sz="2800" b="1" dirty="0">
                <a:solidFill>
                  <a:srgbClr val="D03B3B"/>
                </a:solidFill>
                <a:latin typeface="Cambria" pitchFamily="34" charset="0"/>
                <a:ea typeface="Cambria" pitchFamily="34" charset="-122"/>
                <a:cs typeface="Cambria" pitchFamily="34" charset="-120"/>
              </a:rPr>
              <a:t>16 high</a:t>
            </a:r>
            <a:endParaRPr lang="en-US" sz="2800" dirty="0"/>
          </a:p>
        </p:txBody>
      </p:sp>
      <p:sp>
        <p:nvSpPr>
          <p:cNvPr id="19" name="Text 15"/>
          <p:cNvSpPr txBox="1"/>
          <p:nvPr/>
        </p:nvSpPr>
        <p:spPr>
          <a:xfrm>
            <a:off x="9052560" y="5715000"/>
            <a:ext cx="2331720" cy="525780"/>
          </a:xfrm>
          <a:prstGeom prst="rect">
            <a:avLst/>
          </a:prstGeom>
          <a:noFill/>
          <a:ln/>
        </p:spPr>
        <p:txBody>
          <a:bodyPr wrap="square" lIns="0" tIns="0" rIns="0" bIns="0" rtlCol="0" anchor="t"/>
          <a:lstStyle/>
          <a:p>
            <a:pPr indent="0" marL="0">
              <a:buNone/>
            </a:pPr>
            <a:r>
              <a:rPr lang="en-US" sz="1300" dirty="0">
                <a:solidFill>
                  <a:srgbClr val="5B6B80"/>
                </a:solidFill>
              </a:rPr>
              <a:t>priority alerts, each with an action</a:t>
            </a:r>
            <a:endParaRPr lang="en-US" sz="13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Part tag"/>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PART 4 · DYNAMIC PRICING</a:t>
            </a:r>
            <a:endParaRPr lang="en-US" sz="1200" dirty="0"/>
          </a:p>
        </p:txBody>
      </p:sp>
      <p:sp>
        <p:nvSpPr>
          <p:cNvPr id="3" name="Text 0"/>
          <p:cNvSpPr/>
          <p:nvPr>
            <p:ph idx="100"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Price follows scarcity and season</a:t>
            </a:r>
            <a:endParaRPr lang="en-US" sz="3000" dirty="0"/>
          </a:p>
        </p:txBody>
      </p:sp>
      <p:graphicFrame>
        <p:nvGraphicFramePr>
          <p:cNvPr id="5" name="Chart 0" descr=""/>
          <p:cNvGraphicFramePr/>
          <p:nvPr/>
        </p:nvGraphicFramePr>
        <p:xfrm>
          <a:off x="548640" y="1645920"/>
          <a:ext cx="585216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75120" y="1691640"/>
          <a:ext cx="4937760" cy="914400"/>
        </p:xfrm>
        <a:graphic>
          <a:graphicData uri="http://schemas.openxmlformats.org/drawingml/2006/table">
            <a:tbl>
              <a:tblPr/>
              <a:tblGrid>
                <a:gridCol w="1234440"/>
                <a:gridCol w="1737360"/>
                <a:gridCol w="1965960"/>
              </a:tblGrid>
              <a:tr h="365760">
                <a:tc>
                  <a:txBody>
                    <a:bodyPr/>
                    <a:lstStyle/>
                    <a:p>
                      <a:pPr indent="0" marL="0">
                        <a:buNone/>
                      </a:pPr>
                      <a:r>
                        <a:rPr lang="en-US" sz="1300" b="1" dirty="0">
                          <a:solidFill>
                            <a:srgbClr val="FFFFFF"/>
                          </a:solidFill>
                        </a:rPr>
                        <a:t>State</a:t>
                      </a:r>
                      <a:endParaRPr lang="en-US" sz="1300" dirty="0"/>
                    </a:p>
                  </a:txBody>
                  <a:tcPr marL="73152" marR="73152"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12263F"/>
                    </a:solidFill>
                  </a:tcPr>
                </a:tc>
                <a:tc>
                  <a:txBody>
                    <a:bodyPr/>
                    <a:lstStyle/>
                    <a:p>
                      <a:pPr indent="0" marL="0">
                        <a:buNone/>
                      </a:pPr>
                      <a:r>
                        <a:rPr lang="en-US" sz="1300" b="1" dirty="0">
                          <a:solidFill>
                            <a:srgbClr val="FFFFFF"/>
                          </a:solidFill>
                        </a:rPr>
                        <a:t>Meaning</a:t>
                      </a:r>
                      <a:endParaRPr lang="en-US" sz="1300" dirty="0"/>
                    </a:p>
                  </a:txBody>
                  <a:tcPr marL="73152" marR="73152"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12263F"/>
                    </a:solidFill>
                  </a:tcPr>
                </a:tc>
                <a:tc>
                  <a:txBody>
                    <a:bodyPr/>
                    <a:lstStyle/>
                    <a:p>
                      <a:pPr indent="0" marL="0">
                        <a:buNone/>
                      </a:pPr>
                      <a:r>
                        <a:rPr lang="en-US" sz="1300" b="1" dirty="0">
                          <a:solidFill>
                            <a:srgbClr val="FFFFFF"/>
                          </a:solidFill>
                        </a:rPr>
                        <a:t>Action</a:t>
                      </a:r>
                      <a:endParaRPr lang="en-US" sz="1300" dirty="0"/>
                    </a:p>
                  </a:txBody>
                  <a:tcPr marL="73152" marR="73152"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12263F"/>
                    </a:solidFill>
                  </a:tcPr>
                </a:tc>
              </a:tr>
              <a:tr h="868680">
                <a:tc>
                  <a:txBody>
                    <a:bodyPr/>
                    <a:lstStyle/>
                    <a:p>
                      <a:pPr indent="0" marL="0">
                        <a:buNone/>
                      </a:pPr>
                      <a:r>
                        <a:rPr lang="en-US" sz="1300" dirty="0">
                          <a:solidFill>
                            <a:srgbClr val="1B2A41"/>
                          </a:solidFill>
                        </a:rPr>
                        <a:t>Scarce (78%)</a:t>
                      </a:r>
                      <a:endParaRPr lang="en-US" sz="1300" dirty="0"/>
                    </a:p>
                  </a:txBody>
                  <a:tcPr marL="73152" marR="73152"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rPr>
                        <a:t>part of demand cannot be served</a:t>
                      </a:r>
                      <a:endParaRPr lang="en-US" sz="1300" dirty="0"/>
                    </a:p>
                  </a:txBody>
                  <a:tcPr marL="73152" marR="73152"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rPr>
                        <a:t>raise price up to +8%, only as far as the same units still sell</a:t>
                      </a:r>
                      <a:endParaRPr lang="en-US" sz="1300" dirty="0"/>
                    </a:p>
                  </a:txBody>
                  <a:tcPr marL="73152" marR="73152"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1B2A41"/>
                          </a:solidFill>
                        </a:rPr>
                        <a:t>Balanced (5%)</a:t>
                      </a:r>
                      <a:endParaRPr lang="en-US" sz="1300" dirty="0"/>
                    </a:p>
                  </a:txBody>
                  <a:tcPr marL="73152" marR="73152"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rPr>
                        <a:t>stock covers demand</a:t>
                      </a:r>
                      <a:endParaRPr lang="en-US" sz="1300" dirty="0"/>
                    </a:p>
                  </a:txBody>
                  <a:tcPr marL="73152" marR="73152"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rPr>
                        <a:t>hold the price</a:t>
                      </a:r>
                      <a:endParaRPr lang="en-US" sz="1300" dirty="0"/>
                    </a:p>
                  </a:txBody>
                  <a:tcPr marL="73152" marR="73152"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r h="777240">
                <a:tc>
                  <a:txBody>
                    <a:bodyPr/>
                    <a:lstStyle/>
                    <a:p>
                      <a:pPr indent="0" marL="0">
                        <a:buNone/>
                      </a:pPr>
                      <a:r>
                        <a:rPr lang="en-US" sz="1300" dirty="0">
                          <a:solidFill>
                            <a:srgbClr val="1B2A41"/>
                          </a:solidFill>
                        </a:rPr>
                        <a:t>Surplus (17%)</a:t>
                      </a:r>
                      <a:endParaRPr lang="en-US" sz="1300" dirty="0"/>
                    </a:p>
                  </a:txBody>
                  <a:tcPr marL="73152" marR="73152"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rPr>
                        <a:t>over 26 weeks of stock</a:t>
                      </a:r>
                      <a:endParaRPr lang="en-US" sz="1300" dirty="0"/>
                    </a:p>
                  </a:txBody>
                  <a:tcPr marL="73152" marR="73152"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rPr>
                        <a:t>markdown only if it pays; otherwise fix purchasing</a:t>
                      </a:r>
                      <a:endParaRPr lang="en-US" sz="1300" dirty="0"/>
                    </a:p>
                  </a:txBody>
                  <a:tcPr marL="73152" marR="73152"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bl>
          </a:graphicData>
        </a:graphic>
      </p:graphicFrame>
      <p:sp>
        <p:nvSpPr>
          <p:cNvPr id="7" name="Callout"/>
          <p:cNvSpPr/>
          <p:nvPr/>
        </p:nvSpPr>
        <p:spPr>
          <a:xfrm>
            <a:off x="6675120" y="4434840"/>
            <a:ext cx="4937760" cy="1737360"/>
          </a:xfrm>
          <a:prstGeom prst="roundRect">
            <a:avLst>
              <a:gd name="adj" fmla="val 4211"/>
            </a:avLst>
          </a:prstGeom>
          <a:solidFill>
            <a:srgbClr val="F2F6FB"/>
          </a:solidFill>
          <a:ln w="12700">
            <a:solidFill>
              <a:srgbClr val="D9E1EC"/>
            </a:solidFill>
            <a:prstDash val="solid"/>
          </a:ln>
        </p:spPr>
      </p:sp>
      <p:sp>
        <p:nvSpPr>
          <p:cNvPr id="8" name="Text 3"/>
          <p:cNvSpPr txBox="1"/>
          <p:nvPr/>
        </p:nvSpPr>
        <p:spPr>
          <a:xfrm>
            <a:off x="6858000" y="4544568"/>
            <a:ext cx="4572000" cy="292608"/>
          </a:xfrm>
          <a:prstGeom prst="rect">
            <a:avLst/>
          </a:prstGeom>
          <a:noFill/>
          <a:ln/>
        </p:spPr>
        <p:txBody>
          <a:bodyPr wrap="square" lIns="0" tIns="0" rIns="0" bIns="0" rtlCol="0" anchor="ctr"/>
          <a:lstStyle/>
          <a:p>
            <a:pPr indent="0" marL="0">
              <a:buNone/>
            </a:pPr>
            <a:r>
              <a:rPr lang="en-US" sz="1400" b="1" dirty="0">
                <a:solidFill>
                  <a:schemeClr val="accent1"/>
                </a:solidFill>
              </a:rPr>
              <a:t>Why this rule</a:t>
            </a:r>
            <a:endParaRPr lang="en-US" sz="1400" dirty="0"/>
          </a:p>
        </p:txBody>
      </p:sp>
      <p:sp>
        <p:nvSpPr>
          <p:cNvPr id="9" name="Text 4"/>
          <p:cNvSpPr txBox="1"/>
          <p:nvPr/>
        </p:nvSpPr>
        <p:spPr>
          <a:xfrm>
            <a:off x="6858000" y="4892040"/>
            <a:ext cx="4572000" cy="118872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B2A41"/>
                </a:solidFill>
              </a:rPr>
              <a:t>When stock sells out anyway, units are set by stock, not price, so a higher price is pure profit.</a:t>
            </a:r>
            <a:endParaRPr lang="en-US" sz="1400" dirty="0"/>
          </a:p>
          <a:p>
            <a:pPr marL="177800" indent="-177800">
              <a:spcAft>
                <a:spcPts val="500"/>
              </a:spcAft>
              <a:buSzPct val="100000"/>
              <a:buChar char="•"/>
            </a:pPr>
            <a:r>
              <a:rPr lang="en-US" sz="1400" dirty="0">
                <a:solidFill>
                  <a:srgbClr val="1B2A41"/>
                </a:solidFill>
              </a:rPr>
              <a:t>It does not need the unknown price sensitivity.</a:t>
            </a:r>
            <a:endParaRPr lang="en-US" sz="1400" dirty="0"/>
          </a:p>
        </p:txBody>
      </p:sp>
      <p:sp>
        <p:nvSpPr>
          <p:cNvPr id="10" name="Text 5"/>
          <p:cNvSpPr txBox="1"/>
          <p:nvPr/>
        </p:nvSpPr>
        <p:spPr>
          <a:xfrm>
            <a:off x="548640" y="5623560"/>
            <a:ext cx="5852160" cy="640080"/>
          </a:xfrm>
          <a:prstGeom prst="rect">
            <a:avLst/>
          </a:prstGeom>
          <a:noFill/>
          <a:ln/>
        </p:spPr>
        <p:txBody>
          <a:bodyPr wrap="square" lIns="0" tIns="0" rIns="0" bIns="0" rtlCol="0" anchor="t"/>
          <a:lstStyle/>
          <a:p>
            <a:pPr indent="0" marL="0">
              <a:buNone/>
            </a:pPr>
            <a:r>
              <a:rPr lang="en-US" sz="1300" i="1" dirty="0">
                <a:solidFill>
                  <a:srgbClr val="5B6B80"/>
                </a:solidFill>
              </a:rPr>
              <a:t>Example: Barley, week 1: only 48% of demand can be served, so the rule suggests +6%; protection allows +4.5%; the weekly step limit makes it +3.0%.</a:t>
            </a:r>
            <a:endParaRPr lang="en-US" sz="13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Part tag"/>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PART 4 · THE PRICING ENGINE</a:t>
            </a:r>
            <a:endParaRPr lang="en-US" sz="1200" dirty="0"/>
          </a:p>
        </p:txBody>
      </p:sp>
      <p:sp>
        <p:nvSpPr>
          <p:cNvPr id="3" name="Text 0"/>
          <p:cNvSpPr/>
          <p:nvPr>
            <p:ph idx="100"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Six rules turn the forecast into a price</a:t>
            </a:r>
            <a:endParaRPr lang="en-US" sz="3000" dirty="0"/>
          </a:p>
        </p:txBody>
      </p:sp>
      <p:sp>
        <p:nvSpPr>
          <p:cNvPr id="5" name="Rule card"/>
          <p:cNvSpPr/>
          <p:nvPr/>
        </p:nvSpPr>
        <p:spPr>
          <a:xfrm>
            <a:off x="548640" y="1645920"/>
            <a:ext cx="3566160" cy="2240280"/>
          </a:xfrm>
          <a:prstGeom prst="roundRect">
            <a:avLst>
              <a:gd name="adj" fmla="val 3265"/>
            </a:avLst>
          </a:prstGeom>
          <a:solidFill>
            <a:srgbClr val="F2F6FB"/>
          </a:solidFill>
          <a:ln w="12700">
            <a:solidFill>
              <a:srgbClr val="F2F6FB"/>
            </a:solidFill>
            <a:prstDash val="solid"/>
          </a:ln>
        </p:spPr>
      </p:sp>
      <p:sp>
        <p:nvSpPr>
          <p:cNvPr id="6" name="Rule accent"/>
          <p:cNvSpPr/>
          <p:nvPr/>
        </p:nvSpPr>
        <p:spPr>
          <a:xfrm>
            <a:off x="548640" y="1645920"/>
            <a:ext cx="3566160" cy="64008"/>
          </a:xfrm>
          <a:prstGeom prst="rect">
            <a:avLst/>
          </a:prstGeom>
          <a:solidFill>
            <a:srgbClr val="2A78D6"/>
          </a:solidFill>
          <a:ln w="12700">
            <a:solidFill>
              <a:srgbClr val="2A78D6"/>
            </a:solidFill>
            <a:prstDash val="solid"/>
          </a:ln>
        </p:spPr>
      </p:sp>
      <p:sp>
        <p:nvSpPr>
          <p:cNvPr id="7" name="Text 4"/>
          <p:cNvSpPr txBox="1"/>
          <p:nvPr/>
        </p:nvSpPr>
        <p:spPr>
          <a:xfrm>
            <a:off x="731520" y="1773936"/>
            <a:ext cx="3200400" cy="329184"/>
          </a:xfrm>
          <a:prstGeom prst="rect">
            <a:avLst/>
          </a:prstGeom>
          <a:noFill/>
          <a:ln/>
        </p:spPr>
        <p:txBody>
          <a:bodyPr wrap="square" lIns="0" tIns="0" rIns="0" bIns="0" rtlCol="0" anchor="ctr"/>
          <a:lstStyle/>
          <a:p>
            <a:pPr indent="0" marL="0">
              <a:buNone/>
            </a:pPr>
            <a:r>
              <a:rPr lang="en-US" sz="1500" b="1" dirty="0">
                <a:solidFill>
                  <a:schemeClr val="tx1"/>
                </a:solidFill>
              </a:rPr>
              <a:t>1  Scarcity premium</a:t>
            </a:r>
            <a:endParaRPr lang="en-US" sz="1500" dirty="0"/>
          </a:p>
        </p:txBody>
      </p:sp>
      <p:sp>
        <p:nvSpPr>
          <p:cNvPr id="8" name="Text 5"/>
          <p:cNvSpPr txBox="1"/>
          <p:nvPr/>
        </p:nvSpPr>
        <p:spPr>
          <a:xfrm>
            <a:off x="731520" y="2121408"/>
            <a:ext cx="3200400" cy="566928"/>
          </a:xfrm>
          <a:prstGeom prst="rect">
            <a:avLst/>
          </a:prstGeom>
          <a:noFill/>
          <a:ln/>
        </p:spPr>
        <p:txBody>
          <a:bodyPr wrap="square" lIns="0" tIns="0" rIns="0" bIns="0" rtlCol="0" anchor="t"/>
          <a:lstStyle/>
          <a:p>
            <a:pPr indent="0" marL="0">
              <a:buNone/>
            </a:pPr>
            <a:r>
              <a:rPr lang="en-US" sz="1250" b="1" dirty="0">
                <a:solidFill>
                  <a:schemeClr val="accent1"/>
                </a:solidFill>
              </a:rPr>
              <a:t>rise = 8% x min(1, g / 30%) x season</a:t>
            </a:r>
            <a:endParaRPr lang="en-US" sz="1250" dirty="0"/>
          </a:p>
        </p:txBody>
      </p:sp>
      <p:sp>
        <p:nvSpPr>
          <p:cNvPr id="9" name="Text 6"/>
          <p:cNvSpPr txBox="1"/>
          <p:nvPr/>
        </p:nvSpPr>
        <p:spPr>
          <a:xfrm>
            <a:off x="731520" y="2697480"/>
            <a:ext cx="3200400" cy="685800"/>
          </a:xfrm>
          <a:prstGeom prst="rect">
            <a:avLst/>
          </a:prstGeom>
          <a:noFill/>
          <a:ln/>
        </p:spPr>
        <p:txBody>
          <a:bodyPr wrap="square" lIns="0" tIns="0" rIns="0" bIns="0" rtlCol="0" anchor="t"/>
          <a:lstStyle/>
          <a:p>
            <a:pPr indent="0" marL="0">
              <a:buNone/>
            </a:pPr>
            <a:r>
              <a:rPr lang="en-US" sz="1150" dirty="0">
                <a:solidFill>
                  <a:srgbClr val="1B2A41"/>
                </a:solidFill>
              </a:rPr>
              <a:t>g = share of demand that cannot be served; only if g &gt; 5%. Season: peak 1, normal 0.75, off-peak 0.5.</a:t>
            </a:r>
            <a:endParaRPr lang="en-US" sz="1150" dirty="0"/>
          </a:p>
        </p:txBody>
      </p:sp>
      <p:sp>
        <p:nvSpPr>
          <p:cNvPr id="10" name="Text 7"/>
          <p:cNvSpPr txBox="1"/>
          <p:nvPr/>
        </p:nvSpPr>
        <p:spPr>
          <a:xfrm>
            <a:off x="731520" y="3383280"/>
            <a:ext cx="3200400" cy="457200"/>
          </a:xfrm>
          <a:prstGeom prst="rect">
            <a:avLst/>
          </a:prstGeom>
          <a:noFill/>
          <a:ln/>
        </p:spPr>
        <p:txBody>
          <a:bodyPr wrap="square" lIns="0" tIns="0" rIns="0" bIns="0" rtlCol="0" anchor="t"/>
          <a:lstStyle/>
          <a:p>
            <a:pPr indent="0" marL="0">
              <a:buNone/>
            </a:pPr>
            <a:r>
              <a:rPr lang="en-US" sz="1150" i="1" dirty="0">
                <a:solidFill>
                  <a:srgbClr val="5B6B80"/>
                </a:solidFill>
              </a:rPr>
              <a:t>Why: if stock sells out anyway, a higher price is pure profit.</a:t>
            </a:r>
            <a:endParaRPr lang="en-US" sz="1150" dirty="0"/>
          </a:p>
        </p:txBody>
      </p:sp>
      <p:sp>
        <p:nvSpPr>
          <p:cNvPr id="11" name="Rule card"/>
          <p:cNvSpPr/>
          <p:nvPr/>
        </p:nvSpPr>
        <p:spPr>
          <a:xfrm>
            <a:off x="4297680" y="1645920"/>
            <a:ext cx="3566160" cy="2240280"/>
          </a:xfrm>
          <a:prstGeom prst="roundRect">
            <a:avLst>
              <a:gd name="adj" fmla="val 3265"/>
            </a:avLst>
          </a:prstGeom>
          <a:solidFill>
            <a:srgbClr val="F2F6FB"/>
          </a:solidFill>
          <a:ln w="12700">
            <a:solidFill>
              <a:srgbClr val="F2F6FB"/>
            </a:solidFill>
            <a:prstDash val="solid"/>
          </a:ln>
        </p:spPr>
      </p:sp>
      <p:sp>
        <p:nvSpPr>
          <p:cNvPr id="12" name="Rule accent"/>
          <p:cNvSpPr/>
          <p:nvPr/>
        </p:nvSpPr>
        <p:spPr>
          <a:xfrm>
            <a:off x="4297680" y="1645920"/>
            <a:ext cx="3566160" cy="64008"/>
          </a:xfrm>
          <a:prstGeom prst="rect">
            <a:avLst/>
          </a:prstGeom>
          <a:solidFill>
            <a:srgbClr val="1BAF7A"/>
          </a:solidFill>
          <a:ln w="12700">
            <a:solidFill>
              <a:srgbClr val="1BAF7A"/>
            </a:solidFill>
            <a:prstDash val="solid"/>
          </a:ln>
        </p:spPr>
      </p:sp>
      <p:sp>
        <p:nvSpPr>
          <p:cNvPr id="13" name="Text 10"/>
          <p:cNvSpPr txBox="1"/>
          <p:nvPr/>
        </p:nvSpPr>
        <p:spPr>
          <a:xfrm>
            <a:off x="4480560" y="1773936"/>
            <a:ext cx="3200400" cy="329184"/>
          </a:xfrm>
          <a:prstGeom prst="rect">
            <a:avLst/>
          </a:prstGeom>
          <a:noFill/>
          <a:ln/>
        </p:spPr>
        <p:txBody>
          <a:bodyPr wrap="square" lIns="0" tIns="0" rIns="0" bIns="0" rtlCol="0" anchor="ctr"/>
          <a:lstStyle/>
          <a:p>
            <a:pPr indent="0" marL="0">
              <a:buNone/>
            </a:pPr>
            <a:r>
              <a:rPr lang="en-US" sz="1500" b="1" dirty="0">
                <a:solidFill>
                  <a:schemeClr val="tx1"/>
                </a:solidFill>
              </a:rPr>
              <a:t>2  Sell-out protection</a:t>
            </a:r>
            <a:endParaRPr lang="en-US" sz="1500" dirty="0"/>
          </a:p>
        </p:txBody>
      </p:sp>
      <p:sp>
        <p:nvSpPr>
          <p:cNvPr id="14" name="Text 11"/>
          <p:cNvSpPr txBox="1"/>
          <p:nvPr/>
        </p:nvSpPr>
        <p:spPr>
          <a:xfrm>
            <a:off x="4480560" y="2121408"/>
            <a:ext cx="3200400" cy="566928"/>
          </a:xfrm>
          <a:prstGeom prst="rect">
            <a:avLst/>
          </a:prstGeom>
          <a:noFill/>
          <a:ln/>
        </p:spPr>
        <p:txBody>
          <a:bodyPr wrap="square" lIns="0" tIns="0" rIns="0" bIns="0" rtlCol="0" anchor="t"/>
          <a:lstStyle/>
          <a:p>
            <a:pPr indent="0" marL="0">
              <a:buNone/>
            </a:pPr>
            <a:r>
              <a:rPr lang="en-US" sz="1250" b="1" dirty="0">
                <a:solidFill>
                  <a:schemeClr val="accent1"/>
                </a:solidFill>
              </a:rPr>
              <a:t>largest rise M with E[units] &gt;= 99% of today's</a:t>
            </a:r>
            <a:endParaRPr lang="en-US" sz="1250" dirty="0"/>
          </a:p>
        </p:txBody>
      </p:sp>
      <p:sp>
        <p:nvSpPr>
          <p:cNvPr id="15" name="Text 12"/>
          <p:cNvSpPr txBox="1"/>
          <p:nvPr/>
        </p:nvSpPr>
        <p:spPr>
          <a:xfrm>
            <a:off x="4480560" y="2697480"/>
            <a:ext cx="3200400" cy="685800"/>
          </a:xfrm>
          <a:prstGeom prst="rect">
            <a:avLst/>
          </a:prstGeom>
          <a:noFill/>
          <a:ln/>
        </p:spPr>
        <p:txBody>
          <a:bodyPr wrap="square" lIns="0" tIns="0" rIns="0" bIns="0" rtlCol="0" anchor="t"/>
          <a:lstStyle/>
          <a:p>
            <a:pPr indent="0" marL="0">
              <a:buNone/>
            </a:pPr>
            <a:r>
              <a:rPr lang="en-US" sz="1150" dirty="0">
                <a:solidFill>
                  <a:srgbClr val="1B2A41"/>
                </a:solidFill>
              </a:rPr>
              <a:t>Tested by 1,000 simulated demand draws, with customers twice as price-sensitive.</a:t>
            </a:r>
            <a:endParaRPr lang="en-US" sz="1150" dirty="0"/>
          </a:p>
        </p:txBody>
      </p:sp>
      <p:sp>
        <p:nvSpPr>
          <p:cNvPr id="16" name="Text 13"/>
          <p:cNvSpPr txBox="1"/>
          <p:nvPr/>
        </p:nvSpPr>
        <p:spPr>
          <a:xfrm>
            <a:off x="4480560" y="3383280"/>
            <a:ext cx="3200400" cy="457200"/>
          </a:xfrm>
          <a:prstGeom prst="rect">
            <a:avLst/>
          </a:prstGeom>
          <a:noFill/>
          <a:ln/>
        </p:spPr>
        <p:txBody>
          <a:bodyPr wrap="square" lIns="0" tIns="0" rIns="0" bIns="0" rtlCol="0" anchor="t"/>
          <a:lstStyle/>
          <a:p>
            <a:pPr indent="0" marL="0">
              <a:buNone/>
            </a:pPr>
            <a:r>
              <a:rPr lang="en-US" sz="1150" i="1" dirty="0">
                <a:solidFill>
                  <a:srgbClr val="5B6B80"/>
                </a:solidFill>
              </a:rPr>
              <a:t>Why: price sensitivity is unknown; do not rely on it.</a:t>
            </a:r>
            <a:endParaRPr lang="en-US" sz="1150" dirty="0"/>
          </a:p>
        </p:txBody>
      </p:sp>
      <p:sp>
        <p:nvSpPr>
          <p:cNvPr id="17" name="Rule card"/>
          <p:cNvSpPr/>
          <p:nvPr/>
        </p:nvSpPr>
        <p:spPr>
          <a:xfrm>
            <a:off x="8046720" y="1645920"/>
            <a:ext cx="3566160" cy="2240280"/>
          </a:xfrm>
          <a:prstGeom prst="roundRect">
            <a:avLst>
              <a:gd name="adj" fmla="val 3265"/>
            </a:avLst>
          </a:prstGeom>
          <a:solidFill>
            <a:srgbClr val="F2F6FB"/>
          </a:solidFill>
          <a:ln w="12700">
            <a:solidFill>
              <a:srgbClr val="F2F6FB"/>
            </a:solidFill>
            <a:prstDash val="solid"/>
          </a:ln>
        </p:spPr>
      </p:sp>
      <p:sp>
        <p:nvSpPr>
          <p:cNvPr id="18" name="Rule accent"/>
          <p:cNvSpPr/>
          <p:nvPr/>
        </p:nvSpPr>
        <p:spPr>
          <a:xfrm>
            <a:off x="8046720" y="1645920"/>
            <a:ext cx="3566160" cy="64008"/>
          </a:xfrm>
          <a:prstGeom prst="rect">
            <a:avLst/>
          </a:prstGeom>
          <a:solidFill>
            <a:srgbClr val="EB6834"/>
          </a:solidFill>
          <a:ln w="12700">
            <a:solidFill>
              <a:srgbClr val="EB6834"/>
            </a:solidFill>
            <a:prstDash val="solid"/>
          </a:ln>
        </p:spPr>
      </p:sp>
      <p:sp>
        <p:nvSpPr>
          <p:cNvPr id="19" name="Text 16"/>
          <p:cNvSpPr txBox="1"/>
          <p:nvPr/>
        </p:nvSpPr>
        <p:spPr>
          <a:xfrm>
            <a:off x="8229600" y="1773936"/>
            <a:ext cx="3200400" cy="329184"/>
          </a:xfrm>
          <a:prstGeom prst="rect">
            <a:avLst/>
          </a:prstGeom>
          <a:noFill/>
          <a:ln/>
        </p:spPr>
        <p:txBody>
          <a:bodyPr wrap="square" lIns="0" tIns="0" rIns="0" bIns="0" rtlCol="0" anchor="ctr"/>
          <a:lstStyle/>
          <a:p>
            <a:pPr indent="0" marL="0">
              <a:buNone/>
            </a:pPr>
            <a:r>
              <a:rPr lang="en-US" sz="1500" b="1" dirty="0">
                <a:solidFill>
                  <a:schemeClr val="tx1"/>
                </a:solidFill>
              </a:rPr>
              <a:t>3  Surplus markdown</a:t>
            </a:r>
            <a:endParaRPr lang="en-US" sz="1500" dirty="0"/>
          </a:p>
        </p:txBody>
      </p:sp>
      <p:sp>
        <p:nvSpPr>
          <p:cNvPr id="20" name="Text 17"/>
          <p:cNvSpPr txBox="1"/>
          <p:nvPr/>
        </p:nvSpPr>
        <p:spPr>
          <a:xfrm>
            <a:off x="8229600" y="2121408"/>
            <a:ext cx="3200400" cy="566928"/>
          </a:xfrm>
          <a:prstGeom prst="rect">
            <a:avLst/>
          </a:prstGeom>
          <a:noFill/>
          <a:ln/>
        </p:spPr>
        <p:txBody>
          <a:bodyPr wrap="square" lIns="0" tIns="0" rIns="0" bIns="0" rtlCol="0" anchor="t"/>
          <a:lstStyle/>
          <a:p>
            <a:pPr indent="0" marL="0">
              <a:buNone/>
            </a:pPr>
            <a:r>
              <a:rPr lang="en-US" sz="1250" b="1" dirty="0">
                <a:solidFill>
                  <a:schemeClr val="accent1"/>
                </a:solidFill>
              </a:rPr>
              <a:t>up to 10%, deeper as weeks of stock exceed 26</a:t>
            </a:r>
            <a:endParaRPr lang="en-US" sz="1250" dirty="0"/>
          </a:p>
        </p:txBody>
      </p:sp>
      <p:sp>
        <p:nvSpPr>
          <p:cNvPr id="21" name="Text 18"/>
          <p:cNvSpPr txBox="1"/>
          <p:nvPr/>
        </p:nvSpPr>
        <p:spPr>
          <a:xfrm>
            <a:off x="8229600" y="2697480"/>
            <a:ext cx="3200400" cy="685800"/>
          </a:xfrm>
          <a:prstGeom prst="rect">
            <a:avLst/>
          </a:prstGeom>
          <a:noFill/>
          <a:ln/>
        </p:spPr>
        <p:txBody>
          <a:bodyPr wrap="square" lIns="0" tIns="0" rIns="0" bIns="0" rtlCol="0" anchor="t"/>
          <a:lstStyle/>
          <a:p>
            <a:pPr indent="0" marL="0">
              <a:buNone/>
            </a:pPr>
            <a:r>
              <a:rPr lang="en-US" sz="1150" dirty="0">
                <a:solidFill>
                  <a:srgbClr val="1B2A41"/>
                </a:solidFill>
              </a:rPr>
              <a:t>Applied only if simulated profit improves, counting the carrying-cost saving.</a:t>
            </a:r>
            <a:endParaRPr lang="en-US" sz="1150" dirty="0"/>
          </a:p>
        </p:txBody>
      </p:sp>
      <p:sp>
        <p:nvSpPr>
          <p:cNvPr id="22" name="Text 19"/>
          <p:cNvSpPr txBox="1"/>
          <p:nvPr/>
        </p:nvSpPr>
        <p:spPr>
          <a:xfrm>
            <a:off x="8229600" y="3383280"/>
            <a:ext cx="3200400" cy="457200"/>
          </a:xfrm>
          <a:prstGeom prst="rect">
            <a:avLst/>
          </a:prstGeom>
          <a:noFill/>
          <a:ln/>
        </p:spPr>
        <p:txBody>
          <a:bodyPr wrap="square" lIns="0" tIns="0" rIns="0" bIns="0" rtlCol="0" anchor="t"/>
          <a:lstStyle/>
          <a:p>
            <a:pPr indent="0" marL="0">
              <a:buNone/>
            </a:pPr>
            <a:r>
              <a:rPr lang="en-US" sz="1150" i="1" dirty="0">
                <a:solidFill>
                  <a:srgbClr val="5B6B80"/>
                </a:solidFill>
              </a:rPr>
              <a:t>Why: a discount gives away margin on every unit.</a:t>
            </a:r>
            <a:endParaRPr lang="en-US" sz="1150" dirty="0"/>
          </a:p>
        </p:txBody>
      </p:sp>
      <p:sp>
        <p:nvSpPr>
          <p:cNvPr id="23" name="Rule card"/>
          <p:cNvSpPr/>
          <p:nvPr/>
        </p:nvSpPr>
        <p:spPr>
          <a:xfrm>
            <a:off x="548640" y="4023360"/>
            <a:ext cx="3566160" cy="2240280"/>
          </a:xfrm>
          <a:prstGeom prst="roundRect">
            <a:avLst>
              <a:gd name="adj" fmla="val 3265"/>
            </a:avLst>
          </a:prstGeom>
          <a:solidFill>
            <a:srgbClr val="F2F6FB"/>
          </a:solidFill>
          <a:ln w="12700">
            <a:solidFill>
              <a:srgbClr val="F2F6FB"/>
            </a:solidFill>
            <a:prstDash val="solid"/>
          </a:ln>
        </p:spPr>
      </p:sp>
      <p:sp>
        <p:nvSpPr>
          <p:cNvPr id="24" name="Rule accent"/>
          <p:cNvSpPr/>
          <p:nvPr/>
        </p:nvSpPr>
        <p:spPr>
          <a:xfrm>
            <a:off x="548640" y="4023360"/>
            <a:ext cx="3566160" cy="64008"/>
          </a:xfrm>
          <a:prstGeom prst="rect">
            <a:avLst/>
          </a:prstGeom>
          <a:solidFill>
            <a:srgbClr val="D03B3B"/>
          </a:solidFill>
          <a:ln w="12700">
            <a:solidFill>
              <a:srgbClr val="D03B3B"/>
            </a:solidFill>
            <a:prstDash val="solid"/>
          </a:ln>
        </p:spPr>
      </p:sp>
      <p:sp>
        <p:nvSpPr>
          <p:cNvPr id="25" name="Text 22"/>
          <p:cNvSpPr txBox="1"/>
          <p:nvPr/>
        </p:nvSpPr>
        <p:spPr>
          <a:xfrm>
            <a:off x="731520" y="4151376"/>
            <a:ext cx="3200400" cy="329184"/>
          </a:xfrm>
          <a:prstGeom prst="rect">
            <a:avLst/>
          </a:prstGeom>
          <a:noFill/>
          <a:ln/>
        </p:spPr>
        <p:txBody>
          <a:bodyPr wrap="square" lIns="0" tIns="0" rIns="0" bIns="0" rtlCol="0" anchor="ctr"/>
          <a:lstStyle/>
          <a:p>
            <a:pPr indent="0" marL="0">
              <a:buNone/>
            </a:pPr>
            <a:r>
              <a:rPr lang="en-US" sz="1500" b="1" dirty="0">
                <a:solidFill>
                  <a:schemeClr val="tx1"/>
                </a:solidFill>
              </a:rPr>
              <a:t>4  Credit risk</a:t>
            </a:r>
            <a:endParaRPr lang="en-US" sz="1500" dirty="0"/>
          </a:p>
        </p:txBody>
      </p:sp>
      <p:sp>
        <p:nvSpPr>
          <p:cNvPr id="26" name="Text 23"/>
          <p:cNvSpPr txBox="1"/>
          <p:nvPr/>
        </p:nvSpPr>
        <p:spPr>
          <a:xfrm>
            <a:off x="731520" y="4498848"/>
            <a:ext cx="3200400" cy="566928"/>
          </a:xfrm>
          <a:prstGeom prst="rect">
            <a:avLst/>
          </a:prstGeom>
          <a:noFill/>
          <a:ln/>
        </p:spPr>
        <p:txBody>
          <a:bodyPr wrap="square" lIns="0" tIns="0" rIns="0" bIns="0" rtlCol="0" anchor="t"/>
          <a:lstStyle/>
          <a:p>
            <a:pPr indent="0" marL="0">
              <a:buNone/>
            </a:pPr>
            <a:r>
              <a:rPr lang="en-US" sz="1250" b="1" dirty="0">
                <a:solidFill>
                  <a:schemeClr val="accent1"/>
                </a:solidFill>
              </a:rPr>
              <a:t>D/E: no markdown, premium = default share + DSO/365 x 8%</a:t>
            </a:r>
            <a:endParaRPr lang="en-US" sz="1250" dirty="0"/>
          </a:p>
        </p:txBody>
      </p:sp>
      <p:sp>
        <p:nvSpPr>
          <p:cNvPr id="27" name="Text 24"/>
          <p:cNvSpPr txBox="1"/>
          <p:nvPr/>
        </p:nvSpPr>
        <p:spPr>
          <a:xfrm>
            <a:off x="731520" y="5074920"/>
            <a:ext cx="3200400" cy="685800"/>
          </a:xfrm>
          <a:prstGeom prst="rect">
            <a:avLst/>
          </a:prstGeom>
          <a:noFill/>
          <a:ln/>
        </p:spPr>
        <p:txBody>
          <a:bodyPr wrap="square" lIns="0" tIns="0" rIns="0" bIns="0" rtlCol="0" anchor="t"/>
          <a:lstStyle/>
          <a:p>
            <a:pPr indent="0" marL="0">
              <a:buNone/>
            </a:pPr>
            <a:r>
              <a:rPr lang="en-US" sz="1150" dirty="0">
                <a:solidFill>
                  <a:srgbClr val="1B2A41"/>
                </a:solidFill>
              </a:rPr>
              <a:t>Rating C: markdown capped at 5%.</a:t>
            </a:r>
            <a:endParaRPr lang="en-US" sz="1150" dirty="0"/>
          </a:p>
        </p:txBody>
      </p:sp>
      <p:sp>
        <p:nvSpPr>
          <p:cNvPr id="28" name="Text 25"/>
          <p:cNvSpPr txBox="1"/>
          <p:nvPr/>
        </p:nvSpPr>
        <p:spPr>
          <a:xfrm>
            <a:off x="731520" y="5760720"/>
            <a:ext cx="3200400" cy="457200"/>
          </a:xfrm>
          <a:prstGeom prst="rect">
            <a:avLst/>
          </a:prstGeom>
          <a:noFill/>
          <a:ln/>
        </p:spPr>
        <p:txBody>
          <a:bodyPr wrap="square" lIns="0" tIns="0" rIns="0" bIns="0" rtlCol="0" anchor="t"/>
          <a:lstStyle/>
          <a:p>
            <a:pPr indent="0" marL="0">
              <a:buNone/>
            </a:pPr>
            <a:r>
              <a:rPr lang="en-US" sz="1150" i="1" dirty="0">
                <a:solidFill>
                  <a:srgbClr val="5B6B80"/>
                </a:solidFill>
              </a:rPr>
              <a:t>Why: risky credit must pay for loss and funding.</a:t>
            </a:r>
            <a:endParaRPr lang="en-US" sz="1150" dirty="0"/>
          </a:p>
        </p:txBody>
      </p:sp>
      <p:sp>
        <p:nvSpPr>
          <p:cNvPr id="29" name="Rule card"/>
          <p:cNvSpPr/>
          <p:nvPr/>
        </p:nvSpPr>
        <p:spPr>
          <a:xfrm>
            <a:off x="4297680" y="4023360"/>
            <a:ext cx="3566160" cy="2240280"/>
          </a:xfrm>
          <a:prstGeom prst="roundRect">
            <a:avLst>
              <a:gd name="adj" fmla="val 3265"/>
            </a:avLst>
          </a:prstGeom>
          <a:solidFill>
            <a:srgbClr val="F2F6FB"/>
          </a:solidFill>
          <a:ln w="12700">
            <a:solidFill>
              <a:srgbClr val="F2F6FB"/>
            </a:solidFill>
            <a:prstDash val="solid"/>
          </a:ln>
        </p:spPr>
      </p:sp>
      <p:sp>
        <p:nvSpPr>
          <p:cNvPr id="30" name="Rule accent"/>
          <p:cNvSpPr/>
          <p:nvPr/>
        </p:nvSpPr>
        <p:spPr>
          <a:xfrm>
            <a:off x="4297680" y="4023360"/>
            <a:ext cx="3566160" cy="64008"/>
          </a:xfrm>
          <a:prstGeom prst="rect">
            <a:avLst/>
          </a:prstGeom>
          <a:solidFill>
            <a:srgbClr val="8A8F98"/>
          </a:solidFill>
          <a:ln w="12700">
            <a:solidFill>
              <a:srgbClr val="8A8F98"/>
            </a:solidFill>
            <a:prstDash val="solid"/>
          </a:ln>
        </p:spPr>
      </p:sp>
      <p:sp>
        <p:nvSpPr>
          <p:cNvPr id="31" name="Text 28"/>
          <p:cNvSpPr txBox="1"/>
          <p:nvPr/>
        </p:nvSpPr>
        <p:spPr>
          <a:xfrm>
            <a:off x="4480560" y="4151376"/>
            <a:ext cx="3200400" cy="329184"/>
          </a:xfrm>
          <a:prstGeom prst="rect">
            <a:avLst/>
          </a:prstGeom>
          <a:noFill/>
          <a:ln/>
        </p:spPr>
        <p:txBody>
          <a:bodyPr wrap="square" lIns="0" tIns="0" rIns="0" bIns="0" rtlCol="0" anchor="ctr"/>
          <a:lstStyle/>
          <a:p>
            <a:pPr indent="0" marL="0">
              <a:buNone/>
            </a:pPr>
            <a:r>
              <a:rPr lang="en-US" sz="1500" b="1" dirty="0">
                <a:solidFill>
                  <a:schemeClr val="tx1"/>
                </a:solidFill>
              </a:rPr>
              <a:t>5  Guardrails</a:t>
            </a:r>
            <a:endParaRPr lang="en-US" sz="1500" dirty="0"/>
          </a:p>
        </p:txBody>
      </p:sp>
      <p:sp>
        <p:nvSpPr>
          <p:cNvPr id="32" name="Text 29"/>
          <p:cNvSpPr txBox="1"/>
          <p:nvPr/>
        </p:nvSpPr>
        <p:spPr>
          <a:xfrm>
            <a:off x="4480560" y="4498848"/>
            <a:ext cx="3200400" cy="566928"/>
          </a:xfrm>
          <a:prstGeom prst="rect">
            <a:avLst/>
          </a:prstGeom>
          <a:noFill/>
          <a:ln/>
        </p:spPr>
        <p:txBody>
          <a:bodyPr wrap="square" lIns="0" tIns="0" rIns="0" bIns="0" rtlCol="0" anchor="t"/>
          <a:lstStyle/>
          <a:p>
            <a:pPr indent="0" marL="0">
              <a:buNone/>
            </a:pPr>
            <a:r>
              <a:rPr lang="en-US" sz="1250" b="1" dirty="0">
                <a:solidFill>
                  <a:schemeClr val="accent1"/>
                </a:solidFill>
              </a:rPr>
              <a:t>cost floor, market band 0.92 to 1.10, step 3% a week</a:t>
            </a:r>
            <a:endParaRPr lang="en-US" sz="1250" dirty="0"/>
          </a:p>
        </p:txBody>
      </p:sp>
      <p:sp>
        <p:nvSpPr>
          <p:cNvPr id="33" name="Text 30"/>
          <p:cNvSpPr txBox="1"/>
          <p:nvPr/>
        </p:nvSpPr>
        <p:spPr>
          <a:xfrm>
            <a:off x="4480560" y="5074920"/>
            <a:ext cx="3200400" cy="685800"/>
          </a:xfrm>
          <a:prstGeom prst="rect">
            <a:avLst/>
          </a:prstGeom>
          <a:noFill/>
          <a:ln/>
        </p:spPr>
        <p:txBody>
          <a:bodyPr wrap="square" lIns="0" tIns="0" rIns="0" bIns="0" rtlCol="0" anchor="t"/>
          <a:lstStyle/>
          <a:p>
            <a:pPr indent="0" marL="0">
              <a:buNone/>
            </a:pPr>
            <a:r>
              <a:rPr lang="en-US" sz="1150" dirty="0">
                <a:solidFill>
                  <a:srgbClr val="1B2A41"/>
                </a:solidFill>
              </a:rPr>
              <a:t>Floor = cost + 5% + holding cost, adjusted for expected credit loss.</a:t>
            </a:r>
            <a:endParaRPr lang="en-US" sz="1150" dirty="0"/>
          </a:p>
        </p:txBody>
      </p:sp>
      <p:sp>
        <p:nvSpPr>
          <p:cNvPr id="34" name="Text 31"/>
          <p:cNvSpPr txBox="1"/>
          <p:nvPr/>
        </p:nvSpPr>
        <p:spPr>
          <a:xfrm>
            <a:off x="4480560" y="5760720"/>
            <a:ext cx="3200400" cy="457200"/>
          </a:xfrm>
          <a:prstGeom prst="rect">
            <a:avLst/>
          </a:prstGeom>
          <a:noFill/>
          <a:ln/>
        </p:spPr>
        <p:txBody>
          <a:bodyPr wrap="square" lIns="0" tIns="0" rIns="0" bIns="0" rtlCol="0" anchor="t"/>
          <a:lstStyle/>
          <a:p>
            <a:pPr indent="0" marL="0">
              <a:buNone/>
            </a:pPr>
            <a:r>
              <a:rPr lang="en-US" sz="1150" i="1" dirty="0">
                <a:solidFill>
                  <a:srgbClr val="5B6B80"/>
                </a:solidFill>
              </a:rPr>
              <a:t>Details on the next slide.</a:t>
            </a:r>
            <a:endParaRPr lang="en-US" sz="1150" dirty="0"/>
          </a:p>
        </p:txBody>
      </p:sp>
      <p:sp>
        <p:nvSpPr>
          <p:cNvPr id="35" name="Rule card"/>
          <p:cNvSpPr/>
          <p:nvPr/>
        </p:nvSpPr>
        <p:spPr>
          <a:xfrm>
            <a:off x="8046720" y="4023360"/>
            <a:ext cx="3566160" cy="2240280"/>
          </a:xfrm>
          <a:prstGeom prst="roundRect">
            <a:avLst>
              <a:gd name="adj" fmla="val 3265"/>
            </a:avLst>
          </a:prstGeom>
          <a:solidFill>
            <a:srgbClr val="F2F6FB"/>
          </a:solidFill>
          <a:ln w="12700">
            <a:solidFill>
              <a:srgbClr val="F2F6FB"/>
            </a:solidFill>
            <a:prstDash val="solid"/>
          </a:ln>
        </p:spPr>
      </p:sp>
      <p:sp>
        <p:nvSpPr>
          <p:cNvPr id="36" name="Rule accent"/>
          <p:cNvSpPr/>
          <p:nvPr/>
        </p:nvSpPr>
        <p:spPr>
          <a:xfrm>
            <a:off x="8046720" y="4023360"/>
            <a:ext cx="3566160" cy="64008"/>
          </a:xfrm>
          <a:prstGeom prst="rect">
            <a:avLst/>
          </a:prstGeom>
          <a:solidFill>
            <a:srgbClr val="12263F"/>
          </a:solidFill>
          <a:ln w="12700">
            <a:solidFill>
              <a:srgbClr val="12263F"/>
            </a:solidFill>
            <a:prstDash val="solid"/>
          </a:ln>
        </p:spPr>
      </p:sp>
      <p:sp>
        <p:nvSpPr>
          <p:cNvPr id="37" name="Text 34"/>
          <p:cNvSpPr txBox="1"/>
          <p:nvPr/>
        </p:nvSpPr>
        <p:spPr>
          <a:xfrm>
            <a:off x="8229600" y="4151376"/>
            <a:ext cx="3200400" cy="329184"/>
          </a:xfrm>
          <a:prstGeom prst="rect">
            <a:avLst/>
          </a:prstGeom>
          <a:noFill/>
          <a:ln/>
        </p:spPr>
        <p:txBody>
          <a:bodyPr wrap="square" lIns="0" tIns="0" rIns="0" bIns="0" rtlCol="0" anchor="ctr"/>
          <a:lstStyle/>
          <a:p>
            <a:pPr indent="0" marL="0">
              <a:buNone/>
            </a:pPr>
            <a:r>
              <a:rPr lang="en-US" sz="1500" b="1" dirty="0">
                <a:solidFill>
                  <a:schemeClr val="tx1"/>
                </a:solidFill>
              </a:rPr>
              <a:t>6  Final price</a:t>
            </a:r>
            <a:endParaRPr lang="en-US" sz="1500" dirty="0"/>
          </a:p>
        </p:txBody>
      </p:sp>
      <p:sp>
        <p:nvSpPr>
          <p:cNvPr id="38" name="Text 35"/>
          <p:cNvSpPr txBox="1"/>
          <p:nvPr/>
        </p:nvSpPr>
        <p:spPr>
          <a:xfrm>
            <a:off x="8229600" y="4498848"/>
            <a:ext cx="3200400" cy="566928"/>
          </a:xfrm>
          <a:prstGeom prst="rect">
            <a:avLst/>
          </a:prstGeom>
          <a:noFill/>
          <a:ln/>
        </p:spPr>
        <p:txBody>
          <a:bodyPr wrap="square" lIns="0" tIns="0" rIns="0" bIns="0" rtlCol="0" anchor="t"/>
          <a:lstStyle/>
          <a:p>
            <a:pPr indent="0" marL="0">
              <a:buNone/>
            </a:pPr>
            <a:r>
              <a:rPr lang="en-US" sz="1250" b="1" dirty="0">
                <a:solidFill>
                  <a:schemeClr val="accent1"/>
                </a:solidFill>
              </a:rPr>
              <a:t>today's price, rules 1-4, then clipped by rule 5</a:t>
            </a:r>
            <a:endParaRPr lang="en-US" sz="1250" dirty="0"/>
          </a:p>
        </p:txBody>
      </p:sp>
      <p:sp>
        <p:nvSpPr>
          <p:cNvPr id="39" name="Text 36"/>
          <p:cNvSpPr txBox="1"/>
          <p:nvPr/>
        </p:nvSpPr>
        <p:spPr>
          <a:xfrm>
            <a:off x="8229600" y="5074920"/>
            <a:ext cx="3200400" cy="685800"/>
          </a:xfrm>
          <a:prstGeom prst="rect">
            <a:avLst/>
          </a:prstGeom>
          <a:noFill/>
          <a:ln/>
        </p:spPr>
        <p:txBody>
          <a:bodyPr wrap="square" lIns="0" tIns="0" rIns="0" bIns="0" rtlCol="0" anchor="t"/>
          <a:lstStyle/>
          <a:p>
            <a:pPr indent="0" marL="0">
              <a:buNone/>
            </a:pPr>
            <a:r>
              <a:rPr lang="en-US" sz="1150" dirty="0">
                <a:solidFill>
                  <a:srgbClr val="1B2A41"/>
                </a:solidFill>
              </a:rPr>
              <a:t>The binding limit is recorded for every product-week.</a:t>
            </a:r>
            <a:endParaRPr lang="en-US" sz="1150" dirty="0"/>
          </a:p>
        </p:txBody>
      </p:sp>
      <p:sp>
        <p:nvSpPr>
          <p:cNvPr id="40" name="Text 37"/>
          <p:cNvSpPr txBox="1"/>
          <p:nvPr/>
        </p:nvSpPr>
        <p:spPr>
          <a:xfrm>
            <a:off x="8229600" y="5760720"/>
            <a:ext cx="3200400" cy="457200"/>
          </a:xfrm>
          <a:prstGeom prst="rect">
            <a:avLst/>
          </a:prstGeom>
          <a:noFill/>
          <a:ln/>
        </p:spPr>
        <p:txBody>
          <a:bodyPr wrap="square" lIns="0" tIns="0" rIns="0" bIns="0" rtlCol="0" anchor="t"/>
          <a:lstStyle/>
          <a:p>
            <a:pPr indent="0" marL="0">
              <a:buNone/>
            </a:pPr>
            <a:r>
              <a:rPr lang="en-US" sz="1150" i="1" dirty="0">
                <a:solidFill>
                  <a:srgbClr val="5B6B80"/>
                </a:solidFill>
              </a:rPr>
              <a:t>Why: every price can be explained.</a:t>
            </a:r>
            <a:endParaRPr lang="en-US" sz="115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Part tag"/>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PART 4 · RISK GUARDRAILS</a:t>
            </a:r>
            <a:endParaRPr lang="en-US" sz="1200" dirty="0"/>
          </a:p>
        </p:txBody>
      </p:sp>
      <p:sp>
        <p:nvSpPr>
          <p:cNvPr id="3" name="Text 0"/>
          <p:cNvSpPr/>
          <p:nvPr>
            <p:ph idx="100"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Safety limits keep every price sensible</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2286000"/>
                <a:gridCol w="4572000"/>
                <a:gridCol w="4206240"/>
              </a:tblGrid>
              <a:tr h="384048">
                <a:tc>
                  <a:txBody>
                    <a:bodyPr/>
                    <a:lstStyle/>
                    <a:p>
                      <a:pPr indent="0" marL="0">
                        <a:buNone/>
                      </a:pPr>
                      <a:r>
                        <a:rPr lang="en-US" sz="1400" b="1" dirty="0">
                          <a:solidFill>
                            <a:srgbClr val="FFFFFF"/>
                          </a:solidFill>
                        </a:rPr>
                        <a:t>Guardrail</a:t>
                      </a:r>
                      <a:endParaRPr lang="en-US" sz="1400" dirty="0"/>
                    </a:p>
                  </a:txBody>
                  <a:tcPr marL="91440" marR="91440" marT="64008" marB="64008"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12263F"/>
                    </a:solidFill>
                  </a:tcPr>
                </a:tc>
                <a:tc>
                  <a:txBody>
                    <a:bodyPr/>
                    <a:lstStyle/>
                    <a:p>
                      <a:pPr indent="0" marL="0">
                        <a:buNone/>
                      </a:pPr>
                      <a:r>
                        <a:rPr lang="en-US" sz="1400" b="1" dirty="0">
                          <a:solidFill>
                            <a:srgbClr val="FFFFFF"/>
                          </a:solidFill>
                        </a:rPr>
                        <a:t>Rule</a:t>
                      </a:r>
                      <a:endParaRPr lang="en-US" sz="1400" dirty="0"/>
                    </a:p>
                  </a:txBody>
                  <a:tcPr marL="91440" marR="91440" marT="64008" marB="64008"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12263F"/>
                    </a:solidFill>
                  </a:tcPr>
                </a:tc>
                <a:tc>
                  <a:txBody>
                    <a:bodyPr/>
                    <a:lstStyle/>
                    <a:p>
                      <a:pPr indent="0" marL="0">
                        <a:buNone/>
                      </a:pPr>
                      <a:r>
                        <a:rPr lang="en-US" sz="1400" b="1" dirty="0">
                          <a:solidFill>
                            <a:srgbClr val="FFFFFF"/>
                          </a:solidFill>
                        </a:rPr>
                        <a:t>Why</a:t>
                      </a:r>
                      <a:endParaRPr lang="en-US" sz="1400" dirty="0"/>
                    </a:p>
                  </a:txBody>
                  <a:tcPr marL="91440" marR="91440" marT="64008" marB="64008"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12263F"/>
                    </a:solidFill>
                  </a:tcPr>
                </a:tc>
              </a:tr>
              <a:tr h="640080">
                <a:tc>
                  <a:txBody>
                    <a:bodyPr/>
                    <a:lstStyle/>
                    <a:p>
                      <a:pPr indent="0" marL="0">
                        <a:buNone/>
                      </a:pPr>
                      <a:r>
                        <a:rPr lang="en-US" sz="1400" dirty="0">
                          <a:solidFill>
                            <a:srgbClr val="1B2A41"/>
                          </a:solidFill>
                        </a:rPr>
                        <a:t>Sell-out protection</a:t>
                      </a:r>
                      <a:endParaRPr lang="en-US" sz="1400" dirty="0"/>
                    </a:p>
                  </a:txBody>
                  <a:tcPr marL="91440" marR="91440" marT="64008" marB="64008"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raise only as far as units sold stay within 1%, even if customers were twice as price-sensitive</a:t>
                      </a:r>
                      <a:endParaRPr lang="en-US" sz="1400" dirty="0"/>
                    </a:p>
                  </a:txBody>
                  <a:tcPr marL="91440" marR="91440" marT="64008" marB="64008"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price sensitivity is unknown; the rule does not rely on it</a:t>
                      </a:r>
                      <a:endParaRPr lang="en-US" sz="1400" dirty="0"/>
                    </a:p>
                  </a:txBody>
                  <a:tcPr marL="91440" marR="91440" marT="64008" marB="64008"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2A41"/>
                          </a:solidFill>
                        </a:rPr>
                        <a:t>Cost floor</a:t>
                      </a:r>
                      <a:endParaRPr lang="en-US" sz="1400" dirty="0"/>
                    </a:p>
                  </a:txBody>
                  <a:tcPr marL="91440" marR="91440" marT="64008" marB="64008"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never below cost + 5% markup + carrying cost, covering expected credit loss</a:t>
                      </a:r>
                      <a:endParaRPr lang="en-US" sz="1400" dirty="0"/>
                    </a:p>
                  </a:txBody>
                  <a:tcPr marL="91440" marR="91440" marT="64008" marB="64008"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no sale below a profitable level</a:t>
                      </a:r>
                      <a:endParaRPr lang="en-US" sz="1400" dirty="0"/>
                    </a:p>
                  </a:txBody>
                  <a:tcPr marL="91440" marR="91440" marT="64008" marB="64008"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2A41"/>
                          </a:solidFill>
                        </a:rPr>
                        <a:t>Competitive band</a:t>
                      </a:r>
                      <a:endParaRPr lang="en-US" sz="1400" dirty="0"/>
                    </a:p>
                  </a:txBody>
                  <a:tcPr marL="91440" marR="91440" marT="64008" marB="64008"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within -8% and +10% of today's price (13-week average)</a:t>
                      </a:r>
                      <a:endParaRPr lang="en-US" sz="1400" dirty="0"/>
                    </a:p>
                  </a:txBody>
                  <a:tcPr marL="91440" marR="91440" marT="64008" marB="64008"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stay close to the market; no competitor data exists</a:t>
                      </a:r>
                      <a:endParaRPr lang="en-US" sz="1400" dirty="0"/>
                    </a:p>
                  </a:txBody>
                  <a:tcPr marL="91440" marR="91440" marT="64008" marB="64008"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A41"/>
                          </a:solidFill>
                        </a:rPr>
                        <a:t>Weekly step</a:t>
                      </a:r>
                      <a:endParaRPr lang="en-US" sz="1400" dirty="0"/>
                    </a:p>
                  </a:txBody>
                  <a:tcPr marL="91440" marR="91440" marT="64008" marB="64008"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at most 3% change from one week to the next</a:t>
                      </a:r>
                      <a:endParaRPr lang="en-US" sz="1400" dirty="0"/>
                    </a:p>
                  </a:txBody>
                  <a:tcPr marL="91440" marR="91440" marT="64008" marB="64008"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customers never see price jumps</a:t>
                      </a:r>
                      <a:endParaRPr lang="en-US" sz="1400" dirty="0"/>
                    </a:p>
                  </a:txBody>
                  <a:tcPr marL="91440" marR="91440" marT="64008" marB="64008"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r h="640080">
                <a:tc>
                  <a:txBody>
                    <a:bodyPr/>
                    <a:lstStyle/>
                    <a:p>
                      <a:pPr indent="0" marL="0">
                        <a:buNone/>
                      </a:pPr>
                      <a:r>
                        <a:rPr lang="en-US" sz="1400" dirty="0">
                          <a:solidFill>
                            <a:srgbClr val="1B2A41"/>
                          </a:solidFill>
                        </a:rPr>
                        <a:t>Credit risk D/E</a:t>
                      </a:r>
                      <a:endParaRPr lang="en-US" sz="1400" dirty="0"/>
                    </a:p>
                  </a:txBody>
                  <a:tcPr marL="91440" marR="91440" marT="64008" marB="64008"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no discounts, +2.5% risk premium, 15 days shorter terms</a:t>
                      </a:r>
                      <a:endParaRPr lang="en-US" sz="1400" dirty="0"/>
                    </a:p>
                  </a:txBody>
                  <a:tcPr marL="91440" marR="91440" marT="64008" marB="64008"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credit sales cost default loss and funding; risky categories should pay for it</a:t>
                      </a:r>
                      <a:endParaRPr lang="en-US" sz="1400" dirty="0"/>
                    </a:p>
                  </a:txBody>
                  <a:tcPr marL="91440" marR="91440" marT="64008" marB="64008"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r h="640080">
                <a:tc>
                  <a:txBody>
                    <a:bodyPr/>
                    <a:lstStyle/>
                    <a:p>
                      <a:pPr indent="0" marL="0">
                        <a:buNone/>
                      </a:pPr>
                      <a:r>
                        <a:rPr lang="en-US" sz="1400" dirty="0">
                          <a:solidFill>
                            <a:srgbClr val="1B2A41"/>
                          </a:solidFill>
                        </a:rPr>
                        <a:t>Profit test for markdowns</a:t>
                      </a:r>
                      <a:endParaRPr lang="en-US" sz="1400" dirty="0"/>
                    </a:p>
                  </a:txBody>
                  <a:tcPr marL="91440" marR="91440" marT="64008" marB="64008"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discount only if expected profit rises, counting stock-holding savings</a:t>
                      </a:r>
                      <a:endParaRPr lang="en-US" sz="1400" dirty="0"/>
                    </a:p>
                  </a:txBody>
                  <a:tcPr marL="91440" marR="91440" marT="64008" marB="64008"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a discount gives away margin on every unit</a:t>
                      </a:r>
                      <a:endParaRPr lang="en-US" sz="1400" dirty="0"/>
                    </a:p>
                  </a:txBody>
                  <a:tcPr marL="91440" marR="91440" marT="64008" marB="64008"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548640" y="5989320"/>
            <a:ext cx="11064240" cy="411480"/>
          </a:xfrm>
          <a:prstGeom prst="rect">
            <a:avLst/>
          </a:prstGeom>
          <a:noFill/>
          <a:ln/>
        </p:spPr>
        <p:txBody>
          <a:bodyPr wrap="square" lIns="0" tIns="0" rIns="0" bIns="0" rtlCol="0" anchor="ctr"/>
          <a:lstStyle/>
          <a:p>
            <a:pPr indent="0" marL="0">
              <a:buNone/>
            </a:pPr>
            <a:r>
              <a:rPr lang="en-US" sz="1300" i="1" dirty="0">
                <a:solidFill>
                  <a:srgbClr val="5B6B80"/>
                </a:solidFill>
              </a:rPr>
              <a:t>All 19 automatic checks pass: band, floor, weekly step, credit rules, hand-calculated arithmetic, and a replay that uses only information available at the time.</a:t>
            </a:r>
            <a:endParaRPr lang="en-US" sz="13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Part tag"/>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PART 4 · VALIDATION</a:t>
            </a:r>
            <a:endParaRPr lang="en-US" sz="1200" dirty="0"/>
          </a:p>
        </p:txBody>
      </p:sp>
      <p:sp>
        <p:nvSpPr>
          <p:cNvPr id="3" name="Text 0"/>
          <p:cNvSpPr/>
          <p:nvPr>
            <p:ph idx="100"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How the pricing engine was tested</a:t>
            </a:r>
            <a:endParaRPr lang="en-US" sz="3000" dirty="0"/>
          </a:p>
        </p:txBody>
      </p:sp>
      <p:sp>
        <p:nvSpPr>
          <p:cNvPr id="5" name="Test card"/>
          <p:cNvSpPr/>
          <p:nvPr/>
        </p:nvSpPr>
        <p:spPr>
          <a:xfrm>
            <a:off x="548640" y="1645920"/>
            <a:ext cx="2651760" cy="2743200"/>
          </a:xfrm>
          <a:prstGeom prst="roundRect">
            <a:avLst>
              <a:gd name="adj" fmla="val 2759"/>
            </a:avLst>
          </a:prstGeom>
          <a:solidFill>
            <a:srgbClr val="F2F6FB"/>
          </a:solidFill>
          <a:ln w="12700">
            <a:solidFill>
              <a:srgbClr val="F2F6FB"/>
            </a:solidFill>
            <a:prstDash val="solid"/>
          </a:ln>
        </p:spPr>
      </p:sp>
      <p:sp>
        <p:nvSpPr>
          <p:cNvPr id="6" name="Step number"/>
          <p:cNvSpPr/>
          <p:nvPr/>
        </p:nvSpPr>
        <p:spPr>
          <a:xfrm>
            <a:off x="731520" y="1810512"/>
            <a:ext cx="502920" cy="502920"/>
          </a:xfrm>
          <a:prstGeom prst="ellipse">
            <a:avLst/>
          </a:prstGeom>
          <a:solidFill>
            <a:srgbClr val="2A78D6"/>
          </a:solidFill>
          <a:ln w="12700">
            <a:solidFill>
              <a:srgbClr val="FFFFFF"/>
            </a:solidFill>
            <a:prstDash val="solid"/>
          </a:ln>
        </p:spPr>
      </p:sp>
      <p:sp>
        <p:nvSpPr>
          <p:cNvPr id="7" name="Text 4"/>
          <p:cNvSpPr txBox="1"/>
          <p:nvPr/>
        </p:nvSpPr>
        <p:spPr>
          <a:xfrm>
            <a:off x="731520" y="181051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8" name="Text 5"/>
          <p:cNvSpPr txBox="1"/>
          <p:nvPr/>
        </p:nvSpPr>
        <p:spPr>
          <a:xfrm>
            <a:off x="1371600" y="1810512"/>
            <a:ext cx="1737360" cy="502920"/>
          </a:xfrm>
          <a:prstGeom prst="rect">
            <a:avLst/>
          </a:prstGeom>
          <a:noFill/>
          <a:ln/>
        </p:spPr>
        <p:txBody>
          <a:bodyPr wrap="square" lIns="0" tIns="0" rIns="0" bIns="0" rtlCol="0" anchor="ctr"/>
          <a:lstStyle/>
          <a:p>
            <a:pPr indent="0" marL="0">
              <a:buNone/>
            </a:pPr>
            <a:r>
              <a:rPr lang="en-US" sz="1600" b="1" dirty="0">
                <a:solidFill>
                  <a:schemeClr val="tx1"/>
                </a:solidFill>
              </a:rPr>
              <a:t>Simulate</a:t>
            </a:r>
            <a:endParaRPr lang="en-US" sz="1600" dirty="0"/>
          </a:p>
        </p:txBody>
      </p:sp>
      <p:sp>
        <p:nvSpPr>
          <p:cNvPr id="9" name="Text 6"/>
          <p:cNvSpPr txBox="1"/>
          <p:nvPr/>
        </p:nvSpPr>
        <p:spPr>
          <a:xfrm>
            <a:off x="731520" y="2468880"/>
            <a:ext cx="2331720" cy="1828800"/>
          </a:xfrm>
          <a:prstGeom prst="rect">
            <a:avLst/>
          </a:prstGeom>
          <a:noFill/>
          <a:ln/>
        </p:spPr>
        <p:txBody>
          <a:bodyPr wrap="square" lIns="0" tIns="0" rIns="0" bIns="0" rtlCol="0" anchor="t"/>
          <a:lstStyle/>
          <a:p>
            <a:pPr indent="0" marL="0">
              <a:buNone/>
            </a:pPr>
            <a:r>
              <a:rPr lang="en-US" sz="1300" dirty="0">
                <a:solidFill>
                  <a:srgbClr val="1B2A41"/>
                </a:solidFill>
              </a:rPr>
              <a:t>1,000 demand and stock draws per product-week; profit with the engine vs holding today's price, same draws for both.</a:t>
            </a:r>
            <a:endParaRPr lang="en-US" sz="1300" dirty="0"/>
          </a:p>
        </p:txBody>
      </p:sp>
      <p:sp>
        <p:nvSpPr>
          <p:cNvPr id="10" name="Test card"/>
          <p:cNvSpPr/>
          <p:nvPr/>
        </p:nvSpPr>
        <p:spPr>
          <a:xfrm>
            <a:off x="3337560" y="1645920"/>
            <a:ext cx="2651760" cy="2743200"/>
          </a:xfrm>
          <a:prstGeom prst="roundRect">
            <a:avLst>
              <a:gd name="adj" fmla="val 2759"/>
            </a:avLst>
          </a:prstGeom>
          <a:solidFill>
            <a:srgbClr val="F2F6FB"/>
          </a:solidFill>
          <a:ln w="12700">
            <a:solidFill>
              <a:srgbClr val="F2F6FB"/>
            </a:solidFill>
            <a:prstDash val="solid"/>
          </a:ln>
        </p:spPr>
      </p:sp>
      <p:sp>
        <p:nvSpPr>
          <p:cNvPr id="11" name="Step number"/>
          <p:cNvSpPr/>
          <p:nvPr/>
        </p:nvSpPr>
        <p:spPr>
          <a:xfrm>
            <a:off x="3520440" y="1810512"/>
            <a:ext cx="502920" cy="502920"/>
          </a:xfrm>
          <a:prstGeom prst="ellipse">
            <a:avLst/>
          </a:prstGeom>
          <a:solidFill>
            <a:srgbClr val="1BAF7A"/>
          </a:solidFill>
          <a:ln w="12700">
            <a:solidFill>
              <a:srgbClr val="FFFFFF"/>
            </a:solidFill>
            <a:prstDash val="solid"/>
          </a:ln>
        </p:spPr>
      </p:sp>
      <p:sp>
        <p:nvSpPr>
          <p:cNvPr id="12" name="Text 9"/>
          <p:cNvSpPr txBox="1"/>
          <p:nvPr/>
        </p:nvSpPr>
        <p:spPr>
          <a:xfrm>
            <a:off x="3520440" y="181051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3" name="Text 10"/>
          <p:cNvSpPr txBox="1"/>
          <p:nvPr/>
        </p:nvSpPr>
        <p:spPr>
          <a:xfrm>
            <a:off x="4160520" y="1810512"/>
            <a:ext cx="1737360" cy="502920"/>
          </a:xfrm>
          <a:prstGeom prst="rect">
            <a:avLst/>
          </a:prstGeom>
          <a:noFill/>
          <a:ln/>
        </p:spPr>
        <p:txBody>
          <a:bodyPr wrap="square" lIns="0" tIns="0" rIns="0" bIns="0" rtlCol="0" anchor="ctr"/>
          <a:lstStyle/>
          <a:p>
            <a:pPr indent="0" marL="0">
              <a:buNone/>
            </a:pPr>
            <a:r>
              <a:rPr lang="en-US" sz="1600" b="1" dirty="0">
                <a:solidFill>
                  <a:schemeClr val="tx1"/>
                </a:solidFill>
              </a:rPr>
              <a:t>Stress sensitivity</a:t>
            </a:r>
            <a:endParaRPr lang="en-US" sz="1600" dirty="0"/>
          </a:p>
        </p:txBody>
      </p:sp>
      <p:sp>
        <p:nvSpPr>
          <p:cNvPr id="14" name="Text 11"/>
          <p:cNvSpPr txBox="1"/>
          <p:nvPr/>
        </p:nvSpPr>
        <p:spPr>
          <a:xfrm>
            <a:off x="3520440" y="2468880"/>
            <a:ext cx="2331720" cy="1828800"/>
          </a:xfrm>
          <a:prstGeom prst="rect">
            <a:avLst/>
          </a:prstGeom>
          <a:noFill/>
          <a:ln/>
        </p:spPr>
        <p:txBody>
          <a:bodyPr wrap="square" lIns="0" tIns="0" rIns="0" bIns="0" rtlCol="0" anchor="t"/>
          <a:lstStyle/>
          <a:p>
            <a:pPr indent="0" marL="0">
              <a:buNone/>
            </a:pPr>
            <a:r>
              <a:rPr lang="en-US" sz="1300" dirty="0">
                <a:solidFill>
                  <a:srgbClr val="1B2A41"/>
                </a:solidFill>
              </a:rPr>
              <a:t>Repeat for price sensitivity 0, -0.5, -1, -2, -3. The result is a range, not one number.</a:t>
            </a:r>
            <a:endParaRPr lang="en-US" sz="1300" dirty="0"/>
          </a:p>
        </p:txBody>
      </p:sp>
      <p:sp>
        <p:nvSpPr>
          <p:cNvPr id="15" name="Test card"/>
          <p:cNvSpPr/>
          <p:nvPr/>
        </p:nvSpPr>
        <p:spPr>
          <a:xfrm>
            <a:off x="6126480" y="1645920"/>
            <a:ext cx="2651760" cy="2743200"/>
          </a:xfrm>
          <a:prstGeom prst="roundRect">
            <a:avLst>
              <a:gd name="adj" fmla="val 2759"/>
            </a:avLst>
          </a:prstGeom>
          <a:solidFill>
            <a:srgbClr val="F2F6FB"/>
          </a:solidFill>
          <a:ln w="12700">
            <a:solidFill>
              <a:srgbClr val="F2F6FB"/>
            </a:solidFill>
            <a:prstDash val="solid"/>
          </a:ln>
        </p:spPr>
      </p:sp>
      <p:sp>
        <p:nvSpPr>
          <p:cNvPr id="16" name="Step number"/>
          <p:cNvSpPr/>
          <p:nvPr/>
        </p:nvSpPr>
        <p:spPr>
          <a:xfrm>
            <a:off x="6309360" y="1810512"/>
            <a:ext cx="502920" cy="502920"/>
          </a:xfrm>
          <a:prstGeom prst="ellipse">
            <a:avLst/>
          </a:prstGeom>
          <a:solidFill>
            <a:srgbClr val="EB6834"/>
          </a:solidFill>
          <a:ln w="12700">
            <a:solidFill>
              <a:srgbClr val="FFFFFF"/>
            </a:solidFill>
            <a:prstDash val="solid"/>
          </a:ln>
        </p:spPr>
      </p:sp>
      <p:sp>
        <p:nvSpPr>
          <p:cNvPr id="17" name="Text 14"/>
          <p:cNvSpPr txBox="1"/>
          <p:nvPr/>
        </p:nvSpPr>
        <p:spPr>
          <a:xfrm>
            <a:off x="6309360" y="181051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8" name="Text 15"/>
          <p:cNvSpPr txBox="1"/>
          <p:nvPr/>
        </p:nvSpPr>
        <p:spPr>
          <a:xfrm>
            <a:off x="6949440" y="1810512"/>
            <a:ext cx="1737360" cy="502920"/>
          </a:xfrm>
          <a:prstGeom prst="rect">
            <a:avLst/>
          </a:prstGeom>
          <a:noFill/>
          <a:ln/>
        </p:spPr>
        <p:txBody>
          <a:bodyPr wrap="square" lIns="0" tIns="0" rIns="0" bIns="0" rtlCol="0" anchor="ctr"/>
          <a:lstStyle/>
          <a:p>
            <a:pPr indent="0" marL="0">
              <a:buNone/>
            </a:pPr>
            <a:r>
              <a:rPr lang="en-US" sz="1600" b="1" dirty="0">
                <a:solidFill>
                  <a:schemeClr val="tx1"/>
                </a:solidFill>
              </a:rPr>
              <a:t>Replay the past</a:t>
            </a:r>
            <a:endParaRPr lang="en-US" sz="1600" dirty="0"/>
          </a:p>
        </p:txBody>
      </p:sp>
      <p:sp>
        <p:nvSpPr>
          <p:cNvPr id="19" name="Text 16"/>
          <p:cNvSpPr txBox="1"/>
          <p:nvPr/>
        </p:nvSpPr>
        <p:spPr>
          <a:xfrm>
            <a:off x="6309360" y="2468880"/>
            <a:ext cx="2331720" cy="1828800"/>
          </a:xfrm>
          <a:prstGeom prst="rect">
            <a:avLst/>
          </a:prstGeom>
          <a:noFill/>
          <a:ln/>
        </p:spPr>
        <p:txBody>
          <a:bodyPr wrap="square" lIns="0" tIns="0" rIns="0" bIns="0" rtlCol="0" anchor="t"/>
          <a:lstStyle/>
          <a:p>
            <a:pPr indent="0" marL="0">
              <a:buNone/>
            </a:pPr>
            <a:r>
              <a:rPr lang="en-US" sz="1300" dirty="0">
                <a:solidFill>
                  <a:srgbClr val="1B2A41"/>
                </a:solidFill>
              </a:rPr>
              <a:t>Last 52 weeks: decide at weeks 208 and 234 using only past information and a naive forecast.</a:t>
            </a:r>
            <a:endParaRPr lang="en-US" sz="1300" dirty="0"/>
          </a:p>
        </p:txBody>
      </p:sp>
      <p:sp>
        <p:nvSpPr>
          <p:cNvPr id="20" name="Test card"/>
          <p:cNvSpPr/>
          <p:nvPr/>
        </p:nvSpPr>
        <p:spPr>
          <a:xfrm>
            <a:off x="8915400" y="1645920"/>
            <a:ext cx="2651760" cy="2743200"/>
          </a:xfrm>
          <a:prstGeom prst="roundRect">
            <a:avLst>
              <a:gd name="adj" fmla="val 2759"/>
            </a:avLst>
          </a:prstGeom>
          <a:solidFill>
            <a:srgbClr val="F2F6FB"/>
          </a:solidFill>
          <a:ln w="12700">
            <a:solidFill>
              <a:srgbClr val="F2F6FB"/>
            </a:solidFill>
            <a:prstDash val="solid"/>
          </a:ln>
        </p:spPr>
      </p:sp>
      <p:sp>
        <p:nvSpPr>
          <p:cNvPr id="21" name="Step number"/>
          <p:cNvSpPr/>
          <p:nvPr/>
        </p:nvSpPr>
        <p:spPr>
          <a:xfrm>
            <a:off x="9098280" y="1810512"/>
            <a:ext cx="502920" cy="502920"/>
          </a:xfrm>
          <a:prstGeom prst="ellipse">
            <a:avLst/>
          </a:prstGeom>
          <a:solidFill>
            <a:srgbClr val="D03B3B"/>
          </a:solidFill>
          <a:ln w="12700">
            <a:solidFill>
              <a:srgbClr val="FFFFFF"/>
            </a:solidFill>
            <a:prstDash val="solid"/>
          </a:ln>
        </p:spPr>
      </p:sp>
      <p:sp>
        <p:nvSpPr>
          <p:cNvPr id="22" name="Text 19"/>
          <p:cNvSpPr txBox="1"/>
          <p:nvPr/>
        </p:nvSpPr>
        <p:spPr>
          <a:xfrm>
            <a:off x="9098280" y="181051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3" name="Text 20"/>
          <p:cNvSpPr txBox="1"/>
          <p:nvPr/>
        </p:nvSpPr>
        <p:spPr>
          <a:xfrm>
            <a:off x="9738360" y="1810512"/>
            <a:ext cx="1737360" cy="502920"/>
          </a:xfrm>
          <a:prstGeom prst="rect">
            <a:avLst/>
          </a:prstGeom>
          <a:noFill/>
          <a:ln/>
        </p:spPr>
        <p:txBody>
          <a:bodyPr wrap="square" lIns="0" tIns="0" rIns="0" bIns="0" rtlCol="0" anchor="ctr"/>
          <a:lstStyle/>
          <a:p>
            <a:pPr indent="0" marL="0">
              <a:buNone/>
            </a:pPr>
            <a:r>
              <a:rPr lang="en-US" sz="1600" b="1" dirty="0">
                <a:solidFill>
                  <a:schemeClr val="tx1"/>
                </a:solidFill>
              </a:rPr>
              <a:t>Stress the inputs</a:t>
            </a:r>
            <a:endParaRPr lang="en-US" sz="1600" dirty="0"/>
          </a:p>
        </p:txBody>
      </p:sp>
      <p:sp>
        <p:nvSpPr>
          <p:cNvPr id="24" name="Text 21"/>
          <p:cNvSpPr txBox="1"/>
          <p:nvPr/>
        </p:nvSpPr>
        <p:spPr>
          <a:xfrm>
            <a:off x="9098280" y="2468880"/>
            <a:ext cx="2331720" cy="1828800"/>
          </a:xfrm>
          <a:prstGeom prst="rect">
            <a:avLst/>
          </a:prstGeom>
          <a:noFill/>
          <a:ln/>
        </p:spPr>
        <p:txBody>
          <a:bodyPr wrap="square" lIns="0" tIns="0" rIns="0" bIns="0" rtlCol="0" anchor="t"/>
          <a:lstStyle/>
          <a:p>
            <a:pPr indent="0" marL="0">
              <a:buNone/>
            </a:pPr>
            <a:r>
              <a:rPr lang="en-US" sz="1300" dirty="0">
                <a:solidFill>
                  <a:srgbClr val="1B2A41"/>
                </a:solidFill>
              </a:rPr>
              <a:t>16 parameter variations, and a test where real demand is only 60% of the estimate.</a:t>
            </a:r>
            <a:endParaRPr lang="en-US" sz="1300" dirty="0"/>
          </a:p>
        </p:txBody>
      </p:sp>
      <p:sp>
        <p:nvSpPr>
          <p:cNvPr id="25" name="Callout"/>
          <p:cNvSpPr/>
          <p:nvPr/>
        </p:nvSpPr>
        <p:spPr>
          <a:xfrm>
            <a:off x="548640" y="4572000"/>
            <a:ext cx="6675120" cy="1737360"/>
          </a:xfrm>
          <a:prstGeom prst="roundRect">
            <a:avLst>
              <a:gd name="adj" fmla="val 4211"/>
            </a:avLst>
          </a:prstGeom>
          <a:solidFill>
            <a:srgbClr val="F2F6FB"/>
          </a:solidFill>
          <a:ln w="12700">
            <a:solidFill>
              <a:srgbClr val="D9E1EC"/>
            </a:solidFill>
            <a:prstDash val="solid"/>
          </a:ln>
        </p:spPr>
      </p:sp>
      <p:sp>
        <p:nvSpPr>
          <p:cNvPr id="26" name="Text 23"/>
          <p:cNvSpPr txBox="1"/>
          <p:nvPr/>
        </p:nvSpPr>
        <p:spPr>
          <a:xfrm>
            <a:off x="731520" y="4681728"/>
            <a:ext cx="6309360" cy="292608"/>
          </a:xfrm>
          <a:prstGeom prst="rect">
            <a:avLst/>
          </a:prstGeom>
          <a:noFill/>
          <a:ln/>
        </p:spPr>
        <p:txBody>
          <a:bodyPr wrap="square" lIns="0" tIns="0" rIns="0" bIns="0" rtlCol="0" anchor="ctr"/>
          <a:lstStyle/>
          <a:p>
            <a:pPr indent="0" marL="0">
              <a:buNone/>
            </a:pPr>
            <a:r>
              <a:rPr lang="en-US" sz="1400" b="1" dirty="0">
                <a:solidFill>
                  <a:schemeClr val="accent1"/>
                </a:solidFill>
              </a:rPr>
              <a:t>Why a range instead of one number</a:t>
            </a:r>
            <a:endParaRPr lang="en-US" sz="1400" dirty="0"/>
          </a:p>
        </p:txBody>
      </p:sp>
      <p:sp>
        <p:nvSpPr>
          <p:cNvPr id="27" name="Text 24"/>
          <p:cNvSpPr txBox="1"/>
          <p:nvPr/>
        </p:nvSpPr>
        <p:spPr>
          <a:xfrm>
            <a:off x="731520" y="5029200"/>
            <a:ext cx="6309360" cy="118872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B2A41"/>
                </a:solidFill>
              </a:rPr>
              <a:t>Price effect is not measurable here: -0.017, 95% range -0.056 to +0.021.</a:t>
            </a:r>
            <a:endParaRPr lang="en-US" sz="1400" dirty="0"/>
          </a:p>
          <a:p>
            <a:pPr marL="177800" indent="-177800">
              <a:spcAft>
                <a:spcPts val="500"/>
              </a:spcAft>
              <a:buSzPct val="100000"/>
              <a:buChar char="•"/>
            </a:pPr>
            <a:r>
              <a:rPr lang="en-US" sz="1400" dirty="0">
                <a:solidFill>
                  <a:srgbClr val="1B2A41"/>
                </a:solidFill>
              </a:rPr>
              <a:t>The engine raises prices only where stock sells out anyway, so the gain is nearly independent of it.</a:t>
            </a:r>
            <a:endParaRPr lang="en-US" sz="1400" dirty="0"/>
          </a:p>
        </p:txBody>
      </p:sp>
      <p:sp>
        <p:nvSpPr>
          <p:cNvPr id="28" name="Stat card"/>
          <p:cNvSpPr/>
          <p:nvPr/>
        </p:nvSpPr>
        <p:spPr>
          <a:xfrm>
            <a:off x="7498080" y="4572000"/>
            <a:ext cx="1965960" cy="1737360"/>
          </a:xfrm>
          <a:prstGeom prst="roundRect">
            <a:avLst>
              <a:gd name="adj" fmla="val 4211"/>
            </a:avLst>
          </a:prstGeom>
          <a:solidFill>
            <a:srgbClr val="F2F6FB"/>
          </a:solidFill>
          <a:ln w="12700">
            <a:solidFill>
              <a:srgbClr val="F2F6FB"/>
            </a:solidFill>
            <a:prstDash val="solid"/>
          </a:ln>
        </p:spPr>
      </p:sp>
      <p:sp>
        <p:nvSpPr>
          <p:cNvPr id="29" name="Text 26"/>
          <p:cNvSpPr txBox="1"/>
          <p:nvPr/>
        </p:nvSpPr>
        <p:spPr>
          <a:xfrm>
            <a:off x="7635240" y="4645152"/>
            <a:ext cx="1691640" cy="781812"/>
          </a:xfrm>
          <a:prstGeom prst="rect">
            <a:avLst/>
          </a:prstGeom>
          <a:noFill/>
          <a:ln/>
        </p:spPr>
        <p:txBody>
          <a:bodyPr wrap="square" lIns="0" tIns="0" rIns="0" bIns="0" rtlCol="0" anchor="ctr"/>
          <a:lstStyle/>
          <a:p>
            <a:pPr indent="0" marL="0">
              <a:buNone/>
            </a:pPr>
            <a:r>
              <a:rPr lang="en-US" sz="2600" b="1" dirty="0">
                <a:solidFill>
                  <a:srgbClr val="1BAF7A"/>
                </a:solidFill>
                <a:latin typeface="Cambria" pitchFamily="34" charset="0"/>
                <a:ea typeface="Cambria" pitchFamily="34" charset="-122"/>
                <a:cs typeface="Cambria" pitchFamily="34" charset="-120"/>
              </a:rPr>
              <a:t>19 / 19</a:t>
            </a:r>
            <a:endParaRPr lang="en-US" sz="2600" dirty="0"/>
          </a:p>
        </p:txBody>
      </p:sp>
      <p:sp>
        <p:nvSpPr>
          <p:cNvPr id="30" name="Text 27"/>
          <p:cNvSpPr txBox="1"/>
          <p:nvPr/>
        </p:nvSpPr>
        <p:spPr>
          <a:xfrm>
            <a:off x="7635240" y="5475427"/>
            <a:ext cx="1691640" cy="799186"/>
          </a:xfrm>
          <a:prstGeom prst="rect">
            <a:avLst/>
          </a:prstGeom>
          <a:noFill/>
          <a:ln/>
        </p:spPr>
        <p:txBody>
          <a:bodyPr wrap="square" lIns="0" tIns="0" rIns="0" bIns="0" rtlCol="0" anchor="t"/>
          <a:lstStyle/>
          <a:p>
            <a:pPr indent="0" marL="0">
              <a:buNone/>
            </a:pPr>
            <a:r>
              <a:rPr lang="en-US" sz="1300" dirty="0">
                <a:solidFill>
                  <a:srgbClr val="5B6B80"/>
                </a:solidFill>
              </a:rPr>
              <a:t>automatic checks pass</a:t>
            </a:r>
            <a:endParaRPr lang="en-US" sz="1300" dirty="0"/>
          </a:p>
        </p:txBody>
      </p:sp>
      <p:sp>
        <p:nvSpPr>
          <p:cNvPr id="31" name="Stat card"/>
          <p:cNvSpPr/>
          <p:nvPr/>
        </p:nvSpPr>
        <p:spPr>
          <a:xfrm>
            <a:off x="9601200" y="4572000"/>
            <a:ext cx="2011680" cy="1737360"/>
          </a:xfrm>
          <a:prstGeom prst="roundRect">
            <a:avLst>
              <a:gd name="adj" fmla="val 4211"/>
            </a:avLst>
          </a:prstGeom>
          <a:solidFill>
            <a:srgbClr val="F2F6FB"/>
          </a:solidFill>
          <a:ln w="12700">
            <a:solidFill>
              <a:srgbClr val="F2F6FB"/>
            </a:solidFill>
            <a:prstDash val="solid"/>
          </a:ln>
        </p:spPr>
      </p:sp>
      <p:sp>
        <p:nvSpPr>
          <p:cNvPr id="32" name="Text 29"/>
          <p:cNvSpPr txBox="1"/>
          <p:nvPr/>
        </p:nvSpPr>
        <p:spPr>
          <a:xfrm>
            <a:off x="9738360" y="4645152"/>
            <a:ext cx="1737360" cy="781812"/>
          </a:xfrm>
          <a:prstGeom prst="rect">
            <a:avLst/>
          </a:prstGeom>
          <a:noFill/>
          <a:ln/>
        </p:spPr>
        <p:txBody>
          <a:bodyPr wrap="square" lIns="0" tIns="0" rIns="0" bIns="0" rtlCol="0" anchor="ctr"/>
          <a:lstStyle/>
          <a:p>
            <a:pPr indent="0" marL="0">
              <a:buNone/>
            </a:pPr>
            <a:r>
              <a:rPr lang="en-US" sz="2600" b="1" dirty="0">
                <a:solidFill>
                  <a:srgbClr val="2A78D6"/>
                </a:solidFill>
                <a:latin typeface="Cambria" pitchFamily="34" charset="0"/>
                <a:ea typeface="Cambria" pitchFamily="34" charset="-122"/>
                <a:cs typeface="Cambria" pitchFamily="34" charset="-120"/>
              </a:rPr>
              <a:t>0 leaks</a:t>
            </a:r>
            <a:endParaRPr lang="en-US" sz="2600" dirty="0"/>
          </a:p>
        </p:txBody>
      </p:sp>
      <p:sp>
        <p:nvSpPr>
          <p:cNvPr id="33" name="Text 30"/>
          <p:cNvSpPr txBox="1"/>
          <p:nvPr/>
        </p:nvSpPr>
        <p:spPr>
          <a:xfrm>
            <a:off x="9738360" y="5475427"/>
            <a:ext cx="1737360" cy="799186"/>
          </a:xfrm>
          <a:prstGeom prst="rect">
            <a:avLst/>
          </a:prstGeom>
          <a:noFill/>
          <a:ln/>
        </p:spPr>
        <p:txBody>
          <a:bodyPr wrap="square" lIns="0" tIns="0" rIns="0" bIns="0" rtlCol="0" anchor="t"/>
          <a:lstStyle/>
          <a:p>
            <a:pPr indent="0" marL="0">
              <a:buNone/>
            </a:pPr>
            <a:r>
              <a:rPr lang="en-US" sz="1300" dirty="0">
                <a:solidFill>
                  <a:srgbClr val="5B6B80"/>
                </a:solidFill>
              </a:rPr>
              <a:t>replay uses only information available at the time</a:t>
            </a:r>
            <a:endParaRPr lang="en-US" sz="13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Part tag"/>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PART 4 · EXPECTED IMPACT</a:t>
            </a:r>
            <a:endParaRPr lang="en-US" sz="1200" dirty="0"/>
          </a:p>
        </p:txBody>
      </p:sp>
      <p:sp>
        <p:nvSpPr>
          <p:cNvPr id="3" name="Text 0"/>
          <p:cNvSpPr/>
          <p:nvPr>
            <p:ph idx="100"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About +$1.3M profit in 26 weeks, robustly</a:t>
            </a:r>
            <a:endParaRPr lang="en-US" sz="3000" dirty="0"/>
          </a:p>
        </p:txBody>
      </p:sp>
      <p:graphicFrame>
        <p:nvGraphicFramePr>
          <p:cNvPr id="5" name="Chart 0" descr=""/>
          <p:cNvGraphicFramePr/>
          <p:nvPr/>
        </p:nvGraphicFramePr>
        <p:xfrm>
          <a:off x="548640" y="1645920"/>
          <a:ext cx="6309360" cy="4023360"/>
        </p:xfrm>
        <a:graphic xmlns:a="http://schemas.openxmlformats.org/drawingml/2006/main">
          <a:graphicData uri="http://schemas.openxmlformats.org/drawingml/2006/chart">
            <c:chart xmlns:c="http://schemas.openxmlformats.org/drawingml/2006/chart" r:id="rId1"/>
          </a:graphicData>
        </a:graphic>
      </p:graphicFrame>
      <p:sp>
        <p:nvSpPr>
          <p:cNvPr id="6" name="Stat card"/>
          <p:cNvSpPr/>
          <p:nvPr/>
        </p:nvSpPr>
        <p:spPr>
          <a:xfrm>
            <a:off x="7132320" y="1691640"/>
            <a:ext cx="2194560" cy="1371600"/>
          </a:xfrm>
          <a:prstGeom prst="roundRect">
            <a:avLst>
              <a:gd name="adj" fmla="val 5333"/>
            </a:avLst>
          </a:prstGeom>
          <a:solidFill>
            <a:srgbClr val="F2F6FB"/>
          </a:solidFill>
          <a:ln w="12700">
            <a:solidFill>
              <a:srgbClr val="F2F6FB"/>
            </a:solidFill>
            <a:prstDash val="solid"/>
          </a:ln>
        </p:spPr>
      </p:sp>
      <p:sp>
        <p:nvSpPr>
          <p:cNvPr id="7" name="Text 3"/>
          <p:cNvSpPr txBox="1"/>
          <p:nvPr/>
        </p:nvSpPr>
        <p:spPr>
          <a:xfrm>
            <a:off x="7269480" y="1764792"/>
            <a:ext cx="1920240" cy="617220"/>
          </a:xfrm>
          <a:prstGeom prst="rect">
            <a:avLst/>
          </a:prstGeom>
          <a:noFill/>
          <a:ln/>
        </p:spPr>
        <p:txBody>
          <a:bodyPr wrap="square" lIns="0" tIns="0" rIns="0" bIns="0" rtlCol="0" anchor="ctr"/>
          <a:lstStyle/>
          <a:p>
            <a:pPr indent="0" marL="0">
              <a:buNone/>
            </a:pPr>
            <a:r>
              <a:rPr lang="en-US" sz="2800" b="1" dirty="0">
                <a:solidFill>
                  <a:srgbClr val="1BAF7A"/>
                </a:solidFill>
                <a:latin typeface="Cambria" pitchFamily="34" charset="0"/>
                <a:ea typeface="Cambria" pitchFamily="34" charset="-122"/>
                <a:cs typeface="Cambria" pitchFamily="34" charset="-120"/>
              </a:rPr>
              <a:t>+$1.4M</a:t>
            </a:r>
            <a:endParaRPr lang="en-US" sz="2800" dirty="0"/>
          </a:p>
        </p:txBody>
      </p:sp>
      <p:sp>
        <p:nvSpPr>
          <p:cNvPr id="8" name="Text 4"/>
          <p:cNvSpPr txBox="1"/>
          <p:nvPr/>
        </p:nvSpPr>
        <p:spPr>
          <a:xfrm>
            <a:off x="7269480" y="2404872"/>
            <a:ext cx="1920240" cy="630936"/>
          </a:xfrm>
          <a:prstGeom prst="rect">
            <a:avLst/>
          </a:prstGeom>
          <a:noFill/>
          <a:ln/>
        </p:spPr>
        <p:txBody>
          <a:bodyPr wrap="square" lIns="0" tIns="0" rIns="0" bIns="0" rtlCol="0" anchor="t"/>
          <a:lstStyle/>
          <a:p>
            <a:pPr indent="0" marL="0">
              <a:buNone/>
            </a:pPr>
            <a:r>
              <a:rPr lang="en-US" sz="1300" dirty="0">
                <a:solidFill>
                  <a:srgbClr val="5B6B80"/>
                </a:solidFill>
              </a:rPr>
              <a:t>replay of the last 52 weeks</a:t>
            </a:r>
            <a:endParaRPr lang="en-US" sz="1300" dirty="0"/>
          </a:p>
        </p:txBody>
      </p:sp>
      <p:sp>
        <p:nvSpPr>
          <p:cNvPr id="9" name="Stat card"/>
          <p:cNvSpPr/>
          <p:nvPr/>
        </p:nvSpPr>
        <p:spPr>
          <a:xfrm>
            <a:off x="9464040" y="1691640"/>
            <a:ext cx="2148840" cy="1371600"/>
          </a:xfrm>
          <a:prstGeom prst="roundRect">
            <a:avLst>
              <a:gd name="adj" fmla="val 5333"/>
            </a:avLst>
          </a:prstGeom>
          <a:solidFill>
            <a:srgbClr val="F2F6FB"/>
          </a:solidFill>
          <a:ln w="12700">
            <a:solidFill>
              <a:srgbClr val="F2F6FB"/>
            </a:solidFill>
            <a:prstDash val="solid"/>
          </a:ln>
        </p:spPr>
      </p:sp>
      <p:sp>
        <p:nvSpPr>
          <p:cNvPr id="10" name="Text 6"/>
          <p:cNvSpPr txBox="1"/>
          <p:nvPr/>
        </p:nvSpPr>
        <p:spPr>
          <a:xfrm>
            <a:off x="9601200" y="1764792"/>
            <a:ext cx="1874520" cy="617220"/>
          </a:xfrm>
          <a:prstGeom prst="rect">
            <a:avLst/>
          </a:prstGeom>
          <a:noFill/>
          <a:ln/>
        </p:spPr>
        <p:txBody>
          <a:bodyPr wrap="square" lIns="0" tIns="0" rIns="0" bIns="0" rtlCol="0" anchor="ctr"/>
          <a:lstStyle/>
          <a:p>
            <a:pPr indent="0" marL="0">
              <a:buNone/>
            </a:pPr>
            <a:r>
              <a:rPr lang="en-US" sz="2800" b="1" dirty="0">
                <a:solidFill>
                  <a:srgbClr val="2A78D6"/>
                </a:solidFill>
                <a:latin typeface="Cambria" pitchFamily="34" charset="0"/>
                <a:ea typeface="Cambria" pitchFamily="34" charset="-122"/>
                <a:cs typeface="Cambria" pitchFamily="34" charset="-120"/>
              </a:rPr>
              <a:t>+$0.94M</a:t>
            </a:r>
            <a:endParaRPr lang="en-US" sz="2800" dirty="0"/>
          </a:p>
        </p:txBody>
      </p:sp>
      <p:sp>
        <p:nvSpPr>
          <p:cNvPr id="11" name="Text 7"/>
          <p:cNvSpPr txBox="1"/>
          <p:nvPr/>
        </p:nvSpPr>
        <p:spPr>
          <a:xfrm>
            <a:off x="9601200" y="2404872"/>
            <a:ext cx="1874520" cy="630936"/>
          </a:xfrm>
          <a:prstGeom prst="rect">
            <a:avLst/>
          </a:prstGeom>
          <a:noFill/>
          <a:ln/>
        </p:spPr>
        <p:txBody>
          <a:bodyPr wrap="square" lIns="0" tIns="0" rIns="0" bIns="0" rtlCol="0" anchor="t"/>
          <a:lstStyle/>
          <a:p>
            <a:pPr indent="0" marL="0">
              <a:buNone/>
            </a:pPr>
            <a:r>
              <a:rPr lang="en-US" sz="1300" dirty="0">
                <a:solidFill>
                  <a:srgbClr val="5B6B80"/>
                </a:solidFill>
              </a:rPr>
              <a:t>if demand is 60% of estimate</a:t>
            </a:r>
            <a:endParaRPr lang="en-US" sz="1300" dirty="0"/>
          </a:p>
        </p:txBody>
      </p:sp>
      <p:sp>
        <p:nvSpPr>
          <p:cNvPr id="12" name="Text 8"/>
          <p:cNvSpPr txBox="1"/>
          <p:nvPr/>
        </p:nvSpPr>
        <p:spPr>
          <a:xfrm>
            <a:off x="7132320" y="3337560"/>
            <a:ext cx="4480560" cy="2377440"/>
          </a:xfrm>
          <a:prstGeom prst="rect">
            <a:avLst/>
          </a:prstGeom>
          <a:noFill/>
          <a:ln/>
        </p:spPr>
        <p:txBody>
          <a:bodyPr wrap="square" lIns="0" tIns="0" rIns="0" bIns="0" rtlCol="0" anchor="t"/>
          <a:lstStyle/>
          <a:p>
            <a:pPr marL="203200" indent="-203200">
              <a:spcAft>
                <a:spcPts val="800"/>
              </a:spcAft>
              <a:buSzPct val="100000"/>
              <a:buChar char="•"/>
            </a:pPr>
            <a:r>
              <a:rPr lang="en-US" sz="1500" b="1" dirty="0">
                <a:solidFill>
                  <a:srgbClr val="1B2A41"/>
                </a:solidFill>
              </a:rPr>
              <a:t>Robust: </a:t>
            </a:r>
            <a:pPr indent="0" marL="0">
              <a:spcAft>
                <a:spcPts val="800"/>
              </a:spcAft>
              <a:buNone/>
            </a:pPr>
            <a:r>
              <a:rPr lang="en-US" sz="1500" dirty="0">
                <a:solidFill>
                  <a:srgbClr val="1B2A41"/>
                </a:solidFill>
              </a:rPr>
              <a:t>all 16 parameter settings tested stay positive ($0.64M to $1.6M).</a:t>
            </a:r>
            <a:endParaRPr lang="en-US" sz="1500" dirty="0"/>
          </a:p>
          <a:p>
            <a:pPr marL="203200" indent="-203200">
              <a:spcAft>
                <a:spcPts val="800"/>
              </a:spcAft>
              <a:buSzPct val="100000"/>
              <a:buChar char="•"/>
            </a:pPr>
            <a:r>
              <a:rPr lang="en-US" sz="1500" b="1" dirty="0">
                <a:solidFill>
                  <a:srgbClr val="1B2A41"/>
                </a:solidFill>
              </a:rPr>
              <a:t>Same units: </a:t>
            </a:r>
            <a:pPr indent="0" marL="0">
              <a:spcAft>
                <a:spcPts val="800"/>
              </a:spcAft>
              <a:buNone/>
            </a:pPr>
            <a:r>
              <a:rPr lang="en-US" sz="1500" dirty="0">
                <a:solidFill>
                  <a:srgbClr val="1B2A41"/>
                </a:solidFill>
              </a:rPr>
              <a:t>units change by -0.4% in the planning case.</a:t>
            </a:r>
            <a:endParaRPr lang="en-US" sz="1500" dirty="0"/>
          </a:p>
          <a:p>
            <a:pPr marL="203200" indent="-203200">
              <a:spcAft>
                <a:spcPts val="800"/>
              </a:spcAft>
              <a:buSzPct val="100000"/>
              <a:buChar char="•"/>
            </a:pPr>
            <a:r>
              <a:rPr lang="en-US" sz="1500" b="1" dirty="0">
                <a:solidFill>
                  <a:srgbClr val="1B2A41"/>
                </a:solidFill>
              </a:rPr>
              <a:t>Largest setting risk: </a:t>
            </a:r>
            <a:pPr indent="0" marL="0">
              <a:spcAft>
                <a:spcPts val="800"/>
              </a:spcAft>
              <a:buNone/>
            </a:pPr>
            <a:r>
              <a:rPr lang="en-US" sz="1500" dirty="0">
                <a:solidFill>
                  <a:srgbClr val="1B2A41"/>
                </a:solidFill>
              </a:rPr>
              <a:t>how many lost units are accepted; 0% halves the gain.</a:t>
            </a:r>
            <a:endParaRPr lang="en-US" sz="1500" dirty="0"/>
          </a:p>
        </p:txBody>
      </p:sp>
      <p:sp>
        <p:nvSpPr>
          <p:cNvPr id="13" name="Text 9"/>
          <p:cNvSpPr txBox="1"/>
          <p:nvPr/>
        </p:nvSpPr>
        <p:spPr>
          <a:xfrm>
            <a:off x="548640" y="5852160"/>
            <a:ext cx="11064240" cy="457200"/>
          </a:xfrm>
          <a:prstGeom prst="rect">
            <a:avLst/>
          </a:prstGeom>
          <a:noFill/>
          <a:ln/>
        </p:spPr>
        <p:txBody>
          <a:bodyPr wrap="square" lIns="0" tIns="0" rIns="0" bIns="0" rtlCol="0" anchor="t"/>
          <a:lstStyle/>
          <a:p>
            <a:pPr indent="0" marL="0">
              <a:buNone/>
            </a:pPr>
            <a:r>
              <a:rPr lang="en-US" sz="1400" i="1" dirty="0">
                <a:solidFill>
                  <a:srgbClr val="5B6B80"/>
                </a:solidFill>
              </a:rPr>
              <a:t>Assumption: customer price sensitivity cannot be estimated from the data (effect -0.017, 95% range -0.056 to +0.021), so results are shown as a range.</a:t>
            </a:r>
            <a:endParaRPr lang="en-US" sz="14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Part tag"/>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PART 4 · BEYOND PRICE</a:t>
            </a:r>
            <a:endParaRPr lang="en-US" sz="1200" dirty="0"/>
          </a:p>
        </p:txBody>
      </p:sp>
      <p:sp>
        <p:nvSpPr>
          <p:cNvPr id="3" name="Text 0"/>
          <p:cNvSpPr/>
          <p:nvPr>
            <p:ph idx="100"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Beyond price: stock, credit and pilots</a:t>
            </a:r>
            <a:endParaRPr lang="en-US" sz="3000" dirty="0"/>
          </a:p>
        </p:txBody>
      </p:sp>
      <p:graphicFrame>
        <p:nvGraphicFramePr>
          <p:cNvPr id="5" name="Chart 0" descr=""/>
          <p:cNvGraphicFramePr/>
          <p:nvPr/>
        </p:nvGraphicFramePr>
        <p:xfrm>
          <a:off x="548640" y="1645920"/>
          <a:ext cx="5760720" cy="2926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4617720"/>
            <a:ext cx="5760720" cy="411480"/>
          </a:xfrm>
          <a:prstGeom prst="rect">
            <a:avLst/>
          </a:prstGeom>
          <a:noFill/>
          <a:ln/>
        </p:spPr>
        <p:txBody>
          <a:bodyPr wrap="square" lIns="0" tIns="0" rIns="0" bIns="0" rtlCol="0" anchor="t"/>
          <a:lstStyle/>
          <a:p>
            <a:pPr indent="0" marL="0">
              <a:buNone/>
            </a:pPr>
            <a:r>
              <a:rPr lang="en-US" sz="1150" i="1" dirty="0">
                <a:solidFill>
                  <a:srgbClr val="5B6B80"/>
                </a:solidFill>
              </a:rPr>
              <a:t>Assumptions: holding cost 12% a year, funding cost 8% a year, credit ratings from scenario inputs.</a:t>
            </a:r>
            <a:endParaRPr lang="en-US" sz="1150" dirty="0"/>
          </a:p>
        </p:txBody>
      </p:sp>
      <p:sp>
        <p:nvSpPr>
          <p:cNvPr id="7" name="Stat card"/>
          <p:cNvSpPr/>
          <p:nvPr/>
        </p:nvSpPr>
        <p:spPr>
          <a:xfrm>
            <a:off x="6583680" y="1691640"/>
            <a:ext cx="2468880" cy="1280160"/>
          </a:xfrm>
          <a:prstGeom prst="roundRect">
            <a:avLst>
              <a:gd name="adj" fmla="val 5714"/>
            </a:avLst>
          </a:prstGeom>
          <a:solidFill>
            <a:srgbClr val="F2F6FB"/>
          </a:solidFill>
          <a:ln w="12700">
            <a:solidFill>
              <a:srgbClr val="F2F6FB"/>
            </a:solidFill>
            <a:prstDash val="solid"/>
          </a:ln>
        </p:spPr>
      </p:sp>
      <p:sp>
        <p:nvSpPr>
          <p:cNvPr id="8" name="Text 4"/>
          <p:cNvSpPr txBox="1"/>
          <p:nvPr/>
        </p:nvSpPr>
        <p:spPr>
          <a:xfrm>
            <a:off x="6720840" y="1764792"/>
            <a:ext cx="2194560" cy="576072"/>
          </a:xfrm>
          <a:prstGeom prst="rect">
            <a:avLst/>
          </a:prstGeom>
          <a:noFill/>
          <a:ln/>
        </p:spPr>
        <p:txBody>
          <a:bodyPr wrap="square" lIns="0" tIns="0" rIns="0" bIns="0" rtlCol="0" anchor="ctr"/>
          <a:lstStyle/>
          <a:p>
            <a:pPr indent="0" marL="0">
              <a:buNone/>
            </a:pPr>
            <a:r>
              <a:rPr lang="en-US" sz="3000" b="1" dirty="0">
                <a:solidFill>
                  <a:srgbClr val="D03B3B"/>
                </a:solidFill>
                <a:latin typeface="Cambria" pitchFamily="34" charset="0"/>
                <a:ea typeface="Cambria" pitchFamily="34" charset="-122"/>
                <a:cs typeface="Cambria" pitchFamily="34" charset="-120"/>
              </a:rPr>
              <a:t>$1.3M</a:t>
            </a:r>
            <a:endParaRPr lang="en-US" sz="3000" dirty="0"/>
          </a:p>
        </p:txBody>
      </p:sp>
      <p:sp>
        <p:nvSpPr>
          <p:cNvPr id="9" name="Text 5"/>
          <p:cNvSpPr txBox="1"/>
          <p:nvPr/>
        </p:nvSpPr>
        <p:spPr>
          <a:xfrm>
            <a:off x="6720840" y="2357323"/>
            <a:ext cx="2194560" cy="588874"/>
          </a:xfrm>
          <a:prstGeom prst="rect">
            <a:avLst/>
          </a:prstGeom>
          <a:noFill/>
          <a:ln/>
        </p:spPr>
        <p:txBody>
          <a:bodyPr wrap="square" lIns="0" tIns="0" rIns="0" bIns="0" rtlCol="0" anchor="t"/>
          <a:lstStyle/>
          <a:p>
            <a:pPr indent="0" marL="0">
              <a:buNone/>
            </a:pPr>
            <a:r>
              <a:rPr lang="en-US" sz="1300" dirty="0">
                <a:solidFill>
                  <a:srgbClr val="5B6B80"/>
                </a:solidFill>
              </a:rPr>
              <a:t>a year to carry the excess, more than the pricing gain</a:t>
            </a:r>
            <a:endParaRPr lang="en-US" sz="1300" dirty="0"/>
          </a:p>
        </p:txBody>
      </p:sp>
      <p:sp>
        <p:nvSpPr>
          <p:cNvPr id="10" name="Stat card"/>
          <p:cNvSpPr/>
          <p:nvPr/>
        </p:nvSpPr>
        <p:spPr>
          <a:xfrm>
            <a:off x="9189720" y="1691640"/>
            <a:ext cx="2423160" cy="1280160"/>
          </a:xfrm>
          <a:prstGeom prst="roundRect">
            <a:avLst>
              <a:gd name="adj" fmla="val 5714"/>
            </a:avLst>
          </a:prstGeom>
          <a:solidFill>
            <a:srgbClr val="F2F6FB"/>
          </a:solidFill>
          <a:ln w="12700">
            <a:solidFill>
              <a:srgbClr val="F2F6FB"/>
            </a:solidFill>
            <a:prstDash val="solid"/>
          </a:ln>
        </p:spPr>
      </p:sp>
      <p:sp>
        <p:nvSpPr>
          <p:cNvPr id="11" name="Text 7"/>
          <p:cNvSpPr txBox="1"/>
          <p:nvPr/>
        </p:nvSpPr>
        <p:spPr>
          <a:xfrm>
            <a:off x="9326880" y="1764792"/>
            <a:ext cx="2148840" cy="576072"/>
          </a:xfrm>
          <a:prstGeom prst="rect">
            <a:avLst/>
          </a:prstGeom>
          <a:noFill/>
          <a:ln/>
        </p:spPr>
        <p:txBody>
          <a:bodyPr wrap="square" lIns="0" tIns="0" rIns="0" bIns="0" rtlCol="0" anchor="ctr"/>
          <a:lstStyle/>
          <a:p>
            <a:pPr indent="0" marL="0">
              <a:buNone/>
            </a:pPr>
            <a:r>
              <a:rPr lang="en-US" sz="3000" b="1" dirty="0">
                <a:solidFill>
                  <a:srgbClr val="EB6834"/>
                </a:solidFill>
                <a:latin typeface="Cambria" pitchFamily="34" charset="0"/>
                <a:ea typeface="Cambria" pitchFamily="34" charset="-122"/>
                <a:cs typeface="Cambria" pitchFamily="34" charset="-120"/>
              </a:rPr>
              <a:t>17-49%</a:t>
            </a:r>
            <a:endParaRPr lang="en-US" sz="3000" dirty="0"/>
          </a:p>
        </p:txBody>
      </p:sp>
      <p:sp>
        <p:nvSpPr>
          <p:cNvPr id="12" name="Text 8"/>
          <p:cNvSpPr txBox="1"/>
          <p:nvPr/>
        </p:nvSpPr>
        <p:spPr>
          <a:xfrm>
            <a:off x="9326880" y="2357323"/>
            <a:ext cx="2148840" cy="588874"/>
          </a:xfrm>
          <a:prstGeom prst="rect">
            <a:avLst/>
          </a:prstGeom>
          <a:noFill/>
          <a:ln/>
        </p:spPr>
        <p:txBody>
          <a:bodyPr wrap="square" lIns="0" tIns="0" rIns="0" bIns="0" rtlCol="0" anchor="t"/>
          <a:lstStyle/>
          <a:p>
            <a:pPr indent="0" marL="0">
              <a:buNone/>
            </a:pPr>
            <a:r>
              <a:rPr lang="en-US" sz="1300" dirty="0">
                <a:solidFill>
                  <a:srgbClr val="5B6B80"/>
                </a:solidFill>
              </a:rPr>
              <a:t>price cut needed to clear it in a year</a:t>
            </a:r>
            <a:endParaRPr lang="en-US" sz="1300" dirty="0"/>
          </a:p>
        </p:txBody>
      </p:sp>
      <p:sp>
        <p:nvSpPr>
          <p:cNvPr id="13" name="Text 9"/>
          <p:cNvSpPr txBox="1"/>
          <p:nvPr/>
        </p:nvSpPr>
        <p:spPr>
          <a:xfrm>
            <a:off x="6583680" y="3108960"/>
            <a:ext cx="5029200" cy="1920240"/>
          </a:xfrm>
          <a:prstGeom prst="rect">
            <a:avLst/>
          </a:prstGeom>
          <a:noFill/>
          <a:ln/>
        </p:spPr>
        <p:txBody>
          <a:bodyPr wrap="square" lIns="0" tIns="0" rIns="0" bIns="0" rtlCol="0" anchor="t"/>
          <a:lstStyle/>
          <a:p>
            <a:pPr marL="203200" indent="-203200">
              <a:spcAft>
                <a:spcPts val="800"/>
              </a:spcAft>
              <a:buSzPct val="100000"/>
              <a:buChar char="•"/>
            </a:pPr>
            <a:r>
              <a:rPr lang="en-US" sz="1300" b="1" dirty="0">
                <a:solidFill>
                  <a:srgbClr val="1B2A41"/>
                </a:solidFill>
              </a:rPr>
              <a:t>Over-stock: </a:t>
            </a:r>
            <a:pPr indent="0" marL="0">
              <a:spcAft>
                <a:spcPts val="800"/>
              </a:spcAft>
              <a:buNone/>
            </a:pPr>
            <a:r>
              <a:rPr lang="en-US" sz="1300" dirty="0">
                <a:solidFill>
                  <a:srgbClr val="1B2A41"/>
                </a:solidFill>
              </a:rPr>
              <a:t>purchasing stops; bulk or export deals. 200 test markdowns did not pay.</a:t>
            </a:r>
            <a:endParaRPr lang="en-US" sz="1300" dirty="0"/>
          </a:p>
          <a:p>
            <a:pPr marL="203200" indent="-203200">
              <a:spcAft>
                <a:spcPts val="800"/>
              </a:spcAft>
              <a:buSzPct val="100000"/>
              <a:buChar char="•"/>
            </a:pPr>
            <a:r>
              <a:rPr lang="en-US" sz="1300" b="1" dirty="0">
                <a:solidFill>
                  <a:srgbClr val="1B2A41"/>
                </a:solidFill>
              </a:rPr>
              <a:t>Credit D/E: </a:t>
            </a:r>
            <a:pPr indent="0" marL="0">
              <a:spcAft>
                <a:spcPts val="800"/>
              </a:spcAft>
              <a:buNone/>
            </a:pPr>
            <a:r>
              <a:rPr lang="en-US" sz="1300" dirty="0">
                <a:solidFill>
                  <a:srgbClr val="1B2A41"/>
                </a:solidFill>
              </a:rPr>
              <a:t>no discounts, 2.5% risk premium; 15 days shorter terms free about $361K.</a:t>
            </a:r>
            <a:endParaRPr lang="en-US" sz="1300" dirty="0"/>
          </a:p>
          <a:p>
            <a:pPr marL="203200" indent="-203200">
              <a:spcAft>
                <a:spcPts val="800"/>
              </a:spcAft>
              <a:buSzPct val="100000"/>
              <a:buChar char="•"/>
            </a:pPr>
            <a:r>
              <a:rPr lang="en-US" sz="1300" b="1" dirty="0">
                <a:solidFill>
                  <a:srgbClr val="1B2A41"/>
                </a:solidFill>
              </a:rPr>
              <a:t>Lean products: </a:t>
            </a:r>
            <a:pPr indent="0" marL="0">
              <a:spcAft>
                <a:spcPts val="800"/>
              </a:spcAft>
              <a:buNone/>
            </a:pPr>
            <a:r>
              <a:rPr lang="en-US" sz="1300" dirty="0">
                <a:solidFill>
                  <a:srgbClr val="1B2A41"/>
                </a:solidFill>
              </a:rPr>
              <a:t>raise stock cover; a price gain needs continued sales.</a:t>
            </a:r>
            <a:endParaRPr lang="en-US" sz="1300" dirty="0"/>
          </a:p>
        </p:txBody>
      </p:sp>
      <p:sp>
        <p:nvSpPr>
          <p:cNvPr id="14" name="Callout"/>
          <p:cNvSpPr/>
          <p:nvPr/>
        </p:nvSpPr>
        <p:spPr>
          <a:xfrm>
            <a:off x="548640" y="5166360"/>
            <a:ext cx="11064240" cy="1143000"/>
          </a:xfrm>
          <a:prstGeom prst="roundRect">
            <a:avLst>
              <a:gd name="adj" fmla="val 6400"/>
            </a:avLst>
          </a:prstGeom>
          <a:solidFill>
            <a:srgbClr val="F2F6FB"/>
          </a:solidFill>
          <a:ln w="12700">
            <a:solidFill>
              <a:srgbClr val="D9E1EC"/>
            </a:solidFill>
            <a:prstDash val="solid"/>
          </a:ln>
        </p:spPr>
      </p:sp>
      <p:sp>
        <p:nvSpPr>
          <p:cNvPr id="15" name="Text 11"/>
          <p:cNvSpPr txBox="1"/>
          <p:nvPr/>
        </p:nvSpPr>
        <p:spPr>
          <a:xfrm>
            <a:off x="731520" y="5276088"/>
            <a:ext cx="10698480" cy="292608"/>
          </a:xfrm>
          <a:prstGeom prst="rect">
            <a:avLst/>
          </a:prstGeom>
          <a:noFill/>
          <a:ln/>
        </p:spPr>
        <p:txBody>
          <a:bodyPr wrap="square" lIns="0" tIns="0" rIns="0" bIns="0" rtlCol="0" anchor="ctr"/>
          <a:lstStyle/>
          <a:p>
            <a:pPr indent="0" marL="0">
              <a:buNone/>
            </a:pPr>
            <a:r>
              <a:rPr lang="en-US" sz="1400" b="1" dirty="0">
                <a:solidFill>
                  <a:schemeClr val="accent1"/>
                </a:solidFill>
              </a:rPr>
              <a:t>Pilots replace the two open assumptions with measurements</a:t>
            </a:r>
            <a:endParaRPr lang="en-US" sz="1400" dirty="0"/>
          </a:p>
        </p:txBody>
      </p:sp>
      <p:sp>
        <p:nvSpPr>
          <p:cNvPr id="16" name="Text 12"/>
          <p:cNvSpPr txBox="1"/>
          <p:nvPr/>
        </p:nvSpPr>
        <p:spPr>
          <a:xfrm>
            <a:off x="731520" y="5623560"/>
            <a:ext cx="10698480" cy="59436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B2A41"/>
                </a:solidFill>
              </a:rPr>
              <a:t>Pilot A (8 weeks): 6 scarce products at +3% / +5% with matched controls; success = units within 1% of control and stock still sells out.</a:t>
            </a:r>
            <a:endParaRPr lang="en-US" sz="1200" dirty="0"/>
          </a:p>
          <a:p>
            <a:pPr marL="177800" indent="-177800">
              <a:spcAft>
                <a:spcPts val="500"/>
              </a:spcAft>
              <a:buSzPct val="100000"/>
              <a:buChar char="•"/>
            </a:pPr>
            <a:r>
              <a:rPr lang="en-US" sz="1200" dirty="0">
                <a:solidFill>
                  <a:srgbClr val="1B2A41"/>
                </a:solidFill>
              </a:rPr>
              <a:t>Pilot B (8 weeks): high-stock products at +3% / -3% in random weeks to measure real price sensitivity (weekly noise about 8%).</a:t>
            </a:r>
            <a:endParaRPr lang="en-US" sz="12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Part tag"/>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200" b="1" spc="200" kern="0" dirty="0">
                <a:solidFill>
                  <a:schemeClr val="accent1"/>
                </a:solidFill>
              </a:rPr>
              <a:t>ASSUMPTIONS REGISTER</a:t>
            </a:r>
            <a:endParaRPr lang="en-US" sz="1200" dirty="0"/>
          </a:p>
        </p:txBody>
      </p:sp>
      <p:sp>
        <p:nvSpPr>
          <p:cNvPr id="3" name="Text 0"/>
          <p:cNvSpPr/>
          <p:nvPr>
            <p:ph idx="100"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Assumptions, reasons and how each is replaced</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3474720"/>
                <a:gridCol w="3566160"/>
                <a:gridCol w="4023360"/>
              </a:tblGrid>
              <a:tr h="384048">
                <a:tc>
                  <a:txBody>
                    <a:bodyPr/>
                    <a:lstStyle/>
                    <a:p>
                      <a:pPr indent="0" marL="0">
                        <a:buNone/>
                      </a:pPr>
                      <a:r>
                        <a:rPr lang="en-US" sz="1300" b="1" dirty="0">
                          <a:solidFill>
                            <a:srgbClr val="FFFFFF"/>
                          </a:solidFill>
                        </a:rPr>
                        <a:t>Assumption</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12263F"/>
                    </a:solidFill>
                  </a:tcPr>
                </a:tc>
                <a:tc>
                  <a:txBody>
                    <a:bodyPr/>
                    <a:lstStyle/>
                    <a:p>
                      <a:pPr indent="0" marL="0">
                        <a:buNone/>
                      </a:pPr>
                      <a:r>
                        <a:rPr lang="en-US" sz="1300" b="1" dirty="0">
                          <a:solidFill>
                            <a:srgbClr val="FFFFFF"/>
                          </a:solidFill>
                        </a:rPr>
                        <a:t>Why it was made</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12263F"/>
                    </a:solidFill>
                  </a:tcPr>
                </a:tc>
                <a:tc>
                  <a:txBody>
                    <a:bodyPr/>
                    <a:lstStyle/>
                    <a:p>
                      <a:pPr indent="0" marL="0">
                        <a:buNone/>
                      </a:pPr>
                      <a:r>
                        <a:rPr lang="en-US" sz="1300" b="1" dirty="0">
                          <a:solidFill>
                            <a:srgbClr val="FFFFFF"/>
                          </a:solidFill>
                        </a:rPr>
                        <a:t>How it is checked or replaced</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12263F"/>
                    </a:solidFill>
                  </a:tcPr>
                </a:tc>
              </a:tr>
              <a:tr h="566928">
                <a:tc>
                  <a:txBody>
                    <a:bodyPr/>
                    <a:lstStyle/>
                    <a:p>
                      <a:pPr indent="0" marL="0">
                        <a:buNone/>
                      </a:pPr>
                      <a:r>
                        <a:rPr lang="en-US" sz="1300" dirty="0">
                          <a:solidFill>
                            <a:srgbClr val="1B2A41"/>
                          </a:solidFill>
                        </a:rPr>
                        <a:t>Synthetic calendar from 6 Jan 2020</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rPr>
                        <a:t>the file has week numbers only</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rPr>
                        <a:t>real dates replace it; no result depends on the start date</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B2A41"/>
                          </a:solidFill>
                        </a:rPr>
                        <a:t>Sales = min(demand, stock)</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rPr>
                        <a:t>stock-outs give zero sales; pile-ups sit at the stock caps</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rPr>
                        <a:t>verified: zero violations in the database</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r h="640080">
                <a:tc>
                  <a:txBody>
                    <a:bodyPr/>
                    <a:lstStyle/>
                    <a:p>
                      <a:pPr indent="0" marL="0">
                        <a:buNone/>
                      </a:pPr>
                      <a:r>
                        <a:rPr lang="en-US" sz="1300" dirty="0">
                          <a:solidFill>
                            <a:srgbClr val="1B2A41"/>
                          </a:solidFill>
                        </a:rPr>
                        <a:t>Old forecast is a usable demand signal</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rPr>
                        <a:t>unbiased (-0.4%) on weeks where truth is known</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rPr>
                        <a:t>blend weight learned out-of-fold; accuracy also on clean weeks</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B2A41"/>
                          </a:solidFill>
                        </a:rPr>
                        <a:t>Future stock follows its own history</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rPr>
                        <a:t>future purchasing is unknown</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rPr>
                        <a:t>dashboard shows the stock-limited and unconstrained views</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B2A41"/>
                          </a:solidFill>
                        </a:rPr>
                        <a:t>Credit terms, delays, default rates</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rPr>
                        <a:t>no customer or invoice data exists</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rPr>
                        <a:t>editable in the dashboard; replace with payment history</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r h="640080">
                <a:tc>
                  <a:txBody>
                    <a:bodyPr/>
                    <a:lstStyle/>
                    <a:p>
                      <a:pPr indent="0" marL="0">
                        <a:buNone/>
                      </a:pPr>
                      <a:r>
                        <a:rPr lang="en-US" sz="1300" dirty="0">
                          <a:solidFill>
                            <a:srgbClr val="1B2A41"/>
                          </a:solidFill>
                        </a:rPr>
                        <a:t>Price sensitivity -1 (plan) and -2 (stress)</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rPr>
                        <a:t>price barely varies (4%), so the data cannot measure it</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rPr>
                        <a:t>results shown from 0 to -3; Pilot B measures it</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r h="640080">
                <a:tc>
                  <a:txBody>
                    <a:bodyPr/>
                    <a:lstStyle/>
                    <a:p>
                      <a:pPr indent="0" marL="0">
                        <a:buNone/>
                      </a:pPr>
                      <a:r>
                        <a:rPr lang="en-US" sz="1300" dirty="0">
                          <a:solidFill>
                            <a:srgbClr val="1B2A41"/>
                          </a:solidFill>
                        </a:rPr>
                        <a:t>Competitor band -8% / +10%, holding 12%, funding 8%</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rPr>
                        <a:t>no competitor data; standard cost-of-capital levels</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rPr>
                        <a:t>adjustable parameters; replace with observations</a:t>
                      </a:r>
                      <a:endParaRPr lang="en-US" sz="1300" dirty="0"/>
                    </a:p>
                  </a:txBody>
                  <a:tcPr marL="91440" marR="91440" marT="54864" marB="54864"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rmani Trade">
  <a:themeElements>
    <a:clrScheme name="Armani Trade">
      <a:dk1>
        <a:srgbClr val="1B2A41"/>
      </a:dk1>
      <a:lt1>
        <a:srgbClr val="FFFFFF"/>
      </a:lt1>
      <a:dk2>
        <a:srgbClr val="12263F"/>
      </a:dk2>
      <a:lt2>
        <a:srgbClr val="F2F6FB"/>
      </a:lt2>
      <a:accent1>
        <a:srgbClr val="2A78D6"/>
      </a:accent1>
      <a:accent2>
        <a:srgbClr val="EB6834"/>
      </a:accent2>
      <a:accent3>
        <a:srgbClr val="1BAF7A"/>
      </a:accent3>
      <a:accent4>
        <a:srgbClr val="8A8F98"/>
      </a:accent4>
      <a:accent5>
        <a:srgbClr val="EDA100"/>
      </a:accent5>
      <a:accent6>
        <a:srgbClr val="D03B3B"/>
      </a:accent6>
      <a:hlink>
        <a:srgbClr val="2A78D6"/>
      </a:hlink>
      <a:folHlink>
        <a:srgbClr val="8A8F98"/>
      </a:folHlink>
    </a:clrScheme>
    <a:fontScheme name="Armani Trad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Armani Middle East Trading - Data Science Technical Assessment</dc:title>
  <dc:subject>PptxGenJS Presentation</dc:subject>
  <dc:creator>Hamidreza Nademi</dc:creator>
  <cp:lastModifiedBy>Hamidreza Nademi</cp:lastModifiedBy>
  <cp:revision>1</cp:revision>
  <dcterms:created xsi:type="dcterms:W3CDTF">2026-10-06T19:50:27Z</dcterms:created>
  <dcterms:modified xsi:type="dcterms:W3CDTF">2026-10-06T19:50:27Z</dcterms:modified>
</cp:coreProperties>
</file>