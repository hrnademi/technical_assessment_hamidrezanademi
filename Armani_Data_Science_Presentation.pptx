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01d5601b-bb82-892a-27e3-7264f8a10bf3}">
          <p14:sldIdLst>
            <p14:sldId id="256"/>
            <p14:sldId id="257"/>
          </p14:sldIdLst>
        </p14:section>
        <p14:section name="Summary" id="{4d8f7979-694f-b146-d05f-cd77e2d9da96}">
          <p14:sldIdLst>
            <p14:sldId id="258"/>
          </p14:sldIdLst>
        </p14:section>
        <p14:section name="Part 1 - Data" id="{f79d487d-f4f1-41df-d8bb-a20f76339419}">
          <p14:sldIdLst>
            <p14:sldId id="259"/>
            <p14:sldId id="260"/>
          </p14:sldIdLst>
        </p14:section>
        <p14:section name="Part 2 - Forecast" id="{6c95e1e5-96cd-dc1b-a09f-338afb027e1c}">
          <p14:sldIdLst>
            <p14:sldId id="261"/>
            <p14:sldId id="262"/>
            <p14:sldId id="263"/>
            <p14:sldId id="264"/>
          </p14:sldIdLst>
        </p14:section>
        <p14:section name="Part 3 - Dashboard" id="{29d365ce-77ce-dccb-e21b-f174717e31cd}">
          <p14:sldIdLst>
            <p14:sldId id="265"/>
            <p14:sldId id="266"/>
            <p14:sldId id="267"/>
          </p14:sldIdLst>
        </p14:section>
        <p14:section name="Part 4 - Pricing" id="{26bc301a-a63c-84de-1e70-85f3066a49cb}">
          <p14:sldIdLst>
            <p14:sldId id="268"/>
            <p14:sldId id="269"/>
            <p14:sldId id="270"/>
            <p14:sldId id="271"/>
            <p14:sldId id="272"/>
          </p14:sldIdLst>
        </p14:section>
        <p14:section name="Wrap-up" id="{1ec93ad1-be15-0771-ecc8-7dc8a0a2c48a}">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Data-quality score, before vs after (0-100)</a:t>
            </a:r>
          </a:p>
        </c:rich>
      </c:tx>
      <c:layout/>
      <c:overlay val="0"/>
    </c:title>
    <c:autoTitleDeleted val="0"/>
    <c:plotArea>
      <c:layout/>
      <c:barChart>
        <c:barDir val="bar"/>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Share of product-weeks</a:t>
            </a:r>
          </a:p>
        </c:rich>
      </c:tx>
      <c:layout/>
      <c:overlay val="0"/>
    </c:title>
    <c:autoTitleDeleted val="0"/>
    <c:plotArea>
      <c:layout/>
      <c:doughnutChart>
        <c:varyColors val="1"/>
        <c:ser>
          <c:idx val="0"/>
          <c:order val="0"/>
          <c:tx>
            <c:strRef>
              <c:f>Sheet1!$B$1</c:f>
              <c:strCache>
                <c:ptCount val="1"/>
                <c:pt idx="0">
                  <c:v>Weeks</c:v>
                </c:pt>
              </c:strCache>
            </c:strRef>
          </c:tx>
          <c:spPr>
            <a:solidFill>
              <a:schemeClr val="accent1"/>
            </a:solidFill>
            <a:ln w="9525" cap="flat">
              <a:solidFill>
                <a:srgbClr val="F9F9F9"/>
              </a:solidFill>
              <a:prstDash val="solid"/>
              <a:round/>
            </a:ln>
            <a:effectLst/>
          </c:spPr>
          <c:dPt>
            <c:idx val="0"/>
            <c:bubble3D val="0"/>
            <c:spPr>
              <a:solidFill>
                <a:srgbClr val="2A78D6"/>
              </a:solidFill>
              <a:effectLst/>
            </c:spPr>
          </c:dPt>
          <c:dPt>
            <c:idx val="1"/>
            <c:bubble3D val="0"/>
            <c:spPr>
              <a:solidFill>
                <a:srgbClr val="EB6834"/>
              </a:solidFill>
              <a:effectLst/>
            </c:spPr>
          </c:dPt>
          <c:dPt>
            <c:idx val="2"/>
            <c:bubble3D val="0"/>
            <c:spPr>
              <a:solidFill>
                <a:srgbClr val="D03B3B"/>
              </a:solidFill>
              <a:effectLst/>
            </c:spPr>
          </c:dPt>
          <c:dPt>
            <c:idx val="3"/>
            <c:bubble3D val="0"/>
            <c:spPr>
              <a:solidFill>
                <a:srgbClr val="8A8F98"/>
              </a:solidFill>
              <a:effectLst/>
            </c:spPr>
          </c:dPt>
          <c:dLbls>
            <c:dLbl>
              <c:idx val="0"/>
              <c:numFmt formatCode="0.0&quot;%&quot;"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1"/>
              <c:numFmt formatCode="0.0&quot;%&quot;"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2"/>
              <c:numFmt formatCode="0.0&quot;%&quot;"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3"/>
              <c:numFmt formatCode="0.0&quot;%&quot;"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numFmt formatCode="0.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Unconstrained</c:v>
                </c:pt>
                <c:pt idx="1">
                  <c:v>Stock-limited</c:v>
                </c:pt>
                <c:pt idx="2">
                  <c:v>Stock-out</c:v>
                </c:pt>
                <c:pt idx="3">
                  <c:v>Unknown</c:v>
                </c:pt>
              </c:strCache>
            </c:strRef>
          </c:cat>
          <c:val>
            <c:numRef>
              <c:f>Sheet1!$B$2:$B$5</c:f>
              <c:numCache>
                <c:ptCount val="4"/>
                <c:pt idx="0">
                  <c:v>46.5</c:v>
                </c:pt>
                <c:pt idx="1">
                  <c:v>36.1</c:v>
                </c:pt>
                <c:pt idx="2">
                  <c:v>17</c:v>
                </c:pt>
                <c:pt idx="3">
                  <c:v>0.4</c:v>
                </c:pt>
              </c:numCache>
            </c:numRef>
          </c:val>
        </c:ser>
        <c:firstSliceAng val="0"/>
        <c:holeSize val="55"/>
      </c:doughnutChart>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Average miss, % of total demand (lower is better)</a:t>
            </a:r>
          </a:p>
        </c:rich>
      </c:tx>
      <c:layout/>
      <c:overlay val="0"/>
    </c:title>
    <c:autoTitleDeleted val="0"/>
    <c:plotArea>
      <c:layout/>
      <c:barChart>
        <c:barDir val="bar"/>
        <c:grouping val="clustered"/>
        <c:varyColors val="0"/>
        <c:ser>
          <c:idx val="0"/>
          <c:order val="0"/>
          <c:tx>
            <c:strRef>
              <c:f>Sheet1!$B$1</c:f>
              <c:strCache>
                <c:ptCount val="1"/>
                <c:pt idx="0">
                  <c:v>WAPE %</c:v>
                </c:pt>
              </c:strCache>
            </c:strRef>
          </c:tx>
          <c:spPr>
            <a:solidFill>
              <a:srgbClr val="1BAF7A"/>
            </a:solidFill>
            <a:effectLst/>
          </c:spPr>
          <c:invertIfNegative val="0"/>
          <c:dLbls>
            <c:numFmt formatCode="0.0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1BAF7A"/>
              </a:solidFill>
              <a:effectLst/>
            </c:spPr>
          </c:dPt>
          <c:dPt>
            <c:idx val="1"/>
            <c:invertIfNegative val="0"/>
            <c:bubble3D val="0"/>
            <c:spPr>
              <a:solidFill>
                <a:srgbClr val="1BAF7A"/>
              </a:solidFill>
              <a:effectLst/>
            </c:spPr>
          </c:dPt>
          <c:dPt>
            <c:idx val="2"/>
            <c:invertIfNegative val="0"/>
            <c:bubble3D val="0"/>
            <c:spPr>
              <a:solidFill>
                <a:srgbClr val="9EC5F4"/>
              </a:solidFill>
              <a:effectLst/>
            </c:spPr>
          </c:dPt>
          <c:dPt>
            <c:idx val="3"/>
            <c:invertIfNegative val="0"/>
            <c:bubble3D val="0"/>
            <c:spPr>
              <a:solidFill>
                <a:srgbClr val="2A78D6"/>
              </a:solidFill>
              <a:effectLst/>
            </c:spPr>
          </c:dPt>
          <c:dPt>
            <c:idx val="4"/>
            <c:invertIfNegative val="0"/>
            <c:bubble3D val="0"/>
            <c:spPr>
              <a:solidFill>
                <a:srgbClr val="9EC5F4"/>
              </a:solidFill>
              <a:effectLst/>
            </c:spPr>
          </c:dPt>
          <c:dPt>
            <c:idx val="5"/>
            <c:invertIfNegative val="0"/>
            <c:bubble3D val="0"/>
            <c:spPr>
              <a:solidFill>
                <a:srgbClr val="1BAF7A"/>
              </a:solidFill>
              <a:effectLst/>
            </c:spPr>
          </c:dPt>
          <c:dPt>
            <c:idx val="6"/>
            <c:invertIfNegative val="0"/>
            <c:bubble3D val="0"/>
            <c:spPr>
              <a:solidFill>
                <a:srgbClr val="EB6834"/>
              </a:solidFill>
              <a:effectLst/>
            </c:spPr>
          </c:dPt>
          <c:dPt>
            <c:idx val="7"/>
            <c:invertIfNegative val="0"/>
            <c:bubble3D val="0"/>
            <c:spPr>
              <a:solidFill>
                <a:srgbClr val="EB6834"/>
              </a:solidFill>
              <a:effectLst/>
            </c:spPr>
          </c:dPt>
          <c:dPt>
            <c:idx val="8"/>
            <c:invertIfNegative val="0"/>
            <c:bubble3D val="0"/>
            <c:spPr>
              <a:solidFill>
                <a:srgbClr val="EB6834"/>
              </a:solidFill>
              <a:effectLst/>
            </c:spPr>
          </c:dPt>
          <c:dPt>
            <c:idx val="9"/>
            <c:invertIfNegative val="0"/>
            <c:bubble3D val="0"/>
            <c:spPr>
              <a:solidFill>
                <a:srgbClr val="8A8F98"/>
              </a:solidFill>
              <a:effectLst/>
            </c:spPr>
          </c:dPt>
          <c:dPt>
            <c:idx val="10"/>
            <c:invertIfNegative val="0"/>
            <c:bubble3D val="0"/>
            <c:spPr>
              <a:solidFill>
                <a:srgbClr val="2A78D6"/>
              </a:solidFill>
              <a:effectLst/>
            </c:spPr>
          </c:dPt>
          <c:dPt>
            <c:idx val="11"/>
            <c:invertIfNegative val="0"/>
            <c:bubble3D val="0"/>
            <c:spPr>
              <a:solidFill>
                <a:srgbClr val="8A8F98"/>
              </a:solidFill>
              <a:effectLst/>
            </c:spPr>
          </c:dPt>
          <c:cat>
            <c:multiLvlStrRef>
              <c:f>Sheet1!$A$2:$A$13</c:f>
              <c:multiLvlStrCache>
                <c:ptCount val="12"/>
                <c:lvl>
                  <c:pt idx="0">
                    <c:v>Structural model (winner)</c:v>
                  </c:pt>
                  <c:pt idx="1">
                    <c:v>Structural per segment</c:v>
                  </c:pt>
                  <c:pt idx="2">
                    <c:v>Average of best 3</c:v>
                  </c:pt>
                  <c:pt idx="3">
                    <c:v>Seasonal regression</c:v>
                  </c:pt>
                  <c:pt idx="4">
                    <c:v>Average of 5 methods</c:v>
                  </c:pt>
                  <c:pt idx="5">
                    <c:v>Size x Season x Growth</c:v>
                  </c:pt>
                  <c:pt idx="6">
                    <c:v>Prophet</c:v>
                  </c:pt>
                  <c:pt idx="7">
                    <c:v>LightGBM</c:v>
                  </c:pt>
                  <c:pt idx="8">
                    <c:v>LightGBM per segment</c:v>
                  </c:pt>
                  <c:pt idx="9">
                    <c:v>Last year's average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dLbls>
          <c:numFmt formatCode="0.0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Price rise (%) by share of demand we cannot serve</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B80"/>
                    </a:solidFill>
                    <a:latin typeface="Arial"/>
                  </a:defRPr>
                </a:pPr>
                <a:r>
                  <a:rPr sz="1200" b="0" i="0" u="none" strike="noStrike">
                    <a:solidFill>
                      <a:srgbClr val="5B6B80"/>
                    </a:solidFill>
                    <a:latin typeface="Arial"/>
                  </a:rPr>
                  <a:t>share of expected demand we cannot serve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connected solution in four parts: clean data, a demand forecast, a dashboard for managers, and a pricing framework. The main message: the biggest lever is availability and stock planning, with a small, safe pricing gain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assessment names three problems: demand volatility, static prices, and credit/liquidity. Each part answers one of them and feeds the next. Everything is reproducible from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carry the story. About 40% of customer demand went unserved last year because stock ran out; a simple model forecasts the next 26 weeks within 4.6%; five over-stocked products tie up $10.8M; and pricing that respects scarcity adds about $1.3M profit without selling fewer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raw file had duplicates, missing values and infinite growth values. Every correction is logged, nothing is silently dropped, and fatal problems stop the load. Integrity index rises from 79.7 to 99.7. Exception handling was proven on a deliberately corrupted copy: 15 tests, all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 in a week track the previous row's inventory (correlation 0.85), zero stock means zero sales, and sales pile up exactly at the stock caps 1,500 and 2,500. So sales equal min(demand, stock). 53% of product-weeks are affected. Forecasting raw sales would forecast stock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Weeks where stock did not limit sales show true demand. Elsewhere we rebuild demand as the larger of observed sales and a blend of the company's old forecast (40%) and a seasonal model (60%). The blend weight is learned out-of-fold. On weeks where truth is known, the blend is off by 5.0% against 7.9% for the old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Calendar tests show that week of year explains about 80% of demand variation, while price, cost and margin have no calendar effect. All products follow the same curve (mean correlation 0.97), so we measure the season once. Recipe: forecast = size x season x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Rolling-origin backtests: train on 156, 182, 208 and 234 weeks and test on the next 26. All tuning happens inside the training window. Metrics: WAPE (primary), MAE, RMSE, MAPE, MASE, bias. The winner is statistically better than the best simple rule (bootstrap CI excludes zero) and equal to the per-segment version, so the simpler pooled model is selected. Honest accuracy on directly observed weeks is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forecast covers weeks 261 to 286. P10-P90 bands come from backtest errors and cover 80% of outcomes. At historical stock levels 44% of the forecast revenue would again be unserved, because stock, not demand, is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Streamlit app with eight tabs: overview, financial, stock and service, customer credit scenario, forecast, pricing, alerts, notes. Every tab opens with a one-sentence bottom line so a non-technical reader gets the message first. Plain-language labels replace jargon (days of stock, demand 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52 weeks: revenue $65.4M, up 3.3%; gross margin 21.5% and flat; operating profit $7.6M. Service level is 60%: $43.2M of sales were lost. Five products hold over 26 weeks of stock (up to 370 weeks) while 19 lean products run out. 16 high-priority alerts, each with an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has no customers, invoices or payment terms, so DSO and the default-risk rating are scenario values driven by editable assumptions and labelled as such everywhere. Alerts are rules with editable thresholds. 24 automatic tests reconcile the KPIs to the database and recompute alert rules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product-week is scarce, balanced or surplus. When part of the demand cannot be served we will sell out anyway, so a small price rise is extra profit. The rise grows with scarcity, is largest in peak season, and is capped at 8%. 78% of the forecast product-weeks are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guardrail answers a business risk. All are tested automatically on the 26-week plan and on a 52-week replay: 19 checks passed. Competitor prices are not in the data, so the 13-week average price is the proxy for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means gross profit minus expected credit losses, versus holding today's price, using the same simulated demand and stock. Because we only raise prices where we sell out anyway, the result barely depends on how customers react: $1.15M if they are very price-sensitive, $1.30M if they ignore price. Replaying the last 52 weeks with only past information gives +$1.4M. If real demand were only 60% of our estimate the gain would still be $0.94M.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products hold between 64 and 370 weeks of stock: $10.8M at cost and about $1.3M a year to carry, which is more than the whole pricing gain. Selling the excess within a year by price alone would need cuts of 17 to 49% even for very price-sensitive customers, and a price below cost at the planning sensitivity. 200 candidate markdowns were tested and rejected because they do not pay. Beverages &amp; Cocoa is rated D in the credit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assumptions remain: customer price sensitivity and competitor prices. For products that sell out, units sold equal stock, so a price test there only shows whether we still sell out; real sensitivity needs products with ample stock. Pilot A is cheap and confirms the core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by value and effort: stock decisions are free and large; pricing needs a short pilot; data requests enable the credit and competitor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assumption is documented in the notebooks and the README. The three that matter most for decisions are price sensitivity, credit data, and the demand reconstruction; each has a test or a pilot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holds only the latest version of each notebook; earlier versions are in the history folder. Each notebook writes an Excel workbook of at most eight sheets with the Summary first. README explains setup, run order, architecture and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Turning weekly trade data into better decisions</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Demand forecast  ·  KPI dashboard  ·  Dynamic pricing and risk strategy</a:t>
            </a:r>
            <a:endParaRPr lang="en-US" sz="2200" dirty="0"/>
          </a:p>
        </p:txBody>
      </p:sp>
      <p:sp>
        <p:nvSpPr>
          <p:cNvPr id="4" name="Text 2"/>
          <p:cNvSpPr txBox="1"/>
          <p:nvPr/>
        </p:nvSpPr>
        <p:spPr>
          <a:xfrm>
            <a:off x="822960" y="5852160"/>
            <a:ext cx="100584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Scientist technical assessment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Three business problems, one connected solution</a:t>
            </a:r>
            <a:endParaRPr lang="en-US" sz="3000" dirty="0"/>
          </a:p>
        </p:txBody>
      </p:sp>
      <p:sp>
        <p:nvSpPr>
          <p:cNvPr id="5" name="Problem card"/>
          <p:cNvSpPr/>
          <p:nvPr/>
        </p:nvSpPr>
        <p:spPr>
          <a:xfrm>
            <a:off x="548640" y="1783080"/>
            <a:ext cx="4297680" cy="1234440"/>
          </a:xfrm>
          <a:prstGeom prst="roundRect">
            <a:avLst>
              <a:gd name="adj" fmla="val 5926"/>
            </a:avLst>
          </a:prstGeom>
          <a:solidFill>
            <a:srgbClr val="F2F6FB"/>
          </a:solidFill>
          <a:ln w="12700">
            <a:solidFill>
              <a:srgbClr val="F2F6FB"/>
            </a:solidFill>
            <a:prstDash val="solid"/>
          </a:ln>
        </p:spPr>
      </p:sp>
      <p:sp>
        <p:nvSpPr>
          <p:cNvPr id="6" name="Text 3"/>
          <p:cNvSpPr txBox="1"/>
          <p:nvPr/>
        </p:nvSpPr>
        <p:spPr>
          <a:xfrm>
            <a:off x="731520" y="1892808"/>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Demand volatility</a:t>
            </a:r>
            <a:endParaRPr lang="en-US" sz="1800" dirty="0"/>
          </a:p>
        </p:txBody>
      </p:sp>
      <p:sp>
        <p:nvSpPr>
          <p:cNvPr id="7" name="Text 4"/>
          <p:cNvSpPr txBox="1"/>
          <p:nvPr/>
        </p:nvSpPr>
        <p:spPr>
          <a:xfrm>
            <a:off x="731520" y="2286000"/>
            <a:ext cx="3931920" cy="640080"/>
          </a:xfrm>
          <a:prstGeom prst="rect">
            <a:avLst/>
          </a:prstGeom>
          <a:noFill/>
          <a:ln/>
        </p:spPr>
        <p:txBody>
          <a:bodyPr wrap="square" lIns="0" tIns="0" rIns="0" bIns="0" rtlCol="0" anchor="t"/>
          <a:lstStyle/>
          <a:p>
            <a:pPr indent="0" marL="0">
              <a:buNone/>
            </a:pPr>
            <a:r>
              <a:rPr lang="en-US" sz="1400" dirty="0">
                <a:solidFill>
                  <a:srgbClr val="5B6B80"/>
                </a:solidFill>
              </a:rPr>
              <a:t>Seasonality and supply swings make commodity demand hard to predict</a:t>
            </a:r>
            <a:endParaRPr lang="en-US" sz="1400" dirty="0"/>
          </a:p>
        </p:txBody>
      </p:sp>
      <p:sp>
        <p:nvSpPr>
          <p:cNvPr id="8" name="Problem card"/>
          <p:cNvSpPr/>
          <p:nvPr/>
        </p:nvSpPr>
        <p:spPr>
          <a:xfrm>
            <a:off x="548640" y="3200400"/>
            <a:ext cx="4297680" cy="1234440"/>
          </a:xfrm>
          <a:prstGeom prst="roundRect">
            <a:avLst>
              <a:gd name="adj" fmla="val 5926"/>
            </a:avLst>
          </a:prstGeom>
          <a:solidFill>
            <a:srgbClr val="F2F6FB"/>
          </a:solidFill>
          <a:ln w="12700">
            <a:solidFill>
              <a:srgbClr val="F2F6FB"/>
            </a:solidFill>
            <a:prstDash val="solid"/>
          </a:ln>
        </p:spPr>
      </p:sp>
      <p:sp>
        <p:nvSpPr>
          <p:cNvPr id="9" name="Text 6"/>
          <p:cNvSpPr txBox="1"/>
          <p:nvPr/>
        </p:nvSpPr>
        <p:spPr>
          <a:xfrm>
            <a:off x="731520" y="3310128"/>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Static prices</a:t>
            </a:r>
            <a:endParaRPr lang="en-US" sz="1800" dirty="0"/>
          </a:p>
        </p:txBody>
      </p:sp>
      <p:sp>
        <p:nvSpPr>
          <p:cNvPr id="10" name="Text 7"/>
          <p:cNvSpPr txBox="1"/>
          <p:nvPr/>
        </p:nvSpPr>
        <p:spPr>
          <a:xfrm>
            <a:off x="731520" y="3703320"/>
            <a:ext cx="3931920" cy="640080"/>
          </a:xfrm>
          <a:prstGeom prst="rect">
            <a:avLst/>
          </a:prstGeom>
          <a:noFill/>
          <a:ln/>
        </p:spPr>
        <p:txBody>
          <a:bodyPr wrap="square" lIns="0" tIns="0" rIns="0" bIns="0" rtlCol="0" anchor="t"/>
          <a:lstStyle/>
          <a:p>
            <a:pPr indent="0" marL="0">
              <a:buNone/>
            </a:pPr>
            <a:r>
              <a:rPr lang="en-US" sz="1400" dirty="0">
                <a:solidFill>
                  <a:srgbClr val="5B6B80"/>
                </a:solidFill>
              </a:rPr>
              <a:t>Fixed prices miss revenue in busy weeks and leave stock unsold in quiet ones</a:t>
            </a:r>
            <a:endParaRPr lang="en-US" sz="1400" dirty="0"/>
          </a:p>
        </p:txBody>
      </p:sp>
      <p:sp>
        <p:nvSpPr>
          <p:cNvPr id="11" name="Problem card"/>
          <p:cNvSpPr/>
          <p:nvPr/>
        </p:nvSpPr>
        <p:spPr>
          <a:xfrm>
            <a:off x="548640" y="4617720"/>
            <a:ext cx="4297680" cy="1234440"/>
          </a:xfrm>
          <a:prstGeom prst="roundRect">
            <a:avLst>
              <a:gd name="adj" fmla="val 5926"/>
            </a:avLst>
          </a:prstGeom>
          <a:solidFill>
            <a:srgbClr val="F2F6FB"/>
          </a:solidFill>
          <a:ln w="12700">
            <a:solidFill>
              <a:srgbClr val="F2F6FB"/>
            </a:solidFill>
            <a:prstDash val="solid"/>
          </a:ln>
        </p:spPr>
      </p:sp>
      <p:sp>
        <p:nvSpPr>
          <p:cNvPr id="12" name="Text 9"/>
          <p:cNvSpPr txBox="1"/>
          <p:nvPr/>
        </p:nvSpPr>
        <p:spPr>
          <a:xfrm>
            <a:off x="731520" y="4727448"/>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Credit and liquidity</a:t>
            </a:r>
            <a:endParaRPr lang="en-US" sz="1800" dirty="0"/>
          </a:p>
        </p:txBody>
      </p:sp>
      <p:sp>
        <p:nvSpPr>
          <p:cNvPr id="13" name="Text 10"/>
          <p:cNvSpPr txBox="1"/>
          <p:nvPr/>
        </p:nvSpPr>
        <p:spPr>
          <a:xfrm>
            <a:off x="731520" y="5120640"/>
            <a:ext cx="3931920" cy="640080"/>
          </a:xfrm>
          <a:prstGeom prst="rect">
            <a:avLst/>
          </a:prstGeom>
          <a:noFill/>
          <a:ln/>
        </p:spPr>
        <p:txBody>
          <a:bodyPr wrap="square" lIns="0" tIns="0" rIns="0" bIns="0" rtlCol="0" anchor="t"/>
          <a:lstStyle/>
          <a:p>
            <a:pPr indent="0" marL="0">
              <a:buNone/>
            </a:pPr>
            <a:r>
              <a:rPr lang="en-US" sz="1400" dirty="0">
                <a:solidFill>
                  <a:srgbClr val="5B6B80"/>
                </a:solidFill>
              </a:rPr>
              <a:t>Sales terms must balance growth against default risk and stock-holding cost</a:t>
            </a:r>
            <a:endParaRPr lang="en-US" sz="1400" dirty="0"/>
          </a:p>
        </p:txBody>
      </p:sp>
      <p:sp>
        <p:nvSpPr>
          <p:cNvPr id="14" name="Step number"/>
          <p:cNvSpPr/>
          <p:nvPr/>
        </p:nvSpPr>
        <p:spPr>
          <a:xfrm>
            <a:off x="5669280" y="1856232"/>
            <a:ext cx="640080" cy="640080"/>
          </a:xfrm>
          <a:prstGeom prst="ellipse">
            <a:avLst/>
          </a:prstGeom>
          <a:solidFill>
            <a:srgbClr val="2A78D6"/>
          </a:solidFill>
          <a:ln w="12700">
            <a:solidFill>
              <a:srgbClr val="FFFFFF"/>
            </a:solidFill>
            <a:prstDash val="solid"/>
          </a:ln>
        </p:spPr>
      </p:sp>
      <p:sp>
        <p:nvSpPr>
          <p:cNvPr id="15" name="Text 12"/>
          <p:cNvSpPr txBox="1"/>
          <p:nvPr/>
        </p:nvSpPr>
        <p:spPr>
          <a:xfrm>
            <a:off x="5669280" y="185623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16" name="Text 13"/>
          <p:cNvSpPr txBox="1"/>
          <p:nvPr/>
        </p:nvSpPr>
        <p:spPr>
          <a:xfrm>
            <a:off x="6537960" y="1819656"/>
            <a:ext cx="5029200" cy="365760"/>
          </a:xfrm>
          <a:prstGeom prst="rect">
            <a:avLst/>
          </a:prstGeom>
          <a:noFill/>
          <a:ln/>
        </p:spPr>
        <p:txBody>
          <a:bodyPr wrap="square" lIns="0" tIns="0" rIns="0" bIns="0" rtlCol="0" anchor="ctr"/>
          <a:lstStyle/>
          <a:p>
            <a:pPr indent="0" marL="0">
              <a:buNone/>
            </a:pPr>
            <a:r>
              <a:rPr lang="en-US" sz="2000" b="1" dirty="0">
                <a:solidFill>
                  <a:schemeClr val="tx1"/>
                </a:solidFill>
              </a:rPr>
              <a:t>Data and ETL</a:t>
            </a:r>
            <a:endParaRPr lang="en-US" sz="2000" dirty="0"/>
          </a:p>
        </p:txBody>
      </p:sp>
      <p:sp>
        <p:nvSpPr>
          <p:cNvPr id="17" name="Text 14"/>
          <p:cNvSpPr txBox="1"/>
          <p:nvPr/>
        </p:nvSpPr>
        <p:spPr>
          <a:xfrm>
            <a:off x="6537960" y="2185416"/>
            <a:ext cx="5029200" cy="365760"/>
          </a:xfrm>
          <a:prstGeom prst="rect">
            <a:avLst/>
          </a:prstGeom>
          <a:noFill/>
          <a:ln/>
        </p:spPr>
        <p:txBody>
          <a:bodyPr wrap="square" lIns="0" tIns="0" rIns="0" bIns="0" rtlCol="0" anchor="ctr"/>
          <a:lstStyle/>
          <a:p>
            <a:pPr indent="0" marL="0">
              <a:buNone/>
            </a:pPr>
            <a:r>
              <a:rPr lang="en-US" sz="1500" dirty="0">
                <a:solidFill>
                  <a:srgbClr val="5B6B80"/>
                </a:solidFill>
              </a:rPr>
              <a:t>Clean, validated star schema</a:t>
            </a:r>
            <a:endParaRPr lang="en-US" sz="1500" dirty="0"/>
          </a:p>
        </p:txBody>
      </p:sp>
      <p:sp>
        <p:nvSpPr>
          <p:cNvPr id="18" name="Flow arrow"/>
          <p:cNvSpPr/>
          <p:nvPr/>
        </p:nvSpPr>
        <p:spPr>
          <a:xfrm>
            <a:off x="5989320" y="2532888"/>
            <a:ext cx="0" cy="310896"/>
          </a:xfrm>
          <a:prstGeom prst="line">
            <a:avLst/>
          </a:prstGeom>
          <a:noFill/>
          <a:ln w="19050">
            <a:solidFill>
              <a:srgbClr val="8A8F98"/>
            </a:solidFill>
            <a:prstDash val="solid"/>
            <a:tailEnd type="triangle"/>
          </a:ln>
        </p:spPr>
      </p:sp>
      <p:sp>
        <p:nvSpPr>
          <p:cNvPr id="19" name="Step number"/>
          <p:cNvSpPr/>
          <p:nvPr/>
        </p:nvSpPr>
        <p:spPr>
          <a:xfrm>
            <a:off x="5669280" y="2935224"/>
            <a:ext cx="640080" cy="640080"/>
          </a:xfrm>
          <a:prstGeom prst="ellipse">
            <a:avLst/>
          </a:prstGeom>
          <a:solidFill>
            <a:srgbClr val="2A78D6"/>
          </a:solidFill>
          <a:ln w="12700">
            <a:solidFill>
              <a:srgbClr val="FFFFFF"/>
            </a:solidFill>
            <a:prstDash val="solid"/>
          </a:ln>
        </p:spPr>
      </p:sp>
      <p:sp>
        <p:nvSpPr>
          <p:cNvPr id="20" name="Text 17"/>
          <p:cNvSpPr txBox="1"/>
          <p:nvPr/>
        </p:nvSpPr>
        <p:spPr>
          <a:xfrm>
            <a:off x="5669280" y="2935224"/>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21" name="Text 18"/>
          <p:cNvSpPr txBox="1"/>
          <p:nvPr/>
        </p:nvSpPr>
        <p:spPr>
          <a:xfrm>
            <a:off x="6537960" y="2898648"/>
            <a:ext cx="5029200" cy="365760"/>
          </a:xfrm>
          <a:prstGeom prst="rect">
            <a:avLst/>
          </a:prstGeom>
          <a:noFill/>
          <a:ln/>
        </p:spPr>
        <p:txBody>
          <a:bodyPr wrap="square" lIns="0" tIns="0" rIns="0" bIns="0" rtlCol="0" anchor="ctr"/>
          <a:lstStyle/>
          <a:p>
            <a:pPr indent="0" marL="0">
              <a:buNone/>
            </a:pPr>
            <a:r>
              <a:rPr lang="en-US" sz="2000" b="1" dirty="0">
                <a:solidFill>
                  <a:schemeClr val="tx1"/>
                </a:solidFill>
              </a:rPr>
              <a:t>Demand forecast</a:t>
            </a:r>
            <a:endParaRPr lang="en-US" sz="2000" dirty="0"/>
          </a:p>
        </p:txBody>
      </p:sp>
      <p:sp>
        <p:nvSpPr>
          <p:cNvPr id="22" name="Text 19"/>
          <p:cNvSpPr txBox="1"/>
          <p:nvPr/>
        </p:nvSpPr>
        <p:spPr>
          <a:xfrm>
            <a:off x="6537960" y="3264408"/>
            <a:ext cx="5029200" cy="365760"/>
          </a:xfrm>
          <a:prstGeom prst="rect">
            <a:avLst/>
          </a:prstGeom>
          <a:noFill/>
          <a:ln/>
        </p:spPr>
        <p:txBody>
          <a:bodyPr wrap="square" lIns="0" tIns="0" rIns="0" bIns="0" rtlCol="0" anchor="ctr"/>
          <a:lstStyle/>
          <a:p>
            <a:pPr indent="0" marL="0">
              <a:buNone/>
            </a:pPr>
            <a:r>
              <a:rPr lang="en-US" sz="1500" dirty="0">
                <a:solidFill>
                  <a:srgbClr val="5B6B80"/>
                </a:solidFill>
              </a:rPr>
              <a:t>26 weeks, 13 models compared</a:t>
            </a:r>
            <a:endParaRPr lang="en-US" sz="1500" dirty="0"/>
          </a:p>
        </p:txBody>
      </p:sp>
      <p:sp>
        <p:nvSpPr>
          <p:cNvPr id="23" name="Flow arrow"/>
          <p:cNvSpPr/>
          <p:nvPr/>
        </p:nvSpPr>
        <p:spPr>
          <a:xfrm>
            <a:off x="5989320" y="3611880"/>
            <a:ext cx="0" cy="310896"/>
          </a:xfrm>
          <a:prstGeom prst="line">
            <a:avLst/>
          </a:prstGeom>
          <a:noFill/>
          <a:ln w="19050">
            <a:solidFill>
              <a:srgbClr val="8A8F98"/>
            </a:solidFill>
            <a:prstDash val="solid"/>
            <a:tailEnd type="triangle"/>
          </a:ln>
        </p:spPr>
      </p:sp>
      <p:sp>
        <p:nvSpPr>
          <p:cNvPr id="24" name="Step number"/>
          <p:cNvSpPr/>
          <p:nvPr/>
        </p:nvSpPr>
        <p:spPr>
          <a:xfrm>
            <a:off x="5669280" y="4014216"/>
            <a:ext cx="640080" cy="640080"/>
          </a:xfrm>
          <a:prstGeom prst="ellipse">
            <a:avLst/>
          </a:prstGeom>
          <a:solidFill>
            <a:srgbClr val="1BAF7A"/>
          </a:solidFill>
          <a:ln w="12700">
            <a:solidFill>
              <a:srgbClr val="FFFFFF"/>
            </a:solidFill>
            <a:prstDash val="solid"/>
          </a:ln>
        </p:spPr>
      </p:sp>
      <p:sp>
        <p:nvSpPr>
          <p:cNvPr id="25" name="Text 22"/>
          <p:cNvSpPr txBox="1"/>
          <p:nvPr/>
        </p:nvSpPr>
        <p:spPr>
          <a:xfrm>
            <a:off x="5669280" y="4014216"/>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26" name="Text 23"/>
          <p:cNvSpPr txBox="1"/>
          <p:nvPr/>
        </p:nvSpPr>
        <p:spPr>
          <a:xfrm>
            <a:off x="6537960" y="3977640"/>
            <a:ext cx="5029200" cy="365760"/>
          </a:xfrm>
          <a:prstGeom prst="rect">
            <a:avLst/>
          </a:prstGeom>
          <a:noFill/>
          <a:ln/>
        </p:spPr>
        <p:txBody>
          <a:bodyPr wrap="square" lIns="0" tIns="0" rIns="0" bIns="0" rtlCol="0" anchor="ctr"/>
          <a:lstStyle/>
          <a:p>
            <a:pPr indent="0" marL="0">
              <a:buNone/>
            </a:pPr>
            <a:r>
              <a:rPr lang="en-US" sz="2000" b="1" dirty="0">
                <a:solidFill>
                  <a:schemeClr val="tx1"/>
                </a:solidFill>
              </a:rPr>
              <a:t>Dashboard</a:t>
            </a:r>
            <a:endParaRPr lang="en-US" sz="2000" dirty="0"/>
          </a:p>
        </p:txBody>
      </p:sp>
      <p:sp>
        <p:nvSpPr>
          <p:cNvPr id="27" name="Text 24"/>
          <p:cNvSpPr txBox="1"/>
          <p:nvPr/>
        </p:nvSpPr>
        <p:spPr>
          <a:xfrm>
            <a:off x="6537960" y="4343400"/>
            <a:ext cx="5029200" cy="365760"/>
          </a:xfrm>
          <a:prstGeom prst="rect">
            <a:avLst/>
          </a:prstGeom>
          <a:noFill/>
          <a:ln/>
        </p:spPr>
        <p:txBody>
          <a:bodyPr wrap="square" lIns="0" tIns="0" rIns="0" bIns="0" rtlCol="0" anchor="ctr"/>
          <a:lstStyle/>
          <a:p>
            <a:pPr indent="0" marL="0">
              <a:buNone/>
            </a:pPr>
            <a:r>
              <a:rPr lang="en-US" sz="1500" dirty="0">
                <a:solidFill>
                  <a:srgbClr val="5B6B80"/>
                </a:solidFill>
              </a:rPr>
              <a:t>KPIs, forecast, alerts, prices</a:t>
            </a:r>
            <a:endParaRPr lang="en-US" sz="1500" dirty="0"/>
          </a:p>
        </p:txBody>
      </p:sp>
      <p:sp>
        <p:nvSpPr>
          <p:cNvPr id="28" name="Flow arrow"/>
          <p:cNvSpPr/>
          <p:nvPr/>
        </p:nvSpPr>
        <p:spPr>
          <a:xfrm>
            <a:off x="5989320" y="4690872"/>
            <a:ext cx="0" cy="310896"/>
          </a:xfrm>
          <a:prstGeom prst="line">
            <a:avLst/>
          </a:prstGeom>
          <a:noFill/>
          <a:ln w="19050">
            <a:solidFill>
              <a:srgbClr val="8A8F98"/>
            </a:solidFill>
            <a:prstDash val="solid"/>
            <a:tailEnd type="triangle"/>
          </a:ln>
        </p:spPr>
      </p:sp>
      <p:sp>
        <p:nvSpPr>
          <p:cNvPr id="29" name="Step number"/>
          <p:cNvSpPr/>
          <p:nvPr/>
        </p:nvSpPr>
        <p:spPr>
          <a:xfrm>
            <a:off x="5669280" y="5093208"/>
            <a:ext cx="640080" cy="640080"/>
          </a:xfrm>
          <a:prstGeom prst="ellipse">
            <a:avLst/>
          </a:prstGeom>
          <a:solidFill>
            <a:srgbClr val="EB6834"/>
          </a:solidFill>
          <a:ln w="12700">
            <a:solidFill>
              <a:srgbClr val="FFFFFF"/>
            </a:solidFill>
            <a:prstDash val="solid"/>
          </a:ln>
        </p:spPr>
      </p:sp>
      <p:sp>
        <p:nvSpPr>
          <p:cNvPr id="30" name="Text 27"/>
          <p:cNvSpPr txBox="1"/>
          <p:nvPr/>
        </p:nvSpPr>
        <p:spPr>
          <a:xfrm>
            <a:off x="5669280" y="509320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rPr>
              <a:t>4</a:t>
            </a:r>
            <a:endParaRPr lang="en-US" sz="2200" dirty="0"/>
          </a:p>
        </p:txBody>
      </p:sp>
      <p:sp>
        <p:nvSpPr>
          <p:cNvPr id="31" name="Text 28"/>
          <p:cNvSpPr txBox="1"/>
          <p:nvPr/>
        </p:nvSpPr>
        <p:spPr>
          <a:xfrm>
            <a:off x="6537960" y="5056632"/>
            <a:ext cx="5029200" cy="365760"/>
          </a:xfrm>
          <a:prstGeom prst="rect">
            <a:avLst/>
          </a:prstGeom>
          <a:noFill/>
          <a:ln/>
        </p:spPr>
        <p:txBody>
          <a:bodyPr wrap="square" lIns="0" tIns="0" rIns="0" bIns="0" rtlCol="0" anchor="ctr"/>
          <a:lstStyle/>
          <a:p>
            <a:pPr indent="0" marL="0">
              <a:buNone/>
            </a:pPr>
            <a:r>
              <a:rPr lang="en-US" sz="2000" b="1" dirty="0">
                <a:solidFill>
                  <a:schemeClr val="tx1"/>
                </a:solidFill>
              </a:rPr>
              <a:t>Pricing and risk</a:t>
            </a:r>
            <a:endParaRPr lang="en-US" sz="2000" dirty="0"/>
          </a:p>
        </p:txBody>
      </p:sp>
      <p:sp>
        <p:nvSpPr>
          <p:cNvPr id="32" name="Text 29"/>
          <p:cNvSpPr txBox="1"/>
          <p:nvPr/>
        </p:nvSpPr>
        <p:spPr>
          <a:xfrm>
            <a:off x="6537960" y="5422392"/>
            <a:ext cx="5029200" cy="365760"/>
          </a:xfrm>
          <a:prstGeom prst="rect">
            <a:avLst/>
          </a:prstGeom>
          <a:noFill/>
          <a:ln/>
        </p:spPr>
        <p:txBody>
          <a:bodyPr wrap="square" lIns="0" tIns="0" rIns="0" bIns="0" rtlCol="0" anchor="ctr"/>
          <a:lstStyle/>
          <a:p>
            <a:pPr indent="0" marL="0">
              <a:buNone/>
            </a:pPr>
            <a:r>
              <a:rPr lang="en-US" sz="1500" dirty="0">
                <a:solidFill>
                  <a:srgbClr val="5B6B80"/>
                </a:solidFill>
              </a:rPr>
              <a:t>Rules, guardrails, impact</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EXECUTIVE SUMMARY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constraint is availability, not demand or price</a:t>
            </a:r>
            <a:endParaRPr lang="en-US" sz="3000" dirty="0"/>
          </a:p>
        </p:txBody>
      </p:sp>
      <p:sp>
        <p:nvSpPr>
          <p:cNvPr id="5" name="Stat card"/>
          <p:cNvSpPr/>
          <p:nvPr/>
        </p:nvSpPr>
        <p:spPr>
          <a:xfrm>
            <a:off x="548640" y="1783080"/>
            <a:ext cx="2606040" cy="2331720"/>
          </a:xfrm>
          <a:prstGeom prst="roundRect">
            <a:avLst>
              <a:gd name="adj" fmla="val 3137"/>
            </a:avLst>
          </a:prstGeom>
          <a:solidFill>
            <a:srgbClr val="F2F6FB"/>
          </a:solidFill>
          <a:ln w="12700">
            <a:solidFill>
              <a:srgbClr val="F2F6FB"/>
            </a:solidFill>
            <a:prstDash val="solid"/>
          </a:ln>
        </p:spPr>
      </p:sp>
      <p:sp>
        <p:nvSpPr>
          <p:cNvPr id="6" name="Text 3"/>
          <p:cNvSpPr txBox="1"/>
          <p:nvPr/>
        </p:nvSpPr>
        <p:spPr>
          <a:xfrm>
            <a:off x="685800" y="1856232"/>
            <a:ext cx="2331720" cy="1049274"/>
          </a:xfrm>
          <a:prstGeom prst="rect">
            <a:avLst/>
          </a:prstGeom>
          <a:noFill/>
          <a:ln/>
        </p:spPr>
        <p:txBody>
          <a:bodyPr wrap="square" lIns="0" tIns="0" rIns="0" bIns="0" rtlCol="0" anchor="ctr"/>
          <a:lstStyle/>
          <a:p>
            <a:pPr indent="0" marL="0">
              <a:buNone/>
            </a:pPr>
            <a:r>
              <a:rPr lang="en-US" sz="4000" b="1" dirty="0">
                <a:solidFill>
                  <a:srgbClr val="EB6834"/>
                </a:solidFill>
                <a:latin typeface="Cambria" pitchFamily="34" charset="0"/>
                <a:ea typeface="Cambria" pitchFamily="34" charset="-122"/>
                <a:cs typeface="Cambria" pitchFamily="34" charset="-120"/>
              </a:rPr>
              <a:t>~40%</a:t>
            </a:r>
            <a:endParaRPr lang="en-US" sz="4000" dirty="0"/>
          </a:p>
        </p:txBody>
      </p:sp>
      <p:sp>
        <p:nvSpPr>
          <p:cNvPr id="7" name="Text 4"/>
          <p:cNvSpPr txBox="1"/>
          <p:nvPr/>
        </p:nvSpPr>
        <p:spPr>
          <a:xfrm>
            <a:off x="68580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of customer demand went unserved in the last 52 weeks: products ran out of stock</a:t>
            </a:r>
            <a:endParaRPr lang="en-US" sz="1300" dirty="0"/>
          </a:p>
        </p:txBody>
      </p:sp>
      <p:sp>
        <p:nvSpPr>
          <p:cNvPr id="8" name="Stat card"/>
          <p:cNvSpPr/>
          <p:nvPr/>
        </p:nvSpPr>
        <p:spPr>
          <a:xfrm>
            <a:off x="3337560" y="1783080"/>
            <a:ext cx="2606040" cy="2331720"/>
          </a:xfrm>
          <a:prstGeom prst="roundRect">
            <a:avLst>
              <a:gd name="adj" fmla="val 3137"/>
            </a:avLst>
          </a:prstGeom>
          <a:solidFill>
            <a:srgbClr val="F2F6FB"/>
          </a:solidFill>
          <a:ln w="12700">
            <a:solidFill>
              <a:srgbClr val="F2F6FB"/>
            </a:solidFill>
            <a:prstDash val="solid"/>
          </a:ln>
        </p:spPr>
      </p:sp>
      <p:sp>
        <p:nvSpPr>
          <p:cNvPr id="9" name="Text 6"/>
          <p:cNvSpPr txBox="1"/>
          <p:nvPr/>
        </p:nvSpPr>
        <p:spPr>
          <a:xfrm>
            <a:off x="3474720" y="1856232"/>
            <a:ext cx="2331720" cy="1049274"/>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4.6%</a:t>
            </a:r>
            <a:endParaRPr lang="en-US" sz="4000" dirty="0"/>
          </a:p>
        </p:txBody>
      </p:sp>
      <p:sp>
        <p:nvSpPr>
          <p:cNvPr id="10" name="Text 7"/>
          <p:cNvSpPr txBox="1"/>
          <p:nvPr/>
        </p:nvSpPr>
        <p:spPr>
          <a:xfrm>
            <a:off x="347472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average forecast miss (WAPE) for the next 26 weeks, 13% better than the best simple rule</a:t>
            </a:r>
            <a:endParaRPr lang="en-US" sz="1300" dirty="0"/>
          </a:p>
        </p:txBody>
      </p:sp>
      <p:sp>
        <p:nvSpPr>
          <p:cNvPr id="11" name="Stat card"/>
          <p:cNvSpPr/>
          <p:nvPr/>
        </p:nvSpPr>
        <p:spPr>
          <a:xfrm>
            <a:off x="6126480" y="1783080"/>
            <a:ext cx="2606040" cy="2331720"/>
          </a:xfrm>
          <a:prstGeom prst="roundRect">
            <a:avLst>
              <a:gd name="adj" fmla="val 3137"/>
            </a:avLst>
          </a:prstGeom>
          <a:solidFill>
            <a:srgbClr val="F2F6FB"/>
          </a:solidFill>
          <a:ln w="12700">
            <a:solidFill>
              <a:srgbClr val="F2F6FB"/>
            </a:solidFill>
            <a:prstDash val="solid"/>
          </a:ln>
        </p:spPr>
      </p:sp>
      <p:sp>
        <p:nvSpPr>
          <p:cNvPr id="12" name="Text 9"/>
          <p:cNvSpPr txBox="1"/>
          <p:nvPr/>
        </p:nvSpPr>
        <p:spPr>
          <a:xfrm>
            <a:off x="6263640" y="1856232"/>
            <a:ext cx="2331720" cy="1049274"/>
          </a:xfrm>
          <a:prstGeom prst="rect">
            <a:avLst/>
          </a:prstGeom>
          <a:noFill/>
          <a:ln/>
        </p:spPr>
        <p:txBody>
          <a:bodyPr wrap="square" lIns="0" tIns="0" rIns="0" bIns="0" rtlCol="0" anchor="ctr"/>
          <a:lstStyle/>
          <a:p>
            <a:pPr indent="0" marL="0">
              <a:buNone/>
            </a:pPr>
            <a:r>
              <a:rPr lang="en-US" sz="4000" b="1" dirty="0">
                <a:solidFill>
                  <a:srgbClr val="D03B3B"/>
                </a:solidFill>
                <a:latin typeface="Cambria" pitchFamily="34" charset="0"/>
                <a:ea typeface="Cambria" pitchFamily="34" charset="-122"/>
                <a:cs typeface="Cambria" pitchFamily="34" charset="-120"/>
              </a:rPr>
              <a:t>$10.8M</a:t>
            </a:r>
            <a:endParaRPr lang="en-US" sz="4000" dirty="0"/>
          </a:p>
        </p:txBody>
      </p:sp>
      <p:sp>
        <p:nvSpPr>
          <p:cNvPr id="13" name="Text 10"/>
          <p:cNvSpPr txBox="1"/>
          <p:nvPr/>
        </p:nvSpPr>
        <p:spPr>
          <a:xfrm>
            <a:off x="626364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tied up in 5 over-stocked products, while the other products sell out</a:t>
            </a:r>
            <a:endParaRPr lang="en-US" sz="1300" dirty="0"/>
          </a:p>
        </p:txBody>
      </p:sp>
      <p:sp>
        <p:nvSpPr>
          <p:cNvPr id="14" name="Stat card"/>
          <p:cNvSpPr/>
          <p:nvPr/>
        </p:nvSpPr>
        <p:spPr>
          <a:xfrm>
            <a:off x="8915400" y="1783080"/>
            <a:ext cx="2606040" cy="2331720"/>
          </a:xfrm>
          <a:prstGeom prst="roundRect">
            <a:avLst>
              <a:gd name="adj" fmla="val 3137"/>
            </a:avLst>
          </a:prstGeom>
          <a:solidFill>
            <a:srgbClr val="F2F6FB"/>
          </a:solidFill>
          <a:ln w="12700">
            <a:solidFill>
              <a:srgbClr val="F2F6FB"/>
            </a:solidFill>
            <a:prstDash val="solid"/>
          </a:ln>
        </p:spPr>
      </p:sp>
      <p:sp>
        <p:nvSpPr>
          <p:cNvPr id="15" name="Text 12"/>
          <p:cNvSpPr txBox="1"/>
          <p:nvPr/>
        </p:nvSpPr>
        <p:spPr>
          <a:xfrm>
            <a:off x="9052560" y="1856232"/>
            <a:ext cx="2331720" cy="1049274"/>
          </a:xfrm>
          <a:prstGeom prst="rect">
            <a:avLst/>
          </a:prstGeom>
          <a:noFill/>
          <a:ln/>
        </p:spPr>
        <p:txBody>
          <a:bodyPr wrap="square" lIns="0" tIns="0" rIns="0" bIns="0" rtlCol="0" anchor="ctr"/>
          <a:lstStyle/>
          <a:p>
            <a:pPr indent="0" marL="0">
              <a:buNone/>
            </a:pPr>
            <a:r>
              <a:rPr lang="en-US" sz="4000" b="1" dirty="0">
                <a:solidFill>
                  <a:srgbClr val="1BAF7A"/>
                </a:solidFill>
                <a:latin typeface="Cambria" pitchFamily="34" charset="0"/>
                <a:ea typeface="Cambria" pitchFamily="34" charset="-122"/>
                <a:cs typeface="Cambria" pitchFamily="34" charset="-120"/>
              </a:rPr>
              <a:t>+$1.3M</a:t>
            </a:r>
            <a:endParaRPr lang="en-US" sz="4000" dirty="0"/>
          </a:p>
        </p:txBody>
      </p:sp>
      <p:sp>
        <p:nvSpPr>
          <p:cNvPr id="16" name="Text 13"/>
          <p:cNvSpPr txBox="1"/>
          <p:nvPr/>
        </p:nvSpPr>
        <p:spPr>
          <a:xfrm>
            <a:off x="905256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extra profit in 26 weeks from stock-aware pricing (range $1.2M to $1.3M)</a:t>
            </a:r>
            <a:endParaRPr lang="en-US" sz="1300" dirty="0"/>
          </a:p>
        </p:txBody>
      </p:sp>
      <p:sp>
        <p:nvSpPr>
          <p:cNvPr id="17" name="Text 14"/>
          <p:cNvSpPr txBox="1"/>
          <p:nvPr/>
        </p:nvSpPr>
        <p:spPr>
          <a:xfrm>
            <a:off x="548640" y="4434840"/>
            <a:ext cx="11064240" cy="1737360"/>
          </a:xfrm>
          <a:prstGeom prst="rect">
            <a:avLst/>
          </a:prstGeom>
          <a:noFill/>
          <a:ln/>
        </p:spPr>
        <p:txBody>
          <a:bodyPr wrap="square" lIns="0" tIns="0" rIns="0" bIns="0" rtlCol="0" anchor="t"/>
          <a:lstStyle/>
          <a:p>
            <a:pPr marL="203200" indent="-203200">
              <a:spcAft>
                <a:spcPts val="800"/>
              </a:spcAft>
              <a:buSzPct val="100000"/>
              <a:buChar char="•"/>
            </a:pPr>
            <a:r>
              <a:rPr lang="en-US" sz="1700" b="1" dirty="0">
                <a:solidFill>
                  <a:srgbClr val="1B2A41"/>
                </a:solidFill>
              </a:rPr>
              <a:t>What it means: </a:t>
            </a:r>
            <a:pPr indent="0" marL="0">
              <a:spcAft>
                <a:spcPts val="800"/>
              </a:spcAft>
              <a:buNone/>
            </a:pPr>
            <a:r>
              <a:rPr lang="en-US" sz="1700" dirty="0">
                <a:solidFill>
                  <a:srgbClr val="1B2A41"/>
                </a:solidFill>
              </a:rPr>
              <a:t>customers want more than we can serve, so the money is in stock planning first and pricing second.</a:t>
            </a:r>
            <a:endParaRPr lang="en-US" sz="1700" dirty="0"/>
          </a:p>
          <a:p>
            <a:pPr marL="203200" indent="-203200">
              <a:spcAft>
                <a:spcPts val="800"/>
              </a:spcAft>
              <a:buSzPct val="100000"/>
              <a:buChar char="•"/>
            </a:pPr>
            <a:r>
              <a:rPr lang="en-US" sz="1700" b="1" dirty="0">
                <a:solidFill>
                  <a:srgbClr val="1B2A41"/>
                </a:solidFill>
              </a:rPr>
              <a:t>What we built: </a:t>
            </a:r>
            <a:pPr indent="0" marL="0">
              <a:spcAft>
                <a:spcPts val="800"/>
              </a:spcAft>
              <a:buNone/>
            </a:pPr>
            <a:r>
              <a:rPr lang="en-US" sz="1700" dirty="0">
                <a:solidFill>
                  <a:srgbClr val="1B2A41"/>
                </a:solidFill>
              </a:rPr>
              <a:t>a clean database, a forecast engine, a manager dashboard with alerts, and a rule-based pricing framework with safety limits.</a:t>
            </a:r>
            <a:endParaRPr lang="en-US" sz="1700" dirty="0"/>
          </a:p>
          <a:p>
            <a:pPr marL="203200" indent="-203200">
              <a:spcAft>
                <a:spcPts val="800"/>
              </a:spcAft>
              <a:buSzPct val="100000"/>
              <a:buChar char="•"/>
            </a:pPr>
            <a:r>
              <a:rPr lang="en-US" sz="1700" b="1" dirty="0">
                <a:solidFill>
                  <a:srgbClr val="1B2A41"/>
                </a:solidFill>
              </a:rPr>
              <a:t>What we ask: </a:t>
            </a:r>
            <a:pPr indent="0" marL="0">
              <a:spcAft>
                <a:spcPts val="800"/>
              </a:spcAft>
              <a:buNone/>
            </a:pPr>
            <a:r>
              <a:rPr lang="en-US" sz="1700" dirty="0">
                <a:solidFill>
                  <a:srgbClr val="1B2A41"/>
                </a:solidFill>
              </a:rPr>
              <a:t>stop buying the five over-stocked products, raise cover for the lean ones, and run a short pricing pilot before roll-out.</a:t>
            </a:r>
            <a:endParaRPr lang="en-US" sz="17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Clean, trustworthy data in a star schema</a:t>
            </a:r>
            <a:endParaRPr lang="en-US" sz="3000" dirty="0"/>
          </a:p>
        </p:txBody>
      </p:sp>
      <p:graphicFrame>
        <p:nvGraphicFramePr>
          <p:cNvPr id="5" name="Chart 0" descr=""/>
          <p:cNvGraphicFramePr/>
          <p:nvPr/>
        </p:nvGraphicFramePr>
        <p:xfrm>
          <a:off x="548640" y="1645920"/>
          <a:ext cx="6492240" cy="452628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7315200" y="1691640"/>
            <a:ext cx="2103120" cy="1325880"/>
          </a:xfrm>
          <a:prstGeom prst="roundRect">
            <a:avLst>
              <a:gd name="adj" fmla="val 5517"/>
            </a:avLst>
          </a:prstGeom>
          <a:solidFill>
            <a:srgbClr val="F2F6FB"/>
          </a:solidFill>
          <a:ln w="12700">
            <a:solidFill>
              <a:srgbClr val="F2F6FB"/>
            </a:solidFill>
            <a:prstDash val="solid"/>
          </a:ln>
        </p:spPr>
      </p:sp>
      <p:sp>
        <p:nvSpPr>
          <p:cNvPr id="7" name="Text 3"/>
          <p:cNvSpPr txBox="1"/>
          <p:nvPr/>
        </p:nvSpPr>
        <p:spPr>
          <a:xfrm>
            <a:off x="7452360" y="1764792"/>
            <a:ext cx="1828800" cy="596646"/>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7,800</a:t>
            </a:r>
            <a:endParaRPr lang="en-US" sz="3200" dirty="0"/>
          </a:p>
        </p:txBody>
      </p:sp>
      <p:sp>
        <p:nvSpPr>
          <p:cNvPr id="8" name="Text 4"/>
          <p:cNvSpPr txBox="1"/>
          <p:nvPr/>
        </p:nvSpPr>
        <p:spPr>
          <a:xfrm>
            <a:off x="7452360" y="2381098"/>
            <a:ext cx="1828800" cy="609905"/>
          </a:xfrm>
          <a:prstGeom prst="rect">
            <a:avLst/>
          </a:prstGeom>
          <a:noFill/>
          <a:ln/>
        </p:spPr>
        <p:txBody>
          <a:bodyPr wrap="square" lIns="0" tIns="0" rIns="0" bIns="0" rtlCol="0" anchor="t"/>
          <a:lstStyle/>
          <a:p>
            <a:pPr indent="0" marL="0">
              <a:buNone/>
            </a:pPr>
            <a:r>
              <a:rPr lang="en-US" sz="1300" dirty="0">
                <a:solidFill>
                  <a:srgbClr val="5B6B80"/>
                </a:solidFill>
              </a:rPr>
              <a:t>unique product-weeks (7,839 raw rows)</a:t>
            </a:r>
            <a:endParaRPr lang="en-US" sz="1300" dirty="0"/>
          </a:p>
        </p:txBody>
      </p:sp>
      <p:sp>
        <p:nvSpPr>
          <p:cNvPr id="9" name="Stat card"/>
          <p:cNvSpPr/>
          <p:nvPr/>
        </p:nvSpPr>
        <p:spPr>
          <a:xfrm>
            <a:off x="9555480" y="1691640"/>
            <a:ext cx="2057400" cy="1325880"/>
          </a:xfrm>
          <a:prstGeom prst="roundRect">
            <a:avLst>
              <a:gd name="adj" fmla="val 5517"/>
            </a:avLst>
          </a:prstGeom>
          <a:solidFill>
            <a:srgbClr val="F2F6FB"/>
          </a:solidFill>
          <a:ln w="12700">
            <a:solidFill>
              <a:srgbClr val="F2F6FB"/>
            </a:solidFill>
            <a:prstDash val="solid"/>
          </a:ln>
        </p:spPr>
      </p:sp>
      <p:sp>
        <p:nvSpPr>
          <p:cNvPr id="10" name="Text 6"/>
          <p:cNvSpPr txBox="1"/>
          <p:nvPr/>
        </p:nvSpPr>
        <p:spPr>
          <a:xfrm>
            <a:off x="9692640" y="1764792"/>
            <a:ext cx="1783080" cy="596646"/>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39 / 16</a:t>
            </a:r>
            <a:endParaRPr lang="en-US" sz="2800" dirty="0"/>
          </a:p>
        </p:txBody>
      </p:sp>
      <p:sp>
        <p:nvSpPr>
          <p:cNvPr id="11" name="Text 7"/>
          <p:cNvSpPr txBox="1"/>
          <p:nvPr/>
        </p:nvSpPr>
        <p:spPr>
          <a:xfrm>
            <a:off x="9692640" y="2381098"/>
            <a:ext cx="1783080" cy="609905"/>
          </a:xfrm>
          <a:prstGeom prst="rect">
            <a:avLst/>
          </a:prstGeom>
          <a:noFill/>
          <a:ln/>
        </p:spPr>
        <p:txBody>
          <a:bodyPr wrap="square" lIns="0" tIns="0" rIns="0" bIns="0" rtlCol="0" anchor="t"/>
          <a:lstStyle/>
          <a:p>
            <a:pPr indent="0" marL="0">
              <a:buNone/>
            </a:pPr>
            <a:r>
              <a:rPr lang="en-US" sz="1300" dirty="0">
                <a:solidFill>
                  <a:srgbClr val="5B6B80"/>
                </a:solidFill>
              </a:rPr>
              <a:t>duplicates dropped / missing sales recovered</a:t>
            </a:r>
            <a:endParaRPr lang="en-US" sz="1300" dirty="0"/>
          </a:p>
        </p:txBody>
      </p:sp>
      <p:sp>
        <p:nvSpPr>
          <p:cNvPr id="12" name="Text 8"/>
          <p:cNvSpPr txBox="1"/>
          <p:nvPr/>
        </p:nvSpPr>
        <p:spPr>
          <a:xfrm>
            <a:off x="7315200" y="3246120"/>
            <a:ext cx="4297680" cy="292608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rgbClr val="1B2A41"/>
                </a:solidFill>
              </a:rPr>
              <a:t>Pipeline: </a:t>
            </a:r>
            <a:pPr indent="0" marL="0">
              <a:spcAft>
                <a:spcPts val="800"/>
              </a:spcAft>
              <a:buNone/>
            </a:pPr>
            <a:r>
              <a:rPr lang="en-US" sz="1500" dirty="0">
                <a:solidFill>
                  <a:srgbClr val="1B2A41"/>
                </a:solidFill>
              </a:rPr>
              <a:t>extract, validate (bad rows to quarantine), de-duplicate, recover, flag, recompute KPIs.</a:t>
            </a:r>
            <a:endParaRPr lang="en-US" sz="1500" dirty="0"/>
          </a:p>
          <a:p>
            <a:pPr marL="203200" indent="-203200">
              <a:spcAft>
                <a:spcPts val="800"/>
              </a:spcAft>
              <a:buSzPct val="100000"/>
              <a:buChar char="•"/>
            </a:pPr>
            <a:r>
              <a:rPr lang="en-US" sz="1500" b="1" dirty="0">
                <a:solidFill>
                  <a:srgbClr val="1B2A41"/>
                </a:solidFill>
              </a:rPr>
              <a:t>Database: </a:t>
            </a:r>
            <a:pPr indent="0" marL="0">
              <a:spcAft>
                <a:spcPts val="800"/>
              </a:spcAft>
              <a:buNone/>
            </a:pPr>
            <a:r>
              <a:rPr lang="en-US" sz="1500" dirty="0">
                <a:solidFill>
                  <a:srgbClr val="1B2A41"/>
                </a:solidFill>
              </a:rPr>
              <a:t>SQLite star schema (product, date, weekly sales) loaded in one transaction.</a:t>
            </a:r>
            <a:endParaRPr lang="en-US" sz="1500" dirty="0"/>
          </a:p>
          <a:p>
            <a:pPr marL="203200" indent="-203200">
              <a:spcAft>
                <a:spcPts val="800"/>
              </a:spcAft>
              <a:buSzPct val="100000"/>
              <a:buChar char="•"/>
            </a:pPr>
            <a:r>
              <a:rPr lang="en-US" sz="1500" b="1" dirty="0">
                <a:solidFill>
                  <a:srgbClr val="1B2A41"/>
                </a:solidFill>
              </a:rPr>
              <a:t>Proof: </a:t>
            </a:r>
            <a:pPr indent="0" marL="0">
              <a:spcAft>
                <a:spcPts val="800"/>
              </a:spcAft>
              <a:buNone/>
            </a:pPr>
            <a:r>
              <a:rPr lang="en-US" sz="1500" dirty="0">
                <a:solidFill>
                  <a:srgbClr val="1B2A41"/>
                </a:solidFill>
              </a:rPr>
              <a:t>15 exception tests and 100% formula reproduction pass.</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KEY DISCOVERY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Stock caps sales, so sales understate demand</a:t>
            </a:r>
            <a:endParaRPr lang="en-US" sz="3000" dirty="0"/>
          </a:p>
        </p:txBody>
      </p:sp>
      <p:pic>
        <p:nvPicPr>
          <p:cNvPr id="5" name="Inventory timing figure" descr="/home/user/Technical_Assessment_HamidrezaNademi/part1_etl_pipeline_v1.2/figures/inventory_timing_v1.2.png">    </p:cNvPr>
          <p:cNvPicPr>
            <a:picLocks noChangeAspect="1"/>
          </p:cNvPicPr>
          <p:nvPr/>
        </p:nvPicPr>
        <p:blipFill>
          <a:blip r:embed="rId1"/>
          <a:stretch>
            <a:fillRect/>
          </a:stretch>
        </p:blipFill>
        <p:spPr>
          <a:xfrm>
            <a:off x="548640" y="1691640"/>
            <a:ext cx="5760720" cy="2880360"/>
          </a:xfrm>
          <a:prstGeom prst="rect">
            <a:avLst/>
          </a:prstGeom>
        </p:spPr>
      </p:pic>
      <p:sp>
        <p:nvSpPr>
          <p:cNvPr id="6" name="Stat card"/>
          <p:cNvSpPr/>
          <p:nvPr/>
        </p:nvSpPr>
        <p:spPr>
          <a:xfrm>
            <a:off x="6583680" y="1691640"/>
            <a:ext cx="1600200" cy="1463040"/>
          </a:xfrm>
          <a:prstGeom prst="roundRect">
            <a:avLst>
              <a:gd name="adj" fmla="val 5000"/>
            </a:avLst>
          </a:prstGeom>
          <a:solidFill>
            <a:srgbClr val="F2F6FB"/>
          </a:solidFill>
          <a:ln w="12700">
            <a:solidFill>
              <a:srgbClr val="F2F6FB"/>
            </a:solidFill>
            <a:prstDash val="solid"/>
          </a:ln>
        </p:spPr>
      </p:sp>
      <p:sp>
        <p:nvSpPr>
          <p:cNvPr id="7" name="Text 3"/>
          <p:cNvSpPr txBox="1"/>
          <p:nvPr/>
        </p:nvSpPr>
        <p:spPr>
          <a:xfrm>
            <a:off x="6720840" y="1764792"/>
            <a:ext cx="1325880" cy="658368"/>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8" name="Text 4"/>
          <p:cNvSpPr txBox="1"/>
          <p:nvPr/>
        </p:nvSpPr>
        <p:spPr>
          <a:xfrm>
            <a:off x="6720840" y="2452421"/>
            <a:ext cx="1325880" cy="672998"/>
          </a:xfrm>
          <a:prstGeom prst="rect">
            <a:avLst/>
          </a:prstGeom>
          <a:noFill/>
          <a:ln/>
        </p:spPr>
        <p:txBody>
          <a:bodyPr wrap="square" lIns="0" tIns="0" rIns="0" bIns="0" rtlCol="0" anchor="t"/>
          <a:lstStyle/>
          <a:p>
            <a:pPr indent="0" marL="0">
              <a:buNone/>
            </a:pPr>
            <a:r>
              <a:rPr lang="en-US" sz="1300" dirty="0">
                <a:solidFill>
                  <a:srgbClr val="5B6B80"/>
                </a:solidFill>
              </a:rPr>
              <a:t>sales vs last week's stock (correlation)</a:t>
            </a:r>
            <a:endParaRPr lang="en-US" sz="1300" dirty="0"/>
          </a:p>
        </p:txBody>
      </p:sp>
      <p:sp>
        <p:nvSpPr>
          <p:cNvPr id="9" name="Stat card"/>
          <p:cNvSpPr/>
          <p:nvPr/>
        </p:nvSpPr>
        <p:spPr>
          <a:xfrm>
            <a:off x="8275320" y="1691640"/>
            <a:ext cx="1600200" cy="1463040"/>
          </a:xfrm>
          <a:prstGeom prst="roundRect">
            <a:avLst>
              <a:gd name="adj" fmla="val 5000"/>
            </a:avLst>
          </a:prstGeom>
          <a:solidFill>
            <a:srgbClr val="F2F6FB"/>
          </a:solidFill>
          <a:ln w="12700">
            <a:solidFill>
              <a:srgbClr val="F2F6FB"/>
            </a:solidFill>
            <a:prstDash val="solid"/>
          </a:ln>
        </p:spPr>
      </p:sp>
      <p:sp>
        <p:nvSpPr>
          <p:cNvPr id="10" name="Text 6"/>
          <p:cNvSpPr txBox="1"/>
          <p:nvPr/>
        </p:nvSpPr>
        <p:spPr>
          <a:xfrm>
            <a:off x="8412480" y="1764792"/>
            <a:ext cx="1325880" cy="658368"/>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1" name="Text 7"/>
          <p:cNvSpPr txBox="1"/>
          <p:nvPr/>
        </p:nvSpPr>
        <p:spPr>
          <a:xfrm>
            <a:off x="8412480" y="2452421"/>
            <a:ext cx="1325880" cy="672998"/>
          </a:xfrm>
          <a:prstGeom prst="rect">
            <a:avLst/>
          </a:prstGeom>
          <a:noFill/>
          <a:ln/>
        </p:spPr>
        <p:txBody>
          <a:bodyPr wrap="square" lIns="0" tIns="0" rIns="0" bIns="0" rtlCol="0" anchor="t"/>
          <a:lstStyle/>
          <a:p>
            <a:pPr indent="0" marL="0">
              <a:buNone/>
            </a:pPr>
            <a:r>
              <a:rPr lang="en-US" sz="1300" dirty="0">
                <a:solidFill>
                  <a:srgbClr val="5B6B80"/>
                </a:solidFill>
              </a:rPr>
              <a:t>stock-out weeks, all zero sales</a:t>
            </a:r>
            <a:endParaRPr lang="en-US" sz="1300" dirty="0"/>
          </a:p>
        </p:txBody>
      </p:sp>
      <p:sp>
        <p:nvSpPr>
          <p:cNvPr id="12" name="Stat card"/>
          <p:cNvSpPr/>
          <p:nvPr/>
        </p:nvSpPr>
        <p:spPr>
          <a:xfrm>
            <a:off x="9966960" y="1691640"/>
            <a:ext cx="1645920" cy="1463040"/>
          </a:xfrm>
          <a:prstGeom prst="roundRect">
            <a:avLst>
              <a:gd name="adj" fmla="val 5000"/>
            </a:avLst>
          </a:prstGeom>
          <a:solidFill>
            <a:srgbClr val="F2F6FB"/>
          </a:solidFill>
          <a:ln w="12700">
            <a:solidFill>
              <a:srgbClr val="F2F6FB"/>
            </a:solidFill>
            <a:prstDash val="solid"/>
          </a:ln>
        </p:spPr>
      </p:sp>
      <p:sp>
        <p:nvSpPr>
          <p:cNvPr id="13" name="Text 9"/>
          <p:cNvSpPr txBox="1"/>
          <p:nvPr/>
        </p:nvSpPr>
        <p:spPr>
          <a:xfrm>
            <a:off x="10104120" y="1764792"/>
            <a:ext cx="1371600" cy="658368"/>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53%</a:t>
            </a:r>
            <a:endParaRPr lang="en-US" sz="2800" dirty="0"/>
          </a:p>
        </p:txBody>
      </p:sp>
      <p:sp>
        <p:nvSpPr>
          <p:cNvPr id="14" name="Text 10"/>
          <p:cNvSpPr txBox="1"/>
          <p:nvPr/>
        </p:nvSpPr>
        <p:spPr>
          <a:xfrm>
            <a:off x="10104120" y="2452421"/>
            <a:ext cx="1371600" cy="672998"/>
          </a:xfrm>
          <a:prstGeom prst="rect">
            <a:avLst/>
          </a:prstGeom>
          <a:noFill/>
          <a:ln/>
        </p:spPr>
        <p:txBody>
          <a:bodyPr wrap="square" lIns="0" tIns="0" rIns="0" bIns="0" rtlCol="0" anchor="t"/>
          <a:lstStyle/>
          <a:p>
            <a:pPr indent="0" marL="0">
              <a:buNone/>
            </a:pPr>
            <a:r>
              <a:rPr lang="en-US" sz="1300" dirty="0">
                <a:solidFill>
                  <a:srgbClr val="5B6B80"/>
                </a:solidFill>
              </a:rPr>
              <a:t>of weeks capped by stock</a:t>
            </a:r>
            <a:endParaRPr lang="en-US" sz="1300" dirty="0"/>
          </a:p>
        </p:txBody>
      </p:sp>
      <p:sp>
        <p:nvSpPr>
          <p:cNvPr id="15" name="Text 11"/>
          <p:cNvSpPr txBox="1"/>
          <p:nvPr/>
        </p:nvSpPr>
        <p:spPr>
          <a:xfrm>
            <a:off x="6583680" y="3291840"/>
            <a:ext cx="5029200" cy="14173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2A41"/>
                </a:solidFill>
              </a:rPr>
              <a:t>Zero stock always means zero sales; 2,813 more weeks sell exactly the stock.</a:t>
            </a:r>
            <a:endParaRPr lang="en-US" sz="1400" dirty="0"/>
          </a:p>
          <a:p>
            <a:pPr marL="203200" indent="-203200">
              <a:spcAft>
                <a:spcPts val="800"/>
              </a:spcAft>
              <a:buSzPct val="100000"/>
              <a:buChar char="•"/>
            </a:pPr>
            <a:r>
              <a:rPr lang="en-US" sz="1400" dirty="0">
                <a:solidFill>
                  <a:srgbClr val="1B2A41"/>
                </a:solidFill>
              </a:rPr>
              <a:t>So sales = min(demand, stock): they understate what customers wanted.</a:t>
            </a:r>
            <a:endParaRPr lang="en-US" sz="1400" dirty="0"/>
          </a:p>
          <a:p>
            <a:pPr marL="203200" indent="-203200">
              <a:spcAft>
                <a:spcPts val="800"/>
              </a:spcAft>
              <a:buSzPct val="100000"/>
              <a:buChar char="•"/>
            </a:pPr>
            <a:r>
              <a:rPr lang="en-US" sz="1400" dirty="0">
                <a:solidFill>
                  <a:srgbClr val="1B2A41"/>
                </a:solidFill>
              </a:rPr>
              <a:t>Later steps rely on this: forecast demand, lost sales, pricing.</a:t>
            </a:r>
            <a:endParaRPr lang="en-US" sz="1400" dirty="0"/>
          </a:p>
        </p:txBody>
      </p:sp>
      <p:sp>
        <p:nvSpPr>
          <p:cNvPr id="16" name="Callout"/>
          <p:cNvSpPr/>
          <p:nvPr/>
        </p:nvSpPr>
        <p:spPr>
          <a:xfrm>
            <a:off x="548640" y="4846320"/>
            <a:ext cx="11064240" cy="1417320"/>
          </a:xfrm>
          <a:prstGeom prst="roundRect">
            <a:avLst>
              <a:gd name="adj" fmla="val 5161"/>
            </a:avLst>
          </a:prstGeom>
          <a:solidFill>
            <a:srgbClr val="F2F6FB"/>
          </a:solidFill>
          <a:ln w="12700">
            <a:solidFill>
              <a:srgbClr val="D9E1EC"/>
            </a:solidFill>
            <a:prstDash val="solid"/>
          </a:ln>
        </p:spPr>
      </p:sp>
      <p:sp>
        <p:nvSpPr>
          <p:cNvPr id="17" name="Text 13"/>
          <p:cNvSpPr txBox="1"/>
          <p:nvPr/>
        </p:nvSpPr>
        <p:spPr>
          <a:xfrm>
            <a:off x="731520" y="495604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Assumptions made, and why</a:t>
            </a:r>
            <a:endParaRPr lang="en-US" sz="1400" dirty="0"/>
          </a:p>
        </p:txBody>
      </p:sp>
      <p:sp>
        <p:nvSpPr>
          <p:cNvPr id="18" name="Text 14"/>
          <p:cNvSpPr txBox="1"/>
          <p:nvPr/>
        </p:nvSpPr>
        <p:spPr>
          <a:xfrm>
            <a:off x="731520" y="5303520"/>
            <a:ext cx="10698480" cy="8686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Synthetic calendar (week 1 = 6 Jan 2020): the file has week numbers only; seasonal findings are relative to it.</a:t>
            </a:r>
            <a:endParaRPr lang="en-US" sz="1400" dirty="0"/>
          </a:p>
          <a:p>
            <a:pPr marL="177800" indent="-177800">
              <a:spcAft>
                <a:spcPts val="500"/>
              </a:spcAft>
              <a:buSzPct val="100000"/>
              <a:buChar char="•"/>
            </a:pPr>
            <a:r>
              <a:rPr lang="en-US" sz="1400" dirty="0">
                <a:solidFill>
                  <a:srgbClr val="1B2A41"/>
                </a:solidFill>
              </a:rPr>
              <a:t>Odd values are flagged, never deleted: pile-ups and zero weeks are signals of stock limits, not errors.</a:t>
            </a:r>
            <a:endParaRPr lang="en-US" sz="1400" dirty="0"/>
          </a:p>
          <a:p>
            <a:pPr marL="177800" indent="-177800">
              <a:spcAft>
                <a:spcPts val="500"/>
              </a:spcAft>
              <a:buSzPct val="100000"/>
              <a:buChar char="•"/>
            </a:pPr>
            <a:r>
              <a:rPr lang="en-US" sz="1400" dirty="0">
                <a:solidFill>
                  <a:srgbClr val="1B2A41"/>
                </a:solidFill>
              </a:rPr>
              <a:t>Inventory read as the previous row's stock: verified, zero violations after the realignment.</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FORECASTING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We forecast demand, not sales</a:t>
            </a:r>
            <a:endParaRPr lang="en-US" sz="3000" dirty="0"/>
          </a:p>
        </p:txBody>
      </p:sp>
      <p:graphicFrame>
        <p:nvGraphicFramePr>
          <p:cNvPr id="5" name="Chart 0" descr=""/>
          <p:cNvGraphicFramePr/>
          <p:nvPr/>
        </p:nvGraphicFramePr>
        <p:xfrm>
          <a:off x="548640" y="1645920"/>
          <a:ext cx="4206240" cy="38404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029200" y="1691640"/>
            <a:ext cx="6583680" cy="868680"/>
          </a:xfrm>
          <a:prstGeom prst="rect">
            <a:avLst/>
          </a:prstGeom>
          <a:noFill/>
          <a:ln/>
        </p:spPr>
        <p:txBody>
          <a:bodyPr wrap="square" lIns="0" tIns="0" rIns="0" bIns="0" rtlCol="0" anchor="t"/>
          <a:lstStyle/>
          <a:p>
            <a:pPr indent="0" marL="0">
              <a:buNone/>
            </a:pPr>
            <a:r>
              <a:rPr lang="en-US" sz="1600" b="1" dirty="0">
                <a:solidFill>
                  <a:schemeClr val="tx1"/>
                </a:solidFill>
              </a:rPr>
              <a:t>Demand = observed sales when stock did not bind; otherwise the larger of sales and a 40/60 blend of the old forecast and a seasonal model.</a:t>
            </a:r>
            <a:endParaRPr lang="en-US" sz="1600" dirty="0"/>
          </a:p>
        </p:txBody>
      </p:sp>
      <p:sp>
        <p:nvSpPr>
          <p:cNvPr id="7" name="Stat card"/>
          <p:cNvSpPr/>
          <p:nvPr/>
        </p:nvSpPr>
        <p:spPr>
          <a:xfrm>
            <a:off x="5029200" y="2651760"/>
            <a:ext cx="2103120" cy="1371600"/>
          </a:xfrm>
          <a:prstGeom prst="roundRect">
            <a:avLst>
              <a:gd name="adj" fmla="val 5333"/>
            </a:avLst>
          </a:prstGeom>
          <a:solidFill>
            <a:srgbClr val="F2F6FB"/>
          </a:solidFill>
          <a:ln w="12700">
            <a:solidFill>
              <a:srgbClr val="F2F6FB"/>
            </a:solidFill>
            <a:prstDash val="solid"/>
          </a:ln>
        </p:spPr>
      </p:sp>
      <p:sp>
        <p:nvSpPr>
          <p:cNvPr id="8" name="Text 4"/>
          <p:cNvSpPr txBox="1"/>
          <p:nvPr/>
        </p:nvSpPr>
        <p:spPr>
          <a:xfrm>
            <a:off x="5166360" y="2724912"/>
            <a:ext cx="1828800" cy="617220"/>
          </a:xfrm>
          <a:prstGeom prst="rect">
            <a:avLst/>
          </a:prstGeom>
          <a:noFill/>
          <a:ln/>
        </p:spPr>
        <p:txBody>
          <a:bodyPr wrap="square" lIns="0" tIns="0" rIns="0" bIns="0" rtlCol="0" anchor="ctr"/>
          <a:lstStyle/>
          <a:p>
            <a:pPr indent="0" marL="0">
              <a:buNone/>
            </a:pPr>
            <a:r>
              <a:rPr lang="en-US" sz="3200" b="1" dirty="0">
                <a:solidFill>
                  <a:srgbClr val="1BAF7A"/>
                </a:solidFill>
                <a:latin typeface="Cambria" pitchFamily="34" charset="0"/>
                <a:ea typeface="Cambria" pitchFamily="34" charset="-122"/>
                <a:cs typeface="Cambria" pitchFamily="34" charset="-120"/>
              </a:rPr>
              <a:t>5.0%</a:t>
            </a:r>
            <a:endParaRPr lang="en-US" sz="3200" dirty="0"/>
          </a:p>
        </p:txBody>
      </p:sp>
      <p:sp>
        <p:nvSpPr>
          <p:cNvPr id="9" name="Text 5"/>
          <p:cNvSpPr txBox="1"/>
          <p:nvPr/>
        </p:nvSpPr>
        <p:spPr>
          <a:xfrm>
            <a:off x="5166360" y="3364992"/>
            <a:ext cx="1828800" cy="630936"/>
          </a:xfrm>
          <a:prstGeom prst="rect">
            <a:avLst/>
          </a:prstGeom>
          <a:noFill/>
          <a:ln/>
        </p:spPr>
        <p:txBody>
          <a:bodyPr wrap="square" lIns="0" tIns="0" rIns="0" bIns="0" rtlCol="0" anchor="t"/>
          <a:lstStyle/>
          <a:p>
            <a:pPr indent="0" marL="0">
              <a:buNone/>
            </a:pPr>
            <a:r>
              <a:rPr lang="en-US" sz="1300" dirty="0">
                <a:solidFill>
                  <a:srgbClr val="5B6B80"/>
                </a:solidFill>
              </a:rPr>
              <a:t>blend error (old forecast 7.9%)</a:t>
            </a:r>
            <a:endParaRPr lang="en-US" sz="1300" dirty="0"/>
          </a:p>
        </p:txBody>
      </p:sp>
      <p:sp>
        <p:nvSpPr>
          <p:cNvPr id="10" name="Stat card"/>
          <p:cNvSpPr/>
          <p:nvPr/>
        </p:nvSpPr>
        <p:spPr>
          <a:xfrm>
            <a:off x="7269480" y="2651760"/>
            <a:ext cx="2103120" cy="1371600"/>
          </a:xfrm>
          <a:prstGeom prst="roundRect">
            <a:avLst>
              <a:gd name="adj" fmla="val 5333"/>
            </a:avLst>
          </a:prstGeom>
          <a:solidFill>
            <a:srgbClr val="F2F6FB"/>
          </a:solidFill>
          <a:ln w="12700">
            <a:solidFill>
              <a:srgbClr val="F2F6FB"/>
            </a:solidFill>
            <a:prstDash val="solid"/>
          </a:ln>
        </p:spPr>
      </p:sp>
      <p:sp>
        <p:nvSpPr>
          <p:cNvPr id="11" name="Text 7"/>
          <p:cNvSpPr txBox="1"/>
          <p:nvPr/>
        </p:nvSpPr>
        <p:spPr>
          <a:xfrm>
            <a:off x="7406640" y="2724912"/>
            <a:ext cx="1828800" cy="617220"/>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39%</a:t>
            </a:r>
            <a:endParaRPr lang="en-US" sz="3200" dirty="0"/>
          </a:p>
        </p:txBody>
      </p:sp>
      <p:sp>
        <p:nvSpPr>
          <p:cNvPr id="12" name="Text 8"/>
          <p:cNvSpPr txBox="1"/>
          <p:nvPr/>
        </p:nvSpPr>
        <p:spPr>
          <a:xfrm>
            <a:off x="7406640" y="3364992"/>
            <a:ext cx="1828800" cy="630936"/>
          </a:xfrm>
          <a:prstGeom prst="rect">
            <a:avLst/>
          </a:prstGeom>
          <a:noFill/>
          <a:ln/>
        </p:spPr>
        <p:txBody>
          <a:bodyPr wrap="square" lIns="0" tIns="0" rIns="0" bIns="0" rtlCol="0" anchor="t"/>
          <a:lstStyle/>
          <a:p>
            <a:pPr indent="0" marL="0">
              <a:buNone/>
            </a:pPr>
            <a:r>
              <a:rPr lang="en-US" sz="1300" dirty="0">
                <a:solidFill>
                  <a:srgbClr val="5B6B80"/>
                </a:solidFill>
              </a:rPr>
              <a:t>of demand lost to stock limits</a:t>
            </a:r>
            <a:endParaRPr lang="en-US" sz="1300" dirty="0"/>
          </a:p>
        </p:txBody>
      </p:sp>
      <p:sp>
        <p:nvSpPr>
          <p:cNvPr id="13" name="Stat card"/>
          <p:cNvSpPr/>
          <p:nvPr/>
        </p:nvSpPr>
        <p:spPr>
          <a:xfrm>
            <a:off x="9509760" y="2651760"/>
            <a:ext cx="2103120" cy="1371600"/>
          </a:xfrm>
          <a:prstGeom prst="roundRect">
            <a:avLst>
              <a:gd name="adj" fmla="val 5333"/>
            </a:avLst>
          </a:prstGeom>
          <a:solidFill>
            <a:srgbClr val="F2F6FB"/>
          </a:solidFill>
          <a:ln w="12700">
            <a:solidFill>
              <a:srgbClr val="F2F6FB"/>
            </a:solidFill>
            <a:prstDash val="solid"/>
          </a:ln>
        </p:spPr>
      </p:sp>
      <p:sp>
        <p:nvSpPr>
          <p:cNvPr id="14" name="Text 10"/>
          <p:cNvSpPr txBox="1"/>
          <p:nvPr/>
        </p:nvSpPr>
        <p:spPr>
          <a:xfrm>
            <a:off x="9646920" y="2724912"/>
            <a:ext cx="1828800" cy="617220"/>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0.97</a:t>
            </a:r>
            <a:endParaRPr lang="en-US" sz="3200" dirty="0"/>
          </a:p>
        </p:txBody>
      </p:sp>
      <p:sp>
        <p:nvSpPr>
          <p:cNvPr id="15" name="Text 11"/>
          <p:cNvSpPr txBox="1"/>
          <p:nvPr/>
        </p:nvSpPr>
        <p:spPr>
          <a:xfrm>
            <a:off x="9646920" y="3364992"/>
            <a:ext cx="1828800" cy="630936"/>
          </a:xfrm>
          <a:prstGeom prst="rect">
            <a:avLst/>
          </a:prstGeom>
          <a:noFill/>
          <a:ln/>
        </p:spPr>
        <p:txBody>
          <a:bodyPr wrap="square" lIns="0" tIns="0" rIns="0" bIns="0" rtlCol="0" anchor="t"/>
          <a:lstStyle/>
          <a:p>
            <a:pPr indent="0" marL="0">
              <a:buNone/>
            </a:pPr>
            <a:r>
              <a:rPr lang="en-US" sz="1300" dirty="0">
                <a:solidFill>
                  <a:srgbClr val="5B6B80"/>
                </a:solidFill>
              </a:rPr>
              <a:t>old forecast vs truth, clean weeks</a:t>
            </a:r>
            <a:endParaRPr lang="en-US" sz="1300" dirty="0"/>
          </a:p>
        </p:txBody>
      </p:sp>
      <p:sp>
        <p:nvSpPr>
          <p:cNvPr id="16" name="Callout"/>
          <p:cNvSpPr/>
          <p:nvPr/>
        </p:nvSpPr>
        <p:spPr>
          <a:xfrm>
            <a:off x="5029200" y="4206240"/>
            <a:ext cx="6583680" cy="2103120"/>
          </a:xfrm>
          <a:prstGeom prst="roundRect">
            <a:avLst>
              <a:gd name="adj" fmla="val 3478"/>
            </a:avLst>
          </a:prstGeom>
          <a:solidFill>
            <a:srgbClr val="F2F6FB"/>
          </a:solidFill>
          <a:ln w="12700">
            <a:solidFill>
              <a:srgbClr val="D9E1EC"/>
            </a:solidFill>
            <a:prstDash val="solid"/>
          </a:ln>
        </p:spPr>
      </p:sp>
      <p:sp>
        <p:nvSpPr>
          <p:cNvPr id="17" name="Text 13"/>
          <p:cNvSpPr txBox="1"/>
          <p:nvPr/>
        </p:nvSpPr>
        <p:spPr>
          <a:xfrm>
            <a:off x="5212080" y="4315968"/>
            <a:ext cx="6217920" cy="292608"/>
          </a:xfrm>
          <a:prstGeom prst="rect">
            <a:avLst/>
          </a:prstGeom>
          <a:noFill/>
          <a:ln/>
        </p:spPr>
        <p:txBody>
          <a:bodyPr wrap="square" lIns="0" tIns="0" rIns="0" bIns="0" rtlCol="0" anchor="ctr"/>
          <a:lstStyle/>
          <a:p>
            <a:pPr indent="0" marL="0">
              <a:buNone/>
            </a:pPr>
            <a:r>
              <a:rPr lang="en-US" sz="1400" b="1" dirty="0">
                <a:solidFill>
                  <a:schemeClr val="accent1"/>
                </a:solidFill>
              </a:rPr>
              <a:t>Assumptions made, and why</a:t>
            </a:r>
            <a:endParaRPr lang="en-US" sz="1400" dirty="0"/>
          </a:p>
        </p:txBody>
      </p:sp>
      <p:sp>
        <p:nvSpPr>
          <p:cNvPr id="18" name="Text 14"/>
          <p:cNvSpPr txBox="1"/>
          <p:nvPr/>
        </p:nvSpPr>
        <p:spPr>
          <a:xfrm>
            <a:off x="5212080" y="4663440"/>
            <a:ext cx="621792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The old forecast is a usable noisy measure of demand: unbiased (-0.4%) where truth is known.</a:t>
            </a:r>
            <a:endParaRPr lang="en-US" sz="1400" dirty="0"/>
          </a:p>
          <a:p>
            <a:pPr marL="177800" indent="-177800">
              <a:spcAft>
                <a:spcPts val="500"/>
              </a:spcAft>
              <a:buSzPct val="100000"/>
              <a:buChar char="•"/>
            </a:pPr>
            <a:r>
              <a:rPr lang="en-US" sz="1400" dirty="0">
                <a:solidFill>
                  <a:srgbClr val="1B2A41"/>
                </a:solidFill>
              </a:rPr>
              <a:t>Blend weight 0.40 is learned from held-out data, not chosen by hand.</a:t>
            </a:r>
            <a:endParaRPr lang="en-US" sz="1400" dirty="0"/>
          </a:p>
          <a:p>
            <a:pPr marL="177800" indent="-177800">
              <a:spcAft>
                <a:spcPts val="500"/>
              </a:spcAft>
              <a:buSzPct val="100000"/>
              <a:buChar char="•"/>
            </a:pPr>
            <a:r>
              <a:rPr lang="en-US" sz="1400" dirty="0">
                <a:solidFill>
                  <a:srgbClr val="1B2A41"/>
                </a:solidFill>
              </a:rPr>
              <a:t>Rebuilt demand is smoother than reality in capped weeks, so accuracy is also reported on clean weeks.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FORECASTING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All 30 products share one seasonal rhythm</a:t>
            </a:r>
            <a:endParaRPr lang="en-US" sz="3000" dirty="0"/>
          </a:p>
        </p:txBody>
      </p:sp>
      <p:pic>
        <p:nvPicPr>
          <p:cNvPr id="5" name="Seasonal rhythm figure" descr="/home/user/Technical_Assessment_HamidrezaNademi/part2_forecasting_v1.2/figures/shared_seasonal_rhythm_v1.2.png">    </p:cNvPr>
          <p:cNvPicPr>
            <a:picLocks noChangeAspect="1"/>
          </p:cNvPicPr>
          <p:nvPr/>
        </p:nvPicPr>
        <p:blipFill>
          <a:blip r:embed="rId1"/>
          <a:stretch>
            <a:fillRect/>
          </a:stretch>
        </p:blipFill>
        <p:spPr>
          <a:xfrm>
            <a:off x="548640" y="1691640"/>
            <a:ext cx="6949440" cy="2843784"/>
          </a:xfrm>
          <a:prstGeom prst="rect">
            <a:avLst/>
          </a:prstGeom>
        </p:spPr>
      </p:pic>
      <p:sp>
        <p:nvSpPr>
          <p:cNvPr id="6" name="Recipe card"/>
          <p:cNvSpPr/>
          <p:nvPr/>
        </p:nvSpPr>
        <p:spPr>
          <a:xfrm>
            <a:off x="7818120" y="1691640"/>
            <a:ext cx="3794760" cy="896112"/>
          </a:xfrm>
          <a:prstGeom prst="roundRect">
            <a:avLst>
              <a:gd name="adj" fmla="val 8163"/>
            </a:avLst>
          </a:prstGeom>
          <a:solidFill>
            <a:srgbClr val="F2F6FB"/>
          </a:solidFill>
          <a:ln w="12700">
            <a:solidFill>
              <a:srgbClr val="F2F6FB"/>
            </a:solidFill>
            <a:prstDash val="solid"/>
          </a:ln>
        </p:spPr>
      </p:sp>
      <p:sp>
        <p:nvSpPr>
          <p:cNvPr id="7" name="Text 3"/>
          <p:cNvSpPr txBox="1"/>
          <p:nvPr/>
        </p:nvSpPr>
        <p:spPr>
          <a:xfrm>
            <a:off x="8001000" y="1764792"/>
            <a:ext cx="3474720" cy="329184"/>
          </a:xfrm>
          <a:prstGeom prst="rect">
            <a:avLst/>
          </a:prstGeom>
          <a:noFill/>
          <a:ln/>
        </p:spPr>
        <p:txBody>
          <a:bodyPr wrap="square" lIns="0" tIns="0" rIns="0" bIns="0" rtlCol="0" anchor="ctr"/>
          <a:lstStyle/>
          <a:p>
            <a:pPr indent="0" marL="0">
              <a:buNone/>
            </a:pPr>
            <a:r>
              <a:rPr lang="en-US" sz="1800" b="1" dirty="0">
                <a:solidFill>
                  <a:schemeClr val="accent1"/>
                </a:solidFill>
              </a:rPr>
              <a:t>Size</a:t>
            </a:r>
            <a:endParaRPr lang="en-US" sz="1800" dirty="0"/>
          </a:p>
        </p:txBody>
      </p:sp>
      <p:sp>
        <p:nvSpPr>
          <p:cNvPr id="8" name="Text 4"/>
          <p:cNvSpPr txBox="1"/>
          <p:nvPr/>
        </p:nvSpPr>
        <p:spPr>
          <a:xfrm>
            <a:off x="8001000" y="2112264"/>
            <a:ext cx="3474720" cy="411480"/>
          </a:xfrm>
          <a:prstGeom prst="rect">
            <a:avLst/>
          </a:prstGeom>
          <a:noFill/>
          <a:ln/>
        </p:spPr>
        <p:txBody>
          <a:bodyPr wrap="square" lIns="0" tIns="0" rIns="0" bIns="0" rtlCol="0" anchor="ctr"/>
          <a:lstStyle/>
          <a:p>
            <a:pPr indent="0" marL="0">
              <a:buNone/>
            </a:pPr>
            <a:r>
              <a:rPr lang="en-US" sz="1400" dirty="0">
                <a:solidFill>
                  <a:srgbClr val="1B2A41"/>
                </a:solidFill>
              </a:rPr>
              <a:t>average weekly demand of the last 52 weeks</a:t>
            </a:r>
            <a:endParaRPr lang="en-US" sz="1400" dirty="0"/>
          </a:p>
        </p:txBody>
      </p:sp>
      <p:sp>
        <p:nvSpPr>
          <p:cNvPr id="9" name="Recipe card"/>
          <p:cNvSpPr/>
          <p:nvPr/>
        </p:nvSpPr>
        <p:spPr>
          <a:xfrm>
            <a:off x="7818120" y="2715768"/>
            <a:ext cx="3794760" cy="896112"/>
          </a:xfrm>
          <a:prstGeom prst="roundRect">
            <a:avLst>
              <a:gd name="adj" fmla="val 8163"/>
            </a:avLst>
          </a:prstGeom>
          <a:solidFill>
            <a:srgbClr val="F2F6FB"/>
          </a:solidFill>
          <a:ln w="12700">
            <a:solidFill>
              <a:srgbClr val="F2F6FB"/>
            </a:solidFill>
            <a:prstDash val="solid"/>
          </a:ln>
        </p:spPr>
      </p:sp>
      <p:sp>
        <p:nvSpPr>
          <p:cNvPr id="10" name="Text 6"/>
          <p:cNvSpPr txBox="1"/>
          <p:nvPr/>
        </p:nvSpPr>
        <p:spPr>
          <a:xfrm>
            <a:off x="8001000" y="2788920"/>
            <a:ext cx="3474720" cy="329184"/>
          </a:xfrm>
          <a:prstGeom prst="rect">
            <a:avLst/>
          </a:prstGeom>
          <a:noFill/>
          <a:ln/>
        </p:spPr>
        <p:txBody>
          <a:bodyPr wrap="square" lIns="0" tIns="0" rIns="0" bIns="0" rtlCol="0" anchor="ctr"/>
          <a:lstStyle/>
          <a:p>
            <a:pPr indent="0" marL="0">
              <a:buNone/>
            </a:pPr>
            <a:r>
              <a:rPr lang="en-US" sz="1800" b="1" dirty="0">
                <a:solidFill>
                  <a:schemeClr val="accent1"/>
                </a:solidFill>
              </a:rPr>
              <a:t>Season</a:t>
            </a:r>
            <a:endParaRPr lang="en-US" sz="1800" dirty="0"/>
          </a:p>
        </p:txBody>
      </p:sp>
      <p:sp>
        <p:nvSpPr>
          <p:cNvPr id="11" name="Text 7"/>
          <p:cNvSpPr txBox="1"/>
          <p:nvPr/>
        </p:nvSpPr>
        <p:spPr>
          <a:xfrm>
            <a:off x="8001000" y="3136392"/>
            <a:ext cx="3474720" cy="411480"/>
          </a:xfrm>
          <a:prstGeom prst="rect">
            <a:avLst/>
          </a:prstGeom>
          <a:noFill/>
          <a:ln/>
        </p:spPr>
        <p:txBody>
          <a:bodyPr wrap="square" lIns="0" tIns="0" rIns="0" bIns="0" rtlCol="0" anchor="ctr"/>
          <a:lstStyle/>
          <a:p>
            <a:pPr indent="0" marL="0">
              <a:buNone/>
            </a:pPr>
            <a:r>
              <a:rPr lang="en-US" sz="1400" dirty="0">
                <a:solidFill>
                  <a:srgbClr val="1B2A41"/>
                </a:solidFill>
              </a:rPr>
              <a:t>peak week 13 (+25%), quietest week 38 (-25%)</a:t>
            </a:r>
            <a:endParaRPr lang="en-US" sz="1400" dirty="0"/>
          </a:p>
        </p:txBody>
      </p:sp>
      <p:sp>
        <p:nvSpPr>
          <p:cNvPr id="12" name="Recipe card"/>
          <p:cNvSpPr/>
          <p:nvPr/>
        </p:nvSpPr>
        <p:spPr>
          <a:xfrm>
            <a:off x="7818120" y="3739896"/>
            <a:ext cx="3794760" cy="896112"/>
          </a:xfrm>
          <a:prstGeom prst="roundRect">
            <a:avLst>
              <a:gd name="adj" fmla="val 8163"/>
            </a:avLst>
          </a:prstGeom>
          <a:solidFill>
            <a:srgbClr val="F2F6FB"/>
          </a:solidFill>
          <a:ln w="12700">
            <a:solidFill>
              <a:srgbClr val="F2F6FB"/>
            </a:solidFill>
            <a:prstDash val="solid"/>
          </a:ln>
        </p:spPr>
      </p:sp>
      <p:sp>
        <p:nvSpPr>
          <p:cNvPr id="13" name="Text 9"/>
          <p:cNvSpPr txBox="1"/>
          <p:nvPr/>
        </p:nvSpPr>
        <p:spPr>
          <a:xfrm>
            <a:off x="8001000" y="3813048"/>
            <a:ext cx="3474720" cy="329184"/>
          </a:xfrm>
          <a:prstGeom prst="rect">
            <a:avLst/>
          </a:prstGeom>
          <a:noFill/>
          <a:ln/>
        </p:spPr>
        <p:txBody>
          <a:bodyPr wrap="square" lIns="0" tIns="0" rIns="0" bIns="0" rtlCol="0" anchor="ctr"/>
          <a:lstStyle/>
          <a:p>
            <a:pPr indent="0" marL="0">
              <a:buNone/>
            </a:pPr>
            <a:r>
              <a:rPr lang="en-US" sz="1800" b="1" dirty="0">
                <a:solidFill>
                  <a:schemeClr val="accent1"/>
                </a:solidFill>
              </a:rPr>
              <a:t>Growth</a:t>
            </a:r>
            <a:endParaRPr lang="en-US" sz="1800" dirty="0"/>
          </a:p>
        </p:txBody>
      </p:sp>
      <p:sp>
        <p:nvSpPr>
          <p:cNvPr id="14" name="Text 10"/>
          <p:cNvSpPr txBox="1"/>
          <p:nvPr/>
        </p:nvSpPr>
        <p:spPr>
          <a:xfrm>
            <a:off x="8001000" y="4160520"/>
            <a:ext cx="3474720" cy="411480"/>
          </a:xfrm>
          <a:prstGeom prst="rect">
            <a:avLst/>
          </a:prstGeom>
          <a:noFill/>
          <a:ln/>
        </p:spPr>
        <p:txBody>
          <a:bodyPr wrap="square" lIns="0" tIns="0" rIns="0" bIns="0" rtlCol="0" anchor="ctr"/>
          <a:lstStyle/>
          <a:p>
            <a:pPr indent="0" marL="0">
              <a:buNone/>
            </a:pPr>
            <a:r>
              <a:rPr lang="en-US" sz="1400" dirty="0">
                <a:solidFill>
                  <a:srgbClr val="1B2A41"/>
                </a:solidFill>
              </a:rPr>
              <a:t>about +2.8% a year</a:t>
            </a:r>
            <a:endParaRPr lang="en-US" sz="1400" dirty="0"/>
          </a:p>
        </p:txBody>
      </p:sp>
      <p:sp>
        <p:nvSpPr>
          <p:cNvPr id="15" name="Callout"/>
          <p:cNvSpPr/>
          <p:nvPr/>
        </p:nvSpPr>
        <p:spPr>
          <a:xfrm>
            <a:off x="548640" y="4663440"/>
            <a:ext cx="11064240" cy="1645920"/>
          </a:xfrm>
          <a:prstGeom prst="roundRect">
            <a:avLst>
              <a:gd name="adj" fmla="val 4444"/>
            </a:avLst>
          </a:prstGeom>
          <a:solidFill>
            <a:srgbClr val="F2F6FB"/>
          </a:solidFill>
          <a:ln w="12700">
            <a:solidFill>
              <a:srgbClr val="D9E1EC"/>
            </a:solidFill>
            <a:prstDash val="solid"/>
          </a:ln>
        </p:spPr>
      </p:sp>
      <p:sp>
        <p:nvSpPr>
          <p:cNvPr id="16" name="Text 12"/>
          <p:cNvSpPr txBox="1"/>
          <p:nvPr/>
        </p:nvSpPr>
        <p:spPr>
          <a:xfrm>
            <a:off x="731520" y="477316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Assumptions made, and why</a:t>
            </a:r>
            <a:endParaRPr lang="en-US" sz="1400" dirty="0"/>
          </a:p>
        </p:txBody>
      </p:sp>
      <p:sp>
        <p:nvSpPr>
          <p:cNvPr id="17" name="Text 13"/>
          <p:cNvSpPr txBox="1"/>
          <p:nvPr/>
        </p:nvSpPr>
        <p:spPr>
          <a:xfrm>
            <a:off x="731520" y="5120640"/>
            <a:ext cx="10698480" cy="10972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One shared seasonal curve: product profiles correlate 0.97, so separate curves would only add noise.</a:t>
            </a:r>
            <a:endParaRPr lang="en-US" sz="1400" dirty="0"/>
          </a:p>
          <a:p>
            <a:pPr marL="177800" indent="-177800">
              <a:spcAft>
                <a:spcPts val="500"/>
              </a:spcAft>
              <a:buSzPct val="100000"/>
              <a:buChar char="•"/>
            </a:pPr>
            <a:r>
              <a:rPr lang="en-US" sz="1400" dirty="0">
                <a:solidFill>
                  <a:srgbClr val="1B2A41"/>
                </a:solidFill>
              </a:rPr>
              <a:t>Price and cost are not demand drivers: no calendar effect, and price moves only 4%.</a:t>
            </a:r>
            <a:endParaRPr lang="en-US" sz="1400" dirty="0"/>
          </a:p>
          <a:p>
            <a:pPr marL="177800" indent="-177800">
              <a:spcAft>
                <a:spcPts val="500"/>
              </a:spcAft>
              <a:buSzPct val="100000"/>
              <a:buChar char="•"/>
            </a:pPr>
            <a:r>
              <a:rPr lang="en-US" sz="1400" dirty="0">
                <a:solidFill>
                  <a:srgbClr val="1B2A41"/>
                </a:solidFill>
              </a:rPr>
              <a:t>Clusters by shape added little; stock regimes are kept for risk, not for the curve.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FORECASTING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methods, 4 tests: the simple structure wins</a:t>
            </a:r>
            <a:endParaRPr lang="en-US" sz="3000" dirty="0"/>
          </a:p>
        </p:txBody>
      </p:sp>
      <p:graphicFrame>
        <p:nvGraphicFramePr>
          <p:cNvPr id="5" name="Chart 0" descr=""/>
          <p:cNvGraphicFramePr/>
          <p:nvPr/>
        </p:nvGraphicFramePr>
        <p:xfrm>
          <a:off x="548640" y="1645920"/>
          <a:ext cx="6766560" cy="461772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7589520" y="1691640"/>
            <a:ext cx="1920240" cy="1325880"/>
          </a:xfrm>
          <a:prstGeom prst="roundRect">
            <a:avLst>
              <a:gd name="adj" fmla="val 5517"/>
            </a:avLst>
          </a:prstGeom>
          <a:solidFill>
            <a:srgbClr val="F2F6FB"/>
          </a:solidFill>
          <a:ln w="12700">
            <a:solidFill>
              <a:srgbClr val="F2F6FB"/>
            </a:solidFill>
            <a:prstDash val="solid"/>
          </a:ln>
        </p:spPr>
      </p:sp>
      <p:sp>
        <p:nvSpPr>
          <p:cNvPr id="7" name="Text 3"/>
          <p:cNvSpPr txBox="1"/>
          <p:nvPr/>
        </p:nvSpPr>
        <p:spPr>
          <a:xfrm>
            <a:off x="7726680" y="1764792"/>
            <a:ext cx="1645920" cy="596646"/>
          </a:xfrm>
          <a:prstGeom prst="rect">
            <a:avLst/>
          </a:prstGeom>
          <a:noFill/>
          <a:ln/>
        </p:spPr>
        <p:txBody>
          <a:bodyPr wrap="square" lIns="0" tIns="0" rIns="0" bIns="0" rtlCol="0" anchor="ctr"/>
          <a:lstStyle/>
          <a:p>
            <a:pPr indent="0" marL="0">
              <a:buNone/>
            </a:pPr>
            <a:r>
              <a:rPr lang="en-US" sz="3200" b="1" dirty="0">
                <a:solidFill>
                  <a:srgbClr val="1BAF7A"/>
                </a:solidFill>
                <a:latin typeface="Cambria" pitchFamily="34" charset="0"/>
                <a:ea typeface="Cambria" pitchFamily="34" charset="-122"/>
                <a:cs typeface="Cambria" pitchFamily="34" charset="-120"/>
              </a:rPr>
              <a:t>4.57%</a:t>
            </a:r>
            <a:endParaRPr lang="en-US" sz="3200" dirty="0"/>
          </a:p>
        </p:txBody>
      </p:sp>
      <p:sp>
        <p:nvSpPr>
          <p:cNvPr id="8" name="Text 4"/>
          <p:cNvSpPr txBox="1"/>
          <p:nvPr/>
        </p:nvSpPr>
        <p:spPr>
          <a:xfrm>
            <a:off x="7726680" y="2381098"/>
            <a:ext cx="1645920" cy="609905"/>
          </a:xfrm>
          <a:prstGeom prst="rect">
            <a:avLst/>
          </a:prstGeom>
          <a:noFill/>
          <a:ln/>
        </p:spPr>
        <p:txBody>
          <a:bodyPr wrap="square" lIns="0" tIns="0" rIns="0" bIns="0" rtlCol="0" anchor="t"/>
          <a:lstStyle/>
          <a:p>
            <a:pPr indent="0" marL="0">
              <a:buNone/>
            </a:pPr>
            <a:r>
              <a:rPr lang="en-US" sz="1300" dirty="0">
                <a:solidFill>
                  <a:srgbClr val="5B6B80"/>
                </a:solidFill>
              </a:rPr>
              <a:t>WAPE of the winner</a:t>
            </a:r>
            <a:endParaRPr lang="en-US" sz="1300" dirty="0"/>
          </a:p>
        </p:txBody>
      </p:sp>
      <p:sp>
        <p:nvSpPr>
          <p:cNvPr id="9" name="Stat card"/>
          <p:cNvSpPr/>
          <p:nvPr/>
        </p:nvSpPr>
        <p:spPr>
          <a:xfrm>
            <a:off x="9646920" y="1691640"/>
            <a:ext cx="1965960" cy="1325880"/>
          </a:xfrm>
          <a:prstGeom prst="roundRect">
            <a:avLst>
              <a:gd name="adj" fmla="val 5517"/>
            </a:avLst>
          </a:prstGeom>
          <a:solidFill>
            <a:srgbClr val="F2F6FB"/>
          </a:solidFill>
          <a:ln w="12700">
            <a:solidFill>
              <a:srgbClr val="F2F6FB"/>
            </a:solidFill>
            <a:prstDash val="solid"/>
          </a:ln>
        </p:spPr>
      </p:sp>
      <p:sp>
        <p:nvSpPr>
          <p:cNvPr id="10" name="Text 6"/>
          <p:cNvSpPr txBox="1"/>
          <p:nvPr/>
        </p:nvSpPr>
        <p:spPr>
          <a:xfrm>
            <a:off x="9784080" y="1764792"/>
            <a:ext cx="1691640" cy="596646"/>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97</a:t>
            </a:r>
            <a:endParaRPr lang="en-US" sz="3200" dirty="0"/>
          </a:p>
        </p:txBody>
      </p:sp>
      <p:sp>
        <p:nvSpPr>
          <p:cNvPr id="11" name="Text 7"/>
          <p:cNvSpPr txBox="1"/>
          <p:nvPr/>
        </p:nvSpPr>
        <p:spPr>
          <a:xfrm>
            <a:off x="9784080" y="2381098"/>
            <a:ext cx="1691640" cy="609905"/>
          </a:xfrm>
          <a:prstGeom prst="rect">
            <a:avLst/>
          </a:prstGeom>
          <a:noFill/>
          <a:ln/>
        </p:spPr>
        <p:txBody>
          <a:bodyPr wrap="square" lIns="0" tIns="0" rIns="0" bIns="0" rtlCol="0" anchor="t"/>
          <a:lstStyle/>
          <a:p>
            <a:pPr indent="0" marL="0">
              <a:buNone/>
            </a:pPr>
            <a:r>
              <a:rPr lang="en-US" sz="1300" dirty="0">
                <a:solidFill>
                  <a:srgbClr val="5B6B80"/>
                </a:solidFill>
              </a:rPr>
              <a:t>units: mean error per product-week</a:t>
            </a:r>
            <a:endParaRPr lang="en-US" sz="1300" dirty="0"/>
          </a:p>
        </p:txBody>
      </p:sp>
      <p:sp>
        <p:nvSpPr>
          <p:cNvPr id="12" name="Text 8"/>
          <p:cNvSpPr txBox="1"/>
          <p:nvPr/>
        </p:nvSpPr>
        <p:spPr>
          <a:xfrm>
            <a:off x="7589520" y="3246120"/>
            <a:ext cx="4023360" cy="301752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rgbClr val="1B2A41"/>
                </a:solidFill>
              </a:rPr>
              <a:t>13% better </a:t>
            </a:r>
            <a:pPr indent="0" marL="0">
              <a:spcAft>
                <a:spcPts val="800"/>
              </a:spcAft>
              <a:buNone/>
            </a:pPr>
            <a:r>
              <a:rPr lang="en-US" sz="1400" dirty="0">
                <a:solidFill>
                  <a:srgbClr val="1B2A41"/>
                </a:solidFill>
              </a:rPr>
              <a:t>than the best simple rule, 34% better than 'same week last year'.</a:t>
            </a:r>
            <a:endParaRPr lang="en-US" sz="1400" dirty="0"/>
          </a:p>
          <a:p>
            <a:pPr marL="203200" indent="-203200">
              <a:spcAft>
                <a:spcPts val="800"/>
              </a:spcAft>
              <a:buSzPct val="100000"/>
              <a:buChar char="•"/>
            </a:pPr>
            <a:r>
              <a:rPr lang="en-US" sz="1400" b="1" dirty="0">
                <a:solidFill>
                  <a:srgbClr val="1B2A41"/>
                </a:solidFill>
              </a:rPr>
              <a:t>How tested: </a:t>
            </a:r>
            <a:pPr indent="0" marL="0">
              <a:spcAft>
                <a:spcPts val="800"/>
              </a:spcAft>
              <a:buNone/>
            </a:pPr>
            <a:r>
              <a:rPr lang="en-US" sz="1400" dirty="0">
                <a:solidFill>
                  <a:srgbClr val="1B2A41"/>
                </a:solidFill>
              </a:rPr>
              <a:t>4 rolling origins, next 26 weeks each; every setting tuned on training data only.</a:t>
            </a:r>
            <a:endParaRPr lang="en-US" sz="1400" dirty="0"/>
          </a:p>
          <a:p>
            <a:pPr marL="203200" indent="-203200">
              <a:spcAft>
                <a:spcPts val="800"/>
              </a:spcAft>
              <a:buSzPct val="100000"/>
              <a:buChar char="•"/>
            </a:pPr>
            <a:r>
              <a:rPr lang="en-US" sz="1400" b="1" dirty="0">
                <a:solidFill>
                  <a:srgbClr val="1B2A41"/>
                </a:solidFill>
              </a:rPr>
              <a:t>Honest figure: </a:t>
            </a:r>
            <a:pPr indent="0" marL="0">
              <a:spcAft>
                <a:spcPts val="800"/>
              </a:spcAft>
              <a:buNone/>
            </a:pPr>
            <a:r>
              <a:rPr lang="en-US" sz="1400" dirty="0">
                <a:solidFill>
                  <a:srgbClr val="1B2A41"/>
                </a:solidFill>
              </a:rPr>
              <a:t>6.6% on weeks where demand was observed directly.</a:t>
            </a:r>
            <a:endParaRPr lang="en-US" sz="1400" dirty="0"/>
          </a:p>
          <a:p>
            <a:pPr marL="203200" indent="-203200">
              <a:spcAft>
                <a:spcPts val="800"/>
              </a:spcAft>
              <a:buSzPct val="100000"/>
              <a:buChar char="•"/>
            </a:pPr>
            <a:r>
              <a:rPr lang="en-US" sz="1400" b="1" dirty="0">
                <a:solidFill>
                  <a:srgbClr val="1B2A41"/>
                </a:solidFill>
              </a:rPr>
              <a:t>Simple is enough: </a:t>
            </a:r>
            <a:pPr indent="0" marL="0">
              <a:spcAft>
                <a:spcPts val="800"/>
              </a:spcAft>
              <a:buNone/>
            </a:pPr>
            <a:r>
              <a:rPr lang="en-US" sz="1400" dirty="0">
                <a:solidFill>
                  <a:srgbClr val="1B2A41"/>
                </a:solidFill>
              </a:rPr>
              <a:t>a plain size x season x growth recipe is within 0.15 points.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FORECASTING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demand up 2.8%</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45920"/>
            <a:ext cx="8412480" cy="2688336"/>
          </a:xfrm>
          <a:prstGeom prst="rect">
            <a:avLst/>
          </a:prstGeom>
        </p:spPr>
      </p:pic>
      <p:sp>
        <p:nvSpPr>
          <p:cNvPr id="6" name="Stat card"/>
          <p:cNvSpPr/>
          <p:nvPr/>
        </p:nvSpPr>
        <p:spPr>
          <a:xfrm>
            <a:off x="9144000" y="1645920"/>
            <a:ext cx="2468880" cy="1325880"/>
          </a:xfrm>
          <a:prstGeom prst="roundRect">
            <a:avLst>
              <a:gd name="adj" fmla="val 5517"/>
            </a:avLst>
          </a:prstGeom>
          <a:solidFill>
            <a:srgbClr val="F2F6FB"/>
          </a:solidFill>
          <a:ln w="12700">
            <a:solidFill>
              <a:srgbClr val="F2F6FB"/>
            </a:solidFill>
            <a:prstDash val="solid"/>
          </a:ln>
        </p:spPr>
      </p:sp>
      <p:sp>
        <p:nvSpPr>
          <p:cNvPr id="7" name="Text 3"/>
          <p:cNvSpPr txBox="1"/>
          <p:nvPr/>
        </p:nvSpPr>
        <p:spPr>
          <a:xfrm>
            <a:off x="9281160" y="1719072"/>
            <a:ext cx="2194560" cy="596646"/>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2.0M</a:t>
            </a:r>
            <a:endParaRPr lang="en-US" sz="3200" dirty="0"/>
          </a:p>
        </p:txBody>
      </p:sp>
      <p:sp>
        <p:nvSpPr>
          <p:cNvPr id="8" name="Text 4"/>
          <p:cNvSpPr txBox="1"/>
          <p:nvPr/>
        </p:nvSpPr>
        <p:spPr>
          <a:xfrm>
            <a:off x="9281160" y="2335378"/>
            <a:ext cx="2194560" cy="609905"/>
          </a:xfrm>
          <a:prstGeom prst="rect">
            <a:avLst/>
          </a:prstGeom>
          <a:noFill/>
          <a:ln/>
        </p:spPr>
        <p:txBody>
          <a:bodyPr wrap="square" lIns="0" tIns="0" rIns="0" bIns="0" rtlCol="0" anchor="t"/>
          <a:lstStyle/>
          <a:p>
            <a:pPr indent="0" marL="0">
              <a:buNone/>
            </a:pPr>
            <a:r>
              <a:rPr lang="en-US" sz="1300" dirty="0">
                <a:solidFill>
                  <a:srgbClr val="5B6B80"/>
                </a:solidFill>
              </a:rPr>
              <a:t>units forecast, +2.8% vs same weeks last year</a:t>
            </a:r>
            <a:endParaRPr lang="en-US" sz="1300" dirty="0"/>
          </a:p>
        </p:txBody>
      </p:sp>
      <p:sp>
        <p:nvSpPr>
          <p:cNvPr id="9" name="Stat card"/>
          <p:cNvSpPr/>
          <p:nvPr/>
        </p:nvSpPr>
        <p:spPr>
          <a:xfrm>
            <a:off x="9144000" y="3035808"/>
            <a:ext cx="2468880" cy="1325880"/>
          </a:xfrm>
          <a:prstGeom prst="roundRect">
            <a:avLst>
              <a:gd name="adj" fmla="val 5517"/>
            </a:avLst>
          </a:prstGeom>
          <a:solidFill>
            <a:srgbClr val="F2F6FB"/>
          </a:solidFill>
          <a:ln w="12700">
            <a:solidFill>
              <a:srgbClr val="F2F6FB"/>
            </a:solidFill>
            <a:prstDash val="solid"/>
          </a:ln>
        </p:spPr>
      </p:sp>
      <p:sp>
        <p:nvSpPr>
          <p:cNvPr id="10" name="Text 6"/>
          <p:cNvSpPr txBox="1"/>
          <p:nvPr/>
        </p:nvSpPr>
        <p:spPr>
          <a:xfrm>
            <a:off x="9281160" y="3108960"/>
            <a:ext cx="2194560" cy="596646"/>
          </a:xfrm>
          <a:prstGeom prst="rect">
            <a:avLst/>
          </a:prstGeom>
          <a:noFill/>
          <a:ln/>
        </p:spPr>
        <p:txBody>
          <a:bodyPr wrap="square" lIns="0" tIns="0" rIns="0" bIns="0" rtlCol="0" anchor="ctr"/>
          <a:lstStyle/>
          <a:p>
            <a:pPr indent="0" marL="0">
              <a:buNone/>
            </a:pPr>
            <a:r>
              <a:rPr lang="en-US" sz="3200" b="1" dirty="0">
                <a:solidFill>
                  <a:srgbClr val="1BAF7A"/>
                </a:solidFill>
                <a:latin typeface="Cambria" pitchFamily="34" charset="0"/>
                <a:ea typeface="Cambria" pitchFamily="34" charset="-122"/>
                <a:cs typeface="Cambria" pitchFamily="34" charset="-120"/>
              </a:rPr>
              <a:t>80%</a:t>
            </a:r>
            <a:endParaRPr lang="en-US" sz="3200" dirty="0"/>
          </a:p>
        </p:txBody>
      </p:sp>
      <p:sp>
        <p:nvSpPr>
          <p:cNvPr id="11" name="Text 7"/>
          <p:cNvSpPr txBox="1"/>
          <p:nvPr/>
        </p:nvSpPr>
        <p:spPr>
          <a:xfrm>
            <a:off x="9281160" y="3725266"/>
            <a:ext cx="2194560" cy="609905"/>
          </a:xfrm>
          <a:prstGeom prst="rect">
            <a:avLst/>
          </a:prstGeom>
          <a:noFill/>
          <a:ln/>
        </p:spPr>
        <p:txBody>
          <a:bodyPr wrap="square" lIns="0" tIns="0" rIns="0" bIns="0" rtlCol="0" anchor="t"/>
          <a:lstStyle/>
          <a:p>
            <a:pPr indent="0" marL="0">
              <a:buNone/>
            </a:pPr>
            <a:r>
              <a:rPr lang="en-US" sz="1300" dirty="0">
                <a:solidFill>
                  <a:srgbClr val="5B6B80"/>
                </a:solidFill>
              </a:rPr>
              <a:t>of outcomes inside the P10-P90 band</a:t>
            </a:r>
            <a:endParaRPr lang="en-US" sz="1300" dirty="0"/>
          </a:p>
        </p:txBody>
      </p:sp>
      <p:sp>
        <p:nvSpPr>
          <p:cNvPr id="12" name="Stat card"/>
          <p:cNvSpPr/>
          <p:nvPr/>
        </p:nvSpPr>
        <p:spPr>
          <a:xfrm>
            <a:off x="548640" y="4526280"/>
            <a:ext cx="3566160" cy="1097280"/>
          </a:xfrm>
          <a:prstGeom prst="roundRect">
            <a:avLst>
              <a:gd name="adj" fmla="val 6667"/>
            </a:avLst>
          </a:prstGeom>
          <a:solidFill>
            <a:srgbClr val="F2F6FB"/>
          </a:solidFill>
          <a:ln w="12700">
            <a:solidFill>
              <a:srgbClr val="F2F6FB"/>
            </a:solidFill>
            <a:prstDash val="solid"/>
          </a:ln>
        </p:spPr>
      </p:sp>
      <p:sp>
        <p:nvSpPr>
          <p:cNvPr id="13" name="Text 9"/>
          <p:cNvSpPr txBox="1"/>
          <p:nvPr/>
        </p:nvSpPr>
        <p:spPr>
          <a:xfrm>
            <a:off x="685800" y="4599432"/>
            <a:ext cx="3291840" cy="493776"/>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$64.6M</a:t>
            </a:r>
            <a:endParaRPr lang="en-US" sz="2800" dirty="0"/>
          </a:p>
        </p:txBody>
      </p:sp>
      <p:sp>
        <p:nvSpPr>
          <p:cNvPr id="14" name="Text 10"/>
          <p:cNvSpPr txBox="1"/>
          <p:nvPr/>
        </p:nvSpPr>
        <p:spPr>
          <a:xfrm>
            <a:off x="685800" y="5096866"/>
            <a:ext cx="3291840" cy="504749"/>
          </a:xfrm>
          <a:prstGeom prst="rect">
            <a:avLst/>
          </a:prstGeom>
          <a:noFill/>
          <a:ln/>
        </p:spPr>
        <p:txBody>
          <a:bodyPr wrap="square" lIns="0" tIns="0" rIns="0" bIns="0" rtlCol="0" anchor="t"/>
          <a:lstStyle/>
          <a:p>
            <a:pPr indent="0" marL="0">
              <a:buNone/>
            </a:pPr>
            <a:r>
              <a:rPr lang="en-US" sz="1300" dirty="0">
                <a:solidFill>
                  <a:srgbClr val="5B6B80"/>
                </a:solidFill>
              </a:rPr>
              <a:t>revenue potential, no stock limit</a:t>
            </a:r>
            <a:endParaRPr lang="en-US" sz="1300" dirty="0"/>
          </a:p>
        </p:txBody>
      </p:sp>
      <p:sp>
        <p:nvSpPr>
          <p:cNvPr id="15" name="Stat card"/>
          <p:cNvSpPr/>
          <p:nvPr/>
        </p:nvSpPr>
        <p:spPr>
          <a:xfrm>
            <a:off x="4297680" y="4526280"/>
            <a:ext cx="3566160" cy="1097280"/>
          </a:xfrm>
          <a:prstGeom prst="roundRect">
            <a:avLst>
              <a:gd name="adj" fmla="val 6667"/>
            </a:avLst>
          </a:prstGeom>
          <a:solidFill>
            <a:srgbClr val="F2F6FB"/>
          </a:solidFill>
          <a:ln w="12700">
            <a:solidFill>
              <a:srgbClr val="F2F6FB"/>
            </a:solidFill>
            <a:prstDash val="solid"/>
          </a:ln>
        </p:spPr>
      </p:sp>
      <p:sp>
        <p:nvSpPr>
          <p:cNvPr id="16" name="Text 12"/>
          <p:cNvSpPr txBox="1"/>
          <p:nvPr/>
        </p:nvSpPr>
        <p:spPr>
          <a:xfrm>
            <a:off x="4434840" y="4599432"/>
            <a:ext cx="3291840" cy="493776"/>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$28.7M</a:t>
            </a:r>
            <a:endParaRPr lang="en-US" sz="2800" dirty="0"/>
          </a:p>
        </p:txBody>
      </p:sp>
      <p:sp>
        <p:nvSpPr>
          <p:cNvPr id="17" name="Text 13"/>
          <p:cNvSpPr txBox="1"/>
          <p:nvPr/>
        </p:nvSpPr>
        <p:spPr>
          <a:xfrm>
            <a:off x="4434840" y="5096866"/>
            <a:ext cx="3291840" cy="504749"/>
          </a:xfrm>
          <a:prstGeom prst="rect">
            <a:avLst/>
          </a:prstGeom>
          <a:noFill/>
          <a:ln/>
        </p:spPr>
        <p:txBody>
          <a:bodyPr wrap="square" lIns="0" tIns="0" rIns="0" bIns="0" rtlCol="0" anchor="t"/>
          <a:lstStyle/>
          <a:p>
            <a:pPr indent="0" marL="0">
              <a:buNone/>
            </a:pPr>
            <a:r>
              <a:rPr lang="en-US" sz="1300" dirty="0">
                <a:solidFill>
                  <a:srgbClr val="5B6B80"/>
                </a:solidFill>
              </a:rPr>
              <a:t>at risk at today's stock levels (44%)</a:t>
            </a:r>
            <a:endParaRPr lang="en-US" sz="1300" dirty="0"/>
          </a:p>
        </p:txBody>
      </p:sp>
      <p:sp>
        <p:nvSpPr>
          <p:cNvPr id="18" name="Text 14"/>
          <p:cNvSpPr txBox="1"/>
          <p:nvPr/>
        </p:nvSpPr>
        <p:spPr>
          <a:xfrm>
            <a:off x="548640" y="5806440"/>
            <a:ext cx="11064240" cy="548640"/>
          </a:xfrm>
          <a:prstGeom prst="rect">
            <a:avLst/>
          </a:prstGeom>
          <a:noFill/>
          <a:ln/>
        </p:spPr>
        <p:txBody>
          <a:bodyPr wrap="square" lIns="0" tIns="0" rIns="0" bIns="0" rtlCol="0" anchor="t"/>
          <a:lstStyle/>
          <a:p>
            <a:pPr indent="0" marL="0">
              <a:buNone/>
            </a:pPr>
            <a:r>
              <a:rPr lang="en-US" sz="1400" i="1" dirty="0">
                <a:solidFill>
                  <a:srgbClr val="5B6B80"/>
                </a:solidFill>
              </a:rPr>
              <a:t>Assumptions: future stock follows each product's own last 104 weeks; prices stay at the last 13-week average; no promotions are modelled.</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dashboard a manager can read in two minutes</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737360"/>
            <a:ext cx="5669280" cy="3145536"/>
          </a:xfrm>
          <a:prstGeom prst="rect">
            <a:avLst/>
          </a:prstGeom>
        </p:spPr>
      </p:pic>
      <p:sp>
        <p:nvSpPr>
          <p:cNvPr id="6" name="Text 2"/>
          <p:cNvSpPr txBox="1"/>
          <p:nvPr/>
        </p:nvSpPr>
        <p:spPr>
          <a:xfrm>
            <a:off x="548640" y="4983480"/>
            <a:ext cx="5669280" cy="365760"/>
          </a:xfrm>
          <a:prstGeom prst="rect">
            <a:avLst/>
          </a:prstGeom>
          <a:noFill/>
          <a:ln/>
        </p:spPr>
        <p:txBody>
          <a:bodyPr wrap="square" lIns="0" tIns="0" rIns="0" bIns="0" rtlCol="0" anchor="ctr"/>
          <a:lstStyle/>
          <a:p>
            <a:pPr indent="0" marL="0">
              <a:buNone/>
            </a:pPr>
            <a:r>
              <a:rPr lang="en-US" sz="1200" i="1" dirty="0">
                <a:solidFill>
                  <a:srgbClr val="5B6B80"/>
                </a:solidFill>
              </a:rPr>
              <a:t>Overview tab: the bottom line, eight KPIs and what they mean</a:t>
            </a:r>
            <a:endParaRPr lang="en-US" sz="1200" dirty="0"/>
          </a:p>
        </p:txBody>
      </p:sp>
      <p:sp>
        <p:nvSpPr>
          <p:cNvPr id="7" name="Text 3"/>
          <p:cNvSpPr txBox="1"/>
          <p:nvPr/>
        </p:nvSpPr>
        <p:spPr>
          <a:xfrm>
            <a:off x="6492240" y="1737360"/>
            <a:ext cx="5120640" cy="448056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rgbClr val="1B2A41"/>
                </a:solidFill>
              </a:rPr>
              <a:t>Bottom line first: </a:t>
            </a:r>
            <a:pPr indent="0" marL="0">
              <a:spcAft>
                <a:spcPts val="800"/>
              </a:spcAft>
              <a:buNone/>
            </a:pPr>
            <a:r>
              <a:rPr lang="en-US" sz="1500" dirty="0">
                <a:solidFill>
                  <a:srgbClr val="1B2A41"/>
                </a:solidFill>
              </a:rPr>
              <a:t>one sentence per tab says what matters.</a:t>
            </a:r>
            <a:endParaRPr lang="en-US" sz="1500" dirty="0"/>
          </a:p>
          <a:p>
            <a:pPr marL="203200" indent="-203200">
              <a:spcAft>
                <a:spcPts val="800"/>
              </a:spcAft>
              <a:buSzPct val="100000"/>
              <a:buChar char="•"/>
            </a:pPr>
            <a:r>
              <a:rPr lang="en-US" sz="1500" b="1" dirty="0">
                <a:solidFill>
                  <a:srgbClr val="1B2A41"/>
                </a:solidFill>
              </a:rPr>
              <a:t>Financial KPIs: </a:t>
            </a:r>
            <a:pPr indent="0" marL="0">
              <a:spcAft>
                <a:spcPts val="800"/>
              </a:spcAft>
              <a:buNone/>
            </a:pPr>
            <a:r>
              <a:rPr lang="en-US" sz="1500" dirty="0">
                <a:solidFill>
                  <a:srgbClr val="1B2A41"/>
                </a:solidFill>
              </a:rPr>
              <a:t>gross margin, revenue growth, operating profit.</a:t>
            </a:r>
            <a:endParaRPr lang="en-US" sz="1500" dirty="0"/>
          </a:p>
          <a:p>
            <a:pPr marL="203200" indent="-203200">
              <a:spcAft>
                <a:spcPts val="800"/>
              </a:spcAft>
              <a:buSzPct val="100000"/>
              <a:buChar char="•"/>
            </a:pPr>
            <a:r>
              <a:rPr lang="en-US" sz="1500" b="1" dirty="0">
                <a:solidFill>
                  <a:srgbClr val="1B2A41"/>
                </a:solidFill>
              </a:rPr>
              <a:t>Operational KPIs: </a:t>
            </a:r>
            <a:pPr indent="0" marL="0">
              <a:spcAft>
                <a:spcPts val="800"/>
              </a:spcAft>
              <a:buNone/>
            </a:pPr>
            <a:r>
              <a:rPr lang="en-US" sz="1500" dirty="0">
                <a:solidFill>
                  <a:srgbClr val="1B2A41"/>
                </a:solidFill>
              </a:rPr>
              <a:t>stock turnover, days of stock, service level, lost sales.</a:t>
            </a:r>
            <a:endParaRPr lang="en-US" sz="1500" dirty="0"/>
          </a:p>
          <a:p>
            <a:pPr marL="203200" indent="-203200">
              <a:spcAft>
                <a:spcPts val="800"/>
              </a:spcAft>
              <a:buSzPct val="100000"/>
              <a:buChar char="•"/>
            </a:pPr>
            <a:r>
              <a:rPr lang="en-US" sz="1500" b="1" dirty="0">
                <a:solidFill>
                  <a:srgbClr val="1B2A41"/>
                </a:solidFill>
              </a:rPr>
              <a:t>Credit KPIs: </a:t>
            </a:r>
            <a:pPr indent="0" marL="0">
              <a:spcAft>
                <a:spcPts val="800"/>
              </a:spcAft>
              <a:buNone/>
            </a:pPr>
            <a:r>
              <a:rPr lang="en-US" sz="1500" dirty="0">
                <a:solidFill>
                  <a:srgbClr val="1B2A41"/>
                </a:solidFill>
              </a:rPr>
              <a:t>days sales outstanding (DSO), A-E default-risk rating.</a:t>
            </a:r>
            <a:endParaRPr lang="en-US" sz="1500" dirty="0"/>
          </a:p>
          <a:p>
            <a:pPr marL="203200" indent="-203200">
              <a:spcAft>
                <a:spcPts val="800"/>
              </a:spcAft>
              <a:buSzPct val="100000"/>
              <a:buChar char="•"/>
            </a:pPr>
            <a:r>
              <a:rPr lang="en-US" sz="1500" b="1" dirty="0">
                <a:solidFill>
                  <a:srgbClr val="1B2A41"/>
                </a:solidFill>
              </a:rPr>
              <a:t>Forward view: </a:t>
            </a:r>
            <a:pPr indent="0" marL="0">
              <a:spcAft>
                <a:spcPts val="800"/>
              </a:spcAft>
              <a:buNone/>
            </a:pPr>
            <a:r>
              <a:rPr lang="en-US" sz="1500" dirty="0">
                <a:solidFill>
                  <a:srgbClr val="1B2A41"/>
                </a:solidFill>
              </a:rPr>
              <a:t>26-week forecast with likely range, and recommended prices.</a:t>
            </a:r>
            <a:endParaRPr lang="en-US" sz="1500" dirty="0"/>
          </a:p>
          <a:p>
            <a:pPr marL="203200" indent="-203200">
              <a:spcAft>
                <a:spcPts val="800"/>
              </a:spcAft>
              <a:buSzPct val="100000"/>
              <a:buChar char="•"/>
            </a:pPr>
            <a:r>
              <a:rPr lang="en-US" sz="1500" b="1" dirty="0">
                <a:solidFill>
                  <a:srgbClr val="1B2A41"/>
                </a:solidFill>
              </a:rPr>
              <a:t>Alerts: </a:t>
            </a:r>
            <a:pPr indent="0" marL="0">
              <a:spcAft>
                <a:spcPts val="800"/>
              </a:spcAft>
              <a:buNone/>
            </a:pPr>
            <a:r>
              <a:rPr lang="en-US" sz="1500" dirty="0">
                <a:solidFill>
                  <a:srgbClr val="1B2A41"/>
                </a:solidFill>
              </a:rPr>
              <a:t>each row names the place, the money at stake and the action.</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INSIGHTS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Margins are stable; availability is the problem</a:t>
            </a:r>
            <a:endParaRPr lang="en-US" sz="3000" dirty="0"/>
          </a:p>
        </p:txBody>
      </p:sp>
      <p:sp>
        <p:nvSpPr>
          <p:cNvPr id="5" name="Stat card"/>
          <p:cNvSpPr/>
          <p:nvPr/>
        </p:nvSpPr>
        <p:spPr>
          <a:xfrm>
            <a:off x="548640" y="1645920"/>
            <a:ext cx="2606040" cy="1280160"/>
          </a:xfrm>
          <a:prstGeom prst="roundRect">
            <a:avLst>
              <a:gd name="adj" fmla="val 5714"/>
            </a:avLst>
          </a:prstGeom>
          <a:solidFill>
            <a:srgbClr val="F2F6FB"/>
          </a:solidFill>
          <a:ln w="12700">
            <a:solidFill>
              <a:srgbClr val="F2F6FB"/>
            </a:solidFill>
            <a:prstDash val="solid"/>
          </a:ln>
        </p:spPr>
      </p:sp>
      <p:sp>
        <p:nvSpPr>
          <p:cNvPr id="6" name="Text 3"/>
          <p:cNvSpPr txBox="1"/>
          <p:nvPr/>
        </p:nvSpPr>
        <p:spPr>
          <a:xfrm>
            <a:off x="685800" y="1719072"/>
            <a:ext cx="2331720" cy="576072"/>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$65.4M</a:t>
            </a:r>
            <a:endParaRPr lang="en-US" sz="3400" dirty="0"/>
          </a:p>
        </p:txBody>
      </p:sp>
      <p:sp>
        <p:nvSpPr>
          <p:cNvPr id="7" name="Text 4"/>
          <p:cNvSpPr txBox="1"/>
          <p:nvPr/>
        </p:nvSpPr>
        <p:spPr>
          <a:xfrm>
            <a:off x="685800" y="2311603"/>
            <a:ext cx="2331720" cy="588874"/>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8" name="Stat card"/>
          <p:cNvSpPr/>
          <p:nvPr/>
        </p:nvSpPr>
        <p:spPr>
          <a:xfrm>
            <a:off x="3337560" y="1645920"/>
            <a:ext cx="2606040" cy="1280160"/>
          </a:xfrm>
          <a:prstGeom prst="roundRect">
            <a:avLst>
              <a:gd name="adj" fmla="val 5714"/>
            </a:avLst>
          </a:prstGeom>
          <a:solidFill>
            <a:srgbClr val="F2F6FB"/>
          </a:solidFill>
          <a:ln w="12700">
            <a:solidFill>
              <a:srgbClr val="F2F6FB"/>
            </a:solidFill>
            <a:prstDash val="solid"/>
          </a:ln>
        </p:spPr>
      </p:sp>
      <p:sp>
        <p:nvSpPr>
          <p:cNvPr id="9" name="Text 6"/>
          <p:cNvSpPr txBox="1"/>
          <p:nvPr/>
        </p:nvSpPr>
        <p:spPr>
          <a:xfrm>
            <a:off x="3474720" y="1719072"/>
            <a:ext cx="2331720" cy="576072"/>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21.5%</a:t>
            </a:r>
            <a:endParaRPr lang="en-US" sz="3400" dirty="0"/>
          </a:p>
        </p:txBody>
      </p:sp>
      <p:sp>
        <p:nvSpPr>
          <p:cNvPr id="10" name="Text 7"/>
          <p:cNvSpPr txBox="1"/>
          <p:nvPr/>
        </p:nvSpPr>
        <p:spPr>
          <a:xfrm>
            <a:off x="3474720" y="2311603"/>
            <a:ext cx="2331720" cy="588874"/>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11" name="Stat card"/>
          <p:cNvSpPr/>
          <p:nvPr/>
        </p:nvSpPr>
        <p:spPr>
          <a:xfrm>
            <a:off x="6126480" y="1645920"/>
            <a:ext cx="2606040" cy="1280160"/>
          </a:xfrm>
          <a:prstGeom prst="roundRect">
            <a:avLst>
              <a:gd name="adj" fmla="val 5714"/>
            </a:avLst>
          </a:prstGeom>
          <a:solidFill>
            <a:srgbClr val="F2F6FB"/>
          </a:solidFill>
          <a:ln w="12700">
            <a:solidFill>
              <a:srgbClr val="F2F6FB"/>
            </a:solidFill>
            <a:prstDash val="solid"/>
          </a:ln>
        </p:spPr>
      </p:sp>
      <p:sp>
        <p:nvSpPr>
          <p:cNvPr id="12" name="Text 9"/>
          <p:cNvSpPr txBox="1"/>
          <p:nvPr/>
        </p:nvSpPr>
        <p:spPr>
          <a:xfrm>
            <a:off x="6263640" y="1719072"/>
            <a:ext cx="2331720" cy="576072"/>
          </a:xfrm>
          <a:prstGeom prst="rect">
            <a:avLst/>
          </a:prstGeom>
          <a:noFill/>
          <a:ln/>
        </p:spPr>
        <p:txBody>
          <a:bodyPr wrap="square" lIns="0" tIns="0" rIns="0" bIns="0" rtlCol="0" anchor="ctr"/>
          <a:lstStyle/>
          <a:p>
            <a:pPr indent="0" marL="0">
              <a:buNone/>
            </a:pPr>
            <a:r>
              <a:rPr lang="en-US" sz="3400" b="1" dirty="0">
                <a:solidFill>
                  <a:srgbClr val="EB6834"/>
                </a:solidFill>
                <a:latin typeface="Cambria" pitchFamily="34" charset="0"/>
                <a:ea typeface="Cambria" pitchFamily="34" charset="-122"/>
                <a:cs typeface="Cambria" pitchFamily="34" charset="-120"/>
              </a:rPr>
              <a:t>60%</a:t>
            </a:r>
            <a:endParaRPr lang="en-US" sz="3400" dirty="0"/>
          </a:p>
        </p:txBody>
      </p:sp>
      <p:sp>
        <p:nvSpPr>
          <p:cNvPr id="13" name="Text 10"/>
          <p:cNvSpPr txBox="1"/>
          <p:nvPr/>
        </p:nvSpPr>
        <p:spPr>
          <a:xfrm>
            <a:off x="6263640" y="2311603"/>
            <a:ext cx="2331720" cy="588874"/>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14" name="Stat card"/>
          <p:cNvSpPr/>
          <p:nvPr/>
        </p:nvSpPr>
        <p:spPr>
          <a:xfrm>
            <a:off x="8915400" y="1645920"/>
            <a:ext cx="2606040" cy="1280160"/>
          </a:xfrm>
          <a:prstGeom prst="roundRect">
            <a:avLst>
              <a:gd name="adj" fmla="val 5714"/>
            </a:avLst>
          </a:prstGeom>
          <a:solidFill>
            <a:srgbClr val="F2F6FB"/>
          </a:solidFill>
          <a:ln w="12700">
            <a:solidFill>
              <a:srgbClr val="F2F6FB"/>
            </a:solidFill>
            <a:prstDash val="solid"/>
          </a:ln>
        </p:spPr>
      </p:sp>
      <p:sp>
        <p:nvSpPr>
          <p:cNvPr id="15" name="Text 12"/>
          <p:cNvSpPr txBox="1"/>
          <p:nvPr/>
        </p:nvSpPr>
        <p:spPr>
          <a:xfrm>
            <a:off x="9052560" y="1719072"/>
            <a:ext cx="2331720" cy="576072"/>
          </a:xfrm>
          <a:prstGeom prst="rect">
            <a:avLst/>
          </a:prstGeom>
          <a:noFill/>
          <a:ln/>
        </p:spPr>
        <p:txBody>
          <a:bodyPr wrap="square" lIns="0" tIns="0" rIns="0" bIns="0" rtlCol="0" anchor="ctr"/>
          <a:lstStyle/>
          <a:p>
            <a:pPr indent="0" marL="0">
              <a:buNone/>
            </a:pPr>
            <a:r>
              <a:rPr lang="en-US" sz="3400" b="1" dirty="0">
                <a:solidFill>
                  <a:srgbClr val="EB6834"/>
                </a:solidFill>
                <a:latin typeface="Cambria" pitchFamily="34" charset="0"/>
                <a:ea typeface="Cambria" pitchFamily="34" charset="-122"/>
                <a:cs typeface="Cambria" pitchFamily="34" charset="-120"/>
              </a:rPr>
              <a:t>92 days</a:t>
            </a:r>
            <a:endParaRPr lang="en-US" sz="3400" dirty="0"/>
          </a:p>
        </p:txBody>
      </p:sp>
      <p:sp>
        <p:nvSpPr>
          <p:cNvPr id="16" name="Text 13"/>
          <p:cNvSpPr txBox="1"/>
          <p:nvPr/>
        </p:nvSpPr>
        <p:spPr>
          <a:xfrm>
            <a:off x="9052560" y="2311603"/>
            <a:ext cx="2331720" cy="588874"/>
          </a:xfrm>
          <a:prstGeom prst="rect">
            <a:avLst/>
          </a:prstGeom>
          <a:noFill/>
          <a:ln/>
        </p:spPr>
        <p:txBody>
          <a:bodyPr wrap="square" lIns="0" tIns="0" rIns="0" bIns="0" rtlCol="0" anchor="t"/>
          <a:lstStyle/>
          <a:p>
            <a:pPr indent="0" marL="0">
              <a:buNone/>
            </a:pPr>
            <a:r>
              <a:rPr lang="en-US" sz="1300" dirty="0">
                <a:solidFill>
                  <a:srgbClr val="5B6B80"/>
                </a:solidFill>
              </a:rPr>
              <a:t>of stock on average (turnover 3.9x)</a:t>
            </a:r>
            <a:endParaRPr lang="en-US" sz="1300" dirty="0"/>
          </a:p>
        </p:txBody>
      </p:sp>
      <p:pic>
        <p:nvPicPr>
          <p:cNvPr id="17" name="Dashboard stock tab" descr="/tmp/claude-0/-home-user-Technical-Assessment-HamidrezaNademi/35a9d481-a40b-596b-a99c-a9e318cbdc12/scratchpad/deck/dash_stock_top.png">    </p:cNvPr>
          <p:cNvPicPr>
            <a:picLocks noChangeAspect="1"/>
          </p:cNvPicPr>
          <p:nvPr/>
        </p:nvPicPr>
        <p:blipFill>
          <a:blip r:embed="rId1"/>
          <a:stretch>
            <a:fillRect/>
          </a:stretch>
        </p:blipFill>
        <p:spPr>
          <a:xfrm>
            <a:off x="548640" y="3154680"/>
            <a:ext cx="4754880" cy="2953512"/>
          </a:xfrm>
          <a:prstGeom prst="rect">
            <a:avLst/>
          </a:prstGeom>
        </p:spPr>
      </p:pic>
      <p:sp>
        <p:nvSpPr>
          <p:cNvPr id="18" name="Text 14"/>
          <p:cNvSpPr txBox="1"/>
          <p:nvPr/>
        </p:nvSpPr>
        <p:spPr>
          <a:xfrm>
            <a:off x="5577840" y="3246120"/>
            <a:ext cx="6035040" cy="301752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rgbClr val="1B2A41"/>
                </a:solidFill>
              </a:rPr>
              <a:t>Two worlds in one company: </a:t>
            </a:r>
            <a:pPr indent="0" marL="0">
              <a:spcAft>
                <a:spcPts val="800"/>
              </a:spcAft>
              <a:buNone/>
            </a:pPr>
            <a:r>
              <a:rPr lang="en-US" sz="1500" dirty="0">
                <a:solidFill>
                  <a:srgbClr val="1B2A41"/>
                </a:solidFill>
              </a:rPr>
              <a:t>23 lean products carry about 1 week of stock and sell out; 5 hold 64 to 370 weeks.</a:t>
            </a:r>
            <a:endParaRPr lang="en-US" sz="1500" dirty="0"/>
          </a:p>
          <a:p>
            <a:pPr marL="203200" indent="-203200">
              <a:spcAft>
                <a:spcPts val="800"/>
              </a:spcAft>
              <a:buSzPct val="100000"/>
              <a:buChar char="•"/>
            </a:pPr>
            <a:r>
              <a:rPr lang="en-US" sz="1500" b="1" dirty="0">
                <a:solidFill>
                  <a:srgbClr val="1B2A41"/>
                </a:solidFill>
              </a:rPr>
              <a:t>Over-stock: </a:t>
            </a:r>
            <a:pPr indent="0" marL="0">
              <a:spcAft>
                <a:spcPts val="800"/>
              </a:spcAft>
              <a:buNone/>
            </a:pPr>
            <a:r>
              <a:rPr lang="en-US" sz="1500" dirty="0">
                <a:solidFill>
                  <a:srgbClr val="1B2A41"/>
                </a:solidFill>
              </a:rPr>
              <a:t>$10.9M tied up at cost.</a:t>
            </a:r>
            <a:endParaRPr lang="en-US" sz="1500" dirty="0"/>
          </a:p>
          <a:p>
            <a:pPr marL="203200" indent="-203200">
              <a:spcAft>
                <a:spcPts val="800"/>
              </a:spcAft>
              <a:buSzPct val="100000"/>
              <a:buChar char="•"/>
            </a:pPr>
            <a:r>
              <a:rPr lang="en-US" sz="1500" b="1" dirty="0">
                <a:solidFill>
                  <a:srgbClr val="1B2A41"/>
                </a:solidFill>
              </a:rPr>
              <a:t>Stock-outs: </a:t>
            </a:r>
            <a:pPr indent="0" marL="0">
              <a:spcAft>
                <a:spcPts val="800"/>
              </a:spcAft>
              <a:buNone/>
            </a:pPr>
            <a:r>
              <a:rPr lang="en-US" sz="1500" dirty="0">
                <a:solidFill>
                  <a:srgbClr val="1B2A41"/>
                </a:solidFill>
              </a:rPr>
              <a:t>$28.0M of revenue at risk in the next 26 weeks on the lean products.</a:t>
            </a:r>
            <a:endParaRPr lang="en-US" sz="1500" dirty="0"/>
          </a:p>
          <a:p>
            <a:pPr marL="203200" indent="-203200">
              <a:spcAft>
                <a:spcPts val="800"/>
              </a:spcAft>
              <a:buSzPct val="100000"/>
              <a:buChar char="•"/>
            </a:pPr>
            <a:r>
              <a:rPr lang="en-US" sz="1500" b="1" dirty="0">
                <a:solidFill>
                  <a:srgbClr val="1B2A41"/>
                </a:solidFill>
              </a:rPr>
              <a:t>Alerts: </a:t>
            </a:r>
            <a:pPr indent="0" marL="0">
              <a:spcAft>
                <a:spcPts val="800"/>
              </a:spcAft>
              <a:buNone/>
            </a:pPr>
            <a:r>
              <a:rPr lang="en-US" sz="1500" dirty="0">
                <a:solidFill>
                  <a:srgbClr val="1B2A41"/>
                </a:solidFill>
              </a:rPr>
              <a:t>16 high, 18 medium; thresholds can be changed in the app.</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DESIGN CHOICES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Dashboard design: assumptions and checks</a:t>
            </a:r>
            <a:endParaRPr lang="en-US" sz="3000" dirty="0"/>
          </a:p>
        </p:txBody>
      </p:sp>
      <p:sp>
        <p:nvSpPr>
          <p:cNvPr id="5" name="Design card"/>
          <p:cNvSpPr/>
          <p:nvPr/>
        </p:nvSpPr>
        <p:spPr>
          <a:xfrm>
            <a:off x="548640" y="1691640"/>
            <a:ext cx="3566160" cy="3566160"/>
          </a:xfrm>
          <a:prstGeom prst="roundRect">
            <a:avLst>
              <a:gd name="adj" fmla="val 2051"/>
            </a:avLst>
          </a:prstGeom>
          <a:solidFill>
            <a:srgbClr val="F2F6FB"/>
          </a:solidFill>
          <a:ln w="12700">
            <a:solidFill>
              <a:srgbClr val="F2F6FB"/>
            </a:solidFill>
            <a:prstDash val="solid"/>
          </a:ln>
        </p:spPr>
      </p:sp>
      <p:sp>
        <p:nvSpPr>
          <p:cNvPr id="6" name="Card marker"/>
          <p:cNvSpPr/>
          <p:nvPr/>
        </p:nvSpPr>
        <p:spPr>
          <a:xfrm>
            <a:off x="777240" y="1874520"/>
            <a:ext cx="457200" cy="457200"/>
          </a:xfrm>
          <a:prstGeom prst="ellipse">
            <a:avLst/>
          </a:prstGeom>
          <a:solidFill>
            <a:srgbClr val="EB6834"/>
          </a:solidFill>
          <a:ln w="12700">
            <a:solidFill>
              <a:srgbClr val="FFFFFF"/>
            </a:solidFill>
            <a:prstDash val="solid"/>
          </a:ln>
        </p:spPr>
      </p:sp>
      <p:sp>
        <p:nvSpPr>
          <p:cNvPr id="7" name="Text 4"/>
          <p:cNvSpPr txBox="1"/>
          <p:nvPr/>
        </p:nvSpPr>
        <p:spPr>
          <a:xfrm>
            <a:off x="777240" y="2468880"/>
            <a:ext cx="3108960" cy="640080"/>
          </a:xfrm>
          <a:prstGeom prst="rect">
            <a:avLst/>
          </a:prstGeom>
          <a:noFill/>
          <a:ln/>
        </p:spPr>
        <p:txBody>
          <a:bodyPr wrap="square" lIns="0" tIns="0" rIns="0" bIns="0" rtlCol="0" anchor="t"/>
          <a:lstStyle/>
          <a:p>
            <a:pPr indent="0" marL="0">
              <a:buNone/>
            </a:pPr>
            <a:r>
              <a:rPr lang="en-US" sz="1800" b="1" dirty="0">
                <a:solidFill>
                  <a:schemeClr val="tx1"/>
                </a:solidFill>
              </a:rPr>
              <a:t>Credit layer is an assumption</a:t>
            </a:r>
            <a:endParaRPr lang="en-US" sz="1800" dirty="0"/>
          </a:p>
        </p:txBody>
      </p:sp>
      <p:sp>
        <p:nvSpPr>
          <p:cNvPr id="8" name="Text 5"/>
          <p:cNvSpPr txBox="1"/>
          <p:nvPr/>
        </p:nvSpPr>
        <p:spPr>
          <a:xfrm>
            <a:off x="777240" y="3154680"/>
            <a:ext cx="3108960" cy="2011680"/>
          </a:xfrm>
          <a:prstGeom prst="rect">
            <a:avLst/>
          </a:prstGeom>
          <a:noFill/>
          <a:ln/>
        </p:spPr>
        <p:txBody>
          <a:bodyPr wrap="square" lIns="0" tIns="0" rIns="0" bIns="0" rtlCol="0" anchor="t"/>
          <a:lstStyle/>
          <a:p>
            <a:pPr indent="0" marL="0">
              <a:buNone/>
            </a:pPr>
            <a:r>
              <a:rPr lang="en-US" sz="1400" dirty="0">
                <a:solidFill>
                  <a:srgbClr val="1B2A41"/>
                </a:solidFill>
              </a:rPr>
              <a:t>No receivables data exists. DSO = share on credit x (terms + delay); the A-E rating combines default rate, lateness, loss vs margin and concentration. Defaults are editable in the app and labelled 'scenario'.</a:t>
            </a:r>
            <a:endParaRPr lang="en-US" sz="1400" dirty="0"/>
          </a:p>
        </p:txBody>
      </p:sp>
      <p:sp>
        <p:nvSpPr>
          <p:cNvPr id="9" name="Design card"/>
          <p:cNvSpPr/>
          <p:nvPr/>
        </p:nvSpPr>
        <p:spPr>
          <a:xfrm>
            <a:off x="4297680" y="1691640"/>
            <a:ext cx="3566160" cy="3566160"/>
          </a:xfrm>
          <a:prstGeom prst="roundRect">
            <a:avLst>
              <a:gd name="adj" fmla="val 2051"/>
            </a:avLst>
          </a:prstGeom>
          <a:solidFill>
            <a:srgbClr val="F2F6FB"/>
          </a:solidFill>
          <a:ln w="12700">
            <a:solidFill>
              <a:srgbClr val="F2F6FB"/>
            </a:solidFill>
            <a:prstDash val="solid"/>
          </a:ln>
        </p:spPr>
      </p:sp>
      <p:sp>
        <p:nvSpPr>
          <p:cNvPr id="10" name="Card marker"/>
          <p:cNvSpPr/>
          <p:nvPr/>
        </p:nvSpPr>
        <p:spPr>
          <a:xfrm>
            <a:off x="4526280" y="1874520"/>
            <a:ext cx="457200" cy="457200"/>
          </a:xfrm>
          <a:prstGeom prst="ellipse">
            <a:avLst/>
          </a:prstGeom>
          <a:solidFill>
            <a:srgbClr val="2A78D6"/>
          </a:solidFill>
          <a:ln w="12700">
            <a:solidFill>
              <a:srgbClr val="FFFFFF"/>
            </a:solidFill>
            <a:prstDash val="solid"/>
          </a:ln>
        </p:spPr>
      </p:sp>
      <p:sp>
        <p:nvSpPr>
          <p:cNvPr id="11" name="Text 8"/>
          <p:cNvSpPr txBox="1"/>
          <p:nvPr/>
        </p:nvSpPr>
        <p:spPr>
          <a:xfrm>
            <a:off x="4526280" y="2468880"/>
            <a:ext cx="3108960" cy="640080"/>
          </a:xfrm>
          <a:prstGeom prst="rect">
            <a:avLst/>
          </a:prstGeom>
          <a:noFill/>
          <a:ln/>
        </p:spPr>
        <p:txBody>
          <a:bodyPr wrap="square" lIns="0" tIns="0" rIns="0" bIns="0" rtlCol="0" anchor="t"/>
          <a:lstStyle/>
          <a:p>
            <a:pPr indent="0" marL="0">
              <a:buNone/>
            </a:pPr>
            <a:r>
              <a:rPr lang="en-US" sz="1800" b="1" dirty="0">
                <a:solidFill>
                  <a:schemeClr val="tx1"/>
                </a:solidFill>
              </a:rPr>
              <a:t>Rules, not black boxes</a:t>
            </a:r>
            <a:endParaRPr lang="en-US" sz="1800" dirty="0"/>
          </a:p>
        </p:txBody>
      </p:sp>
      <p:sp>
        <p:nvSpPr>
          <p:cNvPr id="12" name="Text 9"/>
          <p:cNvSpPr txBox="1"/>
          <p:nvPr/>
        </p:nvSpPr>
        <p:spPr>
          <a:xfrm>
            <a:off x="4526280" y="3154680"/>
            <a:ext cx="3108960" cy="2011680"/>
          </a:xfrm>
          <a:prstGeom prst="rect">
            <a:avLst/>
          </a:prstGeom>
          <a:noFill/>
          <a:ln/>
        </p:spPr>
        <p:txBody>
          <a:bodyPr wrap="square" lIns="0" tIns="0" rIns="0" bIns="0" rtlCol="0" anchor="t"/>
          <a:lstStyle/>
          <a:p>
            <a:pPr indent="0" marL="0">
              <a:buNone/>
            </a:pPr>
            <a:r>
              <a:rPr lang="en-US" sz="1400" dirty="0">
                <a:solidFill>
                  <a:srgbClr val="1B2A41"/>
                </a:solidFill>
              </a:rPr>
              <a:t>Six alert rules (stock-out, over-stock, margin, revenue, credit, peak) with thresholds managers can change. Each alert shows money at stake and an action.</a:t>
            </a:r>
            <a:endParaRPr lang="en-US" sz="1400" dirty="0"/>
          </a:p>
        </p:txBody>
      </p:sp>
      <p:sp>
        <p:nvSpPr>
          <p:cNvPr id="13" name="Design card"/>
          <p:cNvSpPr/>
          <p:nvPr/>
        </p:nvSpPr>
        <p:spPr>
          <a:xfrm>
            <a:off x="8046720" y="1691640"/>
            <a:ext cx="3566160" cy="3566160"/>
          </a:xfrm>
          <a:prstGeom prst="roundRect">
            <a:avLst>
              <a:gd name="adj" fmla="val 2051"/>
            </a:avLst>
          </a:prstGeom>
          <a:solidFill>
            <a:srgbClr val="F2F6FB"/>
          </a:solidFill>
          <a:ln w="12700">
            <a:solidFill>
              <a:srgbClr val="F2F6FB"/>
            </a:solidFill>
            <a:prstDash val="solid"/>
          </a:ln>
        </p:spPr>
      </p:sp>
      <p:sp>
        <p:nvSpPr>
          <p:cNvPr id="14" name="Card marker"/>
          <p:cNvSpPr/>
          <p:nvPr/>
        </p:nvSpPr>
        <p:spPr>
          <a:xfrm>
            <a:off x="8275320" y="1874520"/>
            <a:ext cx="457200" cy="457200"/>
          </a:xfrm>
          <a:prstGeom prst="ellipse">
            <a:avLst/>
          </a:prstGeom>
          <a:solidFill>
            <a:srgbClr val="1BAF7A"/>
          </a:solidFill>
          <a:ln w="12700">
            <a:solidFill>
              <a:srgbClr val="FFFFFF"/>
            </a:solidFill>
            <a:prstDash val="solid"/>
          </a:ln>
        </p:spPr>
      </p:sp>
      <p:sp>
        <p:nvSpPr>
          <p:cNvPr id="15" name="Text 12"/>
          <p:cNvSpPr txBox="1"/>
          <p:nvPr/>
        </p:nvSpPr>
        <p:spPr>
          <a:xfrm>
            <a:off x="8275320" y="2468880"/>
            <a:ext cx="3108960" cy="640080"/>
          </a:xfrm>
          <a:prstGeom prst="rect">
            <a:avLst/>
          </a:prstGeom>
          <a:noFill/>
          <a:ln/>
        </p:spPr>
        <p:txBody>
          <a:bodyPr wrap="square" lIns="0" tIns="0" rIns="0" bIns="0" rtlCol="0" anchor="t"/>
          <a:lstStyle/>
          <a:p>
            <a:pPr indent="0" marL="0">
              <a:buNone/>
            </a:pPr>
            <a:r>
              <a:rPr lang="en-US" sz="1800" b="1" dirty="0">
                <a:solidFill>
                  <a:schemeClr val="tx1"/>
                </a:solidFill>
              </a:rPr>
              <a:t>Tested, not assumed</a:t>
            </a:r>
            <a:endParaRPr lang="en-US" sz="1800" dirty="0"/>
          </a:p>
        </p:txBody>
      </p:sp>
      <p:sp>
        <p:nvSpPr>
          <p:cNvPr id="16" name="Text 13"/>
          <p:cNvSpPr txBox="1"/>
          <p:nvPr/>
        </p:nvSpPr>
        <p:spPr>
          <a:xfrm>
            <a:off x="8275320" y="3154680"/>
            <a:ext cx="3108960" cy="2011680"/>
          </a:xfrm>
          <a:prstGeom prst="rect">
            <a:avLst/>
          </a:prstGeom>
          <a:noFill/>
          <a:ln/>
        </p:spPr>
        <p:txBody>
          <a:bodyPr wrap="square" lIns="0" tIns="0" rIns="0" bIns="0" rtlCol="0" anchor="t"/>
          <a:lstStyle/>
          <a:p>
            <a:pPr indent="0" marL="0">
              <a:buNone/>
            </a:pPr>
            <a:r>
              <a:rPr lang="en-US" sz="1400" dirty="0">
                <a:solidFill>
                  <a:srgbClr val="1B2A41"/>
                </a:solidFill>
              </a:rPr>
              <a:t>24 automatic checks: KPIs reconcile to the database, hand-calculated unit tests, independent re-computation of alerts, and the app runs with changed filters.</a:t>
            </a:r>
            <a:endParaRPr lang="en-US" sz="1400" dirty="0"/>
          </a:p>
        </p:txBody>
      </p:sp>
      <p:sp>
        <p:nvSpPr>
          <p:cNvPr id="17" name="Text 14"/>
          <p:cNvSpPr txBox="1"/>
          <p:nvPr/>
        </p:nvSpPr>
        <p:spPr>
          <a:xfrm>
            <a:off x="548640" y="5486400"/>
            <a:ext cx="11064240" cy="731520"/>
          </a:xfrm>
          <a:prstGeom prst="rect">
            <a:avLst/>
          </a:prstGeom>
          <a:noFill/>
          <a:ln/>
        </p:spPr>
        <p:txBody>
          <a:bodyPr wrap="square" lIns="0" tIns="0" rIns="0" bIns="0" rtlCol="0" anchor="t"/>
          <a:lstStyle/>
          <a:p>
            <a:pPr indent="0" marL="0">
              <a:buNone/>
            </a:pPr>
            <a:r>
              <a:rPr lang="en-US" sz="1500" i="1" dirty="0">
                <a:solidFill>
                  <a:srgbClr val="5B6B80"/>
                </a:solidFill>
              </a:rPr>
              <a:t>Why plain language: the readers are senior managers, so every tab leads with the conclusion and uses everyday terms (days of stock, demand served) instead of statistics.</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Price follows scarcity and season</a:t>
            </a:r>
            <a:endParaRPr lang="en-US" sz="3000" dirty="0"/>
          </a:p>
        </p:txBody>
      </p:sp>
      <p:graphicFrame>
        <p:nvGraphicFramePr>
          <p:cNvPr id="5" name="Chart 0" descr=""/>
          <p:cNvGraphicFramePr/>
          <p:nvPr/>
        </p:nvGraphicFramePr>
        <p:xfrm>
          <a:off x="548640" y="1645920"/>
          <a:ext cx="585216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75120" y="1691640"/>
          <a:ext cx="4937760" cy="914400"/>
        </p:xfrm>
        <a:graphic>
          <a:graphicData uri="http://schemas.openxmlformats.org/drawingml/2006/table">
            <a:tbl>
              <a:tblPr/>
              <a:tblGrid>
                <a:gridCol w="1234440"/>
                <a:gridCol w="1737360"/>
                <a:gridCol w="1965960"/>
              </a:tblGrid>
              <a:tr h="365760">
                <a:tc>
                  <a:txBody>
                    <a:bodyPr/>
                    <a:lstStyle/>
                    <a:p>
                      <a:pPr indent="0" marL="0">
                        <a:buNone/>
                      </a:pPr>
                      <a:r>
                        <a:rPr lang="en-US" sz="1300" b="1" dirty="0">
                          <a:solidFill>
                            <a:srgbClr val="FFFFFF"/>
                          </a:solidFill>
                        </a:rPr>
                        <a:t>State</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Meaning</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Action</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868680">
                <a:tc>
                  <a:txBody>
                    <a:bodyPr/>
                    <a:lstStyle/>
                    <a:p>
                      <a:pPr indent="0" marL="0">
                        <a:buNone/>
                      </a:pPr>
                      <a:r>
                        <a:rPr lang="en-US" sz="1300" dirty="0">
                          <a:solidFill>
                            <a:srgbClr val="1B2A41"/>
                          </a:solidFill>
                        </a:rPr>
                        <a:t>Scarce (78%)</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part of demand cannot be served</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raise price up to +8%, only as far as the same units still sell</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1B2A41"/>
                          </a:solidFill>
                        </a:rPr>
                        <a:t>Balanced (5%)</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 covers demand</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hold the price</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A41"/>
                          </a:solidFill>
                        </a:rPr>
                        <a:t>Surplus (17%)</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over 26 weeks of stock</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markdown only if it pays; otherwise fix purchasing</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7" name="Callout"/>
          <p:cNvSpPr/>
          <p:nvPr/>
        </p:nvSpPr>
        <p:spPr>
          <a:xfrm>
            <a:off x="6675120" y="4434840"/>
            <a:ext cx="4937760" cy="1737360"/>
          </a:xfrm>
          <a:prstGeom prst="roundRect">
            <a:avLst>
              <a:gd name="adj" fmla="val 4211"/>
            </a:avLst>
          </a:prstGeom>
          <a:solidFill>
            <a:srgbClr val="F2F6FB"/>
          </a:solidFill>
          <a:ln w="12700">
            <a:solidFill>
              <a:srgbClr val="D9E1EC"/>
            </a:solidFill>
            <a:prstDash val="solid"/>
          </a:ln>
        </p:spPr>
      </p:sp>
      <p:sp>
        <p:nvSpPr>
          <p:cNvPr id="8" name="Text 3"/>
          <p:cNvSpPr txBox="1"/>
          <p:nvPr/>
        </p:nvSpPr>
        <p:spPr>
          <a:xfrm>
            <a:off x="6858000" y="4544568"/>
            <a:ext cx="4572000" cy="292608"/>
          </a:xfrm>
          <a:prstGeom prst="rect">
            <a:avLst/>
          </a:prstGeom>
          <a:noFill/>
          <a:ln/>
        </p:spPr>
        <p:txBody>
          <a:bodyPr wrap="square" lIns="0" tIns="0" rIns="0" bIns="0" rtlCol="0" anchor="ctr"/>
          <a:lstStyle/>
          <a:p>
            <a:pPr indent="0" marL="0">
              <a:buNone/>
            </a:pPr>
            <a:r>
              <a:rPr lang="en-US" sz="1400" b="1" dirty="0">
                <a:solidFill>
                  <a:schemeClr val="accent1"/>
                </a:solidFill>
              </a:rPr>
              <a:t>Why this rule</a:t>
            </a:r>
            <a:endParaRPr lang="en-US" sz="1400" dirty="0"/>
          </a:p>
        </p:txBody>
      </p:sp>
      <p:sp>
        <p:nvSpPr>
          <p:cNvPr id="9" name="Text 4"/>
          <p:cNvSpPr txBox="1"/>
          <p:nvPr/>
        </p:nvSpPr>
        <p:spPr>
          <a:xfrm>
            <a:off x="6858000" y="4892040"/>
            <a:ext cx="4572000" cy="118872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When we sell out anyway, units are set by stock, not price, so a higher price is pure profit.</a:t>
            </a:r>
            <a:endParaRPr lang="en-US" sz="1400" dirty="0"/>
          </a:p>
          <a:p>
            <a:pPr marL="177800" indent="-177800">
              <a:spcAft>
                <a:spcPts val="500"/>
              </a:spcAft>
              <a:buSzPct val="100000"/>
              <a:buChar char="•"/>
            </a:pPr>
            <a:r>
              <a:rPr lang="en-US" sz="1400" dirty="0">
                <a:solidFill>
                  <a:srgbClr val="1B2A41"/>
                </a:solidFill>
              </a:rPr>
              <a:t>It does not need the unknown price sensitivity.</a:t>
            </a:r>
            <a:endParaRPr lang="en-US" sz="1400" dirty="0"/>
          </a:p>
        </p:txBody>
      </p:sp>
      <p:sp>
        <p:nvSpPr>
          <p:cNvPr id="10" name="Text 5"/>
          <p:cNvSpPr txBox="1"/>
          <p:nvPr/>
        </p:nvSpPr>
        <p:spPr>
          <a:xfrm>
            <a:off x="548640" y="5623560"/>
            <a:ext cx="5852160" cy="640080"/>
          </a:xfrm>
          <a:prstGeom prst="rect">
            <a:avLst/>
          </a:prstGeom>
          <a:noFill/>
          <a:ln/>
        </p:spPr>
        <p:txBody>
          <a:bodyPr wrap="square" lIns="0" tIns="0" rIns="0" bIns="0" rtlCol="0" anchor="t"/>
          <a:lstStyle/>
          <a:p>
            <a:pPr indent="0" marL="0">
              <a:buNone/>
            </a:pPr>
            <a:r>
              <a:rPr lang="en-US" sz="1300" i="1" dirty="0">
                <a:solidFill>
                  <a:srgbClr val="5B6B80"/>
                </a:solidFill>
              </a:rPr>
              <a:t>Example: Barley, week 1: we can serve 48% of demand, so the rule suggests +6%; protection allows +4.5%; the weekly step limit makes it +3.0%.</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RISK GUARDRAILS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Safety limits keep every price sensible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4572000"/>
                <a:gridCol w="4206240"/>
              </a:tblGrid>
              <a:tr h="384048">
                <a:tc>
                  <a:txBody>
                    <a:bodyPr/>
                    <a:lstStyle/>
                    <a:p>
                      <a:pPr indent="0" marL="0">
                        <a:buNone/>
                      </a:pPr>
                      <a:r>
                        <a:rPr lang="en-US" sz="1400" b="1" dirty="0">
                          <a:solidFill>
                            <a:srgbClr val="FFFFFF"/>
                          </a:solidFill>
                        </a:rPr>
                        <a:t>Guardrail</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400" b="1" dirty="0">
                          <a:solidFill>
                            <a:srgbClr val="FFFFFF"/>
                          </a:solidFill>
                        </a:rPr>
                        <a:t>Rule</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400" b="1" dirty="0">
                          <a:solidFill>
                            <a:srgbClr val="FFFFFF"/>
                          </a:solidFill>
                        </a:rPr>
                        <a:t>Why</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640080">
                <a:tc>
                  <a:txBody>
                    <a:bodyPr/>
                    <a:lstStyle/>
                    <a:p>
                      <a:pPr indent="0" marL="0">
                        <a:buNone/>
                      </a:pPr>
                      <a:r>
                        <a:rPr lang="en-US" sz="1400" dirty="0">
                          <a:solidFill>
                            <a:srgbClr val="1B2A41"/>
                          </a:solidFill>
                        </a:rPr>
                        <a:t>Sell-out protection</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raise only as far as units sold stay within 1%, even if customers were twice as price-sensitive</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price sensitivity is unknown; the rule does not rely on it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B2A41"/>
                          </a:solidFill>
                        </a:rPr>
                        <a:t>Cost floor</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never below cost + 5% markup + carrying cost, covering expected credit loss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no sale below a profitable level</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B2A41"/>
                          </a:solidFill>
                        </a:rPr>
                        <a:t>Competitive band</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within -8% and +10% of today's price (13-week average)</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stay close to the market; no competitor data exists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A41"/>
                          </a:solidFill>
                        </a:rPr>
                        <a:t>Weekly step</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at most 3% change from one week to the next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customers never see price jumps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400" dirty="0">
                          <a:solidFill>
                            <a:srgbClr val="1B2A41"/>
                          </a:solidFill>
                        </a:rPr>
                        <a:t>Credit risk D/E</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no discounts, +2.5% risk premium, 15 days shorter terms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credit sales cost default loss and funding; risky categories should pay for it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400" dirty="0">
                          <a:solidFill>
                            <a:srgbClr val="1B2A41"/>
                          </a:solidFill>
                        </a:rPr>
                        <a:t>Profit test for markdowns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discount only if expected profit rises, counting stock-holding savings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a discount gives away margin on every unit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300" i="1" dirty="0">
                <a:solidFill>
                  <a:srgbClr val="5B6B80"/>
                </a:solidFill>
              </a:rPr>
              <a:t>All 19 automatic checks pass: band, floor, weekly step, credit rules, hand-calculated arithmetic, and a replay that uses only information available at the time.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EXPECTED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About +$1.3M profit in 26 weeks, robustly</a:t>
            </a:r>
            <a:endParaRPr lang="en-US" sz="3000" dirty="0"/>
          </a:p>
        </p:txBody>
      </p:sp>
      <p:graphicFrame>
        <p:nvGraphicFramePr>
          <p:cNvPr id="5" name="Chart 0" descr=""/>
          <p:cNvGraphicFramePr/>
          <p:nvPr/>
        </p:nvGraphicFramePr>
        <p:xfrm>
          <a:off x="548640" y="1645920"/>
          <a:ext cx="6309360" cy="40233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7132320" y="1691640"/>
            <a:ext cx="2194560" cy="1371600"/>
          </a:xfrm>
          <a:prstGeom prst="roundRect">
            <a:avLst>
              <a:gd name="adj" fmla="val 5333"/>
            </a:avLst>
          </a:prstGeom>
          <a:solidFill>
            <a:srgbClr val="F2F6FB"/>
          </a:solidFill>
          <a:ln w="12700">
            <a:solidFill>
              <a:srgbClr val="F2F6FB"/>
            </a:solidFill>
            <a:prstDash val="solid"/>
          </a:ln>
        </p:spPr>
      </p:sp>
      <p:sp>
        <p:nvSpPr>
          <p:cNvPr id="7" name="Text 3"/>
          <p:cNvSpPr txBox="1"/>
          <p:nvPr/>
        </p:nvSpPr>
        <p:spPr>
          <a:xfrm>
            <a:off x="7269480" y="1764792"/>
            <a:ext cx="1920240" cy="617220"/>
          </a:xfrm>
          <a:prstGeom prst="rect">
            <a:avLst/>
          </a:prstGeom>
          <a:noFill/>
          <a:ln/>
        </p:spPr>
        <p:txBody>
          <a:bodyPr wrap="square" lIns="0" tIns="0" rIns="0" bIns="0" rtlCol="0" anchor="ctr"/>
          <a:lstStyle/>
          <a:p>
            <a:pPr indent="0" marL="0">
              <a:buNone/>
            </a:pPr>
            <a:r>
              <a:rPr lang="en-US" sz="2800" b="1" dirty="0">
                <a:solidFill>
                  <a:srgbClr val="1BAF7A"/>
                </a:solidFill>
                <a:latin typeface="Cambria" pitchFamily="34" charset="0"/>
                <a:ea typeface="Cambria" pitchFamily="34" charset="-122"/>
                <a:cs typeface="Cambria" pitchFamily="34" charset="-120"/>
              </a:rPr>
              <a:t>+$1.4M</a:t>
            </a:r>
            <a:endParaRPr lang="en-US" sz="2800" dirty="0"/>
          </a:p>
        </p:txBody>
      </p:sp>
      <p:sp>
        <p:nvSpPr>
          <p:cNvPr id="8" name="Text 4"/>
          <p:cNvSpPr txBox="1"/>
          <p:nvPr/>
        </p:nvSpPr>
        <p:spPr>
          <a:xfrm>
            <a:off x="7269480" y="2404872"/>
            <a:ext cx="1920240" cy="630936"/>
          </a:xfrm>
          <a:prstGeom prst="rect">
            <a:avLst/>
          </a:prstGeom>
          <a:noFill/>
          <a:ln/>
        </p:spPr>
        <p:txBody>
          <a:bodyPr wrap="square" lIns="0" tIns="0" rIns="0" bIns="0" rtlCol="0" anchor="t"/>
          <a:lstStyle/>
          <a:p>
            <a:pPr indent="0" marL="0">
              <a:buNone/>
            </a:pPr>
            <a:r>
              <a:rPr lang="en-US" sz="1300" dirty="0">
                <a:solidFill>
                  <a:srgbClr val="5B6B80"/>
                </a:solidFill>
              </a:rPr>
              <a:t>replay of the last 52 weeks</a:t>
            </a:r>
            <a:endParaRPr lang="en-US" sz="1300" dirty="0"/>
          </a:p>
        </p:txBody>
      </p:sp>
      <p:sp>
        <p:nvSpPr>
          <p:cNvPr id="9" name="Stat card"/>
          <p:cNvSpPr/>
          <p:nvPr/>
        </p:nvSpPr>
        <p:spPr>
          <a:xfrm>
            <a:off x="9464040" y="1691640"/>
            <a:ext cx="2148840" cy="1371600"/>
          </a:xfrm>
          <a:prstGeom prst="roundRect">
            <a:avLst>
              <a:gd name="adj" fmla="val 5333"/>
            </a:avLst>
          </a:prstGeom>
          <a:solidFill>
            <a:srgbClr val="F2F6FB"/>
          </a:solidFill>
          <a:ln w="12700">
            <a:solidFill>
              <a:srgbClr val="F2F6FB"/>
            </a:solidFill>
            <a:prstDash val="solid"/>
          </a:ln>
        </p:spPr>
      </p:sp>
      <p:sp>
        <p:nvSpPr>
          <p:cNvPr id="10" name="Text 6"/>
          <p:cNvSpPr txBox="1"/>
          <p:nvPr/>
        </p:nvSpPr>
        <p:spPr>
          <a:xfrm>
            <a:off x="9601200" y="1764792"/>
            <a:ext cx="1874520" cy="61722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+$0.94M</a:t>
            </a:r>
            <a:endParaRPr lang="en-US" sz="2800" dirty="0"/>
          </a:p>
        </p:txBody>
      </p:sp>
      <p:sp>
        <p:nvSpPr>
          <p:cNvPr id="11" name="Text 7"/>
          <p:cNvSpPr txBox="1"/>
          <p:nvPr/>
        </p:nvSpPr>
        <p:spPr>
          <a:xfrm>
            <a:off x="9601200" y="2404872"/>
            <a:ext cx="1874520" cy="630936"/>
          </a:xfrm>
          <a:prstGeom prst="rect">
            <a:avLst/>
          </a:prstGeom>
          <a:noFill/>
          <a:ln/>
        </p:spPr>
        <p:txBody>
          <a:bodyPr wrap="square" lIns="0" tIns="0" rIns="0" bIns="0" rtlCol="0" anchor="t"/>
          <a:lstStyle/>
          <a:p>
            <a:pPr indent="0" marL="0">
              <a:buNone/>
            </a:pPr>
            <a:r>
              <a:rPr lang="en-US" sz="1300" dirty="0">
                <a:solidFill>
                  <a:srgbClr val="5B6B80"/>
                </a:solidFill>
              </a:rPr>
              <a:t>if demand is 60% of estimate</a:t>
            </a:r>
            <a:endParaRPr lang="en-US" sz="1300" dirty="0"/>
          </a:p>
        </p:txBody>
      </p:sp>
      <p:sp>
        <p:nvSpPr>
          <p:cNvPr id="12" name="Text 8"/>
          <p:cNvSpPr txBox="1"/>
          <p:nvPr/>
        </p:nvSpPr>
        <p:spPr>
          <a:xfrm>
            <a:off x="7132320" y="3337560"/>
            <a:ext cx="4480560" cy="237744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rgbClr val="1B2A41"/>
                </a:solidFill>
              </a:rPr>
              <a:t>Robust: </a:t>
            </a:r>
            <a:pPr indent="0" marL="0">
              <a:spcAft>
                <a:spcPts val="800"/>
              </a:spcAft>
              <a:buNone/>
            </a:pPr>
            <a:r>
              <a:rPr lang="en-US" sz="1500" dirty="0">
                <a:solidFill>
                  <a:srgbClr val="1B2A41"/>
                </a:solidFill>
              </a:rPr>
              <a:t>all 16 settings we varied stay positive ($0.64M to $1.6M).</a:t>
            </a:r>
            <a:endParaRPr lang="en-US" sz="1500" dirty="0"/>
          </a:p>
          <a:p>
            <a:pPr marL="203200" indent="-203200">
              <a:spcAft>
                <a:spcPts val="800"/>
              </a:spcAft>
              <a:buSzPct val="100000"/>
              <a:buChar char="•"/>
            </a:pPr>
            <a:r>
              <a:rPr lang="en-US" sz="1500" b="1" dirty="0">
                <a:solidFill>
                  <a:srgbClr val="1B2A41"/>
                </a:solidFill>
              </a:rPr>
              <a:t>Same units: </a:t>
            </a:r>
            <a:pPr indent="0" marL="0">
              <a:spcAft>
                <a:spcPts val="800"/>
              </a:spcAft>
              <a:buNone/>
            </a:pPr>
            <a:r>
              <a:rPr lang="en-US" sz="1500" dirty="0">
                <a:solidFill>
                  <a:srgbClr val="1B2A41"/>
                </a:solidFill>
              </a:rPr>
              <a:t>units change by -0.4% in the planning case.</a:t>
            </a:r>
            <a:endParaRPr lang="en-US" sz="1500" dirty="0"/>
          </a:p>
          <a:p>
            <a:pPr marL="203200" indent="-203200">
              <a:spcAft>
                <a:spcPts val="800"/>
              </a:spcAft>
              <a:buSzPct val="100000"/>
              <a:buChar char="•"/>
            </a:pPr>
            <a:r>
              <a:rPr lang="en-US" sz="1500" b="1" dirty="0">
                <a:solidFill>
                  <a:srgbClr val="1B2A41"/>
                </a:solidFill>
              </a:rPr>
              <a:t>Largest setting risk: </a:t>
            </a:r>
            <a:pPr indent="0" marL="0">
              <a:spcAft>
                <a:spcPts val="800"/>
              </a:spcAft>
              <a:buNone/>
            </a:pPr>
            <a:r>
              <a:rPr lang="en-US" sz="1500" dirty="0">
                <a:solidFill>
                  <a:srgbClr val="1B2A41"/>
                </a:solidFill>
              </a:rPr>
              <a:t>how many units we accept to lose; 0% halves the gain.</a:t>
            </a:r>
            <a:endParaRPr lang="en-US" sz="1500" dirty="0"/>
          </a:p>
        </p:txBody>
      </p:sp>
      <p:sp>
        <p:nvSpPr>
          <p:cNvPr id="13" name="Text 9"/>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400" i="1" dirty="0">
                <a:solidFill>
                  <a:srgbClr val="5B6B80"/>
                </a:solidFill>
              </a:rPr>
              <a:t>Assumption: customer price sensitivity cannot be estimated from the data (effect -0.017, 95% range -0.056 to +0.021), so results are shown as a range.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BEYOND PRICE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Where price is not the answer: stock and credit</a:t>
            </a:r>
            <a:endParaRPr lang="en-US" sz="3000" dirty="0"/>
          </a:p>
        </p:txBody>
      </p:sp>
      <p:graphicFrame>
        <p:nvGraphicFramePr>
          <p:cNvPr id="5" name="Chart 0" descr=""/>
          <p:cNvGraphicFramePr/>
          <p:nvPr/>
        </p:nvGraphicFramePr>
        <p:xfrm>
          <a:off x="548640" y="1645920"/>
          <a:ext cx="5760720" cy="384048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6583680" y="1691640"/>
            <a:ext cx="2468880" cy="1417320"/>
          </a:xfrm>
          <a:prstGeom prst="roundRect">
            <a:avLst>
              <a:gd name="adj" fmla="val 5161"/>
            </a:avLst>
          </a:prstGeom>
          <a:solidFill>
            <a:srgbClr val="F2F6FB"/>
          </a:solidFill>
          <a:ln w="12700">
            <a:solidFill>
              <a:srgbClr val="F2F6FB"/>
            </a:solidFill>
            <a:prstDash val="solid"/>
          </a:ln>
        </p:spPr>
      </p:sp>
      <p:sp>
        <p:nvSpPr>
          <p:cNvPr id="7" name="Text 3"/>
          <p:cNvSpPr txBox="1"/>
          <p:nvPr/>
        </p:nvSpPr>
        <p:spPr>
          <a:xfrm>
            <a:off x="6720840" y="1764792"/>
            <a:ext cx="2194560" cy="637794"/>
          </a:xfrm>
          <a:prstGeom prst="rect">
            <a:avLst/>
          </a:prstGeom>
          <a:noFill/>
          <a:ln/>
        </p:spPr>
        <p:txBody>
          <a:bodyPr wrap="square" lIns="0" tIns="0" rIns="0" bIns="0" rtlCol="0" anchor="ctr"/>
          <a:lstStyle/>
          <a:p>
            <a:pPr indent="0" marL="0">
              <a:buNone/>
            </a:pPr>
            <a:r>
              <a:rPr lang="en-US" sz="3200" b="1" dirty="0">
                <a:solidFill>
                  <a:srgbClr val="D03B3B"/>
                </a:solidFill>
                <a:latin typeface="Cambria" pitchFamily="34" charset="0"/>
                <a:ea typeface="Cambria" pitchFamily="34" charset="-122"/>
                <a:cs typeface="Cambria" pitchFamily="34" charset="-120"/>
              </a:rPr>
              <a:t>$1.3M</a:t>
            </a:r>
            <a:endParaRPr lang="en-US" sz="3200" dirty="0"/>
          </a:p>
        </p:txBody>
      </p:sp>
      <p:sp>
        <p:nvSpPr>
          <p:cNvPr id="8" name="Text 4"/>
          <p:cNvSpPr txBox="1"/>
          <p:nvPr/>
        </p:nvSpPr>
        <p:spPr>
          <a:xfrm>
            <a:off x="6720840" y="2428646"/>
            <a:ext cx="2194560" cy="651967"/>
          </a:xfrm>
          <a:prstGeom prst="rect">
            <a:avLst/>
          </a:prstGeom>
          <a:noFill/>
          <a:ln/>
        </p:spPr>
        <p:txBody>
          <a:bodyPr wrap="square" lIns="0" tIns="0" rIns="0" bIns="0" rtlCol="0" anchor="t"/>
          <a:lstStyle/>
          <a:p>
            <a:pPr indent="0" marL="0">
              <a:buNone/>
            </a:pPr>
            <a:r>
              <a:rPr lang="en-US" sz="1300" dirty="0">
                <a:solidFill>
                  <a:srgbClr val="5B6B80"/>
                </a:solidFill>
              </a:rPr>
              <a:t>a year to carry the excess, more than the pricing gain</a:t>
            </a:r>
            <a:endParaRPr lang="en-US" sz="1300" dirty="0"/>
          </a:p>
        </p:txBody>
      </p:sp>
      <p:sp>
        <p:nvSpPr>
          <p:cNvPr id="9" name="Stat card"/>
          <p:cNvSpPr/>
          <p:nvPr/>
        </p:nvSpPr>
        <p:spPr>
          <a:xfrm>
            <a:off x="9189720" y="1691640"/>
            <a:ext cx="2423160" cy="1417320"/>
          </a:xfrm>
          <a:prstGeom prst="roundRect">
            <a:avLst>
              <a:gd name="adj" fmla="val 5161"/>
            </a:avLst>
          </a:prstGeom>
          <a:solidFill>
            <a:srgbClr val="F2F6FB"/>
          </a:solidFill>
          <a:ln w="12700">
            <a:solidFill>
              <a:srgbClr val="F2F6FB"/>
            </a:solidFill>
            <a:prstDash val="solid"/>
          </a:ln>
        </p:spPr>
      </p:sp>
      <p:sp>
        <p:nvSpPr>
          <p:cNvPr id="10" name="Text 6"/>
          <p:cNvSpPr txBox="1"/>
          <p:nvPr/>
        </p:nvSpPr>
        <p:spPr>
          <a:xfrm>
            <a:off x="9326880" y="1764792"/>
            <a:ext cx="2148840" cy="637794"/>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17-49%</a:t>
            </a:r>
            <a:endParaRPr lang="en-US" sz="2800" dirty="0"/>
          </a:p>
        </p:txBody>
      </p:sp>
      <p:sp>
        <p:nvSpPr>
          <p:cNvPr id="11" name="Text 7"/>
          <p:cNvSpPr txBox="1"/>
          <p:nvPr/>
        </p:nvSpPr>
        <p:spPr>
          <a:xfrm>
            <a:off x="9326880" y="2428646"/>
            <a:ext cx="2148840" cy="651967"/>
          </a:xfrm>
          <a:prstGeom prst="rect">
            <a:avLst/>
          </a:prstGeom>
          <a:noFill/>
          <a:ln/>
        </p:spPr>
        <p:txBody>
          <a:bodyPr wrap="square" lIns="0" tIns="0" rIns="0" bIns="0" rtlCol="0" anchor="t"/>
          <a:lstStyle/>
          <a:p>
            <a:pPr indent="0" marL="0">
              <a:buNone/>
            </a:pPr>
            <a:r>
              <a:rPr lang="en-US" sz="1300" dirty="0">
                <a:solidFill>
                  <a:srgbClr val="5B6B80"/>
                </a:solidFill>
              </a:rPr>
              <a:t>price cut needed to clear it in a year</a:t>
            </a:r>
            <a:endParaRPr lang="en-US" sz="1300" dirty="0"/>
          </a:p>
        </p:txBody>
      </p:sp>
      <p:sp>
        <p:nvSpPr>
          <p:cNvPr id="12" name="Text 8"/>
          <p:cNvSpPr txBox="1"/>
          <p:nvPr/>
        </p:nvSpPr>
        <p:spPr>
          <a:xfrm>
            <a:off x="6583680" y="3383280"/>
            <a:ext cx="5029200" cy="283464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rgbClr val="1B2A41"/>
                </a:solidFill>
              </a:rPr>
              <a:t>Over-stock: </a:t>
            </a:r>
            <a:pPr indent="0" marL="0">
              <a:spcAft>
                <a:spcPts val="800"/>
              </a:spcAft>
              <a:buNone/>
            </a:pPr>
            <a:r>
              <a:rPr lang="en-US" sz="1500" dirty="0">
                <a:solidFill>
                  <a:srgbClr val="1B2A41"/>
                </a:solidFill>
              </a:rPr>
              <a:t>stop buying; offer bulk or export deals. 200 test markdowns did not pay.</a:t>
            </a:r>
            <a:endParaRPr lang="en-US" sz="1500" dirty="0"/>
          </a:p>
          <a:p>
            <a:pPr marL="203200" indent="-203200">
              <a:spcAft>
                <a:spcPts val="800"/>
              </a:spcAft>
              <a:buSzPct val="100000"/>
              <a:buChar char="•"/>
            </a:pPr>
            <a:r>
              <a:rPr lang="en-US" sz="1500" b="1" dirty="0">
                <a:solidFill>
                  <a:srgbClr val="1B2A41"/>
                </a:solidFill>
              </a:rPr>
              <a:t>Credit D/E: </a:t>
            </a:r>
            <a:pPr indent="0" marL="0">
              <a:spcAft>
                <a:spcPts val="800"/>
              </a:spcAft>
              <a:buNone/>
            </a:pPr>
            <a:r>
              <a:rPr lang="en-US" sz="1500" dirty="0">
                <a:solidFill>
                  <a:srgbClr val="1B2A41"/>
                </a:solidFill>
              </a:rPr>
              <a:t>no discounts, 2.5% risk premium; 15 days shorter terms free about $361K of cash.</a:t>
            </a:r>
            <a:endParaRPr lang="en-US" sz="1500" dirty="0"/>
          </a:p>
          <a:p>
            <a:pPr marL="203200" indent="-203200">
              <a:spcAft>
                <a:spcPts val="800"/>
              </a:spcAft>
              <a:buSzPct val="100000"/>
              <a:buChar char="•"/>
            </a:pPr>
            <a:r>
              <a:rPr lang="en-US" sz="1500" b="1" dirty="0">
                <a:solidFill>
                  <a:srgbClr val="1B2A41"/>
                </a:solidFill>
              </a:rPr>
              <a:t>Lean products: </a:t>
            </a:r>
            <a:pPr indent="0" marL="0">
              <a:spcAft>
                <a:spcPts val="800"/>
              </a:spcAft>
              <a:buNone/>
            </a:pPr>
            <a:r>
              <a:rPr lang="en-US" sz="1500" dirty="0">
                <a:solidFill>
                  <a:srgbClr val="1B2A41"/>
                </a:solidFill>
              </a:rPr>
              <a:t>raise stock cover; a pricing gain is only worth having if we keep selling.</a:t>
            </a:r>
            <a:endParaRPr lang="en-US" sz="1500" dirty="0"/>
          </a:p>
        </p:txBody>
      </p:sp>
      <p:sp>
        <p:nvSpPr>
          <p:cNvPr id="13" name="Text 9"/>
          <p:cNvSpPr txBox="1"/>
          <p:nvPr/>
        </p:nvSpPr>
        <p:spPr>
          <a:xfrm>
            <a:off x="548640" y="5760720"/>
            <a:ext cx="5760720" cy="548640"/>
          </a:xfrm>
          <a:prstGeom prst="rect">
            <a:avLst/>
          </a:prstGeom>
          <a:noFill/>
          <a:ln/>
        </p:spPr>
        <p:txBody>
          <a:bodyPr wrap="square" lIns="0" tIns="0" rIns="0" bIns="0" rtlCol="0" anchor="t"/>
          <a:lstStyle/>
          <a:p>
            <a:pPr indent="0" marL="0">
              <a:buNone/>
            </a:pPr>
            <a:r>
              <a:rPr lang="en-US" sz="1300" i="1" dirty="0">
                <a:solidFill>
                  <a:srgbClr val="5B6B80"/>
                </a:solidFill>
              </a:rPr>
              <a:t>Assumptions: holding cost 12% a year, funding cost 8% a year, credit ratings from scenario inputs.</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PILOT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Pilot first: replace assumptions with measurements</a:t>
            </a:r>
            <a:endParaRPr lang="en-US" sz="3000" dirty="0"/>
          </a:p>
        </p:txBody>
      </p:sp>
      <p:sp>
        <p:nvSpPr>
          <p:cNvPr id="5" name="Pilot card"/>
          <p:cNvSpPr/>
          <p:nvPr/>
        </p:nvSpPr>
        <p:spPr>
          <a:xfrm>
            <a:off x="548640" y="1691640"/>
            <a:ext cx="5440680" cy="3063240"/>
          </a:xfrm>
          <a:prstGeom prst="roundRect">
            <a:avLst>
              <a:gd name="adj" fmla="val 2388"/>
            </a:avLst>
          </a:prstGeom>
          <a:solidFill>
            <a:srgbClr val="F2F6FB"/>
          </a:solidFill>
          <a:ln w="12700">
            <a:solidFill>
              <a:srgbClr val="F2F6FB"/>
            </a:solidFill>
            <a:prstDash val="solid"/>
          </a:ln>
        </p:spPr>
      </p:sp>
      <p:sp>
        <p:nvSpPr>
          <p:cNvPr id="6" name="Text 3"/>
          <p:cNvSpPr txBox="1"/>
          <p:nvPr/>
        </p:nvSpPr>
        <p:spPr>
          <a:xfrm>
            <a:off x="777240" y="1828800"/>
            <a:ext cx="1828800" cy="365760"/>
          </a:xfrm>
          <a:prstGeom prst="rect">
            <a:avLst/>
          </a:prstGeom>
          <a:noFill/>
          <a:ln/>
        </p:spPr>
        <p:txBody>
          <a:bodyPr wrap="square" lIns="0" tIns="0" rIns="0" bIns="0" rtlCol="0" anchor="ctr"/>
          <a:lstStyle/>
          <a:p>
            <a:pPr indent="0" marL="0">
              <a:buNone/>
            </a:pPr>
            <a:r>
              <a:rPr lang="en-US" sz="2000" b="1" dirty="0">
                <a:solidFill>
                  <a:srgbClr val="2A78D6"/>
                </a:solidFill>
              </a:rPr>
              <a:t>Pilot A</a:t>
            </a:r>
            <a:endParaRPr lang="en-US" sz="2000" dirty="0"/>
          </a:p>
        </p:txBody>
      </p:sp>
      <p:sp>
        <p:nvSpPr>
          <p:cNvPr id="7" name="Text 4"/>
          <p:cNvSpPr txBox="1"/>
          <p:nvPr/>
        </p:nvSpPr>
        <p:spPr>
          <a:xfrm>
            <a:off x="777240" y="2212848"/>
            <a:ext cx="4937760" cy="411480"/>
          </a:xfrm>
          <a:prstGeom prst="rect">
            <a:avLst/>
          </a:prstGeom>
          <a:noFill/>
          <a:ln/>
        </p:spPr>
        <p:txBody>
          <a:bodyPr wrap="square" lIns="0" tIns="0" rIns="0" bIns="0" rtlCol="0" anchor="ctr"/>
          <a:lstStyle/>
          <a:p>
            <a:pPr indent="0" marL="0">
              <a:buNone/>
            </a:pPr>
            <a:r>
              <a:rPr lang="en-US" sz="1800" b="1" dirty="0">
                <a:solidFill>
                  <a:schemeClr val="tx1"/>
                </a:solidFill>
              </a:rPr>
              <a:t>Do we still sell out?</a:t>
            </a:r>
            <a:endParaRPr lang="en-US" sz="1800" dirty="0"/>
          </a:p>
        </p:txBody>
      </p:sp>
      <p:sp>
        <p:nvSpPr>
          <p:cNvPr id="8" name="Text 5"/>
          <p:cNvSpPr txBox="1"/>
          <p:nvPr/>
        </p:nvSpPr>
        <p:spPr>
          <a:xfrm>
            <a:off x="777240" y="2743200"/>
            <a:ext cx="4983480" cy="19202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41"/>
                </a:solidFill>
              </a:rPr>
              <a:t>6 scarce products at +3% / +5%, with matched control products</a:t>
            </a:r>
            <a:endParaRPr lang="en-US" sz="1500" dirty="0"/>
          </a:p>
          <a:p>
            <a:pPr marL="203200" indent="-203200">
              <a:spcAft>
                <a:spcPts val="800"/>
              </a:spcAft>
              <a:buSzPct val="100000"/>
              <a:buChar char="•"/>
            </a:pPr>
            <a:r>
              <a:rPr lang="en-US" sz="1500" dirty="0">
                <a:solidFill>
                  <a:srgbClr val="1B2A41"/>
                </a:solidFill>
              </a:rPr>
              <a:t>8 weeks</a:t>
            </a:r>
            <a:endParaRPr lang="en-US" sz="1500" dirty="0"/>
          </a:p>
          <a:p>
            <a:pPr marL="203200" indent="-203200">
              <a:spcAft>
                <a:spcPts val="800"/>
              </a:spcAft>
              <a:buSzPct val="100000"/>
              <a:buChar char="•"/>
            </a:pPr>
            <a:r>
              <a:rPr lang="en-US" sz="1500" dirty="0">
                <a:solidFill>
                  <a:srgbClr val="1B2A41"/>
                </a:solidFill>
              </a:rPr>
              <a:t>Success: units within 1% of control and stock still sells out</a:t>
            </a:r>
            <a:endParaRPr lang="en-US" sz="1500" dirty="0"/>
          </a:p>
        </p:txBody>
      </p:sp>
      <p:sp>
        <p:nvSpPr>
          <p:cNvPr id="9" name="Pilot card"/>
          <p:cNvSpPr/>
          <p:nvPr/>
        </p:nvSpPr>
        <p:spPr>
          <a:xfrm>
            <a:off x="6172200" y="1691640"/>
            <a:ext cx="5440680" cy="3063240"/>
          </a:xfrm>
          <a:prstGeom prst="roundRect">
            <a:avLst>
              <a:gd name="adj" fmla="val 2388"/>
            </a:avLst>
          </a:prstGeom>
          <a:solidFill>
            <a:srgbClr val="F2F6FB"/>
          </a:solidFill>
          <a:ln w="12700">
            <a:solidFill>
              <a:srgbClr val="F2F6FB"/>
            </a:solidFill>
            <a:prstDash val="solid"/>
          </a:ln>
        </p:spPr>
      </p:sp>
      <p:sp>
        <p:nvSpPr>
          <p:cNvPr id="10" name="Text 7"/>
          <p:cNvSpPr txBox="1"/>
          <p:nvPr/>
        </p:nvSpPr>
        <p:spPr>
          <a:xfrm>
            <a:off x="6400800" y="1828800"/>
            <a:ext cx="1828800" cy="365760"/>
          </a:xfrm>
          <a:prstGeom prst="rect">
            <a:avLst/>
          </a:prstGeom>
          <a:noFill/>
          <a:ln/>
        </p:spPr>
        <p:txBody>
          <a:bodyPr wrap="square" lIns="0" tIns="0" rIns="0" bIns="0" rtlCol="0" anchor="ctr"/>
          <a:lstStyle/>
          <a:p>
            <a:pPr indent="0" marL="0">
              <a:buNone/>
            </a:pPr>
            <a:r>
              <a:rPr lang="en-US" sz="2000" b="1" dirty="0">
                <a:solidFill>
                  <a:srgbClr val="1BAF7A"/>
                </a:solidFill>
              </a:rPr>
              <a:t>Pilot B</a:t>
            </a:r>
            <a:endParaRPr lang="en-US" sz="2000" dirty="0"/>
          </a:p>
        </p:txBody>
      </p:sp>
      <p:sp>
        <p:nvSpPr>
          <p:cNvPr id="11" name="Text 8"/>
          <p:cNvSpPr txBox="1"/>
          <p:nvPr/>
        </p:nvSpPr>
        <p:spPr>
          <a:xfrm>
            <a:off x="6400800" y="2212848"/>
            <a:ext cx="4937760" cy="411480"/>
          </a:xfrm>
          <a:prstGeom prst="rect">
            <a:avLst/>
          </a:prstGeom>
          <a:noFill/>
          <a:ln/>
        </p:spPr>
        <p:txBody>
          <a:bodyPr wrap="square" lIns="0" tIns="0" rIns="0" bIns="0" rtlCol="0" anchor="ctr"/>
          <a:lstStyle/>
          <a:p>
            <a:pPr indent="0" marL="0">
              <a:buNone/>
            </a:pPr>
            <a:r>
              <a:rPr lang="en-US" sz="1800" b="1" dirty="0">
                <a:solidFill>
                  <a:schemeClr val="tx1"/>
                </a:solidFill>
              </a:rPr>
              <a:t>How sensitive are customers?</a:t>
            </a:r>
            <a:endParaRPr lang="en-US" sz="1800" dirty="0"/>
          </a:p>
        </p:txBody>
      </p:sp>
      <p:sp>
        <p:nvSpPr>
          <p:cNvPr id="12" name="Text 9"/>
          <p:cNvSpPr txBox="1"/>
          <p:nvPr/>
        </p:nvSpPr>
        <p:spPr>
          <a:xfrm>
            <a:off x="6400800" y="2743200"/>
            <a:ext cx="4983480" cy="19202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41"/>
                </a:solidFill>
              </a:rPr>
              <a:t>High-stock products, price +3% / -3% in random weeks</a:t>
            </a:r>
            <a:endParaRPr lang="en-US" sz="1500" dirty="0"/>
          </a:p>
          <a:p>
            <a:pPr marL="203200" indent="-203200">
              <a:spcAft>
                <a:spcPts val="800"/>
              </a:spcAft>
              <a:buSzPct val="100000"/>
              <a:buChar char="•"/>
            </a:pPr>
            <a:r>
              <a:rPr lang="en-US" sz="1500" dirty="0">
                <a:solidFill>
                  <a:srgbClr val="1B2A41"/>
                </a:solidFill>
              </a:rPr>
              <a:t>8 weeks, weekly demand noise about 8%</a:t>
            </a:r>
            <a:endParaRPr lang="en-US" sz="1500" dirty="0"/>
          </a:p>
          <a:p>
            <a:pPr marL="203200" indent="-203200">
              <a:spcAft>
                <a:spcPts val="800"/>
              </a:spcAft>
              <a:buSzPct val="100000"/>
              <a:buChar char="•"/>
            </a:pPr>
            <a:r>
              <a:rPr lang="en-US" sz="1500" dirty="0">
                <a:solidFill>
                  <a:srgbClr val="1B2A41"/>
                </a:solidFill>
              </a:rPr>
              <a:t>Output: price sensitivity to replace the planning assumption</a:t>
            </a:r>
            <a:endParaRPr lang="en-US" sz="1500" dirty="0"/>
          </a:p>
        </p:txBody>
      </p:sp>
      <p:sp>
        <p:nvSpPr>
          <p:cNvPr id="13" name="Callout"/>
          <p:cNvSpPr/>
          <p:nvPr/>
        </p:nvSpPr>
        <p:spPr>
          <a:xfrm>
            <a:off x="548640" y="4937760"/>
            <a:ext cx="11064240" cy="1325880"/>
          </a:xfrm>
          <a:prstGeom prst="roundRect">
            <a:avLst>
              <a:gd name="adj" fmla="val 5517"/>
            </a:avLst>
          </a:prstGeom>
          <a:solidFill>
            <a:srgbClr val="F2F6FB"/>
          </a:solidFill>
          <a:ln w="12700">
            <a:solidFill>
              <a:srgbClr val="D9E1EC"/>
            </a:solidFill>
            <a:prstDash val="solid"/>
          </a:ln>
        </p:spPr>
      </p:sp>
      <p:sp>
        <p:nvSpPr>
          <p:cNvPr id="14" name="Text 11"/>
          <p:cNvSpPr txBox="1"/>
          <p:nvPr/>
        </p:nvSpPr>
        <p:spPr>
          <a:xfrm>
            <a:off x="731520" y="504748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Data we would ask for next</a:t>
            </a:r>
            <a:endParaRPr lang="en-US" sz="1400" dirty="0"/>
          </a:p>
        </p:txBody>
      </p:sp>
      <p:sp>
        <p:nvSpPr>
          <p:cNvPr id="15" name="Text 12"/>
          <p:cNvSpPr txBox="1"/>
          <p:nvPr/>
        </p:nvSpPr>
        <p:spPr>
          <a:xfrm>
            <a:off x="731520" y="5394960"/>
            <a:ext cx="10698480" cy="7772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Customer invoices and payment history (replaces the credit scenario).</a:t>
            </a:r>
            <a:endParaRPr lang="en-US" sz="1400" dirty="0"/>
          </a:p>
          <a:p>
            <a:pPr marL="177800" indent="-177800">
              <a:spcAft>
                <a:spcPts val="500"/>
              </a:spcAft>
              <a:buSzPct val="100000"/>
              <a:buChar char="•"/>
            </a:pPr>
            <a:r>
              <a:rPr lang="en-US" sz="1400" dirty="0">
                <a:solidFill>
                  <a:srgbClr val="1B2A41"/>
                </a:solidFill>
              </a:rPr>
              <a:t>Competitor price observations (replaces the 13-week average proxy).</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rgbClr val="7FB2F0"/>
                </a:solidFill>
              </a:rPr>
              <a:t>RECOMMENDATIONS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Four actions, in order of value</a:t>
            </a:r>
            <a:endParaRPr lang="en-US" sz="3000" dirty="0"/>
          </a:p>
        </p:txBody>
      </p:sp>
      <p:sp>
        <p:nvSpPr>
          <p:cNvPr id="5" name="Action number"/>
          <p:cNvSpPr/>
          <p:nvPr/>
        </p:nvSpPr>
        <p:spPr>
          <a:xfrm>
            <a:off x="548640" y="1828800"/>
            <a:ext cx="685800" cy="685800"/>
          </a:xfrm>
          <a:prstGeom prst="ellipse">
            <a:avLst/>
          </a:prstGeom>
          <a:solidFill>
            <a:srgbClr val="EB6834"/>
          </a:solidFill>
          <a:ln w="12700">
            <a:solidFill>
              <a:srgbClr val="12263F"/>
            </a:solidFill>
            <a:prstDash val="solid"/>
          </a:ln>
        </p:spPr>
      </p:sp>
      <p:sp>
        <p:nvSpPr>
          <p:cNvPr id="6" name="Text 3"/>
          <p:cNvSpPr txBox="1"/>
          <p:nvPr/>
        </p:nvSpPr>
        <p:spPr>
          <a:xfrm>
            <a:off x="548640" y="1828800"/>
            <a:ext cx="685800" cy="685800"/>
          </a:xfrm>
          <a:prstGeom prst="rect">
            <a:avLst/>
          </a:prstGeom>
          <a:noFill/>
          <a:ln/>
        </p:spPr>
        <p:txBody>
          <a:bodyPr wrap="square" lIns="0" tIns="0" rIns="0" bIns="0" rtlCol="0" anchor="ctr"/>
          <a:lstStyle/>
          <a:p>
            <a:pPr algn="ctr" indent="0" marL="0">
              <a:buNone/>
            </a:pPr>
            <a:r>
              <a:rPr lang="en-US" sz="2400" b="1" dirty="0">
                <a:solidFill>
                  <a:srgbClr val="12263F"/>
                </a:solidFill>
              </a:rPr>
              <a:t>1</a:t>
            </a:r>
            <a:endParaRPr lang="en-US" sz="2400" dirty="0"/>
          </a:p>
        </p:txBody>
      </p:sp>
      <p:sp>
        <p:nvSpPr>
          <p:cNvPr id="7" name="Text 4"/>
          <p:cNvSpPr txBox="1"/>
          <p:nvPr/>
        </p:nvSpPr>
        <p:spPr>
          <a:xfrm>
            <a:off x="1554480" y="1737360"/>
            <a:ext cx="9966960" cy="411480"/>
          </a:xfrm>
          <a:prstGeom prst="rect">
            <a:avLst/>
          </a:prstGeom>
          <a:noFill/>
          <a:ln/>
        </p:spPr>
        <p:txBody>
          <a:bodyPr wrap="square" lIns="0" tIns="0" rIns="0" bIns="0" rtlCol="0" anchor="ctr"/>
          <a:lstStyle/>
          <a:p>
            <a:pPr indent="0" marL="0">
              <a:buNone/>
            </a:pPr>
            <a:r>
              <a:rPr lang="en-US" sz="2100" b="1" dirty="0">
                <a:solidFill>
                  <a:srgbClr val="FFFFFF"/>
                </a:solidFill>
              </a:rPr>
              <a:t>Stop buying the 5 over-stocked products</a:t>
            </a:r>
            <a:endParaRPr lang="en-US" sz="2100" dirty="0"/>
          </a:p>
        </p:txBody>
      </p:sp>
      <p:sp>
        <p:nvSpPr>
          <p:cNvPr id="8" name="Text 5"/>
          <p:cNvSpPr txBox="1"/>
          <p:nvPr/>
        </p:nvSpPr>
        <p:spPr>
          <a:xfrm>
            <a:off x="1554480" y="2176272"/>
            <a:ext cx="9966960" cy="457200"/>
          </a:xfrm>
          <a:prstGeom prst="rect">
            <a:avLst/>
          </a:prstGeom>
          <a:noFill/>
          <a:ln/>
        </p:spPr>
        <p:txBody>
          <a:bodyPr wrap="square" lIns="0" tIns="0" rIns="0" bIns="0" rtlCol="0" anchor="ctr"/>
          <a:lstStyle/>
          <a:p>
            <a:pPr indent="0" marL="0">
              <a:buNone/>
            </a:pPr>
            <a:r>
              <a:rPr lang="en-US" sz="1600" dirty="0">
                <a:solidFill>
                  <a:srgbClr val="CADCFC"/>
                </a:solidFill>
              </a:rPr>
              <a:t>Frees $10.8M of cash over time and saves about $1.3M a year; offer bulk or export deals.</a:t>
            </a:r>
            <a:endParaRPr lang="en-US" sz="1600" dirty="0"/>
          </a:p>
        </p:txBody>
      </p:sp>
      <p:sp>
        <p:nvSpPr>
          <p:cNvPr id="9" name="Action number"/>
          <p:cNvSpPr/>
          <p:nvPr/>
        </p:nvSpPr>
        <p:spPr>
          <a:xfrm>
            <a:off x="548640" y="2944368"/>
            <a:ext cx="685800" cy="685800"/>
          </a:xfrm>
          <a:prstGeom prst="ellipse">
            <a:avLst/>
          </a:prstGeom>
          <a:solidFill>
            <a:srgbClr val="2A78D6"/>
          </a:solidFill>
          <a:ln w="12700">
            <a:solidFill>
              <a:srgbClr val="12263F"/>
            </a:solidFill>
            <a:prstDash val="solid"/>
          </a:ln>
        </p:spPr>
      </p:sp>
      <p:sp>
        <p:nvSpPr>
          <p:cNvPr id="10" name="Text 7"/>
          <p:cNvSpPr txBox="1"/>
          <p:nvPr/>
        </p:nvSpPr>
        <p:spPr>
          <a:xfrm>
            <a:off x="548640" y="2944368"/>
            <a:ext cx="685800" cy="685800"/>
          </a:xfrm>
          <a:prstGeom prst="rect">
            <a:avLst/>
          </a:prstGeom>
          <a:noFill/>
          <a:ln/>
        </p:spPr>
        <p:txBody>
          <a:bodyPr wrap="square" lIns="0" tIns="0" rIns="0" bIns="0" rtlCol="0" anchor="ctr"/>
          <a:lstStyle/>
          <a:p>
            <a:pPr algn="ctr" indent="0" marL="0">
              <a:buNone/>
            </a:pPr>
            <a:r>
              <a:rPr lang="en-US" sz="2400" b="1" dirty="0">
                <a:solidFill>
                  <a:srgbClr val="12263F"/>
                </a:solidFill>
              </a:rPr>
              <a:t>2</a:t>
            </a:r>
            <a:endParaRPr lang="en-US" sz="2400" dirty="0"/>
          </a:p>
        </p:txBody>
      </p:sp>
      <p:sp>
        <p:nvSpPr>
          <p:cNvPr id="11" name="Text 8"/>
          <p:cNvSpPr txBox="1"/>
          <p:nvPr/>
        </p:nvSpPr>
        <p:spPr>
          <a:xfrm>
            <a:off x="1554480" y="2852928"/>
            <a:ext cx="9966960" cy="411480"/>
          </a:xfrm>
          <a:prstGeom prst="rect">
            <a:avLst/>
          </a:prstGeom>
          <a:noFill/>
          <a:ln/>
        </p:spPr>
        <p:txBody>
          <a:bodyPr wrap="square" lIns="0" tIns="0" rIns="0" bIns="0" rtlCol="0" anchor="ctr"/>
          <a:lstStyle/>
          <a:p>
            <a:pPr indent="0" marL="0">
              <a:buNone/>
            </a:pPr>
            <a:r>
              <a:rPr lang="en-US" sz="2100" b="1" dirty="0">
                <a:solidFill>
                  <a:srgbClr val="FFFFFF"/>
                </a:solidFill>
              </a:rPr>
              <a:t>Raise stock cover on lean products</a:t>
            </a:r>
            <a:endParaRPr lang="en-US" sz="2100" dirty="0"/>
          </a:p>
        </p:txBody>
      </p:sp>
      <p:sp>
        <p:nvSpPr>
          <p:cNvPr id="12" name="Text 9"/>
          <p:cNvSpPr txBox="1"/>
          <p:nvPr/>
        </p:nvSpPr>
        <p:spPr>
          <a:xfrm>
            <a:off x="1554480" y="3291840"/>
            <a:ext cx="9966960" cy="457200"/>
          </a:xfrm>
          <a:prstGeom prst="rect">
            <a:avLst/>
          </a:prstGeom>
          <a:noFill/>
          <a:ln/>
        </p:spPr>
        <p:txBody>
          <a:bodyPr wrap="square" lIns="0" tIns="0" rIns="0" bIns="0" rtlCol="0" anchor="ctr"/>
          <a:lstStyle/>
          <a:p>
            <a:pPr indent="0" marL="0">
              <a:buNone/>
            </a:pPr>
            <a:r>
              <a:rPr lang="en-US" sz="1600" dirty="0">
                <a:solidFill>
                  <a:srgbClr val="CADCFC"/>
                </a:solidFill>
              </a:rPr>
              <a:t>Use the P90 demand in the dashboard alerts; 44% of next-26-week demand is at risk at today's stock.</a:t>
            </a:r>
            <a:endParaRPr lang="en-US" sz="1600" dirty="0"/>
          </a:p>
        </p:txBody>
      </p:sp>
      <p:sp>
        <p:nvSpPr>
          <p:cNvPr id="13" name="Action number"/>
          <p:cNvSpPr/>
          <p:nvPr/>
        </p:nvSpPr>
        <p:spPr>
          <a:xfrm>
            <a:off x="548640" y="4059936"/>
            <a:ext cx="685800" cy="685800"/>
          </a:xfrm>
          <a:prstGeom prst="ellipse">
            <a:avLst/>
          </a:prstGeom>
          <a:solidFill>
            <a:srgbClr val="1BAF7A"/>
          </a:solidFill>
          <a:ln w="12700">
            <a:solidFill>
              <a:srgbClr val="12263F"/>
            </a:solidFill>
            <a:prstDash val="solid"/>
          </a:ln>
        </p:spPr>
      </p:sp>
      <p:sp>
        <p:nvSpPr>
          <p:cNvPr id="14" name="Text 11"/>
          <p:cNvSpPr txBox="1"/>
          <p:nvPr/>
        </p:nvSpPr>
        <p:spPr>
          <a:xfrm>
            <a:off x="548640" y="4059936"/>
            <a:ext cx="685800" cy="685800"/>
          </a:xfrm>
          <a:prstGeom prst="rect">
            <a:avLst/>
          </a:prstGeom>
          <a:noFill/>
          <a:ln/>
        </p:spPr>
        <p:txBody>
          <a:bodyPr wrap="square" lIns="0" tIns="0" rIns="0" bIns="0" rtlCol="0" anchor="ctr"/>
          <a:lstStyle/>
          <a:p>
            <a:pPr algn="ctr" indent="0" marL="0">
              <a:buNone/>
            </a:pPr>
            <a:r>
              <a:rPr lang="en-US" sz="2400" b="1" dirty="0">
                <a:solidFill>
                  <a:srgbClr val="12263F"/>
                </a:solidFill>
              </a:rPr>
              <a:t>3</a:t>
            </a:r>
            <a:endParaRPr lang="en-US" sz="2400" dirty="0"/>
          </a:p>
        </p:txBody>
      </p:sp>
      <p:sp>
        <p:nvSpPr>
          <p:cNvPr id="15" name="Text 12"/>
          <p:cNvSpPr txBox="1"/>
          <p:nvPr/>
        </p:nvSpPr>
        <p:spPr>
          <a:xfrm>
            <a:off x="1554480" y="3968496"/>
            <a:ext cx="9966960" cy="411480"/>
          </a:xfrm>
          <a:prstGeom prst="rect">
            <a:avLst/>
          </a:prstGeom>
          <a:noFill/>
          <a:ln/>
        </p:spPr>
        <p:txBody>
          <a:bodyPr wrap="square" lIns="0" tIns="0" rIns="0" bIns="0" rtlCol="0" anchor="ctr"/>
          <a:lstStyle/>
          <a:p>
            <a:pPr indent="0" marL="0">
              <a:buNone/>
            </a:pPr>
            <a:r>
              <a:rPr lang="en-US" sz="2100" b="1" dirty="0">
                <a:solidFill>
                  <a:srgbClr val="FFFFFF"/>
                </a:solidFill>
              </a:rPr>
              <a:t>Run Pilots A and B, then roll out pricing</a:t>
            </a:r>
            <a:endParaRPr lang="en-US" sz="2100" dirty="0"/>
          </a:p>
        </p:txBody>
      </p:sp>
      <p:sp>
        <p:nvSpPr>
          <p:cNvPr id="16" name="Text 13"/>
          <p:cNvSpPr txBox="1"/>
          <p:nvPr/>
        </p:nvSpPr>
        <p:spPr>
          <a:xfrm>
            <a:off x="1554480" y="4407408"/>
            <a:ext cx="9966960" cy="457200"/>
          </a:xfrm>
          <a:prstGeom prst="rect">
            <a:avLst/>
          </a:prstGeom>
          <a:noFill/>
          <a:ln/>
        </p:spPr>
        <p:txBody>
          <a:bodyPr wrap="square" lIns="0" tIns="0" rIns="0" bIns="0" rtlCol="0" anchor="ctr"/>
          <a:lstStyle/>
          <a:p>
            <a:pPr indent="0" marL="0">
              <a:buNone/>
            </a:pPr>
            <a:r>
              <a:rPr lang="en-US" sz="1600" dirty="0">
                <a:solidFill>
                  <a:srgbClr val="CADCFC"/>
                </a:solidFill>
              </a:rPr>
              <a:t>About +$1.3M in 26 weeks, protected by the safety limits; learn the real price sensitivity.</a:t>
            </a:r>
            <a:endParaRPr lang="en-US" sz="1600" dirty="0"/>
          </a:p>
        </p:txBody>
      </p:sp>
      <p:sp>
        <p:nvSpPr>
          <p:cNvPr id="17" name="Action number"/>
          <p:cNvSpPr/>
          <p:nvPr/>
        </p:nvSpPr>
        <p:spPr>
          <a:xfrm>
            <a:off x="548640" y="5175504"/>
            <a:ext cx="685800" cy="685800"/>
          </a:xfrm>
          <a:prstGeom prst="ellipse">
            <a:avLst/>
          </a:prstGeom>
          <a:solidFill>
            <a:srgbClr val="9EC5F4"/>
          </a:solidFill>
          <a:ln w="12700">
            <a:solidFill>
              <a:srgbClr val="12263F"/>
            </a:solidFill>
            <a:prstDash val="solid"/>
          </a:ln>
        </p:spPr>
      </p:sp>
      <p:sp>
        <p:nvSpPr>
          <p:cNvPr id="18" name="Text 15"/>
          <p:cNvSpPr txBox="1"/>
          <p:nvPr/>
        </p:nvSpPr>
        <p:spPr>
          <a:xfrm>
            <a:off x="548640" y="5175504"/>
            <a:ext cx="685800" cy="685800"/>
          </a:xfrm>
          <a:prstGeom prst="rect">
            <a:avLst/>
          </a:prstGeom>
          <a:noFill/>
          <a:ln/>
        </p:spPr>
        <p:txBody>
          <a:bodyPr wrap="square" lIns="0" tIns="0" rIns="0" bIns="0" rtlCol="0" anchor="ctr"/>
          <a:lstStyle/>
          <a:p>
            <a:pPr algn="ctr" indent="0" marL="0">
              <a:buNone/>
            </a:pPr>
            <a:r>
              <a:rPr lang="en-US" sz="2400" b="1" dirty="0">
                <a:solidFill>
                  <a:srgbClr val="12263F"/>
                </a:solidFill>
              </a:rPr>
              <a:t>4</a:t>
            </a:r>
            <a:endParaRPr lang="en-US" sz="2400" dirty="0"/>
          </a:p>
        </p:txBody>
      </p:sp>
      <p:sp>
        <p:nvSpPr>
          <p:cNvPr id="19" name="Text 16"/>
          <p:cNvSpPr txBox="1"/>
          <p:nvPr/>
        </p:nvSpPr>
        <p:spPr>
          <a:xfrm>
            <a:off x="1554480" y="5084064"/>
            <a:ext cx="9966960" cy="411480"/>
          </a:xfrm>
          <a:prstGeom prst="rect">
            <a:avLst/>
          </a:prstGeom>
          <a:noFill/>
          <a:ln/>
        </p:spPr>
        <p:txBody>
          <a:bodyPr wrap="square" lIns="0" tIns="0" rIns="0" bIns="0" rtlCol="0" anchor="ctr"/>
          <a:lstStyle/>
          <a:p>
            <a:pPr indent="0" marL="0">
              <a:buNone/>
            </a:pPr>
            <a:r>
              <a:rPr lang="en-US" sz="2100" b="1" dirty="0">
                <a:solidFill>
                  <a:srgbClr val="FFFFFF"/>
                </a:solidFill>
              </a:rPr>
              <a:t>Use the dashboard weekly and add real data</a:t>
            </a:r>
            <a:endParaRPr lang="en-US" sz="2100" dirty="0"/>
          </a:p>
        </p:txBody>
      </p:sp>
      <p:sp>
        <p:nvSpPr>
          <p:cNvPr id="20" name="Text 17"/>
          <p:cNvSpPr txBox="1"/>
          <p:nvPr/>
        </p:nvSpPr>
        <p:spPr>
          <a:xfrm>
            <a:off x="1554480" y="5522976"/>
            <a:ext cx="9966960" cy="457200"/>
          </a:xfrm>
          <a:prstGeom prst="rect">
            <a:avLst/>
          </a:prstGeom>
          <a:noFill/>
          <a:ln/>
        </p:spPr>
        <p:txBody>
          <a:bodyPr wrap="square" lIns="0" tIns="0" rIns="0" bIns="0" rtlCol="0" anchor="ctr"/>
          <a:lstStyle/>
          <a:p>
            <a:pPr indent="0" marL="0">
              <a:buNone/>
            </a:pPr>
            <a:r>
              <a:rPr lang="en-US" sz="1600" dirty="0">
                <a:solidFill>
                  <a:srgbClr val="CADCFC"/>
                </a:solidFill>
              </a:rPr>
              <a:t>Review alerts weekly; add customer payment and competitor data to replace assumptions.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ASSUMPTIONS REGISTER</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What we assumed, why, and how it gets replaced</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474720"/>
                <a:gridCol w="3566160"/>
                <a:gridCol w="4023360"/>
              </a:tblGrid>
              <a:tr h="384048">
                <a:tc>
                  <a:txBody>
                    <a:bodyPr/>
                    <a:lstStyle/>
                    <a:p>
                      <a:pPr indent="0" marL="0">
                        <a:buNone/>
                      </a:pPr>
                      <a:r>
                        <a:rPr lang="en-US" sz="1300" b="1" dirty="0">
                          <a:solidFill>
                            <a:srgbClr val="FFFFFF"/>
                          </a:solidFill>
                        </a:rPr>
                        <a:t>Assumption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Why we made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How it is checked or replaced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dirty="0">
                          <a:solidFill>
                            <a:srgbClr val="1B2A41"/>
                          </a:solidFill>
                        </a:rPr>
                        <a:t>Synthetic calendar from 6 Jan 2020</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the file has week numbers only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real dates replace it; no result depends on the start date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Sales = min(demand, stock)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stock-outs give zero sales; pile-ups sit at the stock caps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verified: zero violations in the database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Old forecast is a usable demand signal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unbiased (-0.4%) on weeks where truth is 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blend weight learned out-of-fold; accuracy also on clean weeks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Future stock follows its own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future purchasing is unknown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dashboard shows the stock-limited and unconstrained views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Credit terms, delays, default rates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customer or invoice data exists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editable in the dashboard; replace with payment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Price sensitivity -1 (plan) and -2 (stress)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price barely varies (4%), so the data cannot measure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results shown from 0 to -3; Pilot B measures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Competitor band -8% / +10%, holding 12%, funding 8%</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competitor data; standard cost-of-capital levels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adjustable parameters; replace with observations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APPENDIX · DELIVERABLES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Everything is reproducible and tested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737360"/>
                <a:gridCol w="3749040"/>
                <a:gridCol w="3840480"/>
                <a:gridCol w="1737360"/>
              </a:tblGrid>
              <a:tr h="384048">
                <a:tc>
                  <a:txBody>
                    <a:bodyPr/>
                    <a:lstStyle/>
                    <a:p>
                      <a:pPr indent="0" marL="0">
                        <a:buNone/>
                      </a:pPr>
                      <a:r>
                        <a:rPr lang="en-US" sz="1400" b="1" dirty="0">
                          <a:solidFill>
                            <a:srgbClr val="FFFFFF"/>
                          </a:solidFill>
                        </a:rPr>
                        <a:t>Part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400" b="1" dirty="0">
                          <a:solidFill>
                            <a:srgbClr val="FFFFFF"/>
                          </a:solidFill>
                        </a:rPr>
                        <a:t>Notebook (latest)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400" b="1" dirty="0">
                          <a:solidFill>
                            <a:srgbClr val="FFFFFF"/>
                          </a:solidFill>
                        </a:rPr>
                        <a:t>Main outputs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400" b="1" dirty="0">
                          <a:solidFill>
                            <a:srgbClr val="FFFFFF"/>
                          </a:solidFill>
                        </a:rPr>
                        <a:t>Checks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02920">
                <a:tc>
                  <a:txBody>
                    <a:bodyPr/>
                    <a:lstStyle/>
                    <a:p>
                      <a:pPr indent="0" marL="0">
                        <a:buNone/>
                      </a:pPr>
                      <a:r>
                        <a:rPr lang="en-US" sz="1400" dirty="0">
                          <a:solidFill>
                            <a:srgbClr val="1B2A41"/>
                          </a:solidFill>
                        </a:rPr>
                        <a:t>1 Data</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part1_etl_pipeline_v1.2</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SQLite star schema, quality scorecard</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15 exception tests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400" dirty="0">
                          <a:solidFill>
                            <a:srgbClr val="1B2A41"/>
                          </a:solidFill>
                        </a:rPr>
                        <a:t>2 Forecast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part2_preprocessing_v1.1, part2_forecasting_v1.2</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demand dataset, 26-week forecast, 13-model comparison</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4 backtests, bootstrap</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B2A41"/>
                          </a:solidFill>
                        </a:rPr>
                        <a:t>3 Dashboard</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part3_dashboard_v1.1</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Streamlit app with 8 tabs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24 tests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B2A41"/>
                          </a:solidFill>
                        </a:rPr>
                        <a:t>4 Pricing</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part4_pricing_v1.1</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price plan, Word rulebook, impact, pilot design</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19 checks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4846320"/>
            <a:ext cx="11064240" cy="14630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41"/>
                </a:solidFill>
              </a:rPr>
              <a:t>Repository: latest notebook of each part in the root, earlier versions in a history folder, README with architecture and setup, requirements file.</a:t>
            </a:r>
            <a:endParaRPr lang="en-US" sz="1500" dirty="0"/>
          </a:p>
          <a:p>
            <a:pPr marL="203200" indent="-203200">
              <a:spcAft>
                <a:spcPts val="800"/>
              </a:spcAft>
              <a:buSzPct val="100000"/>
              <a:buChar char="•"/>
            </a:pPr>
            <a:r>
              <a:rPr lang="en-US" sz="1500" dirty="0">
                <a:solidFill>
                  <a:srgbClr val="1B2A41"/>
                </a:solidFill>
              </a:rPr>
              <a:t>Each notebook creates its own output folder and one Excel workbook (8 sheets at most, Summary first).</a:t>
            </a:r>
            <a:endParaRPr lang="en-US" sz="1500" dirty="0"/>
          </a:p>
          <a:p>
            <a:pPr marL="203200" indent="-203200">
              <a:spcAft>
                <a:spcPts val="800"/>
              </a:spcAft>
              <a:buSzPct val="100000"/>
              <a:buChar char="•"/>
            </a:pPr>
            <a:r>
              <a:rPr lang="en-US" sz="1500" dirty="0">
                <a:solidFill>
                  <a:srgbClr val="1B2A41"/>
                </a:solidFill>
              </a:rPr>
              <a:t>Commit history follows the build: ETL, forecasting, dashboard, pricing, clean-up.</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2026-10-06T19:17:03Z</dcterms:created>
  <dcterms:modified xsi:type="dcterms:W3CDTF">2026-10-06T19:17:03Z</dcterms:modified>
</cp:coreProperties>
</file>