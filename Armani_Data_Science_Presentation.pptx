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8a11a4ab-e242-8146-f278-3025dc559cb8}">
          <p14:sldIdLst>
            <p14:sldId id="256"/>
            <p14:sldId id="257"/>
          </p14:sldIdLst>
        </p14:section>
        <p14:section name="Part 1 - Data" id="{1af960cb-5170-52d8-ed1f-d1085b9f78d3}">
          <p14:sldIdLst>
            <p14:sldId id="258"/>
            <p14:sldId id="259"/>
            <p14:sldId id="260"/>
          </p14:sldIdLst>
        </p14:section>
        <p14:section name="Part 2 - Forecast" id="{b900714e-1250-7faf-4159-24c82ea19825}">
          <p14:sldIdLst>
            <p14:sldId id="261"/>
            <p14:sldId id="262"/>
            <p14:sldId id="263"/>
            <p14:sldId id="264"/>
            <p14:sldId id="265"/>
            <p14:sldId id="266"/>
            <p14:sldId id="267"/>
          </p14:sldIdLst>
        </p14:section>
        <p14:section name="Part 3 - Dashboard" id="{a22e7255-650c-e14c-058a-4c4ce1d48feb}">
          <p14:sldIdLst>
            <p14:sldId id="268"/>
          </p14:sldIdLst>
        </p14:section>
        <p14:section name="Part 4 - Pricing" id="{806a44e9-998c-de30-6553-db529f7b399e}">
          <p14:sldIdLst>
            <p14:sldId id="269"/>
            <p14:sldId id="270"/>
            <p14:sldId id="271"/>
            <p14:sldId id="272"/>
            <p14:sldId id="273"/>
          </p14:sldIdLst>
        </p14:section>
        <p14:section name="Wrap-up" id="{f3d6ef1f-3bc5-c520-1b57-e7135cf9601d}">
          <p14:sldIdLst>
            <p14:sldId id="274"/>
          </p14:sldIdLst>
        </p14:section>
        <p14:section name="Summary" id="{c0ee7b6e-068b-fcde-5097-1d22304d815f}">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Calibri"/>
              </a:defRPr>
            </a:pPr>
            <a:r>
              <a:rPr sz="1300" b="0" i="0" u="none" strike="noStrike">
                <a:solidFill>
                  <a:srgbClr val="1B2A41"/>
                </a:solidFill>
                <a:latin typeface="Calibri"/>
              </a:rPr>
              <a:t>Data-quality score, before vs after (0-100)</a:t>
            </a:r>
          </a:p>
        </c:rich>
      </c:tx>
      <c:layout/>
      <c:overlay val="0"/>
    </c:title>
    <c:autoTitleDeleted val="0"/>
    <c:plotArea>
      <c:layout/>
      <c:barChart>
        <c:barDir val="col"/>
        <c:grouping val="clustered"/>
        <c:varyColors val="0"/>
        <c:ser>
          <c:idx val="0"/>
          <c:order val="0"/>
          <c:tx>
            <c:strRef>
              <c:f>Sheet1!$B$1</c:f>
              <c:strCache>
                <c:ptCount val="1"/>
                <c:pt idx="0">
                  <c:v>Raw file</c:v>
                </c:pt>
              </c:strCache>
            </c:strRef>
          </c:tx>
          <c:spPr>
            <a:solidFill>
              <a:srgbClr val="8A8F98"/>
            </a:solidFill>
            <a:effectLst/>
          </c:spPr>
          <c:invertIfNegative val="0"/>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Sheet1!$B$2:$B$7</c:f>
              <c:numCache>
                <c:formatCode>General</c:formatCode>
                <c:ptCount val="6"/>
                <c:pt idx="0">
                  <c:v>98.4</c:v>
                </c:pt>
                <c:pt idx="1">
                  <c:v>99.5</c:v>
                </c:pt>
                <c:pt idx="2">
                  <c:v>88.6</c:v>
                </c:pt>
                <c:pt idx="3">
                  <c:v>36.6</c:v>
                </c:pt>
                <c:pt idx="4">
                  <c:v>75.4</c:v>
                </c:pt>
                <c:pt idx="5">
                  <c:v>79.7</c:v>
                </c:pt>
              </c:numCache>
            </c:numRef>
          </c:val>
        </c:ser>
        <c:ser>
          <c:idx val="1"/>
          <c:order val="1"/>
          <c:tx>
            <c:strRef>
              <c:f>Sheet1!$C$1</c:f>
              <c:strCache>
                <c:ptCount val="1"/>
                <c:pt idx="0">
                  <c:v>Database</c:v>
                </c:pt>
              </c:strCache>
            </c:strRef>
          </c:tx>
          <c:spPr>
            <a:solidFill>
              <a:srgbClr val="2A78D6"/>
            </a:solidFill>
            <a:effectLst/>
          </c:spPr>
          <c:invertIfNegative val="0"/>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Sheet1!$C$2:$C$7</c:f>
              <c:numCache>
                <c:formatCode>General</c:formatCode>
                <c:ptCount val="6"/>
                <c:pt idx="0">
                  <c:v>98.5</c:v>
                </c:pt>
                <c:pt idx="1">
                  <c:v>100</c:v>
                </c:pt>
                <c:pt idx="2">
                  <c:v>100</c:v>
                </c:pt>
                <c:pt idx="3">
                  <c:v>100</c:v>
                </c:pt>
                <c:pt idx="4">
                  <c:v>100</c:v>
                </c:pt>
                <c:pt idx="5">
                  <c:v>99.7</c:v>
                </c:pt>
              </c:numCache>
            </c:numRef>
          </c:val>
        </c:ser>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40"/>
      </c:valAx>
      <c:spPr>
        <a:noFill/>
        <a:ln>
          <a:noFill/>
        </a:ln>
        <a:effectLst/>
      </c:spPr>
    </c:plotArea>
    <c:legend>
      <c:legendPos val="r"/>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Calibri"/>
              </a:defRPr>
            </a:pPr>
            <a:r>
              <a:rPr sz="1300" b="0" i="0" u="none" strike="noStrike">
                <a:solidFill>
                  <a:srgbClr val="1B2A41"/>
                </a:solidFill>
                <a:latin typeface="Calibri"/>
              </a:rPr>
              <a:t>Error on weeks with known demand (MAPE, lower is better)</a:t>
            </a:r>
          </a:p>
        </c:rich>
      </c:tx>
      <c:layout/>
      <c:overlay val="0"/>
    </c:title>
    <c:autoTitleDeleted val="0"/>
    <c:plotArea>
      <c:layout/>
      <c:barChart>
        <c:barDir val="col"/>
        <c:grouping val="clustered"/>
        <c:varyColors val="0"/>
        <c:ser>
          <c:idx val="0"/>
          <c:order val="0"/>
          <c:tx>
            <c:strRef>
              <c:f>Sheet1!$B$1</c:f>
              <c:strCache>
                <c:ptCount val="1"/>
                <c:pt idx="0">
                  <c:v>MAPE %</c:v>
                </c:pt>
              </c:strCache>
            </c:strRef>
          </c:tx>
          <c:spPr>
            <a:solidFill>
              <a:srgbClr val="8A8F98"/>
            </a:solidFill>
            <a:effectLst/>
          </c:spPr>
          <c:invertIfNegative val="0"/>
          <c:dLbls>
            <c:numFmt formatCode="0.0&quot;%&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8A8F98"/>
              </a:solidFill>
              <a:effectLst/>
            </c:spPr>
          </c:dPt>
          <c:dPt>
            <c:idx val="1"/>
            <c:invertIfNegative val="0"/>
            <c:bubble3D val="0"/>
            <c:spPr>
              <a:solidFill>
                <a:srgbClr val="2A78D6"/>
              </a:solidFill>
              <a:effectLst/>
            </c:spPr>
          </c:dPt>
          <c:dPt>
            <c:idx val="2"/>
            <c:invertIfNegative val="0"/>
            <c:bubble3D val="0"/>
            <c:spPr>
              <a:solidFill>
                <a:srgbClr val="1BAF7A"/>
              </a:solidFill>
              <a:effectLst/>
            </c:spPr>
          </c:dPt>
          <c:cat>
            <c:multiLvlStrRef>
              <c:f>Sheet1!$A$2:$A$4</c:f>
              <c:multiLvlStrCache>
                <c:ptCount val="3"/>
                <c:lvl>
                  <c:pt idx="0">
                    <c:v>Legacy forecast</c:v>
                  </c:pt>
                  <c:pt idx="1">
                    <c:v>Seasonal model</c:v>
                  </c:pt>
                  <c:pt idx="2">
                    <c:v>Blend 0.40 / 0.60</c:v>
                  </c:pt>
                </c:lvl>
              </c:multiLvlStrCache>
            </c:multiLvlStrRef>
          </c:cat>
          <c:val>
            <c:numRef>
              <c:f>Sheet1!$B$2:$B$4</c:f>
              <c:numCache>
                <c:formatCode>General</c:formatCode>
                <c:ptCount val="3"/>
                <c:pt idx="0">
                  <c:v>7.9</c:v>
                </c:pt>
                <c:pt idx="1">
                  <c:v>6.6</c:v>
                </c:pt>
                <c:pt idx="2">
                  <c:v>5</c:v>
                </c:pt>
              </c:numCache>
            </c:numRef>
          </c:val>
        </c:ser>
        <c:dLbls>
          <c:numFmt formatCode="0.0&quot;%&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What the learner relies on (share of importance)</a:t>
            </a:r>
          </a:p>
        </c:rich>
      </c:tx>
      <c:layout/>
      <c:overlay val="0"/>
    </c:title>
    <c:autoTitleDeleted val="0"/>
    <c:plotArea>
      <c:layout/>
      <c:barChart>
        <c:barDir val="bar"/>
        <c:grouping val="clustered"/>
        <c:varyColors val="0"/>
        <c:ser>
          <c:idx val="0"/>
          <c:order val="0"/>
          <c:tx>
            <c:strRef>
              <c:f>Sheet1!$B$1</c:f>
              <c:strCache>
                <c:ptCount val="1"/>
                <c:pt idx="0">
                  <c:v>Gain %</c:v>
                </c:pt>
              </c:strCache>
            </c:strRef>
          </c:tx>
          <c:spPr>
            <a:solidFill>
              <a:srgbClr val="2A78D6"/>
            </a:solidFill>
            <a:effectLst/>
          </c:spPr>
          <c:invertIfNegative val="0"/>
          <c:dLbls>
            <c:numFmt formatCode="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Week of year</c:v>
                  </c:pt>
                  <c:pt idx="1">
                    <c:v>Season (sin 1)</c:v>
                  </c:pt>
                  <c:pt idx="2">
                    <c:v>Last year, neighbours</c:v>
                  </c:pt>
                  <c:pt idx="3">
                    <c:v>Season (cos 2)</c:v>
                  </c:pt>
                  <c:pt idx="4">
                    <c:v>Last year, same week</c:v>
                  </c:pt>
                  <c:pt idx="5">
                    <c:v>Season (sin 3)</c:v>
                  </c:pt>
                </c:lvl>
              </c:multiLvlStrCache>
            </c:multiLvlStrRef>
          </c:cat>
          <c:val>
            <c:numRef>
              <c:f>Sheet1!$B$2:$B$7</c:f>
              <c:numCache>
                <c:formatCode>General</c:formatCode>
                <c:ptCount val="6"/>
                <c:pt idx="0">
                  <c:v>45.6</c:v>
                </c:pt>
                <c:pt idx="1">
                  <c:v>31.9</c:v>
                </c:pt>
                <c:pt idx="2">
                  <c:v>10.7</c:v>
                </c:pt>
                <c:pt idx="3">
                  <c:v>6.8</c:v>
                </c:pt>
                <c:pt idx="4">
                  <c:v>2.9</c:v>
                </c:pt>
                <c:pt idx="5">
                  <c:v>1.7</c:v>
                </c:pt>
              </c:numCache>
            </c:numRef>
          </c:val>
        </c:ser>
        <c:dLbls>
          <c:numFmt formatCode="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 demand</c:v>
                </c:pt>
              </c:strCache>
            </c:strRef>
          </c:tx>
          <c:spPr>
            <a:solidFill>
              <a:srgbClr val="8A8F98"/>
            </a:solidFill>
            <a:ln w="31750" cap="flat">
              <a:solidFill>
                <a:srgbClr val="8A8F98"/>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8A8F98"/>
              </a:solidFill>
              <a:ln w="9525" cap="flat">
                <a:solidFill>
                  <a:srgbClr val="8A8F98"/>
                </a:solidFill>
                <a:prstDash val="solid"/>
                <a:round/>
              </a:ln>
              <a:effectLst/>
            </c:spPr>
          </c:marker>
          <c:cat>
            <c:multiLvlStrRef>
              <c:f>Sheet1!$A$2:$A$79</c:f>
              <c:multiLvlStrCache>
                <c:ptCount val="78"/>
                <c:lvl>
                  <c:pt idx="0">
                    <c:v>183</c:v>
                  </c:pt>
                  <c:pt idx="1">
                    <c:v>184</c:v>
                  </c:pt>
                  <c:pt idx="2">
                    <c:v>185</c:v>
                  </c:pt>
                  <c:pt idx="3">
                    <c:v>186</c:v>
                  </c:pt>
                  <c:pt idx="4">
                    <c:v>187</c:v>
                  </c:pt>
                  <c:pt idx="5">
                    <c:v>188</c:v>
                  </c:pt>
                  <c:pt idx="6">
                    <c:v>189</c:v>
                  </c:pt>
                  <c:pt idx="7">
                    <c:v>190</c:v>
                  </c:pt>
                  <c:pt idx="8">
                    <c:v>191</c:v>
                  </c:pt>
                  <c:pt idx="9">
                    <c:v>192</c:v>
                  </c:pt>
                  <c:pt idx="10">
                    <c:v>193</c:v>
                  </c:pt>
                  <c:pt idx="11">
                    <c:v>194</c:v>
                  </c:pt>
                  <c:pt idx="12">
                    <c:v>195</c:v>
                  </c:pt>
                  <c:pt idx="13">
                    <c:v>196</c:v>
                  </c:pt>
                  <c:pt idx="14">
                    <c:v>197</c:v>
                  </c:pt>
                  <c:pt idx="15">
                    <c:v>198</c:v>
                  </c:pt>
                  <c:pt idx="16">
                    <c:v>199</c:v>
                  </c:pt>
                  <c:pt idx="17">
                    <c:v>200</c:v>
                  </c:pt>
                  <c:pt idx="18">
                    <c:v>201</c:v>
                  </c:pt>
                  <c:pt idx="19">
                    <c:v>202</c:v>
                  </c:pt>
                  <c:pt idx="20">
                    <c:v>203</c:v>
                  </c:pt>
                  <c:pt idx="21">
                    <c:v>204</c:v>
                  </c:pt>
                  <c:pt idx="22">
                    <c:v>205</c:v>
                  </c:pt>
                  <c:pt idx="23">
                    <c:v>206</c:v>
                  </c:pt>
                  <c:pt idx="24">
                    <c:v>207</c:v>
                  </c:pt>
                  <c:pt idx="25">
                    <c:v>208</c:v>
                  </c:pt>
                  <c:pt idx="26">
                    <c:v>209</c:v>
                  </c:pt>
                  <c:pt idx="27">
                    <c:v>210</c:v>
                  </c:pt>
                  <c:pt idx="28">
                    <c:v>211</c:v>
                  </c:pt>
                  <c:pt idx="29">
                    <c:v>212</c:v>
                  </c:pt>
                  <c:pt idx="30">
                    <c:v>213</c:v>
                  </c:pt>
                  <c:pt idx="31">
                    <c:v>214</c:v>
                  </c:pt>
                  <c:pt idx="32">
                    <c:v>215</c:v>
                  </c:pt>
                  <c:pt idx="33">
                    <c:v>216</c:v>
                  </c:pt>
                  <c:pt idx="34">
                    <c:v>217</c:v>
                  </c:pt>
                  <c:pt idx="35">
                    <c:v>218</c:v>
                  </c:pt>
                  <c:pt idx="36">
                    <c:v>219</c:v>
                  </c:pt>
                  <c:pt idx="37">
                    <c:v>220</c:v>
                  </c:pt>
                  <c:pt idx="38">
                    <c:v>221</c:v>
                  </c:pt>
                  <c:pt idx="39">
                    <c:v>222</c:v>
                  </c:pt>
                  <c:pt idx="40">
                    <c:v>223</c:v>
                  </c:pt>
                  <c:pt idx="41">
                    <c:v>224</c:v>
                  </c:pt>
                  <c:pt idx="42">
                    <c:v>225</c:v>
                  </c:pt>
                  <c:pt idx="43">
                    <c:v>226</c:v>
                  </c:pt>
                  <c:pt idx="44">
                    <c:v>227</c:v>
                  </c:pt>
                  <c:pt idx="45">
                    <c:v>228</c:v>
                  </c:pt>
                  <c:pt idx="46">
                    <c:v>229</c:v>
                  </c:pt>
                  <c:pt idx="47">
                    <c:v>230</c:v>
                  </c:pt>
                  <c:pt idx="48">
                    <c:v>231</c:v>
                  </c:pt>
                  <c:pt idx="49">
                    <c:v>232</c:v>
                  </c:pt>
                  <c:pt idx="50">
                    <c:v>233</c:v>
                  </c:pt>
                  <c:pt idx="51">
                    <c:v>234</c:v>
                  </c:pt>
                  <c:pt idx="52">
                    <c:v>235</c:v>
                  </c:pt>
                  <c:pt idx="53">
                    <c:v>236</c:v>
                  </c:pt>
                  <c:pt idx="54">
                    <c:v>237</c:v>
                  </c:pt>
                  <c:pt idx="55">
                    <c:v>238</c:v>
                  </c:pt>
                  <c:pt idx="56">
                    <c:v>239</c:v>
                  </c:pt>
                  <c:pt idx="57">
                    <c:v>240</c:v>
                  </c:pt>
                  <c:pt idx="58">
                    <c:v>241</c:v>
                  </c:pt>
                  <c:pt idx="59">
                    <c:v>242</c:v>
                  </c:pt>
                  <c:pt idx="60">
                    <c:v>243</c:v>
                  </c:pt>
                  <c:pt idx="61">
                    <c:v>244</c:v>
                  </c:pt>
                  <c:pt idx="62">
                    <c:v>245</c:v>
                  </c:pt>
                  <c:pt idx="63">
                    <c:v>246</c:v>
                  </c:pt>
                  <c:pt idx="64">
                    <c:v>247</c:v>
                  </c:pt>
                  <c:pt idx="65">
                    <c:v>248</c:v>
                  </c:pt>
                  <c:pt idx="66">
                    <c:v>249</c:v>
                  </c:pt>
                  <c:pt idx="67">
                    <c:v>250</c:v>
                  </c:pt>
                  <c:pt idx="68">
                    <c:v>251</c:v>
                  </c:pt>
                  <c:pt idx="69">
                    <c:v>252</c:v>
                  </c:pt>
                  <c:pt idx="70">
                    <c:v>253</c:v>
                  </c:pt>
                  <c:pt idx="71">
                    <c:v>254</c:v>
                  </c:pt>
                  <c:pt idx="72">
                    <c:v>255</c:v>
                  </c:pt>
                  <c:pt idx="73">
                    <c:v>256</c:v>
                  </c:pt>
                  <c:pt idx="74">
                    <c:v>257</c:v>
                  </c:pt>
                  <c:pt idx="75">
                    <c:v>258</c:v>
                  </c:pt>
                  <c:pt idx="76">
                    <c:v>259</c:v>
                  </c:pt>
                  <c:pt idx="77">
                    <c:v>260</c:v>
                  </c:pt>
                </c:lvl>
              </c:multiLvlStrCache>
            </c:multiLvlStrRef>
          </c:cat>
          <c:val>
            <c:numRef>
              <c:f>Sheet1!$B$2:$B$79</c:f>
              <c:numCache>
                <c:formatCode>General</c:formatCode>
                <c:ptCount val="78"/>
                <c:pt idx="0">
                  <c:v>2773.05</c:v>
                </c:pt>
                <c:pt idx="1">
                  <c:v>2539.65</c:v>
                </c:pt>
                <c:pt idx="2">
                  <c:v>2467.52</c:v>
                </c:pt>
                <c:pt idx="3">
                  <c:v>2444.47</c:v>
                </c:pt>
                <c:pt idx="4">
                  <c:v>2491.27</c:v>
                </c:pt>
                <c:pt idx="5">
                  <c:v>2221.21</c:v>
                </c:pt>
                <c:pt idx="6">
                  <c:v>2102.43</c:v>
                </c:pt>
                <c:pt idx="7">
                  <c:v>2010.97</c:v>
                </c:pt>
                <c:pt idx="8">
                  <c:v>1906.28</c:v>
                </c:pt>
                <c:pt idx="9">
                  <c:v>2216.36</c:v>
                </c:pt>
                <c:pt idx="10">
                  <c:v>2067.59</c:v>
                </c:pt>
                <c:pt idx="11">
                  <c:v>1793</c:v>
                </c:pt>
                <c:pt idx="12">
                  <c:v>2072.64</c:v>
                </c:pt>
                <c:pt idx="13">
                  <c:v>2082.26</c:v>
                </c:pt>
                <c:pt idx="14">
                  <c:v>2187</c:v>
                </c:pt>
                <c:pt idx="15">
                  <c:v>2004</c:v>
                </c:pt>
                <c:pt idx="16">
                  <c:v>1910.47</c:v>
                </c:pt>
                <c:pt idx="17">
                  <c:v>2165.74</c:v>
                </c:pt>
                <c:pt idx="18">
                  <c:v>2109.6</c:v>
                </c:pt>
                <c:pt idx="19">
                  <c:v>2231.37</c:v>
                </c:pt>
                <c:pt idx="20">
                  <c:v>2338.17</c:v>
                </c:pt>
                <c:pt idx="21">
                  <c:v>2246.04</c:v>
                </c:pt>
                <c:pt idx="22">
                  <c:v>2642.47</c:v>
                </c:pt>
                <c:pt idx="23">
                  <c:v>2556.84</c:v>
                </c:pt>
                <c:pt idx="24">
                  <c:v>2526.51</c:v>
                </c:pt>
                <c:pt idx="25">
                  <c:v>2767.88</c:v>
                </c:pt>
                <c:pt idx="26">
                  <c:v>2987.79</c:v>
                </c:pt>
                <c:pt idx="27">
                  <c:v>2824.7</c:v>
                </c:pt>
                <c:pt idx="28">
                  <c:v>2997.1</c:v>
                </c:pt>
                <c:pt idx="29">
                  <c:v>2988.17</c:v>
                </c:pt>
                <c:pt idx="30">
                  <c:v>2985.1</c:v>
                </c:pt>
                <c:pt idx="31">
                  <c:v>3459.95</c:v>
                </c:pt>
                <c:pt idx="32">
                  <c:v>3283.68</c:v>
                </c:pt>
                <c:pt idx="33">
                  <c:v>3720.21</c:v>
                </c:pt>
                <c:pt idx="34">
                  <c:v>3416.33</c:v>
                </c:pt>
                <c:pt idx="35">
                  <c:v>3373.53</c:v>
                </c:pt>
                <c:pt idx="36">
                  <c:v>3549.28</c:v>
                </c:pt>
                <c:pt idx="37">
                  <c:v>3663.59</c:v>
                </c:pt>
                <c:pt idx="38">
                  <c:v>3564.82</c:v>
                </c:pt>
                <c:pt idx="39">
                  <c:v>3535.9</c:v>
                </c:pt>
                <c:pt idx="40">
                  <c:v>3481.44</c:v>
                </c:pt>
                <c:pt idx="41">
                  <c:v>3544.28</c:v>
                </c:pt>
                <c:pt idx="42">
                  <c:v>3346.36</c:v>
                </c:pt>
                <c:pt idx="43">
                  <c:v>3456.81</c:v>
                </c:pt>
                <c:pt idx="44">
                  <c:v>3314.66</c:v>
                </c:pt>
                <c:pt idx="45">
                  <c:v>3259.53</c:v>
                </c:pt>
                <c:pt idx="46">
                  <c:v>3449.33</c:v>
                </c:pt>
                <c:pt idx="47">
                  <c:v>3100.23</c:v>
                </c:pt>
                <c:pt idx="48">
                  <c:v>2984.96</c:v>
                </c:pt>
                <c:pt idx="49">
                  <c:v>2944.51</c:v>
                </c:pt>
                <c:pt idx="50">
                  <c:v>2856.24</c:v>
                </c:pt>
                <c:pt idx="51">
                  <c:v>2565.47</c:v>
                </c:pt>
                <c:pt idx="52">
                  <c:v>2504.99</c:v>
                </c:pt>
                <c:pt idx="53">
                  <c:v>2592.73</c:v>
                </c:pt>
                <c:pt idx="54">
                  <c:v>2576.32</c:v>
                </c:pt>
                <c:pt idx="55">
                  <c:v>2396</c:v>
                </c:pt>
                <c:pt idx="56">
                  <c:v>2604</c:v>
                </c:pt>
                <c:pt idx="57">
                  <c:v>2314.31</c:v>
                </c:pt>
                <c:pt idx="58">
                  <c:v>2412.67</c:v>
                </c:pt>
                <c:pt idx="59">
                  <c:v>2326</c:v>
                </c:pt>
                <c:pt idx="60">
                  <c:v>2217</c:v>
                </c:pt>
                <c:pt idx="61">
                  <c:v>2291</c:v>
                </c:pt>
                <c:pt idx="62">
                  <c:v>2014</c:v>
                </c:pt>
                <c:pt idx="63">
                  <c:v>1908</c:v>
                </c:pt>
                <c:pt idx="64">
                  <c:v>2203.17</c:v>
                </c:pt>
                <c:pt idx="65">
                  <c:v>1851</c:v>
                </c:pt>
                <c:pt idx="66">
                  <c:v>2206</c:v>
                </c:pt>
                <c:pt idx="67">
                  <c:v>2150</c:v>
                </c:pt>
                <c:pt idx="68">
                  <c:v>2265</c:v>
                </c:pt>
                <c:pt idx="69">
                  <c:v>2319</c:v>
                </c:pt>
                <c:pt idx="70">
                  <c:v>2420.11</c:v>
                </c:pt>
                <c:pt idx="71">
                  <c:v>2305.11</c:v>
                </c:pt>
                <c:pt idx="72">
                  <c:v>2252.11</c:v>
                </c:pt>
                <c:pt idx="73">
                  <c:v>2615.9</c:v>
                </c:pt>
                <c:pt idx="74">
                  <c:v>2605.46</c:v>
                </c:pt>
                <c:pt idx="75">
                  <c:v>2679.19</c:v>
                </c:pt>
                <c:pt idx="76">
                  <c:v>2426.58</c:v>
                </c:pt>
                <c:pt idx="77">
                  <c:v>3000.44</c:v>
                </c:pt>
              </c:numCache>
            </c:numRef>
          </c:val>
          <c:smooth val="0"/>
        </c:ser>
        <c:ser>
          <c:idx val="1"/>
          <c:order val="1"/>
          <c:tx>
            <c:strRef>
              <c:f>Sheet1!$C$1</c:f>
              <c:strCache>
                <c:ptCount val="1"/>
                <c:pt idx="0">
                  <c:v>Forecast</c:v>
                </c:pt>
              </c:strCache>
            </c:strRef>
          </c:tx>
          <c:spPr>
            <a:solidFill>
              <a:srgbClr val="EB6834"/>
            </a:solidFill>
            <a:ln w="3175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Sheet1!$A$2:$A$79</c:f>
              <c:multiLvlStrCache>
                <c:ptCount val="78"/>
                <c:lvl>
                  <c:pt idx="0">
                    <c:v>183</c:v>
                  </c:pt>
                  <c:pt idx="1">
                    <c:v>184</c:v>
                  </c:pt>
                  <c:pt idx="2">
                    <c:v>185</c:v>
                  </c:pt>
                  <c:pt idx="3">
                    <c:v>186</c:v>
                  </c:pt>
                  <c:pt idx="4">
                    <c:v>187</c:v>
                  </c:pt>
                  <c:pt idx="5">
                    <c:v>188</c:v>
                  </c:pt>
                  <c:pt idx="6">
                    <c:v>189</c:v>
                  </c:pt>
                  <c:pt idx="7">
                    <c:v>190</c:v>
                  </c:pt>
                  <c:pt idx="8">
                    <c:v>191</c:v>
                  </c:pt>
                  <c:pt idx="9">
                    <c:v>192</c:v>
                  </c:pt>
                  <c:pt idx="10">
                    <c:v>193</c:v>
                  </c:pt>
                  <c:pt idx="11">
                    <c:v>194</c:v>
                  </c:pt>
                  <c:pt idx="12">
                    <c:v>195</c:v>
                  </c:pt>
                  <c:pt idx="13">
                    <c:v>196</c:v>
                  </c:pt>
                  <c:pt idx="14">
                    <c:v>197</c:v>
                  </c:pt>
                  <c:pt idx="15">
                    <c:v>198</c:v>
                  </c:pt>
                  <c:pt idx="16">
                    <c:v>199</c:v>
                  </c:pt>
                  <c:pt idx="17">
                    <c:v>200</c:v>
                  </c:pt>
                  <c:pt idx="18">
                    <c:v>201</c:v>
                  </c:pt>
                  <c:pt idx="19">
                    <c:v>202</c:v>
                  </c:pt>
                  <c:pt idx="20">
                    <c:v>203</c:v>
                  </c:pt>
                  <c:pt idx="21">
                    <c:v>204</c:v>
                  </c:pt>
                  <c:pt idx="22">
                    <c:v>205</c:v>
                  </c:pt>
                  <c:pt idx="23">
                    <c:v>206</c:v>
                  </c:pt>
                  <c:pt idx="24">
                    <c:v>207</c:v>
                  </c:pt>
                  <c:pt idx="25">
                    <c:v>208</c:v>
                  </c:pt>
                  <c:pt idx="26">
                    <c:v>209</c:v>
                  </c:pt>
                  <c:pt idx="27">
                    <c:v>210</c:v>
                  </c:pt>
                  <c:pt idx="28">
                    <c:v>211</c:v>
                  </c:pt>
                  <c:pt idx="29">
                    <c:v>212</c:v>
                  </c:pt>
                  <c:pt idx="30">
                    <c:v>213</c:v>
                  </c:pt>
                  <c:pt idx="31">
                    <c:v>214</c:v>
                  </c:pt>
                  <c:pt idx="32">
                    <c:v>215</c:v>
                  </c:pt>
                  <c:pt idx="33">
                    <c:v>216</c:v>
                  </c:pt>
                  <c:pt idx="34">
                    <c:v>217</c:v>
                  </c:pt>
                  <c:pt idx="35">
                    <c:v>218</c:v>
                  </c:pt>
                  <c:pt idx="36">
                    <c:v>219</c:v>
                  </c:pt>
                  <c:pt idx="37">
                    <c:v>220</c:v>
                  </c:pt>
                  <c:pt idx="38">
                    <c:v>221</c:v>
                  </c:pt>
                  <c:pt idx="39">
                    <c:v>222</c:v>
                  </c:pt>
                  <c:pt idx="40">
                    <c:v>223</c:v>
                  </c:pt>
                  <c:pt idx="41">
                    <c:v>224</c:v>
                  </c:pt>
                  <c:pt idx="42">
                    <c:v>225</c:v>
                  </c:pt>
                  <c:pt idx="43">
                    <c:v>226</c:v>
                  </c:pt>
                  <c:pt idx="44">
                    <c:v>227</c:v>
                  </c:pt>
                  <c:pt idx="45">
                    <c:v>228</c:v>
                  </c:pt>
                  <c:pt idx="46">
                    <c:v>229</c:v>
                  </c:pt>
                  <c:pt idx="47">
                    <c:v>230</c:v>
                  </c:pt>
                  <c:pt idx="48">
                    <c:v>231</c:v>
                  </c:pt>
                  <c:pt idx="49">
                    <c:v>232</c:v>
                  </c:pt>
                  <c:pt idx="50">
                    <c:v>233</c:v>
                  </c:pt>
                  <c:pt idx="51">
                    <c:v>234</c:v>
                  </c:pt>
                  <c:pt idx="52">
                    <c:v>235</c:v>
                  </c:pt>
                  <c:pt idx="53">
                    <c:v>236</c:v>
                  </c:pt>
                  <c:pt idx="54">
                    <c:v>237</c:v>
                  </c:pt>
                  <c:pt idx="55">
                    <c:v>238</c:v>
                  </c:pt>
                  <c:pt idx="56">
                    <c:v>239</c:v>
                  </c:pt>
                  <c:pt idx="57">
                    <c:v>240</c:v>
                  </c:pt>
                  <c:pt idx="58">
                    <c:v>241</c:v>
                  </c:pt>
                  <c:pt idx="59">
                    <c:v>242</c:v>
                  </c:pt>
                  <c:pt idx="60">
                    <c:v>243</c:v>
                  </c:pt>
                  <c:pt idx="61">
                    <c:v>244</c:v>
                  </c:pt>
                  <c:pt idx="62">
                    <c:v>245</c:v>
                  </c:pt>
                  <c:pt idx="63">
                    <c:v>246</c:v>
                  </c:pt>
                  <c:pt idx="64">
                    <c:v>247</c:v>
                  </c:pt>
                  <c:pt idx="65">
                    <c:v>248</c:v>
                  </c:pt>
                  <c:pt idx="66">
                    <c:v>249</c:v>
                  </c:pt>
                  <c:pt idx="67">
                    <c:v>250</c:v>
                  </c:pt>
                  <c:pt idx="68">
                    <c:v>251</c:v>
                  </c:pt>
                  <c:pt idx="69">
                    <c:v>252</c:v>
                  </c:pt>
                  <c:pt idx="70">
                    <c:v>253</c:v>
                  </c:pt>
                  <c:pt idx="71">
                    <c:v>254</c:v>
                  </c:pt>
                  <c:pt idx="72">
                    <c:v>255</c:v>
                  </c:pt>
                  <c:pt idx="73">
                    <c:v>256</c:v>
                  </c:pt>
                  <c:pt idx="74">
                    <c:v>257</c:v>
                  </c:pt>
                  <c:pt idx="75">
                    <c:v>258</c:v>
                  </c:pt>
                  <c:pt idx="76">
                    <c:v>259</c:v>
                  </c:pt>
                  <c:pt idx="77">
                    <c:v>260</c:v>
                  </c:pt>
                </c:lvl>
              </c:multiLvlStrCache>
            </c:multiLvlStrRef>
          </c:cat>
          <c:val>
            <c:numRef>
              <c:f>Sheet1!$C$2:$C$79</c:f>
              <c:numCache>
                <c:formatCode>General</c:formatCode>
                <c:ptCount val="78"/>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2687.0532052078806</c:v>
                </c:pt>
                <c:pt idx="53">
                  <c:v>2605.609147869284</c:v>
                </c:pt>
                <c:pt idx="54">
                  <c:v>2526.9994240880087</c:v>
                </c:pt>
                <c:pt idx="55">
                  <c:v>2452.401401440831</c:v>
                </c:pt>
                <c:pt idx="56">
                  <c:v>2382.8912479742767</c:v>
                </c:pt>
                <c:pt idx="57">
                  <c:v>2319.428479197983</c:v>
                </c:pt>
                <c:pt idx="58">
                  <c:v>2262.847587929719</c:v>
                </c:pt>
                <c:pt idx="59">
                  <c:v>2213.8561973292776</c:v>
                </c:pt>
                <c:pt idx="60">
                  <c:v>2173.038546966784</c:v>
                </c:pt>
                <c:pt idx="61">
                  <c:v>2140.862700824322</c:v>
                </c:pt>
                <c:pt idx="62">
                  <c:v>2117.6896717829623</c:v>
                </c:pt>
                <c:pt idx="63">
                  <c:v>2103.782673470135</c:v>
                </c:pt>
                <c:pt idx="64">
                  <c:v>2099.314901117175</c:v>
                </c:pt>
                <c:pt idx="65">
                  <c:v>2104.374564858116</c:v>
                </c:pt>
                <c:pt idx="66">
                  <c:v>2118.966310960878</c:v>
                </c:pt>
                <c:pt idx="67">
                  <c:v>2143.0086357751265</c:v>
                </c:pt>
                <c:pt idx="68">
                  <c:v>2176.327398107919</c:v>
                </c:pt>
                <c:pt idx="69">
                  <c:v>2218.6460458412143</c:v>
                </c:pt>
                <c:pt idx="70">
                  <c:v>2269.5736662124546</c:v>
                </c:pt>
                <c:pt idx="71">
                  <c:v>2328.5924114857735</c:v>
                </c:pt>
                <c:pt idx="72">
                  <c:v>2395.046195863507</c:v>
                </c:pt>
                <c:pt idx="73">
                  <c:v>2468.1327486050263</c:v>
                </c:pt>
                <c:pt idx="74">
                  <c:v>2546.9010839939438</c:v>
                </c:pt>
                <c:pt idx="75">
                  <c:v>2630.2561649075537</c:v>
                </c:pt>
                <c:pt idx="76">
                  <c:v>2716.971976417431</c:v>
                </c:pt>
                <c:pt idx="77">
                  <c:v>2805.7134167498557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80"/>
                </a:solidFill>
                <a:latin typeface="Calibri"/>
              </a:defRPr>
            </a:pPr>
            <a:endParaRPr lang="en-US"/>
          </a:p>
        </c:txPr>
        <c:crossAx val="2094734552"/>
        <c:crosses val="autoZero"/>
        <c:auto val="1"/>
        <c:lblAlgn val="ctr"/>
        <c:noMultiLvlLbl val="1"/>
        <c:tickLblSkip val="13"/>
      </c:catAx>
      <c:valAx>
        <c:axId val="2094734552"/>
        <c:scaling>
          <c:orientation val="minMax"/>
          <c:max val="4000"/>
          <c:min val="150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1000"/>
      </c:valAx>
      <c:spPr>
        <a:noFill/>
        <a:ln>
          <a:noFill/>
        </a:ln>
        <a:effectLst/>
      </c:spPr>
    </c:plotArea>
    <c:legend>
      <c:legendPos val="t"/>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Calibri"/>
              </a:defRPr>
            </a:pPr>
            <a:r>
              <a:rPr sz="1300" b="0" i="0" u="none" strike="noStrike">
                <a:solidFill>
                  <a:srgbClr val="1B2A41"/>
                </a:solidFill>
                <a:latin typeface="Calibri"/>
              </a:rPr>
              <a:t>Average miss (WAPE, %) by model, lower is better</a:t>
            </a:r>
          </a:p>
        </c:rich>
      </c:tx>
      <c:layout/>
      <c:overlay val="0"/>
    </c:title>
    <c:autoTitleDeleted val="0"/>
    <c:plotArea>
      <c:layout/>
      <c:barChart>
        <c:barDir val="bar"/>
        <c:grouping val="clustered"/>
        <c:varyColors val="0"/>
        <c:ser>
          <c:idx val="0"/>
          <c:order val="0"/>
          <c:tx>
            <c:strRef>
              <c:f>Sheet1!$B$1</c:f>
              <c:strCache>
                <c:ptCount val="1"/>
                <c:pt idx="0">
                  <c:v>All test weeks</c:v>
                </c:pt>
              </c:strCache>
            </c:strRef>
          </c:tx>
          <c:spPr>
            <a:solidFill>
              <a:srgbClr val="2A78D6"/>
            </a:solidFill>
            <a:effectLst/>
          </c:spPr>
          <c:invertIfNegative val="0"/>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Structural (winner)</c:v>
                  </c:pt>
                  <c:pt idx="1">
                    <c:v>Structural per segment</c:v>
                  </c:pt>
                  <c:pt idx="2">
                    <c:v>Average of best 3</c:v>
                  </c:pt>
                  <c:pt idx="3">
                    <c:v>SARIMAX per product</c:v>
                  </c:pt>
                  <c:pt idx="4">
                    <c:v>Average of 5 methods</c:v>
                  </c:pt>
                  <c:pt idx="5">
                    <c:v>Size x Season x Growth</c:v>
                  </c:pt>
                  <c:pt idx="6">
                    <c:v>Prophet</c:v>
                  </c:pt>
                  <c:pt idx="7">
                    <c:v>LightGBM</c:v>
                  </c:pt>
                  <c:pt idx="8">
                    <c:v>LightGBM per segment</c:v>
                  </c:pt>
                  <c:pt idx="9">
                    <c:v>Last-year mean x season</c:v>
                  </c:pt>
                  <c:pt idx="10">
                    <c:v>Holt-Winters</c:v>
                  </c:pt>
                  <c:pt idx="11">
                    <c:v>Same week last year</c:v>
                  </c:pt>
                </c:lvl>
              </c:multiLvlStrCache>
            </c:multiLvlStrRef>
          </c:cat>
          <c:val>
            <c:numRef>
              <c:f>Sheet1!$B$2:$B$13</c:f>
              <c:numCache>
                <c:formatCode>General</c:formatCode>
                <c:ptCount val="12"/>
                <c:pt idx="0">
                  <c:v>4.57</c:v>
                </c:pt>
                <c:pt idx="1">
                  <c:v>4.57</c:v>
                </c:pt>
                <c:pt idx="2">
                  <c:v>4.61</c:v>
                </c:pt>
                <c:pt idx="3">
                  <c:v>4.68</c:v>
                </c:pt>
                <c:pt idx="4">
                  <c:v>4.69</c:v>
                </c:pt>
                <c:pt idx="5">
                  <c:v>4.72</c:v>
                </c:pt>
                <c:pt idx="6">
                  <c:v>4.76</c:v>
                </c:pt>
                <c:pt idx="7">
                  <c:v>4.78</c:v>
                </c:pt>
                <c:pt idx="8">
                  <c:v>4.9</c:v>
                </c:pt>
                <c:pt idx="9">
                  <c:v>5.28</c:v>
                </c:pt>
                <c:pt idx="10">
                  <c:v>5.55</c:v>
                </c:pt>
                <c:pt idx="11">
                  <c:v>6.96</c:v>
                </c:pt>
              </c:numCache>
            </c:numRef>
          </c:val>
        </c:ser>
        <c:ser>
          <c:idx val="1"/>
          <c:order val="1"/>
          <c:tx>
            <c:strRef>
              <c:f>Sheet1!$C$1</c:f>
              <c:strCache>
                <c:ptCount val="1"/>
                <c:pt idx="0">
                  <c:v>Unconstrained weeks only</c:v>
                </c:pt>
              </c:strCache>
            </c:strRef>
          </c:tx>
          <c:spPr>
            <a:solidFill>
              <a:srgbClr val="1BAF7A"/>
            </a:solidFill>
            <a:effectLst/>
          </c:spPr>
          <c:invertIfNegative val="0"/>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Structural (winner)</c:v>
                  </c:pt>
                  <c:pt idx="1">
                    <c:v>Structural per segment</c:v>
                  </c:pt>
                  <c:pt idx="2">
                    <c:v>Average of best 3</c:v>
                  </c:pt>
                  <c:pt idx="3">
                    <c:v>SARIMAX per product</c:v>
                  </c:pt>
                  <c:pt idx="4">
                    <c:v>Average of 5 methods</c:v>
                  </c:pt>
                  <c:pt idx="5">
                    <c:v>Size x Season x Growth</c:v>
                  </c:pt>
                  <c:pt idx="6">
                    <c:v>Prophet</c:v>
                  </c:pt>
                  <c:pt idx="7">
                    <c:v>LightGBM</c:v>
                  </c:pt>
                  <c:pt idx="8">
                    <c:v>LightGBM per segment</c:v>
                  </c:pt>
                  <c:pt idx="9">
                    <c:v>Last-year mean x season</c:v>
                  </c:pt>
                  <c:pt idx="10">
                    <c:v>Holt-Winters</c:v>
                  </c:pt>
                  <c:pt idx="11">
                    <c:v>Same week last year</c:v>
                  </c:pt>
                </c:lvl>
              </c:multiLvlStrCache>
            </c:multiLvlStrRef>
          </c:cat>
          <c:val>
            <c:numRef>
              <c:f>Sheet1!$C$2:$C$13</c:f>
              <c:numCache>
                <c:formatCode>General</c:formatCode>
                <c:ptCount val="12"/>
                <c:pt idx="0">
                  <c:v>6.64</c:v>
                </c:pt>
                <c:pt idx="1">
                  <c:v>6.63</c:v>
                </c:pt>
                <c:pt idx="2">
                  <c:v>6.63</c:v>
                </c:pt>
                <c:pt idx="3">
                  <c:v>6.74</c:v>
                </c:pt>
                <c:pt idx="4">
                  <c:v>6.7</c:v>
                </c:pt>
                <c:pt idx="5">
                  <c:v>6.62</c:v>
                </c:pt>
                <c:pt idx="6">
                  <c:v>6.8</c:v>
                </c:pt>
                <c:pt idx="7">
                  <c:v>6.81</c:v>
                </c:pt>
                <c:pt idx="8">
                  <c:v>7.03</c:v>
                </c:pt>
                <c:pt idx="9">
                  <c:v>6.81</c:v>
                </c:pt>
                <c:pt idx="10">
                  <c:v>7.36</c:v>
                </c:pt>
                <c:pt idx="11">
                  <c:v>8.81</c:v>
                </c:pt>
              </c:numCache>
            </c:numRef>
          </c:val>
        </c:ser>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Price rise (%) by share of demand that cannot be served</a:t>
            </a:r>
          </a:p>
        </c:rich>
      </c:tx>
      <c:layout/>
      <c:overlay val="0"/>
    </c:title>
    <c:autoTitleDeleted val="0"/>
    <c:plotArea>
      <c:layout/>
      <c:lineChart>
        <c:varyColors val="0"/>
        <c:ser>
          <c:idx val="0"/>
          <c:order val="0"/>
          <c:tx>
            <c:strRef>
              <c:f>Sheet1!$B$1</c:f>
              <c:strCache>
                <c:ptCount val="1"/>
                <c:pt idx="0">
                  <c:v>Peak season</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Sheet1!$B$2:$B$11</c:f>
              <c:numCache>
                <c:formatCode>General</c:formatCode>
                <c:ptCount val="10"/>
                <c:pt idx="0">
                  <c:v>0</c:v>
                </c:pt>
                <c:pt idx="1">
                  <c:v>0</c:v>
                </c:pt>
                <c:pt idx="2">
                  <c:v>2.67</c:v>
                </c:pt>
                <c:pt idx="3">
                  <c:v>4</c:v>
                </c:pt>
                <c:pt idx="4">
                  <c:v>5.33</c:v>
                </c:pt>
                <c:pt idx="5">
                  <c:v>6.67</c:v>
                </c:pt>
                <c:pt idx="6">
                  <c:v>8</c:v>
                </c:pt>
                <c:pt idx="7">
                  <c:v>8</c:v>
                </c:pt>
                <c:pt idx="8">
                  <c:v>8</c:v>
                </c:pt>
                <c:pt idx="9">
                  <c:v>8</c:v>
                </c:pt>
              </c:numCache>
            </c:numRef>
          </c:val>
          <c:smooth val="0"/>
        </c:ser>
        <c:ser>
          <c:idx val="1"/>
          <c:order val="1"/>
          <c:tx>
            <c:strRef>
              <c:f>Sheet1!$C$1</c:f>
              <c:strCache>
                <c:ptCount val="1"/>
                <c:pt idx="0">
                  <c:v>Normal season</c:v>
                </c:pt>
              </c:strCache>
            </c:strRef>
          </c:tx>
          <c:spPr>
            <a:solidFill>
              <a:srgbClr val="1BAF7A"/>
            </a:solidFill>
            <a:ln w="38100" cap="flat">
              <a:solidFill>
                <a:srgbClr val="1BAF7A"/>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Sheet1!$C$2:$C$11</c:f>
              <c:numCache>
                <c:formatCode>General</c:formatCode>
                <c:ptCount val="10"/>
                <c:pt idx="0">
                  <c:v>0</c:v>
                </c:pt>
                <c:pt idx="1">
                  <c:v>0</c:v>
                </c:pt>
                <c:pt idx="2">
                  <c:v>2</c:v>
                </c:pt>
                <c:pt idx="3">
                  <c:v>3</c:v>
                </c:pt>
                <c:pt idx="4">
                  <c:v>4</c:v>
                </c:pt>
                <c:pt idx="5">
                  <c:v>5</c:v>
                </c:pt>
                <c:pt idx="6">
                  <c:v>6</c:v>
                </c:pt>
                <c:pt idx="7">
                  <c:v>6</c:v>
                </c:pt>
                <c:pt idx="8">
                  <c:v>6</c:v>
                </c:pt>
                <c:pt idx="9">
                  <c:v>6</c:v>
                </c:pt>
              </c:numCache>
            </c:numRef>
          </c:val>
          <c:smooth val="0"/>
        </c:ser>
        <c:ser>
          <c:idx val="2"/>
          <c:order val="2"/>
          <c:tx>
            <c:strRef>
              <c:f>Sheet1!$D$1</c:f>
              <c:strCache>
                <c:ptCount val="1"/>
                <c:pt idx="0">
                  <c:v>Off-peak season</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Sheet1!$D$2:$D$11</c:f>
              <c:numCache>
                <c:formatCode>General</c:formatCode>
                <c:ptCount val="10"/>
                <c:pt idx="0">
                  <c:v>0</c:v>
                </c:pt>
                <c:pt idx="1">
                  <c:v>0</c:v>
                </c:pt>
                <c:pt idx="2">
                  <c:v>1.33</c:v>
                </c:pt>
                <c:pt idx="3">
                  <c:v>2</c:v>
                </c:pt>
                <c:pt idx="4">
                  <c:v>2.67</c:v>
                </c:pt>
                <c:pt idx="5">
                  <c:v>3.33</c:v>
                </c:pt>
                <c:pt idx="6">
                  <c:v>4</c:v>
                </c:pt>
                <c:pt idx="7">
                  <c:v>4</c:v>
                </c:pt>
                <c:pt idx="8">
                  <c:v>4</c:v>
                </c:pt>
                <c:pt idx="9">
                  <c:v>4</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9"/>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3"/>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Barley: recommended price over the 26 forecast weeks ($ per unit)</a:t>
            </a:r>
          </a:p>
        </c:rich>
      </c:tx>
      <c:layout/>
      <c:overlay val="0"/>
    </c:title>
    <c:autoTitleDeleted val="0"/>
    <c:plotArea>
      <c:layout/>
      <c:lineChart>
        <c:varyColors val="0"/>
        <c:ser>
          <c:idx val="0"/>
          <c:order val="0"/>
          <c:tx>
            <c:strRef>
              <c:f>Sheet1!$B$1</c:f>
              <c:strCache>
                <c:ptCount val="1"/>
                <c:pt idx="0">
                  <c:v>Recommended price</c:v>
                </c:pt>
              </c:strCache>
            </c:strRef>
          </c:tx>
          <c:spPr>
            <a:solidFill>
              <a:srgbClr val="EB6834"/>
            </a:solidFill>
            <a:ln w="3175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Sheet1!$B$2:$B$27</c:f>
              <c:numCache>
                <c:formatCode>General</c:formatCode>
                <c:ptCount val="26"/>
                <c:pt idx="0">
                  <c:v>7.67</c:v>
                </c:pt>
                <c:pt idx="1">
                  <c:v>7.857</c:v>
                </c:pt>
                <c:pt idx="2">
                  <c:v>7.894</c:v>
                </c:pt>
                <c:pt idx="3">
                  <c:v>8.006</c:v>
                </c:pt>
                <c:pt idx="4">
                  <c:v>8.043</c:v>
                </c:pt>
                <c:pt idx="5">
                  <c:v>8.043</c:v>
                </c:pt>
                <c:pt idx="6">
                  <c:v>8.043</c:v>
                </c:pt>
                <c:pt idx="7">
                  <c:v>8.043</c:v>
                </c:pt>
                <c:pt idx="8">
                  <c:v>8.043</c:v>
                </c:pt>
                <c:pt idx="9">
                  <c:v>8.043</c:v>
                </c:pt>
                <c:pt idx="10">
                  <c:v>8.043</c:v>
                </c:pt>
                <c:pt idx="11">
                  <c:v>8.043</c:v>
                </c:pt>
                <c:pt idx="12">
                  <c:v>8.043</c:v>
                </c:pt>
                <c:pt idx="13">
                  <c:v>8.043</c:v>
                </c:pt>
                <c:pt idx="14">
                  <c:v>8.043</c:v>
                </c:pt>
                <c:pt idx="15">
                  <c:v>8.043</c:v>
                </c:pt>
                <c:pt idx="16">
                  <c:v>8.043</c:v>
                </c:pt>
                <c:pt idx="17">
                  <c:v>8.043</c:v>
                </c:pt>
                <c:pt idx="18">
                  <c:v>8.043</c:v>
                </c:pt>
                <c:pt idx="19">
                  <c:v>8.043</c:v>
                </c:pt>
                <c:pt idx="20">
                  <c:v>8.043</c:v>
                </c:pt>
                <c:pt idx="21">
                  <c:v>8.043</c:v>
                </c:pt>
                <c:pt idx="22">
                  <c:v>7.894</c:v>
                </c:pt>
                <c:pt idx="23">
                  <c:v>7.875</c:v>
                </c:pt>
                <c:pt idx="24">
                  <c:v>7.819</c:v>
                </c:pt>
                <c:pt idx="25">
                  <c:v>7.745</c:v>
                </c:pt>
              </c:numCache>
            </c:numRef>
          </c:val>
          <c:smooth val="0"/>
        </c:ser>
        <c:ser>
          <c:idx val="1"/>
          <c:order val="1"/>
          <c:tx>
            <c:strRef>
              <c:f>Sheet1!$C$1</c:f>
              <c:strCache>
                <c:ptCount val="1"/>
                <c:pt idx="0">
                  <c:v>Today's price</c:v>
                </c:pt>
              </c:strCache>
            </c:strRef>
          </c:tx>
          <c:spPr>
            <a:solidFill>
              <a:srgbClr val="8A8F98"/>
            </a:solidFill>
            <a:ln w="31750" cap="flat">
              <a:solidFill>
                <a:srgbClr val="8A8F98"/>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8A8F98"/>
              </a:solidFill>
              <a:ln w="9525" cap="flat">
                <a:solidFill>
                  <a:srgbClr val="8A8F98"/>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Sheet1!$C$2:$C$27</c:f>
              <c:numCache>
                <c:formatCode>General</c:formatCode>
                <c:ptCount val="26"/>
                <c:pt idx="0">
                  <c:v>7.447</c:v>
                </c:pt>
                <c:pt idx="1">
                  <c:v>7.447</c:v>
                </c:pt>
                <c:pt idx="2">
                  <c:v>7.447</c:v>
                </c:pt>
                <c:pt idx="3">
                  <c:v>7.447</c:v>
                </c:pt>
                <c:pt idx="4">
                  <c:v>7.447</c:v>
                </c:pt>
                <c:pt idx="5">
                  <c:v>7.447</c:v>
                </c:pt>
                <c:pt idx="6">
                  <c:v>7.447</c:v>
                </c:pt>
                <c:pt idx="7">
                  <c:v>7.447</c:v>
                </c:pt>
                <c:pt idx="8">
                  <c:v>7.447</c:v>
                </c:pt>
                <c:pt idx="9">
                  <c:v>7.447</c:v>
                </c:pt>
                <c:pt idx="10">
                  <c:v>7.447</c:v>
                </c:pt>
                <c:pt idx="11">
                  <c:v>7.447</c:v>
                </c:pt>
                <c:pt idx="12">
                  <c:v>7.447</c:v>
                </c:pt>
                <c:pt idx="13">
                  <c:v>7.447</c:v>
                </c:pt>
                <c:pt idx="14">
                  <c:v>7.447</c:v>
                </c:pt>
                <c:pt idx="15">
                  <c:v>7.447</c:v>
                </c:pt>
                <c:pt idx="16">
                  <c:v>7.447</c:v>
                </c:pt>
                <c:pt idx="17">
                  <c:v>7.447</c:v>
                </c:pt>
                <c:pt idx="18">
                  <c:v>7.447</c:v>
                </c:pt>
                <c:pt idx="19">
                  <c:v>7.447</c:v>
                </c:pt>
                <c:pt idx="20">
                  <c:v>7.447</c:v>
                </c:pt>
                <c:pt idx="21">
                  <c:v>7.447</c:v>
                </c:pt>
                <c:pt idx="22">
                  <c:v>7.447</c:v>
                </c:pt>
                <c:pt idx="23">
                  <c:v>7.447</c:v>
                </c:pt>
                <c:pt idx="24">
                  <c:v>7.447</c:v>
                </c:pt>
                <c:pt idx="25">
                  <c:v>7.447</c:v>
                </c:pt>
              </c:numCache>
            </c:numRef>
          </c:val>
          <c:smooth val="0"/>
        </c:ser>
        <c:ser>
          <c:idx val="2"/>
          <c:order val="2"/>
          <c:tx>
            <c:strRef>
              <c:f>Sheet1!$D$1</c:f>
              <c:strCache>
                <c:ptCount val="1"/>
                <c:pt idx="0">
                  <c:v>Upper market band</c:v>
                </c:pt>
              </c:strCache>
            </c:strRef>
          </c:tx>
          <c:spPr>
            <a:solidFill>
              <a:srgbClr val="9EC5F4"/>
            </a:solidFill>
            <a:ln w="31750" cap="flat">
              <a:solidFill>
                <a:srgbClr val="9EC5F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9EC5F4"/>
              </a:solidFill>
              <a:ln w="9525" cap="flat">
                <a:solidFill>
                  <a:srgbClr val="9EC5F4"/>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Sheet1!$D$2:$D$27</c:f>
              <c:numCache>
                <c:formatCode>General</c:formatCode>
                <c:ptCount val="26"/>
                <c:pt idx="0">
                  <c:v>8.19</c:v>
                </c:pt>
                <c:pt idx="1">
                  <c:v>8.19</c:v>
                </c:pt>
                <c:pt idx="2">
                  <c:v>8.19</c:v>
                </c:pt>
                <c:pt idx="3">
                  <c:v>8.19</c:v>
                </c:pt>
                <c:pt idx="4">
                  <c:v>8.19</c:v>
                </c:pt>
                <c:pt idx="5">
                  <c:v>8.19</c:v>
                </c:pt>
                <c:pt idx="6">
                  <c:v>8.19</c:v>
                </c:pt>
                <c:pt idx="7">
                  <c:v>8.19</c:v>
                </c:pt>
                <c:pt idx="8">
                  <c:v>8.19</c:v>
                </c:pt>
                <c:pt idx="9">
                  <c:v>8.19</c:v>
                </c:pt>
                <c:pt idx="10">
                  <c:v>8.19</c:v>
                </c:pt>
                <c:pt idx="11">
                  <c:v>8.19</c:v>
                </c:pt>
                <c:pt idx="12">
                  <c:v>8.19</c:v>
                </c:pt>
                <c:pt idx="13">
                  <c:v>8.19</c:v>
                </c:pt>
                <c:pt idx="14">
                  <c:v>8.19</c:v>
                </c:pt>
                <c:pt idx="15">
                  <c:v>8.19</c:v>
                </c:pt>
                <c:pt idx="16">
                  <c:v>8.19</c:v>
                </c:pt>
                <c:pt idx="17">
                  <c:v>8.19</c:v>
                </c:pt>
                <c:pt idx="18">
                  <c:v>8.19</c:v>
                </c:pt>
                <c:pt idx="19">
                  <c:v>8.19</c:v>
                </c:pt>
                <c:pt idx="20">
                  <c:v>8.19</c:v>
                </c:pt>
                <c:pt idx="21">
                  <c:v>8.19</c:v>
                </c:pt>
                <c:pt idx="22">
                  <c:v>8.19</c:v>
                </c:pt>
                <c:pt idx="23">
                  <c:v>8.19</c:v>
                </c:pt>
                <c:pt idx="24">
                  <c:v>8.19</c:v>
                </c:pt>
                <c:pt idx="25">
                  <c:v>8.19</c:v>
                </c:pt>
              </c:numCache>
            </c:numRef>
          </c:val>
          <c:smooth val="0"/>
        </c:ser>
        <c:ser>
          <c:idx val="3"/>
          <c:order val="3"/>
          <c:tx>
            <c:strRef>
              <c:f>Sheet1!$E$1</c:f>
              <c:strCache>
                <c:ptCount val="1"/>
                <c:pt idx="0">
                  <c:v>Cost floor</c:v>
                </c:pt>
              </c:strCache>
            </c:strRef>
          </c:tx>
          <c:spPr>
            <a:solidFill>
              <a:srgbClr val="D03B3B"/>
            </a:solidFill>
            <a:ln w="31750" cap="flat">
              <a:solidFill>
                <a:srgbClr val="D03B3B"/>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D03B3B"/>
              </a:solidFill>
              <a:ln w="9525" cap="flat">
                <a:solidFill>
                  <a:srgbClr val="D03B3B"/>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Sheet1!$E$2:$E$27</c:f>
              <c:numCache>
                <c:formatCode>General</c:formatCode>
                <c:ptCount val="26"/>
                <c:pt idx="0">
                  <c:v>6.27</c:v>
                </c:pt>
                <c:pt idx="1">
                  <c:v>6.27</c:v>
                </c:pt>
                <c:pt idx="2">
                  <c:v>6.27</c:v>
                </c:pt>
                <c:pt idx="3">
                  <c:v>6.27</c:v>
                </c:pt>
                <c:pt idx="4">
                  <c:v>6.27</c:v>
                </c:pt>
                <c:pt idx="5">
                  <c:v>6.27</c:v>
                </c:pt>
                <c:pt idx="6">
                  <c:v>6.27</c:v>
                </c:pt>
                <c:pt idx="7">
                  <c:v>6.27</c:v>
                </c:pt>
                <c:pt idx="8">
                  <c:v>6.27</c:v>
                </c:pt>
                <c:pt idx="9">
                  <c:v>6.27</c:v>
                </c:pt>
                <c:pt idx="10">
                  <c:v>6.27</c:v>
                </c:pt>
                <c:pt idx="11">
                  <c:v>6.27</c:v>
                </c:pt>
                <c:pt idx="12">
                  <c:v>6.27</c:v>
                </c:pt>
                <c:pt idx="13">
                  <c:v>6.27</c:v>
                </c:pt>
                <c:pt idx="14">
                  <c:v>6.27</c:v>
                </c:pt>
                <c:pt idx="15">
                  <c:v>6.27</c:v>
                </c:pt>
                <c:pt idx="16">
                  <c:v>6.27</c:v>
                </c:pt>
                <c:pt idx="17">
                  <c:v>6.27</c:v>
                </c:pt>
                <c:pt idx="18">
                  <c:v>6.27</c:v>
                </c:pt>
                <c:pt idx="19">
                  <c:v>6.27</c:v>
                </c:pt>
                <c:pt idx="20">
                  <c:v>6.27</c:v>
                </c:pt>
                <c:pt idx="21">
                  <c:v>6.27</c:v>
                </c:pt>
                <c:pt idx="22">
                  <c:v>6.27</c:v>
                </c:pt>
                <c:pt idx="23">
                  <c:v>6.27</c:v>
                </c:pt>
                <c:pt idx="24">
                  <c:v>6.27</c:v>
                </c:pt>
                <c:pt idx="25">
                  <c:v>6.27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tickLblSkip val="5"/>
      </c:catAx>
      <c:valAx>
        <c:axId val="2094734552"/>
        <c:scaling>
          <c:orientation val="minMax"/>
          <c:max val="8.5"/>
          <c:min val="6"/>
        </c:scaling>
        <c:delete val="0"/>
        <c:axPos val="l"/>
        <c:majorGridlines>
          <c:spPr>
            <a:ln w="9525" cap="flat">
              <a:solidFill>
                <a:srgbClr val="E3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Test 2: profit gain over 26 weeks by customer price sensitivity</a:t>
            </a:r>
          </a:p>
        </c:rich>
      </c:tx>
      <c:layout/>
      <c:overlay val="0"/>
    </c:title>
    <c:autoTitleDeleted val="0"/>
    <c:plotArea>
      <c:layout/>
      <c:barChart>
        <c:barDir val="col"/>
        <c:grouping val="clustered"/>
        <c:varyColors val="0"/>
        <c:ser>
          <c:idx val="0"/>
          <c:order val="0"/>
          <c:tx>
            <c:strRef>
              <c:f>Sheet1!$B$1</c:f>
              <c:strCache>
                <c:ptCount val="1"/>
                <c:pt idx="0">
                  <c:v>Profit gain, $M</c:v>
                </c:pt>
              </c:strCache>
            </c:strRef>
          </c:tx>
          <c:spPr>
            <a:solidFill>
              <a:srgbClr val="9EC5F4"/>
            </a:solidFill>
            <a:effectLst/>
          </c:spPr>
          <c:invertIfNegative val="0"/>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9EC5F4"/>
              </a:solidFill>
              <a:effectLst/>
            </c:spPr>
          </c:dPt>
          <c:dPt>
            <c:idx val="1"/>
            <c:invertIfNegative val="0"/>
            <c:bubble3D val="0"/>
            <c:spPr>
              <a:solidFill>
                <a:srgbClr val="9EC5F4"/>
              </a:solidFill>
              <a:effectLst/>
            </c:spPr>
          </c:dPt>
          <c:dPt>
            <c:idx val="2"/>
            <c:invertIfNegative val="0"/>
            <c:bubble3D val="0"/>
            <c:spPr>
              <a:solidFill>
                <a:srgbClr val="2A78D6"/>
              </a:solidFill>
              <a:effectLst/>
            </c:spPr>
          </c:dPt>
          <c:dPt>
            <c:idx val="3"/>
            <c:invertIfNegative val="0"/>
            <c:bubble3D val="0"/>
            <c:spPr>
              <a:solidFill>
                <a:srgbClr val="9EC5F4"/>
              </a:solidFill>
              <a:effectLst/>
            </c:spPr>
          </c:dPt>
          <c:dPt>
            <c:idx val="4"/>
            <c:invertIfNegative val="0"/>
            <c:bubble3D val="0"/>
            <c:spPr>
              <a:solidFill>
                <a:srgbClr val="9EC5F4"/>
              </a:solidFill>
              <a:effectLst/>
            </c:spPr>
          </c:dPt>
          <c:cat>
            <c:multiLvlStrRef>
              <c:f>Sheet1!$A$2:$A$6</c:f>
              <c:multiLvlStrCache>
                <c:ptCount val="5"/>
                <c:lvl>
                  <c:pt idx="0">
                    <c:v>Very sensitive (-3)</c:v>
                  </c:pt>
                  <c:pt idx="1">
                    <c:v>High (-2)</c:v>
                  </c:pt>
                  <c:pt idx="2">
                    <c:v>Planning case (-1)</c:v>
                  </c:pt>
                  <c:pt idx="3">
                    <c:v>Low (-0.5)</c:v>
                  </c:pt>
                  <c:pt idx="4">
                    <c:v>Ignore price (0)</c:v>
                  </c:pt>
                </c:lvl>
              </c:multiLvlStrCache>
            </c:multiLvlStrRef>
          </c:cat>
          <c:val>
            <c:numRef>
              <c:f>Sheet1!$B$2:$B$6</c:f>
              <c:numCache>
                <c:formatCode>General</c:formatCode>
                <c:ptCount val="5"/>
                <c:pt idx="0">
                  <c:v>1.15</c:v>
                </c:pt>
                <c:pt idx="1">
                  <c:v>1.22</c:v>
                </c:pt>
                <c:pt idx="2">
                  <c:v>1.26</c:v>
                </c:pt>
                <c:pt idx="3">
                  <c:v>1.28</c:v>
                </c:pt>
                <c:pt idx="4">
                  <c:v>1.3</c:v>
                </c:pt>
              </c:numCache>
            </c:numRef>
          </c:val>
        </c:ser>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E3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0.4"/>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Calibri"/>
              </a:defRPr>
            </a:pPr>
            <a:r>
              <a:rPr sz="1300" b="0" i="0" u="none" strike="noStrike">
                <a:solidFill>
                  <a:srgbClr val="1B2A41"/>
                </a:solidFill>
                <a:latin typeface="Calibri"/>
              </a:rPr>
              <a:t>Capital tied up above 26 weeks of stock (at cost)</a:t>
            </a:r>
          </a:p>
        </c:rich>
      </c:tx>
      <c:layout/>
      <c:overlay val="0"/>
    </c:title>
    <c:autoTitleDeleted val="0"/>
    <c:plotArea>
      <c:layout/>
      <c:barChart>
        <c:barDir val="bar"/>
        <c:grouping val="clustered"/>
        <c:varyColors val="0"/>
        <c:ser>
          <c:idx val="0"/>
          <c:order val="0"/>
          <c:tx>
            <c:strRef>
              <c:f>Sheet1!$B$1</c:f>
              <c:strCache>
                <c:ptCount val="1"/>
                <c:pt idx="0">
                  <c:v>Excess stock $M</c:v>
                </c:pt>
              </c:strCache>
            </c:strRef>
          </c:tx>
          <c:spPr>
            <a:solidFill>
              <a:srgbClr val="EB6834"/>
            </a:solidFill>
            <a:effectLst/>
          </c:spPr>
          <c:invertIfNegative val="0"/>
          <c:dLbls>
            <c:numFmt formatCode="&quot;$&quot;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cat>
            <c:multiLvlStrRef>
              <c:f>Sheet1!$A$2:$A$6</c:f>
              <c:multiLvlStrCache>
                <c:ptCount val="5"/>
                <c:lvl>
                  <c:pt idx="0">
                    <c:v>Wheat - Hard Red</c:v>
                  </c:pt>
                  <c:pt idx="1">
                    <c:v>Milk Powder - Whole</c:v>
                  </c:pt>
                  <c:pt idx="2">
                    <c:v>Spices - Turmeric</c:v>
                  </c:pt>
                  <c:pt idx="3">
                    <c:v>Sunflower Oil</c:v>
                  </c:pt>
                  <c:pt idx="4">
                    <c:v>Chickpeas</c:v>
                  </c:pt>
                </c:lvl>
              </c:multiLvlStrCache>
            </c:multiLvlStrRef>
          </c:cat>
          <c:val>
            <c:numRef>
              <c:f>Sheet1!$B$2:$B$6</c:f>
              <c:numCache>
                <c:formatCode>General</c:formatCode>
                <c:ptCount val="5"/>
                <c:pt idx="0">
                  <c:v>6.5</c:v>
                </c:pt>
                <c:pt idx="1">
                  <c:v>1.4</c:v>
                </c:pt>
                <c:pt idx="2">
                  <c:v>1.3</c:v>
                </c:pt>
                <c:pt idx="3">
                  <c:v>1.1</c:v>
                </c:pt>
                <c:pt idx="4">
                  <c:v>0.5</c:v>
                </c:pt>
              </c:numCache>
            </c:numRef>
          </c:val>
        </c:ser>
        <c:dLbls>
          <c:numFmt formatCode="&quot;$&quot;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presentation walks through how I approached the assessment: what problem each part poses, how I investigated it, which technical decisions I made and why, and what the results are. The emphasis is on the reasoning and the method, not only the final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assessment names three business problems: demand volatility, static prices and credit/liquidity risk. I treated them as one chain: you cannot forecast before the data is trustworthy, you cannot price before you know demand, and a dashboard makes the whole thing usable. For each part I started from a question rather than a technique. Four habits guided every decision: diagnose before modelling, test on unseen data, prefer the simple solution unless evidence says otherwise, and state every assumption and stress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goal: every number in later parts must be trustworthy and every correction traceable. The raw file is copied untouched into a staging table first, so nothing is lost. Validation separates fatal problems (stop the load) from fixable ones (log and correct). Exact duplicates are dropped because a repeated row would double count sales. Missing sales are recovered from revenue / price. Odd values are flagged, not deleted, because later analysis shows they carry information. The load is one transaction so it is repeatable. Exception handling was proven on a deliberately corrupted copy: 15 tests, all passed. The integrity index rises from 79.7 to 99.7.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data challenges met in the raw file. Principle: fix what is provably wrong, flag what is merely unusual, and never delete information whose meaning is not yet understood. Duplicates (39) were dropped because a repeated week double counts sales. Missing sales (16) were recovered as revenue divided by price. The 606 missing legacy forecasts were not imputed because that would invent a baseline. 897 infinite growth values were set to NULL and recomputed. Derived fields were only 37 percent consistent, so revenue, profit, margin, growth and turnover were recomputed. The inventory timing issue looked like corruption (907 rows with zero stock but positive sales) but was a misaligned column: sales in a week are limited by the previous row's inventory. Pile-ups at 1,500 and 2,500 and the 1,329 zero-sales weeks looked like errors but are stock caps; they became the key to the whole solution. 23 outliers were flagged with a robust z-score and a winsorised copy added. Dates, customers and competitor prices do not exist in the file, so those parts rely on labelled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Sales in a week track the previous row's inventory (correlation 0.85), zero stock means zero sales, and sales pile up exactly at the stock caps 1,500 and 2,500. So sales equal min(demand, stock). 53% of product-weeks are affected. Forecasting raw sales would forecast stock availability.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every product-week is classified by the stock available for sales (previous row's inventory): unconstrained if sales are below stock, stock-limited if sales equal stock, stock-out if stock is zero. Step 2: the legacy forecast is validated on unconstrained weeks, where true demand equals sales: bias -0.4 percent, correlation 0.97, about 10 percent multiplicative noise, so it is a usable noisy measure of demand. Step 3: a seasonal model is fitted in log space with a product level, a shared trend and a Fourier seasonal curve. The Fourier order K and the trend structure are chosen by blocked 5-fold cross-validation with the one-standard-error rule: K=2, shared trend. Step 4: the demand estimate in censored weeks is the larger of observed sales and a 0.40 / 0.60 blend of the legacy forecast and the model; the weight is fitted on out-of-fold predictions and confirmed on held-out products. Where the legacy forecast is missing (606 rows) the model alone is used. One caveat: unconstrained weeks are slightly biased toward lower demand, so the accuracy of the blend is an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engineering happened in three layers. Layer A, in the ETL: the most important feature of the project is stock_available_for_sales, the previous row's inventory, which turned an apparent data error into the explanation of the sales pattern; with the censoring status and flags it describes what each sales number really measures. Layer B, in pre-processing: the reconstructed demand target, the seasonal-model prediction, calendar fields from the synthetic dates, and product descriptors: stock regime from k-means and the high-stock versus normal-stock profile. Layer C, model inputs: the structural model needs only product level, trend and sine/cosine pairs of week of year; LightGBM also gets horizon, demand of the same week last year and its neighbours, 13, 26 and 52-week levels and product codes, with the target expressed relative to the 52-week level. The evidence for keeping or dropping features: week of year explains 78 to 86 percent of demand variance against a permutation null, product shapes correlate 0.97, price and cost have no calendar effect, and the within-product price effect is -0.017 (95 percent interval -0.056 to +0.021). LightGBM importance is concentrated in week of year, its sine/cosine terms and last year's pattern. Rules: only information known at the forecast origin is used, and the legacy forecast is never a model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predicts the column demand_est: the reconstructed number of units customers wanted for each product-week, for 26 weeks ahead and 30 products, so 780 forecasts. Inputs are past demand_est, week of year and the product; the legacy forecast is excluded to avoid leakage. A single train/test split would be a lucky or unlucky draw, and a random split would leak the future, so time-ordered rolling splits are used. For each of four origins (weeks 156, 182, 208, 234) the model learns from all earlier weeks and is tested on the next 26: that is 4 x 26 x 30 = 3,120 test forecasts. Inside every training window the last 52 weeks provide the validation: two inner windows (origin minus 52 and minus 26) score each candidate setting; the best setting is then refitted on the whole training window. The test weeks never influence any setting. The final model trains on weeks 1 to 260 and forecasts 261 to 286. Besides all test weeks, errors are also reported on unconstrained weeks (44 percent of test weeks), where demand equals observed sales, so the score does not depend on the reconstruction.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free parameter is a model setting that is not learned from the data by the model itself and must be chosen. All were chosen only on validation data inside the training window. The reconstruction model's Fourier order K and trend structure came from blocked five-fold cross-validation with the one-standard-error rule (K=2, shared), and the blend weight 0.40 from out-of-fold predictions. The winning structural model searched K from 1 to 8 and a shared or per-product trend, scoring two inner 26-week windows by WAPE: the final fit selected K=3 with a shared trend (inner WAPE 4.46 percent). Holt-Winters and SARIMAX were chosen by AICc. LightGBM searched 10 random configurations from a grid of leaves, learning rate, minimum leaf size, feature fraction and L2, with early stopping on a trailing 26-week validation block; the number of trees is refitted with 15 percent headroom. Prophet searched changepoint prior, Fourier order and seasonality mode with inner cross-validation on six sample products. The walk-forward ensemble chooses its top three only from earlier folds.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selected model is a pooled log-linear structural model. In log space, demand of a product in a week equals a product level, plus a shared trend, plus a shared seasonal curve written as K sine/cosine pairs of the week of the year. Taking the exponent turns the sum into a product: level x growth x season, with a small bias correction because the model works in logs. With K=3 only 30 levels, one trend and 6 seasonal coefficients are learned: 37 numbers from 7,800 observations, because all 30 products share the curve. That is why it is hard to beat: little noise to over-fit. Worked example: Barley, test origin week 234 (the tuning picked K=2 there). Level 2,579 units, trend multiplier 1.057, season multiplier 0.983 for week-of-year 27, bias correction 1.002 give 2,687 units against 2,505 actual. Over the 26 test weeks Barley is missed by 4.8 percent and all products by 4.6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Average miss (WAPE) of every model over the four test windows, shown twice: on all test weeks (blue), and on unconstrained weeks only (green), where demand equals observed sales and does not depend on the reconstruction. The winner has 4.57 percent on all weeks and 6.64 percent on unconstrained weeks. On unconstrained weeks the top models are practically tied between 6.6 and 6.8 percent: the structure matters, not the model's complexity. Machine learning (LightGBM 4.78 percent, Prophet 4.76 percent) does not beat the shared structure, and per-product classical models are worse. The last-52-week mean (16.8 percent) is omitted from the chart for scale. Errors on unconstrained weeks are higher because reconstructed demand in capped weeks is smooth, while observed weeks carry real noise, so 6.6 percent is the honest accuracy to quote. The winner is statistically better than the best simple rule (paired bootstrap interval excludes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dollar figures are computed. Potential revenue: for every product-week the forecast demand (P50) is multiplied by the product's last-13-week average price and summed over 30 products and 26 weeks: 1.998 million units gives $64.6M. Unserved revenue: future stock is unknown, so for each product-week the expected units sold are simulated as min(demand, stock) where stock is drawn from that product's own last 104 weeks of stock available for sales; the expected sold units are 1.09 million, worth $35.8M. The difference, $28.7M (44 percent), is demand that stock history would not serve. Example: Barley week 1: 2,899 units x $7.447 = $21,589 potential; the historical stock lets about 1,397 units sell, worth $10,406; the remaining 1,494 units, $11,182, would be lost. This is a risk view, not a prediction of what will be sold, because purchasing can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designed the dashboard around the reader: senior managers who are not technical. Each of the eight tabs answers one business question and opens with a one-sentence bottom line. KPIs are grouped as financial (margin, growth, operating profit), operational (turnover, days of stock, service level, lost sales), credit (DSO, A-E default-risk rating) and forward-looking (26-week forecast with a likely range, recommended prices). The data has no customers or invoices, so the credit layer is a scenario with editable assumptions, labelled as such. Alerts are six rules with editable thresholds and show the money at stake and a suggested action. 24 automatic tests reconcile KPIs to the database. I will show the live dashboard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pricing idea is derived from what the data showed in Parts 1 to 3. Insight 1: 78 percent of the forecast product-weeks are scarce, meaning the stock history would not cover demand, so those products sell out regardless of price. Insight 2: demand swings 25 percent either side of normal over the year, so scarcity is strongest in peak weeks. Insight 3: five products hold 64 to 370 weeks of stock, 10.8 million dollars, so markdowns are only interesting there, and only if they pay. Insight 4: prices vary only 4 percent within a product, so the price effect cannot be measured (-0.017, interval includes zero). Idea: raise prices where stock sells out anyway, because then units are set by stock and the extra price is pure profit; do not rely on price sensitivity; discount only if it provably pays; and keep strict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algorithm in plain terms; the full mathematics is in the Word rulebook. Rule 1: the share g of expected demand that cannot be served drives a premium of up to 8 percent, scaled by season (peak 1.0, normal 0.75, off-peak 0.5). Rule 2: sell-out protection finds the largest rise M for which expected units sold stay at least 99 percent of the baseline, even if customers were twice as price-sensitive, using 1,000 simulated demand draws. Rule 3: for surplus stock a markdown of up to 10 percent is applied only if simulated profit rises, counting the carrying-cost saving. Rule 4: credit-risky categories get no markdown and pay a risk premium covering default loss and funding. Rule 5: hard guardrails. Rule 6: assembly, recording which limit was binding so every price is explainable.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Barley is a scarce product: only 48 percent of its expected demand can be served in week 1 (normal season). Rule 1: premium = 8 percent x min(1, 52 percent / 30 percent) x 0.75 for a normal season = +6.0 percent. Rule 2 sell-out protection: simulating 1,000 demand draws with customers twice as price-sensitive, the largest rise that keeps expected units within 1 percent of today's is +4.5 percent. Rule 5: the weekly step limit allows only +3 percent from today's price. Result: 7.447 x 1.03 = 7.67, comfortably above the cost floor (6.27) and inside the market band (6.85 to 8.19). In the following weeks the allowed rise grows until it reaches the +8 percent cap in peak season, and returns toward today's price when the season turns. Two more cases: Wheat - Hard Red has 260 weeks of stock, so a markdown was tested and rejected because it only pays if customers were 3.5 times as price-sensitive as assumed; the D-rated Cocoa Powder gets no discounts and a credit-risk premium.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Profit means gross profit minus expected credit losses, versus holding today's price, using the same simulated demand and stock for both. Because prices are raised only where stock sells out anyway, the gain barely depends on how customers react: $1.15M if they are very price-sensitive (-3), $1.30M if they ignore price (0), $1.26M in the planning case (-1). Test 1 simulates 1,000 demand and stock draws per product-week. Test 2 repeats this for five price-sensitivity values. Test 3 replays the last 52 weeks with decisions at weeks 208 and 234 using only past information and a naive same-week-last-year forecast: +$1.43M. Test 4 varies 16 parameter settings (all stay positive, $0.64M to $1.6M) and cuts real demand to 60 percent of the estimate: still +$0.94M. The largest setting risk is the number of units accepted to lose; at 0 percent the gain halves. 19 automatic checks pass: band, floor, weekly step, credit rules, hand-calculated arithmetic and the replay.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products hold between 64 and 370 weeks of stock: $10.8M at cost and about $1.3M a year to carry, which is more than the whole pricing gain. Selling the excess within a year by price alone would need cuts of 17 to 49 percent even for very price-sensitive customers, and a price below cost at the planning sensitivity. 200 candidate markdowns were tested and rejected because they do not pay. Beverages and Cocoa is rated D in the credit scenario. Two assumptions remain open, price sensitivity and competitor prices, so two pilots are proposed. For products that sell out, units sold equal stock, so a price test there only shows whether they still sell out; real sensitivity needs products with ample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assumption is documented in the notebooks and the README. The three that matter most for decisions are price sensitivity, credit data, and the demand reconstruction; each has a test or a pilot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carry the story. About 40% of customer demand went unserved last year because stock ran out; a simple model forecasts the next 26 weeks within 4.6%; five over-stocked products tie up $10.8M; and pricing that respects scarcity adds about $1.3M profit without selling fewer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rtlCol="0"/>
          <a:lstStyle>
            <a:lvl1pPr indent="0" marL="0">
              <a:buNone/>
              <a:defRPr lang="en-US" sz="2200" dirty="0">
                <a:solidFill>
                  <a:srgbClr val="CADCFC"/>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5B6B80"/>
                </a:solidFill>
              </a:rPr>
              <a:t>Armani Middle East Trading  ·  Data Science assessment</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Technical Assessment for Data Scientist Position</a:t>
            </a: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lIns="0" tIns="0" rIns="0" bIns="0" rtlCol="0" anchor="t"/>
          <a:lstStyle/>
          <a:p>
            <a:pPr indent="0" marL="0">
              <a:buNone/>
            </a:pPr>
            <a:r>
              <a:rPr lang="en-US" sz="2200" dirty="0">
                <a:solidFill>
                  <a:srgbClr val="CADCFC"/>
                </a:solidFill>
              </a:rPr>
              <a:t>Presenter: Hamidreza Nademi</a:t>
            </a:r>
            <a:endParaRPr lang="en-US" sz="2200" dirty="0"/>
          </a:p>
        </p:txBody>
      </p:sp>
      <p:sp>
        <p:nvSpPr>
          <p:cNvPr id="4" name="Text 2"/>
          <p:cNvSpPr txBox="1"/>
          <p:nvPr/>
        </p:nvSpPr>
        <p:spPr>
          <a:xfrm>
            <a:off x="822960" y="5852160"/>
            <a:ext cx="10515600" cy="365760"/>
          </a:xfrm>
          <a:prstGeom prst="rect">
            <a:avLst/>
          </a:prstGeom>
          <a:noFill/>
          <a:ln/>
        </p:spPr>
        <p:txBody>
          <a:bodyPr wrap="square" lIns="0" tIns="0" rIns="0" bIns="0" rtlCol="0" anchor="ctr"/>
          <a:lstStyle/>
          <a:p>
            <a:pPr indent="0" marL="0">
              <a:buNone/>
            </a:pPr>
            <a:r>
              <a:rPr lang="en-US" sz="1600" dirty="0">
                <a:solidFill>
                  <a:srgbClr val="9FB3CC"/>
                </a:solidFill>
              </a:rPr>
              <a:t>Armani Middle East Trading  |  Data engineering  ·  Forecasting  ·  Dashboard  ·  Dynamic pricing</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THE BRIEF AND MY APPROACH</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Four parts, one chain: each answer feeds the next</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920240"/>
                <a:gridCol w="2651760"/>
                <a:gridCol w="3840480"/>
                <a:gridCol w="2651760"/>
              </a:tblGrid>
              <a:tr h="365760">
                <a:tc>
                  <a:txBody>
                    <a:bodyPr/>
                    <a:lstStyle/>
                    <a:p>
                      <a:pPr indent="0" marL="0">
                        <a:buNone/>
                      </a:pPr>
                      <a:r>
                        <a:rPr lang="en-US" sz="1300" b="1" dirty="0">
                          <a:solidFill>
                            <a:srgbClr val="FFFFFF"/>
                          </a:solidFill>
                        </a:rPr>
                        <a:t>Part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Business problem</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The question I asked first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What I built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566928">
                <a:tc>
                  <a:txBody>
                    <a:bodyPr/>
                    <a:lstStyle/>
                    <a:p>
                      <a:pPr indent="0" marL="0">
                        <a:buNone/>
                      </a:pPr>
                      <a:r>
                        <a:rPr lang="en-US" sz="1300" b="1" dirty="0">
                          <a:solidFill>
                            <a:srgbClr val="1B2A41"/>
                          </a:solidFill>
                        </a:rPr>
                        <a:t>1  Data and ETL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Raw weekly file of 30 products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Can I trust every number, and what does each column really measure?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Validated pipeline, star schema, audit trail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2  Forecast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Demand volatility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What exactly should I forecast, and how do I prove a model works?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Demand rebuild, 13-model test, 26-week forecast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3  Dashboard</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Managers need KPIs and alerts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What would a manager decide on Monday morning?</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Plain-language dashboard with alerts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4  Pricing and risk</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Static prices, credit and liquidity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Where does price really earn money, and what could go wrong?</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Rule engine, safety limits, pilot plan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6" name="Principle card"/>
          <p:cNvSpPr/>
          <p:nvPr/>
        </p:nvSpPr>
        <p:spPr>
          <a:xfrm>
            <a:off x="548640" y="4846320"/>
            <a:ext cx="2651760" cy="1463040"/>
          </a:xfrm>
          <a:prstGeom prst="roundRect">
            <a:avLst>
              <a:gd name="adj" fmla="val 5000"/>
            </a:avLst>
          </a:prstGeom>
          <a:solidFill>
            <a:srgbClr val="F2F6FB"/>
          </a:solidFill>
          <a:ln w="12700">
            <a:solidFill>
              <a:srgbClr val="F2F6FB"/>
            </a:solidFill>
            <a:prstDash val="solid"/>
          </a:ln>
        </p:spPr>
      </p:sp>
      <p:sp>
        <p:nvSpPr>
          <p:cNvPr id="7" name="Principle accent"/>
          <p:cNvSpPr/>
          <p:nvPr/>
        </p:nvSpPr>
        <p:spPr>
          <a:xfrm>
            <a:off x="548640" y="4846320"/>
            <a:ext cx="82296" cy="1463040"/>
          </a:xfrm>
          <a:prstGeom prst="rect">
            <a:avLst/>
          </a:prstGeom>
          <a:solidFill>
            <a:srgbClr val="2A78D6"/>
          </a:solidFill>
          <a:ln w="12700">
            <a:solidFill>
              <a:srgbClr val="2A78D6"/>
            </a:solidFill>
            <a:prstDash val="solid"/>
          </a:ln>
        </p:spPr>
      </p:sp>
      <p:sp>
        <p:nvSpPr>
          <p:cNvPr id="8" name="Text 4"/>
          <p:cNvSpPr txBox="1"/>
          <p:nvPr/>
        </p:nvSpPr>
        <p:spPr>
          <a:xfrm>
            <a:off x="77724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Diagnose before modelling</a:t>
            </a:r>
            <a:endParaRPr lang="en-US" sz="1500" dirty="0"/>
          </a:p>
        </p:txBody>
      </p:sp>
      <p:sp>
        <p:nvSpPr>
          <p:cNvPr id="9" name="Text 5"/>
          <p:cNvSpPr txBox="1"/>
          <p:nvPr/>
        </p:nvSpPr>
        <p:spPr>
          <a:xfrm>
            <a:off x="77724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What the data measures is understood before a method is chosen.</a:t>
            </a:r>
            <a:endParaRPr lang="en-US" sz="1300" dirty="0"/>
          </a:p>
        </p:txBody>
      </p:sp>
      <p:sp>
        <p:nvSpPr>
          <p:cNvPr id="10" name="Principle card"/>
          <p:cNvSpPr/>
          <p:nvPr/>
        </p:nvSpPr>
        <p:spPr>
          <a:xfrm>
            <a:off x="3337560" y="4846320"/>
            <a:ext cx="2651760" cy="1463040"/>
          </a:xfrm>
          <a:prstGeom prst="roundRect">
            <a:avLst>
              <a:gd name="adj" fmla="val 5000"/>
            </a:avLst>
          </a:prstGeom>
          <a:solidFill>
            <a:srgbClr val="F2F6FB"/>
          </a:solidFill>
          <a:ln w="12700">
            <a:solidFill>
              <a:srgbClr val="F2F6FB"/>
            </a:solidFill>
            <a:prstDash val="solid"/>
          </a:ln>
        </p:spPr>
      </p:sp>
      <p:sp>
        <p:nvSpPr>
          <p:cNvPr id="11" name="Principle accent"/>
          <p:cNvSpPr/>
          <p:nvPr/>
        </p:nvSpPr>
        <p:spPr>
          <a:xfrm>
            <a:off x="3337560" y="4846320"/>
            <a:ext cx="82296" cy="1463040"/>
          </a:xfrm>
          <a:prstGeom prst="rect">
            <a:avLst/>
          </a:prstGeom>
          <a:solidFill>
            <a:srgbClr val="1BAF7A"/>
          </a:solidFill>
          <a:ln w="12700">
            <a:solidFill>
              <a:srgbClr val="1BAF7A"/>
            </a:solidFill>
            <a:prstDash val="solid"/>
          </a:ln>
        </p:spPr>
      </p:sp>
      <p:sp>
        <p:nvSpPr>
          <p:cNvPr id="12" name="Text 8"/>
          <p:cNvSpPr txBox="1"/>
          <p:nvPr/>
        </p:nvSpPr>
        <p:spPr>
          <a:xfrm>
            <a:off x="356616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Test on unseen data</a:t>
            </a:r>
            <a:endParaRPr lang="en-US" sz="1500" dirty="0"/>
          </a:p>
        </p:txBody>
      </p:sp>
      <p:sp>
        <p:nvSpPr>
          <p:cNvPr id="13" name="Text 9"/>
          <p:cNvSpPr txBox="1"/>
          <p:nvPr/>
        </p:nvSpPr>
        <p:spPr>
          <a:xfrm>
            <a:off x="356616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Every choice is judged on weeks the model has not seen.</a:t>
            </a:r>
            <a:endParaRPr lang="en-US" sz="1300" dirty="0"/>
          </a:p>
        </p:txBody>
      </p:sp>
      <p:sp>
        <p:nvSpPr>
          <p:cNvPr id="14" name="Principle card"/>
          <p:cNvSpPr/>
          <p:nvPr/>
        </p:nvSpPr>
        <p:spPr>
          <a:xfrm>
            <a:off x="6126480" y="4846320"/>
            <a:ext cx="2651760" cy="1463040"/>
          </a:xfrm>
          <a:prstGeom prst="roundRect">
            <a:avLst>
              <a:gd name="adj" fmla="val 5000"/>
            </a:avLst>
          </a:prstGeom>
          <a:solidFill>
            <a:srgbClr val="F2F6FB"/>
          </a:solidFill>
          <a:ln w="12700">
            <a:solidFill>
              <a:srgbClr val="F2F6FB"/>
            </a:solidFill>
            <a:prstDash val="solid"/>
          </a:ln>
        </p:spPr>
      </p:sp>
      <p:sp>
        <p:nvSpPr>
          <p:cNvPr id="15" name="Principle accent"/>
          <p:cNvSpPr/>
          <p:nvPr/>
        </p:nvSpPr>
        <p:spPr>
          <a:xfrm>
            <a:off x="6126480" y="4846320"/>
            <a:ext cx="82296" cy="1463040"/>
          </a:xfrm>
          <a:prstGeom prst="rect">
            <a:avLst/>
          </a:prstGeom>
          <a:solidFill>
            <a:srgbClr val="EB6834"/>
          </a:solidFill>
          <a:ln w="12700">
            <a:solidFill>
              <a:srgbClr val="EB6834"/>
            </a:solidFill>
            <a:prstDash val="solid"/>
          </a:ln>
        </p:spPr>
      </p:sp>
      <p:sp>
        <p:nvSpPr>
          <p:cNvPr id="16" name="Text 12"/>
          <p:cNvSpPr txBox="1"/>
          <p:nvPr/>
        </p:nvSpPr>
        <p:spPr>
          <a:xfrm>
            <a:off x="635508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Simple unless proven otherwise</a:t>
            </a:r>
            <a:endParaRPr lang="en-US" sz="1500" dirty="0"/>
          </a:p>
        </p:txBody>
      </p:sp>
      <p:sp>
        <p:nvSpPr>
          <p:cNvPr id="17" name="Text 13"/>
          <p:cNvSpPr txBox="1"/>
          <p:nvPr/>
        </p:nvSpPr>
        <p:spPr>
          <a:xfrm>
            <a:off x="635508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A complex model must beat a plain rule to be used.</a:t>
            </a:r>
            <a:endParaRPr lang="en-US" sz="1300" dirty="0"/>
          </a:p>
        </p:txBody>
      </p:sp>
      <p:sp>
        <p:nvSpPr>
          <p:cNvPr id="18" name="Principle card"/>
          <p:cNvSpPr/>
          <p:nvPr/>
        </p:nvSpPr>
        <p:spPr>
          <a:xfrm>
            <a:off x="8915400" y="4846320"/>
            <a:ext cx="2651760" cy="1463040"/>
          </a:xfrm>
          <a:prstGeom prst="roundRect">
            <a:avLst>
              <a:gd name="adj" fmla="val 5000"/>
            </a:avLst>
          </a:prstGeom>
          <a:solidFill>
            <a:srgbClr val="F2F6FB"/>
          </a:solidFill>
          <a:ln w="12700">
            <a:solidFill>
              <a:srgbClr val="F2F6FB"/>
            </a:solidFill>
            <a:prstDash val="solid"/>
          </a:ln>
        </p:spPr>
      </p:sp>
      <p:sp>
        <p:nvSpPr>
          <p:cNvPr id="19" name="Principle accent"/>
          <p:cNvSpPr/>
          <p:nvPr/>
        </p:nvSpPr>
        <p:spPr>
          <a:xfrm>
            <a:off x="8915400" y="4846320"/>
            <a:ext cx="82296" cy="1463040"/>
          </a:xfrm>
          <a:prstGeom prst="rect">
            <a:avLst/>
          </a:prstGeom>
          <a:solidFill>
            <a:srgbClr val="D03B3B"/>
          </a:solidFill>
          <a:ln w="12700">
            <a:solidFill>
              <a:srgbClr val="D03B3B"/>
            </a:solidFill>
            <a:prstDash val="solid"/>
          </a:ln>
        </p:spPr>
      </p:sp>
      <p:sp>
        <p:nvSpPr>
          <p:cNvPr id="20" name="Text 16"/>
          <p:cNvSpPr txBox="1"/>
          <p:nvPr/>
        </p:nvSpPr>
        <p:spPr>
          <a:xfrm>
            <a:off x="914400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State and stress assumptions</a:t>
            </a:r>
            <a:endParaRPr lang="en-US" sz="1500" dirty="0"/>
          </a:p>
        </p:txBody>
      </p:sp>
      <p:sp>
        <p:nvSpPr>
          <p:cNvPr id="21" name="Text 17"/>
          <p:cNvSpPr txBox="1"/>
          <p:nvPr/>
        </p:nvSpPr>
        <p:spPr>
          <a:xfrm>
            <a:off x="914400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Where data is missing, assume openly and show the range.</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DATA ENGINEERING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 pipeline that never loses or hides information</a:t>
            </a:r>
            <a:endParaRPr lang="en-US" sz="3000" dirty="0"/>
          </a:p>
        </p:txBody>
      </p:sp>
      <p:sp>
        <p:nvSpPr>
          <p:cNvPr id="5" name="Pipeline step"/>
          <p:cNvSpPr/>
          <p:nvPr/>
        </p:nvSpPr>
        <p:spPr>
          <a:xfrm>
            <a:off x="548640" y="1645920"/>
            <a:ext cx="2103120" cy="1965960"/>
          </a:xfrm>
          <a:prstGeom prst="roundRect">
            <a:avLst>
              <a:gd name="adj" fmla="val 3721"/>
            </a:avLst>
          </a:prstGeom>
          <a:solidFill>
            <a:srgbClr val="F2F6FB"/>
          </a:solidFill>
          <a:ln w="12700">
            <a:solidFill>
              <a:srgbClr val="D9E1EC"/>
            </a:solidFill>
            <a:prstDash val="solid"/>
          </a:ln>
        </p:spPr>
      </p:sp>
      <p:sp>
        <p:nvSpPr>
          <p:cNvPr id="6" name="Step number"/>
          <p:cNvSpPr/>
          <p:nvPr/>
        </p:nvSpPr>
        <p:spPr>
          <a:xfrm>
            <a:off x="685800" y="1755648"/>
            <a:ext cx="384048" cy="384048"/>
          </a:xfrm>
          <a:prstGeom prst="ellipse">
            <a:avLst/>
          </a:prstGeom>
          <a:solidFill>
            <a:srgbClr val="2A78D6"/>
          </a:solidFill>
          <a:ln w="12700">
            <a:solidFill>
              <a:srgbClr val="FFFFFF"/>
            </a:solidFill>
            <a:prstDash val="solid"/>
          </a:ln>
        </p:spPr>
      </p:sp>
      <p:sp>
        <p:nvSpPr>
          <p:cNvPr id="7" name="Text 4"/>
          <p:cNvSpPr txBox="1"/>
          <p:nvPr/>
        </p:nvSpPr>
        <p:spPr>
          <a:xfrm>
            <a:off x="6858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143000"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Extract and check</a:t>
            </a:r>
            <a:endParaRPr lang="en-US" sz="1400" dirty="0"/>
          </a:p>
        </p:txBody>
      </p:sp>
      <p:sp>
        <p:nvSpPr>
          <p:cNvPr id="9" name="Text 6"/>
          <p:cNvSpPr txBox="1"/>
          <p:nvPr/>
        </p:nvSpPr>
        <p:spPr>
          <a:xfrm>
            <a:off x="685800"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schema, types, untouched raw copy kept</a:t>
            </a:r>
            <a:endParaRPr lang="en-US" sz="1200" dirty="0"/>
          </a:p>
        </p:txBody>
      </p:sp>
      <p:sp>
        <p:nvSpPr>
          <p:cNvPr id="10" name="Text 7"/>
          <p:cNvSpPr txBox="1"/>
          <p:nvPr/>
        </p:nvSpPr>
        <p:spPr>
          <a:xfrm>
            <a:off x="685800"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nothing is ever lost</a:t>
            </a:r>
            <a:endParaRPr lang="en-US" sz="1200" dirty="0"/>
          </a:p>
        </p:txBody>
      </p:sp>
      <p:sp>
        <p:nvSpPr>
          <p:cNvPr id="11" name="Flow arrow"/>
          <p:cNvSpPr/>
          <p:nvPr/>
        </p:nvSpPr>
        <p:spPr>
          <a:xfrm>
            <a:off x="2651760" y="2606040"/>
            <a:ext cx="128016" cy="0"/>
          </a:xfrm>
          <a:prstGeom prst="line">
            <a:avLst/>
          </a:prstGeom>
          <a:noFill/>
          <a:ln w="19050">
            <a:solidFill>
              <a:srgbClr val="8A8F98"/>
            </a:solidFill>
            <a:prstDash val="solid"/>
            <a:tailEnd type="triangle"/>
          </a:ln>
        </p:spPr>
      </p:sp>
      <p:sp>
        <p:nvSpPr>
          <p:cNvPr id="12" name="Pipeline step"/>
          <p:cNvSpPr/>
          <p:nvPr/>
        </p:nvSpPr>
        <p:spPr>
          <a:xfrm>
            <a:off x="2779776" y="1645920"/>
            <a:ext cx="2103120" cy="1965960"/>
          </a:xfrm>
          <a:prstGeom prst="roundRect">
            <a:avLst>
              <a:gd name="adj" fmla="val 3721"/>
            </a:avLst>
          </a:prstGeom>
          <a:solidFill>
            <a:srgbClr val="F2F6FB"/>
          </a:solidFill>
          <a:ln w="12700">
            <a:solidFill>
              <a:srgbClr val="D9E1EC"/>
            </a:solidFill>
            <a:prstDash val="solid"/>
          </a:ln>
        </p:spPr>
      </p:sp>
      <p:sp>
        <p:nvSpPr>
          <p:cNvPr id="13" name="Step number"/>
          <p:cNvSpPr/>
          <p:nvPr/>
        </p:nvSpPr>
        <p:spPr>
          <a:xfrm>
            <a:off x="2916936" y="1755648"/>
            <a:ext cx="384048" cy="384048"/>
          </a:xfrm>
          <a:prstGeom prst="ellipse">
            <a:avLst/>
          </a:prstGeom>
          <a:solidFill>
            <a:srgbClr val="2A78D6"/>
          </a:solidFill>
          <a:ln w="12700">
            <a:solidFill>
              <a:srgbClr val="FFFFFF"/>
            </a:solidFill>
            <a:prstDash val="solid"/>
          </a:ln>
        </p:spPr>
      </p:sp>
      <p:sp>
        <p:nvSpPr>
          <p:cNvPr id="14" name="Text 11"/>
          <p:cNvSpPr txBox="1"/>
          <p:nvPr/>
        </p:nvSpPr>
        <p:spPr>
          <a:xfrm>
            <a:off x="2916936"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5" name="Text 12"/>
          <p:cNvSpPr txBox="1"/>
          <p:nvPr/>
        </p:nvSpPr>
        <p:spPr>
          <a:xfrm>
            <a:off x="3374136"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Validate</a:t>
            </a:r>
            <a:endParaRPr lang="en-US" sz="1400" dirty="0"/>
          </a:p>
        </p:txBody>
      </p:sp>
      <p:sp>
        <p:nvSpPr>
          <p:cNvPr id="16" name="Text 13"/>
          <p:cNvSpPr txBox="1"/>
          <p:nvPr/>
        </p:nvSpPr>
        <p:spPr>
          <a:xfrm>
            <a:off x="2916936"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typed exceptions, bad rows to quarantine</a:t>
            </a:r>
            <a:endParaRPr lang="en-US" sz="1200" dirty="0"/>
          </a:p>
        </p:txBody>
      </p:sp>
      <p:sp>
        <p:nvSpPr>
          <p:cNvPr id="17" name="Text 14"/>
          <p:cNvSpPr txBox="1"/>
          <p:nvPr/>
        </p:nvSpPr>
        <p:spPr>
          <a:xfrm>
            <a:off x="2916936"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fatal errors stop the load</a:t>
            </a:r>
            <a:endParaRPr lang="en-US" sz="1200" dirty="0"/>
          </a:p>
        </p:txBody>
      </p:sp>
      <p:sp>
        <p:nvSpPr>
          <p:cNvPr id="18" name="Flow arrow"/>
          <p:cNvSpPr/>
          <p:nvPr/>
        </p:nvSpPr>
        <p:spPr>
          <a:xfrm>
            <a:off x="4882896" y="2606040"/>
            <a:ext cx="128016" cy="0"/>
          </a:xfrm>
          <a:prstGeom prst="line">
            <a:avLst/>
          </a:prstGeom>
          <a:noFill/>
          <a:ln w="19050">
            <a:solidFill>
              <a:srgbClr val="8A8F98"/>
            </a:solidFill>
            <a:prstDash val="solid"/>
            <a:tailEnd type="triangle"/>
          </a:ln>
        </p:spPr>
      </p:sp>
      <p:sp>
        <p:nvSpPr>
          <p:cNvPr id="19" name="Pipeline step"/>
          <p:cNvSpPr/>
          <p:nvPr/>
        </p:nvSpPr>
        <p:spPr>
          <a:xfrm>
            <a:off x="5010912" y="1645920"/>
            <a:ext cx="2103120" cy="1965960"/>
          </a:xfrm>
          <a:prstGeom prst="roundRect">
            <a:avLst>
              <a:gd name="adj" fmla="val 3721"/>
            </a:avLst>
          </a:prstGeom>
          <a:solidFill>
            <a:srgbClr val="F2F6FB"/>
          </a:solidFill>
          <a:ln w="12700">
            <a:solidFill>
              <a:srgbClr val="D9E1EC"/>
            </a:solidFill>
            <a:prstDash val="solid"/>
          </a:ln>
        </p:spPr>
      </p:sp>
      <p:sp>
        <p:nvSpPr>
          <p:cNvPr id="20" name="Step number"/>
          <p:cNvSpPr/>
          <p:nvPr/>
        </p:nvSpPr>
        <p:spPr>
          <a:xfrm>
            <a:off x="5148072" y="1755648"/>
            <a:ext cx="384048" cy="384048"/>
          </a:xfrm>
          <a:prstGeom prst="ellipse">
            <a:avLst/>
          </a:prstGeom>
          <a:solidFill>
            <a:srgbClr val="2A78D6"/>
          </a:solidFill>
          <a:ln w="12700">
            <a:solidFill>
              <a:srgbClr val="FFFFFF"/>
            </a:solidFill>
            <a:prstDash val="solid"/>
          </a:ln>
        </p:spPr>
      </p:sp>
      <p:sp>
        <p:nvSpPr>
          <p:cNvPr id="21" name="Text 18"/>
          <p:cNvSpPr txBox="1"/>
          <p:nvPr/>
        </p:nvSpPr>
        <p:spPr>
          <a:xfrm>
            <a:off x="5148072"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2" name="Text 19"/>
          <p:cNvSpPr txBox="1"/>
          <p:nvPr/>
        </p:nvSpPr>
        <p:spPr>
          <a:xfrm>
            <a:off x="5605272"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Clean</a:t>
            </a:r>
            <a:endParaRPr lang="en-US" sz="1400" dirty="0"/>
          </a:p>
        </p:txBody>
      </p:sp>
      <p:sp>
        <p:nvSpPr>
          <p:cNvPr id="23" name="Text 20"/>
          <p:cNvSpPr txBox="1"/>
          <p:nvPr/>
        </p:nvSpPr>
        <p:spPr>
          <a:xfrm>
            <a:off x="5148072"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39 exact duplicates dropped, infinite growth values nulled</a:t>
            </a:r>
            <a:endParaRPr lang="en-US" sz="1200" dirty="0"/>
          </a:p>
        </p:txBody>
      </p:sp>
      <p:sp>
        <p:nvSpPr>
          <p:cNvPr id="24" name="Text 21"/>
          <p:cNvSpPr txBox="1"/>
          <p:nvPr/>
        </p:nvSpPr>
        <p:spPr>
          <a:xfrm>
            <a:off x="5148072"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repeats would double count</a:t>
            </a:r>
            <a:endParaRPr lang="en-US" sz="1200" dirty="0"/>
          </a:p>
        </p:txBody>
      </p:sp>
      <p:sp>
        <p:nvSpPr>
          <p:cNvPr id="25" name="Flow arrow"/>
          <p:cNvSpPr/>
          <p:nvPr/>
        </p:nvSpPr>
        <p:spPr>
          <a:xfrm>
            <a:off x="7114032" y="2606040"/>
            <a:ext cx="128016" cy="0"/>
          </a:xfrm>
          <a:prstGeom prst="line">
            <a:avLst/>
          </a:prstGeom>
          <a:noFill/>
          <a:ln w="19050">
            <a:solidFill>
              <a:srgbClr val="8A8F98"/>
            </a:solidFill>
            <a:prstDash val="solid"/>
            <a:tailEnd type="triangle"/>
          </a:ln>
        </p:spPr>
      </p:sp>
      <p:sp>
        <p:nvSpPr>
          <p:cNvPr id="26" name="Pipeline step"/>
          <p:cNvSpPr/>
          <p:nvPr/>
        </p:nvSpPr>
        <p:spPr>
          <a:xfrm>
            <a:off x="7242048" y="1645920"/>
            <a:ext cx="2103120" cy="1965960"/>
          </a:xfrm>
          <a:prstGeom prst="roundRect">
            <a:avLst>
              <a:gd name="adj" fmla="val 3721"/>
            </a:avLst>
          </a:prstGeom>
          <a:solidFill>
            <a:srgbClr val="F2F6FB"/>
          </a:solidFill>
          <a:ln w="12700">
            <a:solidFill>
              <a:srgbClr val="D9E1EC"/>
            </a:solidFill>
            <a:prstDash val="solid"/>
          </a:ln>
        </p:spPr>
      </p:sp>
      <p:sp>
        <p:nvSpPr>
          <p:cNvPr id="27" name="Step number"/>
          <p:cNvSpPr/>
          <p:nvPr/>
        </p:nvSpPr>
        <p:spPr>
          <a:xfrm>
            <a:off x="7379208" y="1755648"/>
            <a:ext cx="384048" cy="384048"/>
          </a:xfrm>
          <a:prstGeom prst="ellipse">
            <a:avLst/>
          </a:prstGeom>
          <a:solidFill>
            <a:srgbClr val="2A78D6"/>
          </a:solidFill>
          <a:ln w="12700">
            <a:solidFill>
              <a:srgbClr val="FFFFFF"/>
            </a:solidFill>
            <a:prstDash val="solid"/>
          </a:ln>
        </p:spPr>
      </p:sp>
      <p:sp>
        <p:nvSpPr>
          <p:cNvPr id="28" name="Text 25"/>
          <p:cNvSpPr txBox="1"/>
          <p:nvPr/>
        </p:nvSpPr>
        <p:spPr>
          <a:xfrm>
            <a:off x="7379208"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9" name="Text 26"/>
          <p:cNvSpPr txBox="1"/>
          <p:nvPr/>
        </p:nvSpPr>
        <p:spPr>
          <a:xfrm>
            <a:off x="7836408"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Recover and flag</a:t>
            </a:r>
            <a:endParaRPr lang="en-US" sz="1400" dirty="0"/>
          </a:p>
        </p:txBody>
      </p:sp>
      <p:sp>
        <p:nvSpPr>
          <p:cNvPr id="30" name="Text 27"/>
          <p:cNvSpPr txBox="1"/>
          <p:nvPr/>
        </p:nvSpPr>
        <p:spPr>
          <a:xfrm>
            <a:off x="7379208"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16 missing sales = revenue / price; odd rows flagged</a:t>
            </a:r>
            <a:endParaRPr lang="en-US" sz="1200" dirty="0"/>
          </a:p>
        </p:txBody>
      </p:sp>
      <p:sp>
        <p:nvSpPr>
          <p:cNvPr id="31" name="Text 28"/>
          <p:cNvSpPr txBox="1"/>
          <p:nvPr/>
        </p:nvSpPr>
        <p:spPr>
          <a:xfrm>
            <a:off x="7379208"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information is kept, not erased</a:t>
            </a:r>
            <a:endParaRPr lang="en-US" sz="1200" dirty="0"/>
          </a:p>
        </p:txBody>
      </p:sp>
      <p:sp>
        <p:nvSpPr>
          <p:cNvPr id="32" name="Flow arrow"/>
          <p:cNvSpPr/>
          <p:nvPr/>
        </p:nvSpPr>
        <p:spPr>
          <a:xfrm>
            <a:off x="9345168" y="2606040"/>
            <a:ext cx="128016" cy="0"/>
          </a:xfrm>
          <a:prstGeom prst="line">
            <a:avLst/>
          </a:prstGeom>
          <a:noFill/>
          <a:ln w="19050">
            <a:solidFill>
              <a:srgbClr val="8A8F98"/>
            </a:solidFill>
            <a:prstDash val="solid"/>
            <a:tailEnd type="triangle"/>
          </a:ln>
        </p:spPr>
      </p:sp>
      <p:sp>
        <p:nvSpPr>
          <p:cNvPr id="33" name="Pipeline step"/>
          <p:cNvSpPr/>
          <p:nvPr/>
        </p:nvSpPr>
        <p:spPr>
          <a:xfrm>
            <a:off x="9473184" y="1645920"/>
            <a:ext cx="2103120" cy="1965960"/>
          </a:xfrm>
          <a:prstGeom prst="roundRect">
            <a:avLst>
              <a:gd name="adj" fmla="val 3721"/>
            </a:avLst>
          </a:prstGeom>
          <a:solidFill>
            <a:srgbClr val="F2F6FB"/>
          </a:solidFill>
          <a:ln w="12700">
            <a:solidFill>
              <a:srgbClr val="D9E1EC"/>
            </a:solidFill>
            <a:prstDash val="solid"/>
          </a:ln>
        </p:spPr>
      </p:sp>
      <p:sp>
        <p:nvSpPr>
          <p:cNvPr id="34" name="Step number"/>
          <p:cNvSpPr/>
          <p:nvPr/>
        </p:nvSpPr>
        <p:spPr>
          <a:xfrm>
            <a:off x="9610344" y="1755648"/>
            <a:ext cx="384048" cy="384048"/>
          </a:xfrm>
          <a:prstGeom prst="ellipse">
            <a:avLst/>
          </a:prstGeom>
          <a:solidFill>
            <a:srgbClr val="2A78D6"/>
          </a:solidFill>
          <a:ln w="12700">
            <a:solidFill>
              <a:srgbClr val="FFFFFF"/>
            </a:solidFill>
            <a:prstDash val="solid"/>
          </a:ln>
        </p:spPr>
      </p:sp>
      <p:sp>
        <p:nvSpPr>
          <p:cNvPr id="35" name="Text 32"/>
          <p:cNvSpPr txBox="1"/>
          <p:nvPr/>
        </p:nvSpPr>
        <p:spPr>
          <a:xfrm>
            <a:off x="9610344"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36" name="Text 33"/>
          <p:cNvSpPr txBox="1"/>
          <p:nvPr/>
        </p:nvSpPr>
        <p:spPr>
          <a:xfrm>
            <a:off x="10067544"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Load</a:t>
            </a:r>
            <a:endParaRPr lang="en-US" sz="1400" dirty="0"/>
          </a:p>
        </p:txBody>
      </p:sp>
      <p:sp>
        <p:nvSpPr>
          <p:cNvPr id="37" name="Text 34"/>
          <p:cNvSpPr txBox="1"/>
          <p:nvPr/>
        </p:nvSpPr>
        <p:spPr>
          <a:xfrm>
            <a:off x="9610344"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star schema in one transaction, run log</a:t>
            </a:r>
            <a:endParaRPr lang="en-US" sz="1200" dirty="0"/>
          </a:p>
        </p:txBody>
      </p:sp>
      <p:sp>
        <p:nvSpPr>
          <p:cNvPr id="38" name="Text 35"/>
          <p:cNvSpPr txBox="1"/>
          <p:nvPr/>
        </p:nvSpPr>
        <p:spPr>
          <a:xfrm>
            <a:off x="9610344"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repeatable and auditable</a:t>
            </a:r>
            <a:endParaRPr lang="en-US" sz="1200" dirty="0"/>
          </a:p>
        </p:txBody>
      </p:sp>
      <p:graphicFrame>
        <p:nvGraphicFramePr>
          <p:cNvPr id="39" name="Chart 0" descr=""/>
          <p:cNvGraphicFramePr/>
          <p:nvPr/>
        </p:nvGraphicFramePr>
        <p:xfrm>
          <a:off x="548640" y="3749040"/>
          <a:ext cx="6675120" cy="2606040"/>
        </p:xfrm>
        <a:graphic xmlns:a="http://schemas.openxmlformats.org/drawingml/2006/main">
          <a:graphicData uri="http://schemas.openxmlformats.org/drawingml/2006/chart">
            <c:chart xmlns:c="http://schemas.openxmlformats.org/drawingml/2006/chart" r:id="rId1"/>
          </a:graphicData>
        </a:graphic>
      </p:graphicFrame>
      <p:sp>
        <p:nvSpPr>
          <p:cNvPr id="40" name="Stat card"/>
          <p:cNvSpPr/>
          <p:nvPr/>
        </p:nvSpPr>
        <p:spPr>
          <a:xfrm>
            <a:off x="7498080" y="3840480"/>
            <a:ext cx="1920240" cy="1188720"/>
          </a:xfrm>
          <a:prstGeom prst="roundRect">
            <a:avLst>
              <a:gd name="adj" fmla="val 6154"/>
            </a:avLst>
          </a:prstGeom>
          <a:solidFill>
            <a:srgbClr val="F2F6FB"/>
          </a:solidFill>
          <a:ln w="12700">
            <a:solidFill>
              <a:srgbClr val="F2F6FB"/>
            </a:solidFill>
            <a:prstDash val="solid"/>
          </a:ln>
        </p:spPr>
      </p:sp>
      <p:sp>
        <p:nvSpPr>
          <p:cNvPr id="41" name="Text 37"/>
          <p:cNvSpPr txBox="1"/>
          <p:nvPr/>
        </p:nvSpPr>
        <p:spPr>
          <a:xfrm>
            <a:off x="7635240" y="3913632"/>
            <a:ext cx="1645920" cy="534924"/>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7,800</a:t>
            </a:r>
            <a:endParaRPr lang="en-US" sz="2600" dirty="0"/>
          </a:p>
        </p:txBody>
      </p:sp>
      <p:sp>
        <p:nvSpPr>
          <p:cNvPr id="42" name="Text 38"/>
          <p:cNvSpPr txBox="1"/>
          <p:nvPr/>
        </p:nvSpPr>
        <p:spPr>
          <a:xfrm>
            <a:off x="7635240" y="4458614"/>
            <a:ext cx="1645920" cy="546811"/>
          </a:xfrm>
          <a:prstGeom prst="rect">
            <a:avLst/>
          </a:prstGeom>
          <a:noFill/>
          <a:ln/>
        </p:spPr>
        <p:txBody>
          <a:bodyPr wrap="square" lIns="0" tIns="0" rIns="0" bIns="0" rtlCol="0" anchor="t"/>
          <a:lstStyle/>
          <a:p>
            <a:pPr indent="0" marL="0">
              <a:buNone/>
            </a:pPr>
            <a:r>
              <a:rPr lang="en-US" sz="1300" dirty="0">
                <a:solidFill>
                  <a:srgbClr val="5B6B80"/>
                </a:solidFill>
              </a:rPr>
              <a:t>unique product-weeks from 7,839 raw rows</a:t>
            </a:r>
            <a:endParaRPr lang="en-US" sz="1300" dirty="0"/>
          </a:p>
        </p:txBody>
      </p:sp>
      <p:sp>
        <p:nvSpPr>
          <p:cNvPr id="43" name="Stat card"/>
          <p:cNvSpPr/>
          <p:nvPr/>
        </p:nvSpPr>
        <p:spPr>
          <a:xfrm>
            <a:off x="9555480" y="3840480"/>
            <a:ext cx="2057400" cy="1188720"/>
          </a:xfrm>
          <a:prstGeom prst="roundRect">
            <a:avLst>
              <a:gd name="adj" fmla="val 6154"/>
            </a:avLst>
          </a:prstGeom>
          <a:solidFill>
            <a:srgbClr val="F2F6FB"/>
          </a:solidFill>
          <a:ln w="12700">
            <a:solidFill>
              <a:srgbClr val="F2F6FB"/>
            </a:solidFill>
            <a:prstDash val="solid"/>
          </a:ln>
        </p:spPr>
      </p:sp>
      <p:sp>
        <p:nvSpPr>
          <p:cNvPr id="44" name="Text 40"/>
          <p:cNvSpPr txBox="1"/>
          <p:nvPr/>
        </p:nvSpPr>
        <p:spPr>
          <a:xfrm>
            <a:off x="9692640" y="3913632"/>
            <a:ext cx="1783080" cy="534924"/>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15 / 15</a:t>
            </a:r>
            <a:endParaRPr lang="en-US" sz="2600" dirty="0"/>
          </a:p>
        </p:txBody>
      </p:sp>
      <p:sp>
        <p:nvSpPr>
          <p:cNvPr id="45" name="Text 41"/>
          <p:cNvSpPr txBox="1"/>
          <p:nvPr/>
        </p:nvSpPr>
        <p:spPr>
          <a:xfrm>
            <a:off x="9692640" y="4458614"/>
            <a:ext cx="1783080" cy="546811"/>
          </a:xfrm>
          <a:prstGeom prst="rect">
            <a:avLst/>
          </a:prstGeom>
          <a:noFill/>
          <a:ln/>
        </p:spPr>
        <p:txBody>
          <a:bodyPr wrap="square" lIns="0" tIns="0" rIns="0" bIns="0" rtlCol="0" anchor="t"/>
          <a:lstStyle/>
          <a:p>
            <a:pPr indent="0" marL="0">
              <a:buNone/>
            </a:pPr>
            <a:r>
              <a:rPr lang="en-US" sz="1300" dirty="0">
                <a:solidFill>
                  <a:srgbClr val="5B6B80"/>
                </a:solidFill>
              </a:rPr>
              <a:t>exception tests passed on a corrupted copy</a:t>
            </a:r>
            <a:endParaRPr lang="en-US" sz="1300" dirty="0"/>
          </a:p>
        </p:txBody>
      </p:sp>
      <p:sp>
        <p:nvSpPr>
          <p:cNvPr id="46" name="Text 42"/>
          <p:cNvSpPr txBox="1"/>
          <p:nvPr/>
        </p:nvSpPr>
        <p:spPr>
          <a:xfrm>
            <a:off x="7498080" y="5212080"/>
            <a:ext cx="4114800" cy="1005840"/>
          </a:xfrm>
          <a:prstGeom prst="rect">
            <a:avLst/>
          </a:prstGeom>
          <a:noFill/>
          <a:ln/>
        </p:spPr>
        <p:txBody>
          <a:bodyPr wrap="square" lIns="0" tIns="0" rIns="0" bIns="0" rtlCol="0" anchor="t"/>
          <a:lstStyle/>
          <a:p>
            <a:pPr indent="0" marL="0">
              <a:buNone/>
            </a:pPr>
            <a:r>
              <a:rPr lang="en-US" sz="1300" i="1" dirty="0">
                <a:solidFill>
                  <a:srgbClr val="5B6B80"/>
                </a:solidFill>
              </a:rPr>
              <a:t>Star schema: product, date and weekly-sales tables plus audit tables, so every later question is a simple query.</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DATA CHALLENGES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Nine data problems, each treated with a reason</a:t>
            </a:r>
            <a:endParaRPr lang="en-US" sz="3000" dirty="0"/>
          </a:p>
        </p:txBody>
      </p:sp>
      <p:sp>
        <p:nvSpPr>
          <p:cNvPr id="5" name="Challenge tile"/>
          <p:cNvSpPr/>
          <p:nvPr/>
        </p:nvSpPr>
        <p:spPr>
          <a:xfrm>
            <a:off x="548640" y="1645920"/>
            <a:ext cx="3566160" cy="1463040"/>
          </a:xfrm>
          <a:prstGeom prst="roundRect">
            <a:avLst>
              <a:gd name="adj" fmla="val 5000"/>
            </a:avLst>
          </a:prstGeom>
          <a:solidFill>
            <a:srgbClr val="F2F6FB"/>
          </a:solidFill>
          <a:ln w="12700">
            <a:solidFill>
              <a:srgbClr val="F2F6FB"/>
            </a:solidFill>
            <a:prstDash val="solid"/>
          </a:ln>
        </p:spPr>
      </p:sp>
      <p:sp>
        <p:nvSpPr>
          <p:cNvPr id="6" name="Tile accent"/>
          <p:cNvSpPr/>
          <p:nvPr/>
        </p:nvSpPr>
        <p:spPr>
          <a:xfrm>
            <a:off x="548640" y="1645920"/>
            <a:ext cx="82296" cy="1463040"/>
          </a:xfrm>
          <a:prstGeom prst="rect">
            <a:avLst/>
          </a:prstGeom>
          <a:solidFill>
            <a:srgbClr val="8A8F98"/>
          </a:solidFill>
          <a:ln w="12700">
            <a:solidFill>
              <a:srgbClr val="8A8F98"/>
            </a:solidFill>
            <a:prstDash val="solid"/>
          </a:ln>
        </p:spPr>
      </p:sp>
      <p:sp>
        <p:nvSpPr>
          <p:cNvPr id="7" name="Text 4"/>
          <p:cNvSpPr txBox="1"/>
          <p:nvPr/>
        </p:nvSpPr>
        <p:spPr>
          <a:xfrm>
            <a:off x="777240" y="1737360"/>
            <a:ext cx="3200400" cy="502920"/>
          </a:xfrm>
          <a:prstGeom prst="rect">
            <a:avLst/>
          </a:prstGeom>
          <a:noFill/>
          <a:ln/>
        </p:spPr>
        <p:txBody>
          <a:bodyPr wrap="square" lIns="0" tIns="0" rIns="0" bIns="0" rtlCol="0" anchor="ctr"/>
          <a:lstStyle/>
          <a:p>
            <a:pPr indent="0" marL="0">
              <a:buNone/>
            </a:pPr>
            <a:r>
              <a:rPr lang="en-US" sz="3000" b="1" dirty="0">
                <a:solidFill>
                  <a:srgbClr val="5B6B80"/>
                </a:solidFill>
                <a:latin typeface="Cambria" pitchFamily="34" charset="0"/>
                <a:ea typeface="Cambria" pitchFamily="34" charset="-122"/>
                <a:cs typeface="Cambria" pitchFamily="34" charset="-120"/>
              </a:rPr>
              <a:t>39</a:t>
            </a:r>
            <a:endParaRPr lang="en-US" sz="3000" dirty="0"/>
          </a:p>
        </p:txBody>
      </p:sp>
      <p:sp>
        <p:nvSpPr>
          <p:cNvPr id="8" name="Text 5"/>
          <p:cNvSpPr txBox="1"/>
          <p:nvPr/>
        </p:nvSpPr>
        <p:spPr>
          <a:xfrm>
            <a:off x="77724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exact duplicate rows</a:t>
            </a:r>
            <a:endParaRPr lang="en-US" sz="1300" dirty="0"/>
          </a:p>
        </p:txBody>
      </p:sp>
      <p:sp>
        <p:nvSpPr>
          <p:cNvPr id="9" name="Treatment chip"/>
          <p:cNvSpPr/>
          <p:nvPr/>
        </p:nvSpPr>
        <p:spPr>
          <a:xfrm>
            <a:off x="777240" y="2715768"/>
            <a:ext cx="1143000" cy="265176"/>
          </a:xfrm>
          <a:prstGeom prst="roundRect">
            <a:avLst>
              <a:gd name="adj" fmla="val 17241"/>
            </a:avLst>
          </a:prstGeom>
          <a:solidFill>
            <a:srgbClr val="8A8F98"/>
          </a:solidFill>
          <a:ln w="12700">
            <a:solidFill>
              <a:srgbClr val="8A8F98"/>
            </a:solidFill>
            <a:prstDash val="solid"/>
          </a:ln>
        </p:spPr>
      </p:sp>
      <p:sp>
        <p:nvSpPr>
          <p:cNvPr id="10" name="Text 7"/>
          <p:cNvSpPr txBox="1"/>
          <p:nvPr/>
        </p:nvSpPr>
        <p:spPr>
          <a:xfrm>
            <a:off x="77724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DROPPED</a:t>
            </a:r>
            <a:endParaRPr lang="en-US" sz="1000" dirty="0"/>
          </a:p>
        </p:txBody>
      </p:sp>
      <p:sp>
        <p:nvSpPr>
          <p:cNvPr id="11" name="Text 8"/>
          <p:cNvSpPr txBox="1"/>
          <p:nvPr/>
        </p:nvSpPr>
        <p:spPr>
          <a:xfrm>
            <a:off x="201168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a repeat double counts sales</a:t>
            </a:r>
            <a:endParaRPr lang="en-US" sz="1100" dirty="0"/>
          </a:p>
        </p:txBody>
      </p:sp>
      <p:sp>
        <p:nvSpPr>
          <p:cNvPr id="12" name="Challenge tile"/>
          <p:cNvSpPr/>
          <p:nvPr/>
        </p:nvSpPr>
        <p:spPr>
          <a:xfrm>
            <a:off x="4297680" y="1645920"/>
            <a:ext cx="3566160" cy="1463040"/>
          </a:xfrm>
          <a:prstGeom prst="roundRect">
            <a:avLst>
              <a:gd name="adj" fmla="val 5000"/>
            </a:avLst>
          </a:prstGeom>
          <a:solidFill>
            <a:srgbClr val="F2F6FB"/>
          </a:solidFill>
          <a:ln w="12700">
            <a:solidFill>
              <a:srgbClr val="F2F6FB"/>
            </a:solidFill>
            <a:prstDash val="solid"/>
          </a:ln>
        </p:spPr>
      </p:sp>
      <p:sp>
        <p:nvSpPr>
          <p:cNvPr id="13" name="Tile accent"/>
          <p:cNvSpPr/>
          <p:nvPr/>
        </p:nvSpPr>
        <p:spPr>
          <a:xfrm>
            <a:off x="4297680" y="1645920"/>
            <a:ext cx="82296" cy="1463040"/>
          </a:xfrm>
          <a:prstGeom prst="rect">
            <a:avLst/>
          </a:prstGeom>
          <a:solidFill>
            <a:srgbClr val="1BAF7A"/>
          </a:solidFill>
          <a:ln w="12700">
            <a:solidFill>
              <a:srgbClr val="1BAF7A"/>
            </a:solidFill>
            <a:prstDash val="solid"/>
          </a:ln>
        </p:spPr>
      </p:sp>
      <p:sp>
        <p:nvSpPr>
          <p:cNvPr id="14" name="Text 11"/>
          <p:cNvSpPr txBox="1"/>
          <p:nvPr/>
        </p:nvSpPr>
        <p:spPr>
          <a:xfrm>
            <a:off x="4526280" y="1737360"/>
            <a:ext cx="3200400" cy="502920"/>
          </a:xfrm>
          <a:prstGeom prst="rect">
            <a:avLst/>
          </a:prstGeom>
          <a:noFill/>
          <a:ln/>
        </p:spPr>
        <p:txBody>
          <a:bodyPr wrap="square" lIns="0" tIns="0" rIns="0" bIns="0" rtlCol="0" anchor="ctr"/>
          <a:lstStyle/>
          <a:p>
            <a:pPr indent="0" marL="0">
              <a:buNone/>
            </a:pPr>
            <a:r>
              <a:rPr lang="en-US" sz="3000" b="1" dirty="0">
                <a:solidFill>
                  <a:srgbClr val="1BAF7A"/>
                </a:solidFill>
                <a:latin typeface="Cambria" pitchFamily="34" charset="0"/>
                <a:ea typeface="Cambria" pitchFamily="34" charset="-122"/>
                <a:cs typeface="Cambria" pitchFamily="34" charset="-120"/>
              </a:rPr>
              <a:t>16</a:t>
            </a:r>
            <a:endParaRPr lang="en-US" sz="3000" dirty="0"/>
          </a:p>
        </p:txBody>
      </p:sp>
      <p:sp>
        <p:nvSpPr>
          <p:cNvPr id="15" name="Text 12"/>
          <p:cNvSpPr txBox="1"/>
          <p:nvPr/>
        </p:nvSpPr>
        <p:spPr>
          <a:xfrm>
            <a:off x="452628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sales values</a:t>
            </a:r>
            <a:endParaRPr lang="en-US" sz="1300" dirty="0"/>
          </a:p>
        </p:txBody>
      </p:sp>
      <p:sp>
        <p:nvSpPr>
          <p:cNvPr id="16" name="Treatment chip"/>
          <p:cNvSpPr/>
          <p:nvPr/>
        </p:nvSpPr>
        <p:spPr>
          <a:xfrm>
            <a:off x="4526280" y="2715768"/>
            <a:ext cx="1143000" cy="265176"/>
          </a:xfrm>
          <a:prstGeom prst="roundRect">
            <a:avLst>
              <a:gd name="adj" fmla="val 17241"/>
            </a:avLst>
          </a:prstGeom>
          <a:solidFill>
            <a:srgbClr val="1BAF7A"/>
          </a:solidFill>
          <a:ln w="12700">
            <a:solidFill>
              <a:srgbClr val="1BAF7A"/>
            </a:solidFill>
            <a:prstDash val="solid"/>
          </a:ln>
        </p:spPr>
      </p:sp>
      <p:sp>
        <p:nvSpPr>
          <p:cNvPr id="17" name="Text 14"/>
          <p:cNvSpPr txBox="1"/>
          <p:nvPr/>
        </p:nvSpPr>
        <p:spPr>
          <a:xfrm>
            <a:off x="452628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RECOVERED</a:t>
            </a:r>
            <a:endParaRPr lang="en-US" sz="1000" dirty="0"/>
          </a:p>
        </p:txBody>
      </p:sp>
      <p:sp>
        <p:nvSpPr>
          <p:cNvPr id="18" name="Text 15"/>
          <p:cNvSpPr txBox="1"/>
          <p:nvPr/>
        </p:nvSpPr>
        <p:spPr>
          <a:xfrm>
            <a:off x="576072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revenue / price</a:t>
            </a:r>
            <a:endParaRPr lang="en-US" sz="1100" dirty="0"/>
          </a:p>
        </p:txBody>
      </p:sp>
      <p:sp>
        <p:nvSpPr>
          <p:cNvPr id="19" name="Challenge tile"/>
          <p:cNvSpPr/>
          <p:nvPr/>
        </p:nvSpPr>
        <p:spPr>
          <a:xfrm>
            <a:off x="8046720" y="1645920"/>
            <a:ext cx="3566160" cy="1463040"/>
          </a:xfrm>
          <a:prstGeom prst="roundRect">
            <a:avLst>
              <a:gd name="adj" fmla="val 5000"/>
            </a:avLst>
          </a:prstGeom>
          <a:solidFill>
            <a:srgbClr val="F2F6FB"/>
          </a:solidFill>
          <a:ln w="12700">
            <a:solidFill>
              <a:srgbClr val="F2F6FB"/>
            </a:solidFill>
            <a:prstDash val="solid"/>
          </a:ln>
        </p:spPr>
      </p:sp>
      <p:sp>
        <p:nvSpPr>
          <p:cNvPr id="20" name="Tile accent"/>
          <p:cNvSpPr/>
          <p:nvPr/>
        </p:nvSpPr>
        <p:spPr>
          <a:xfrm>
            <a:off x="8046720" y="1645920"/>
            <a:ext cx="82296" cy="1463040"/>
          </a:xfrm>
          <a:prstGeom prst="rect">
            <a:avLst/>
          </a:prstGeom>
          <a:solidFill>
            <a:srgbClr val="8A8F98"/>
          </a:solidFill>
          <a:ln w="12700">
            <a:solidFill>
              <a:srgbClr val="8A8F98"/>
            </a:solidFill>
            <a:prstDash val="solid"/>
          </a:ln>
        </p:spPr>
      </p:sp>
      <p:sp>
        <p:nvSpPr>
          <p:cNvPr id="21" name="Text 18"/>
          <p:cNvSpPr txBox="1"/>
          <p:nvPr/>
        </p:nvSpPr>
        <p:spPr>
          <a:xfrm>
            <a:off x="8275320" y="1737360"/>
            <a:ext cx="3200400" cy="502920"/>
          </a:xfrm>
          <a:prstGeom prst="rect">
            <a:avLst/>
          </a:prstGeom>
          <a:noFill/>
          <a:ln/>
        </p:spPr>
        <p:txBody>
          <a:bodyPr wrap="square" lIns="0" tIns="0" rIns="0" bIns="0" rtlCol="0" anchor="ctr"/>
          <a:lstStyle/>
          <a:p>
            <a:pPr indent="0" marL="0">
              <a:buNone/>
            </a:pPr>
            <a:r>
              <a:rPr lang="en-US" sz="3000" b="1" dirty="0">
                <a:solidFill>
                  <a:srgbClr val="5B6B80"/>
                </a:solidFill>
                <a:latin typeface="Cambria" pitchFamily="34" charset="0"/>
                <a:ea typeface="Cambria" pitchFamily="34" charset="-122"/>
                <a:cs typeface="Cambria" pitchFamily="34" charset="-120"/>
              </a:rPr>
              <a:t>606</a:t>
            </a:r>
            <a:endParaRPr lang="en-US" sz="3000" dirty="0"/>
          </a:p>
        </p:txBody>
      </p:sp>
      <p:sp>
        <p:nvSpPr>
          <p:cNvPr id="22" name="Text 19"/>
          <p:cNvSpPr txBox="1"/>
          <p:nvPr/>
        </p:nvSpPr>
        <p:spPr>
          <a:xfrm>
            <a:off x="827532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legacy forecasts</a:t>
            </a:r>
            <a:endParaRPr lang="en-US" sz="1300" dirty="0"/>
          </a:p>
        </p:txBody>
      </p:sp>
      <p:sp>
        <p:nvSpPr>
          <p:cNvPr id="23" name="Treatment chip"/>
          <p:cNvSpPr/>
          <p:nvPr/>
        </p:nvSpPr>
        <p:spPr>
          <a:xfrm>
            <a:off x="8275320" y="2715768"/>
            <a:ext cx="1143000" cy="265176"/>
          </a:xfrm>
          <a:prstGeom prst="roundRect">
            <a:avLst>
              <a:gd name="adj" fmla="val 17241"/>
            </a:avLst>
          </a:prstGeom>
          <a:solidFill>
            <a:srgbClr val="8A8F98"/>
          </a:solidFill>
          <a:ln w="12700">
            <a:solidFill>
              <a:srgbClr val="8A8F98"/>
            </a:solidFill>
            <a:prstDash val="solid"/>
          </a:ln>
        </p:spPr>
      </p:sp>
      <p:sp>
        <p:nvSpPr>
          <p:cNvPr id="24" name="Text 21"/>
          <p:cNvSpPr txBox="1"/>
          <p:nvPr/>
        </p:nvSpPr>
        <p:spPr>
          <a:xfrm>
            <a:off x="827532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KEPT EMPTY</a:t>
            </a:r>
            <a:endParaRPr lang="en-US" sz="1000" dirty="0"/>
          </a:p>
        </p:txBody>
      </p:sp>
      <p:sp>
        <p:nvSpPr>
          <p:cNvPr id="25" name="Text 22"/>
          <p:cNvSpPr txBox="1"/>
          <p:nvPr/>
        </p:nvSpPr>
        <p:spPr>
          <a:xfrm>
            <a:off x="950976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imputing would invent a baseline</a:t>
            </a:r>
            <a:endParaRPr lang="en-US" sz="1100" dirty="0"/>
          </a:p>
        </p:txBody>
      </p:sp>
      <p:sp>
        <p:nvSpPr>
          <p:cNvPr id="26" name="Challenge tile"/>
          <p:cNvSpPr/>
          <p:nvPr/>
        </p:nvSpPr>
        <p:spPr>
          <a:xfrm>
            <a:off x="548640" y="3200400"/>
            <a:ext cx="3566160" cy="1463040"/>
          </a:xfrm>
          <a:prstGeom prst="roundRect">
            <a:avLst>
              <a:gd name="adj" fmla="val 5000"/>
            </a:avLst>
          </a:prstGeom>
          <a:solidFill>
            <a:srgbClr val="F2F6FB"/>
          </a:solidFill>
          <a:ln w="12700">
            <a:solidFill>
              <a:srgbClr val="F2F6FB"/>
            </a:solidFill>
            <a:prstDash val="solid"/>
          </a:ln>
        </p:spPr>
      </p:sp>
      <p:sp>
        <p:nvSpPr>
          <p:cNvPr id="27" name="Tile accent"/>
          <p:cNvSpPr/>
          <p:nvPr/>
        </p:nvSpPr>
        <p:spPr>
          <a:xfrm>
            <a:off x="548640" y="3200400"/>
            <a:ext cx="82296" cy="1463040"/>
          </a:xfrm>
          <a:prstGeom prst="rect">
            <a:avLst/>
          </a:prstGeom>
          <a:solidFill>
            <a:srgbClr val="2A78D6"/>
          </a:solidFill>
          <a:ln w="12700">
            <a:solidFill>
              <a:srgbClr val="2A78D6"/>
            </a:solidFill>
            <a:prstDash val="solid"/>
          </a:ln>
        </p:spPr>
      </p:sp>
      <p:sp>
        <p:nvSpPr>
          <p:cNvPr id="28" name="Text 25"/>
          <p:cNvSpPr txBox="1"/>
          <p:nvPr/>
        </p:nvSpPr>
        <p:spPr>
          <a:xfrm>
            <a:off x="77724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897</a:t>
            </a:r>
            <a:endParaRPr lang="en-US" sz="3000" dirty="0"/>
          </a:p>
        </p:txBody>
      </p:sp>
      <p:sp>
        <p:nvSpPr>
          <p:cNvPr id="29" name="Text 26"/>
          <p:cNvSpPr txBox="1"/>
          <p:nvPr/>
        </p:nvSpPr>
        <p:spPr>
          <a:xfrm>
            <a:off x="77724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infinite growth values</a:t>
            </a:r>
            <a:endParaRPr lang="en-US" sz="1300" dirty="0"/>
          </a:p>
        </p:txBody>
      </p:sp>
      <p:sp>
        <p:nvSpPr>
          <p:cNvPr id="30" name="Treatment chip"/>
          <p:cNvSpPr/>
          <p:nvPr/>
        </p:nvSpPr>
        <p:spPr>
          <a:xfrm>
            <a:off x="777240" y="4270248"/>
            <a:ext cx="1143000" cy="265176"/>
          </a:xfrm>
          <a:prstGeom prst="roundRect">
            <a:avLst>
              <a:gd name="adj" fmla="val 17241"/>
            </a:avLst>
          </a:prstGeom>
          <a:solidFill>
            <a:srgbClr val="2A78D6"/>
          </a:solidFill>
          <a:ln w="12700">
            <a:solidFill>
              <a:srgbClr val="2A78D6"/>
            </a:solidFill>
            <a:prstDash val="solid"/>
          </a:ln>
        </p:spPr>
      </p:sp>
      <p:sp>
        <p:nvSpPr>
          <p:cNvPr id="31" name="Text 28"/>
          <p:cNvSpPr txBox="1"/>
          <p:nvPr/>
        </p:nvSpPr>
        <p:spPr>
          <a:xfrm>
            <a:off x="77724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RECOMPUTED</a:t>
            </a:r>
            <a:endParaRPr lang="en-US" sz="1000" dirty="0"/>
          </a:p>
        </p:txBody>
      </p:sp>
      <p:sp>
        <p:nvSpPr>
          <p:cNvPr id="32" name="Text 29"/>
          <p:cNvSpPr txBox="1"/>
          <p:nvPr/>
        </p:nvSpPr>
        <p:spPr>
          <a:xfrm>
            <a:off x="201168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growth from zero is undefined</a:t>
            </a:r>
            <a:endParaRPr lang="en-US" sz="1100" dirty="0"/>
          </a:p>
        </p:txBody>
      </p:sp>
      <p:sp>
        <p:nvSpPr>
          <p:cNvPr id="33" name="Challenge tile"/>
          <p:cNvSpPr/>
          <p:nvPr/>
        </p:nvSpPr>
        <p:spPr>
          <a:xfrm>
            <a:off x="4297680" y="3200400"/>
            <a:ext cx="3566160" cy="1463040"/>
          </a:xfrm>
          <a:prstGeom prst="roundRect">
            <a:avLst>
              <a:gd name="adj" fmla="val 5000"/>
            </a:avLst>
          </a:prstGeom>
          <a:solidFill>
            <a:srgbClr val="F2F6FB"/>
          </a:solidFill>
          <a:ln w="12700">
            <a:solidFill>
              <a:srgbClr val="F2F6FB"/>
            </a:solidFill>
            <a:prstDash val="solid"/>
          </a:ln>
        </p:spPr>
      </p:sp>
      <p:sp>
        <p:nvSpPr>
          <p:cNvPr id="34" name="Tile accent"/>
          <p:cNvSpPr/>
          <p:nvPr/>
        </p:nvSpPr>
        <p:spPr>
          <a:xfrm>
            <a:off x="4297680" y="3200400"/>
            <a:ext cx="82296" cy="1463040"/>
          </a:xfrm>
          <a:prstGeom prst="rect">
            <a:avLst/>
          </a:prstGeom>
          <a:solidFill>
            <a:srgbClr val="2A78D6"/>
          </a:solidFill>
          <a:ln w="12700">
            <a:solidFill>
              <a:srgbClr val="2A78D6"/>
            </a:solidFill>
            <a:prstDash val="solid"/>
          </a:ln>
        </p:spPr>
      </p:sp>
      <p:sp>
        <p:nvSpPr>
          <p:cNvPr id="35" name="Text 32"/>
          <p:cNvSpPr txBox="1"/>
          <p:nvPr/>
        </p:nvSpPr>
        <p:spPr>
          <a:xfrm>
            <a:off x="452628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37%</a:t>
            </a:r>
            <a:endParaRPr lang="en-US" sz="3000" dirty="0"/>
          </a:p>
        </p:txBody>
      </p:sp>
      <p:sp>
        <p:nvSpPr>
          <p:cNvPr id="36" name="Text 33"/>
          <p:cNvSpPr txBox="1"/>
          <p:nvPr/>
        </p:nvSpPr>
        <p:spPr>
          <a:xfrm>
            <a:off x="452628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of derived fields consistent</a:t>
            </a:r>
            <a:endParaRPr lang="en-US" sz="1300" dirty="0"/>
          </a:p>
        </p:txBody>
      </p:sp>
      <p:sp>
        <p:nvSpPr>
          <p:cNvPr id="37" name="Treatment chip"/>
          <p:cNvSpPr/>
          <p:nvPr/>
        </p:nvSpPr>
        <p:spPr>
          <a:xfrm>
            <a:off x="4526280" y="4270248"/>
            <a:ext cx="1143000" cy="265176"/>
          </a:xfrm>
          <a:prstGeom prst="roundRect">
            <a:avLst>
              <a:gd name="adj" fmla="val 17241"/>
            </a:avLst>
          </a:prstGeom>
          <a:solidFill>
            <a:srgbClr val="2A78D6"/>
          </a:solidFill>
          <a:ln w="12700">
            <a:solidFill>
              <a:srgbClr val="2A78D6"/>
            </a:solidFill>
            <a:prstDash val="solid"/>
          </a:ln>
        </p:spPr>
      </p:sp>
      <p:sp>
        <p:nvSpPr>
          <p:cNvPr id="38" name="Text 35"/>
          <p:cNvSpPr txBox="1"/>
          <p:nvPr/>
        </p:nvSpPr>
        <p:spPr>
          <a:xfrm>
            <a:off x="452628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RECOMPUTED</a:t>
            </a:r>
            <a:endParaRPr lang="en-US" sz="1000" dirty="0"/>
          </a:p>
        </p:txBody>
      </p:sp>
      <p:sp>
        <p:nvSpPr>
          <p:cNvPr id="39" name="Text 36"/>
          <p:cNvSpPr txBox="1"/>
          <p:nvPr/>
        </p:nvSpPr>
        <p:spPr>
          <a:xfrm>
            <a:off x="576072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KPIs must reproduce 100%</a:t>
            </a:r>
            <a:endParaRPr lang="en-US" sz="1100" dirty="0"/>
          </a:p>
        </p:txBody>
      </p:sp>
      <p:sp>
        <p:nvSpPr>
          <p:cNvPr id="40" name="Challenge tile"/>
          <p:cNvSpPr/>
          <p:nvPr/>
        </p:nvSpPr>
        <p:spPr>
          <a:xfrm>
            <a:off x="8046720" y="3200400"/>
            <a:ext cx="3566160" cy="1463040"/>
          </a:xfrm>
          <a:prstGeom prst="roundRect">
            <a:avLst>
              <a:gd name="adj" fmla="val 5000"/>
            </a:avLst>
          </a:prstGeom>
          <a:solidFill>
            <a:srgbClr val="F2F6FB"/>
          </a:solidFill>
          <a:ln w="12700">
            <a:solidFill>
              <a:srgbClr val="F2F6FB"/>
            </a:solidFill>
            <a:prstDash val="solid"/>
          </a:ln>
        </p:spPr>
      </p:sp>
      <p:sp>
        <p:nvSpPr>
          <p:cNvPr id="41" name="Tile accent"/>
          <p:cNvSpPr/>
          <p:nvPr/>
        </p:nvSpPr>
        <p:spPr>
          <a:xfrm>
            <a:off x="8046720" y="3200400"/>
            <a:ext cx="82296" cy="1463040"/>
          </a:xfrm>
          <a:prstGeom prst="rect">
            <a:avLst/>
          </a:prstGeom>
          <a:solidFill>
            <a:srgbClr val="2A78D6"/>
          </a:solidFill>
          <a:ln w="12700">
            <a:solidFill>
              <a:srgbClr val="2A78D6"/>
            </a:solidFill>
            <a:prstDash val="solid"/>
          </a:ln>
        </p:spPr>
      </p:sp>
      <p:sp>
        <p:nvSpPr>
          <p:cNvPr id="42" name="Text 39"/>
          <p:cNvSpPr txBox="1"/>
          <p:nvPr/>
        </p:nvSpPr>
        <p:spPr>
          <a:xfrm>
            <a:off x="827532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907</a:t>
            </a:r>
            <a:endParaRPr lang="en-US" sz="3000" dirty="0"/>
          </a:p>
        </p:txBody>
      </p:sp>
      <p:sp>
        <p:nvSpPr>
          <p:cNvPr id="43" name="Text 40"/>
          <p:cNvSpPr txBox="1"/>
          <p:nvPr/>
        </p:nvSpPr>
        <p:spPr>
          <a:xfrm>
            <a:off x="827532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rows: zero stock but sales</a:t>
            </a:r>
            <a:endParaRPr lang="en-US" sz="1300" dirty="0"/>
          </a:p>
        </p:txBody>
      </p:sp>
      <p:sp>
        <p:nvSpPr>
          <p:cNvPr id="44" name="Treatment chip"/>
          <p:cNvSpPr/>
          <p:nvPr/>
        </p:nvSpPr>
        <p:spPr>
          <a:xfrm>
            <a:off x="8275320" y="4270248"/>
            <a:ext cx="1143000" cy="265176"/>
          </a:xfrm>
          <a:prstGeom prst="roundRect">
            <a:avLst>
              <a:gd name="adj" fmla="val 17241"/>
            </a:avLst>
          </a:prstGeom>
          <a:solidFill>
            <a:srgbClr val="2A78D6"/>
          </a:solidFill>
          <a:ln w="12700">
            <a:solidFill>
              <a:srgbClr val="2A78D6"/>
            </a:solidFill>
            <a:prstDash val="solid"/>
          </a:ln>
        </p:spPr>
      </p:sp>
      <p:sp>
        <p:nvSpPr>
          <p:cNvPr id="45" name="Text 42"/>
          <p:cNvSpPr txBox="1"/>
          <p:nvPr/>
        </p:nvSpPr>
        <p:spPr>
          <a:xfrm>
            <a:off x="827532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REALIGNED</a:t>
            </a:r>
            <a:endParaRPr lang="en-US" sz="1000" dirty="0"/>
          </a:p>
        </p:txBody>
      </p:sp>
      <p:sp>
        <p:nvSpPr>
          <p:cNvPr id="46" name="Text 43"/>
          <p:cNvSpPr txBox="1"/>
          <p:nvPr/>
        </p:nvSpPr>
        <p:spPr>
          <a:xfrm>
            <a:off x="950976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stock = previous row's inventory</a:t>
            </a:r>
            <a:endParaRPr lang="en-US" sz="1100" dirty="0"/>
          </a:p>
        </p:txBody>
      </p:sp>
      <p:sp>
        <p:nvSpPr>
          <p:cNvPr id="47" name="Challenge tile"/>
          <p:cNvSpPr/>
          <p:nvPr/>
        </p:nvSpPr>
        <p:spPr>
          <a:xfrm>
            <a:off x="548640" y="4754880"/>
            <a:ext cx="3566160" cy="1463040"/>
          </a:xfrm>
          <a:prstGeom prst="roundRect">
            <a:avLst>
              <a:gd name="adj" fmla="val 5000"/>
            </a:avLst>
          </a:prstGeom>
          <a:solidFill>
            <a:srgbClr val="F2F6FB"/>
          </a:solidFill>
          <a:ln w="12700">
            <a:solidFill>
              <a:srgbClr val="F2F6FB"/>
            </a:solidFill>
            <a:prstDash val="solid"/>
          </a:ln>
        </p:spPr>
      </p:sp>
      <p:sp>
        <p:nvSpPr>
          <p:cNvPr id="48" name="Tile accent"/>
          <p:cNvSpPr/>
          <p:nvPr/>
        </p:nvSpPr>
        <p:spPr>
          <a:xfrm>
            <a:off x="548640" y="4754880"/>
            <a:ext cx="82296" cy="1463040"/>
          </a:xfrm>
          <a:prstGeom prst="rect">
            <a:avLst/>
          </a:prstGeom>
          <a:solidFill>
            <a:srgbClr val="EB6834"/>
          </a:solidFill>
          <a:ln w="12700">
            <a:solidFill>
              <a:srgbClr val="EB6834"/>
            </a:solidFill>
            <a:prstDash val="solid"/>
          </a:ln>
        </p:spPr>
      </p:sp>
      <p:sp>
        <p:nvSpPr>
          <p:cNvPr id="49" name="Text 46"/>
          <p:cNvSpPr txBox="1"/>
          <p:nvPr/>
        </p:nvSpPr>
        <p:spPr>
          <a:xfrm>
            <a:off x="777240" y="4846320"/>
            <a:ext cx="3200400" cy="5029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1,329</a:t>
            </a:r>
            <a:endParaRPr lang="en-US" sz="3000" dirty="0"/>
          </a:p>
        </p:txBody>
      </p:sp>
      <p:sp>
        <p:nvSpPr>
          <p:cNvPr id="50" name="Text 47"/>
          <p:cNvSpPr txBox="1"/>
          <p:nvPr/>
        </p:nvSpPr>
        <p:spPr>
          <a:xfrm>
            <a:off x="77724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zero-sales weeks, pile-ups at 1,500 / 2,500</a:t>
            </a:r>
            <a:endParaRPr lang="en-US" sz="1300" dirty="0"/>
          </a:p>
        </p:txBody>
      </p:sp>
      <p:sp>
        <p:nvSpPr>
          <p:cNvPr id="51" name="Treatment chip"/>
          <p:cNvSpPr/>
          <p:nvPr/>
        </p:nvSpPr>
        <p:spPr>
          <a:xfrm>
            <a:off x="777240" y="5824728"/>
            <a:ext cx="1143000" cy="265176"/>
          </a:xfrm>
          <a:prstGeom prst="roundRect">
            <a:avLst>
              <a:gd name="adj" fmla="val 17241"/>
            </a:avLst>
          </a:prstGeom>
          <a:solidFill>
            <a:srgbClr val="EB6834"/>
          </a:solidFill>
          <a:ln w="12700">
            <a:solidFill>
              <a:srgbClr val="EB6834"/>
            </a:solidFill>
            <a:prstDash val="solid"/>
          </a:ln>
        </p:spPr>
      </p:sp>
      <p:sp>
        <p:nvSpPr>
          <p:cNvPr id="52" name="Text 49"/>
          <p:cNvSpPr txBox="1"/>
          <p:nvPr/>
        </p:nvSpPr>
        <p:spPr>
          <a:xfrm>
            <a:off x="77724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FLAGGED</a:t>
            </a:r>
            <a:endParaRPr lang="en-US" sz="1000" dirty="0"/>
          </a:p>
        </p:txBody>
      </p:sp>
      <p:sp>
        <p:nvSpPr>
          <p:cNvPr id="53" name="Text 50"/>
          <p:cNvSpPr txBox="1"/>
          <p:nvPr/>
        </p:nvSpPr>
        <p:spPr>
          <a:xfrm>
            <a:off x="201168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stock caps, not errors</a:t>
            </a:r>
            <a:endParaRPr lang="en-US" sz="1100" dirty="0"/>
          </a:p>
        </p:txBody>
      </p:sp>
      <p:sp>
        <p:nvSpPr>
          <p:cNvPr id="54" name="Challenge tile"/>
          <p:cNvSpPr/>
          <p:nvPr/>
        </p:nvSpPr>
        <p:spPr>
          <a:xfrm>
            <a:off x="4297680" y="4754880"/>
            <a:ext cx="3566160" cy="1463040"/>
          </a:xfrm>
          <a:prstGeom prst="roundRect">
            <a:avLst>
              <a:gd name="adj" fmla="val 5000"/>
            </a:avLst>
          </a:prstGeom>
          <a:solidFill>
            <a:srgbClr val="F2F6FB"/>
          </a:solidFill>
          <a:ln w="12700">
            <a:solidFill>
              <a:srgbClr val="F2F6FB"/>
            </a:solidFill>
            <a:prstDash val="solid"/>
          </a:ln>
        </p:spPr>
      </p:sp>
      <p:sp>
        <p:nvSpPr>
          <p:cNvPr id="55" name="Tile accent"/>
          <p:cNvSpPr/>
          <p:nvPr/>
        </p:nvSpPr>
        <p:spPr>
          <a:xfrm>
            <a:off x="4297680" y="4754880"/>
            <a:ext cx="82296" cy="1463040"/>
          </a:xfrm>
          <a:prstGeom prst="rect">
            <a:avLst/>
          </a:prstGeom>
          <a:solidFill>
            <a:srgbClr val="EB6834"/>
          </a:solidFill>
          <a:ln w="12700">
            <a:solidFill>
              <a:srgbClr val="EB6834"/>
            </a:solidFill>
            <a:prstDash val="solid"/>
          </a:ln>
        </p:spPr>
      </p:sp>
      <p:sp>
        <p:nvSpPr>
          <p:cNvPr id="56" name="Text 53"/>
          <p:cNvSpPr txBox="1"/>
          <p:nvPr/>
        </p:nvSpPr>
        <p:spPr>
          <a:xfrm>
            <a:off x="4526280" y="4846320"/>
            <a:ext cx="3200400" cy="5029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23</a:t>
            </a:r>
            <a:endParaRPr lang="en-US" sz="3000" dirty="0"/>
          </a:p>
        </p:txBody>
      </p:sp>
      <p:sp>
        <p:nvSpPr>
          <p:cNvPr id="57" name="Text 54"/>
          <p:cNvSpPr txBox="1"/>
          <p:nvPr/>
        </p:nvSpPr>
        <p:spPr>
          <a:xfrm>
            <a:off x="452628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sales outliers</a:t>
            </a:r>
            <a:endParaRPr lang="en-US" sz="1300" dirty="0"/>
          </a:p>
        </p:txBody>
      </p:sp>
      <p:sp>
        <p:nvSpPr>
          <p:cNvPr id="58" name="Treatment chip"/>
          <p:cNvSpPr/>
          <p:nvPr/>
        </p:nvSpPr>
        <p:spPr>
          <a:xfrm>
            <a:off x="4526280" y="5824728"/>
            <a:ext cx="1143000" cy="265176"/>
          </a:xfrm>
          <a:prstGeom prst="roundRect">
            <a:avLst>
              <a:gd name="adj" fmla="val 17241"/>
            </a:avLst>
          </a:prstGeom>
          <a:solidFill>
            <a:srgbClr val="EB6834"/>
          </a:solidFill>
          <a:ln w="12700">
            <a:solidFill>
              <a:srgbClr val="EB6834"/>
            </a:solidFill>
            <a:prstDash val="solid"/>
          </a:ln>
        </p:spPr>
      </p:sp>
      <p:sp>
        <p:nvSpPr>
          <p:cNvPr id="59" name="Text 56"/>
          <p:cNvSpPr txBox="1"/>
          <p:nvPr/>
        </p:nvSpPr>
        <p:spPr>
          <a:xfrm>
            <a:off x="452628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FLAGGED</a:t>
            </a:r>
            <a:endParaRPr lang="en-US" sz="1000" dirty="0"/>
          </a:p>
        </p:txBody>
      </p:sp>
      <p:sp>
        <p:nvSpPr>
          <p:cNvPr id="60" name="Text 57"/>
          <p:cNvSpPr txBox="1"/>
          <p:nvPr/>
        </p:nvSpPr>
        <p:spPr>
          <a:xfrm>
            <a:off x="576072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winsorised copy, original kept</a:t>
            </a:r>
            <a:endParaRPr lang="en-US" sz="1100" dirty="0"/>
          </a:p>
        </p:txBody>
      </p:sp>
      <p:sp>
        <p:nvSpPr>
          <p:cNvPr id="61" name="Challenge tile"/>
          <p:cNvSpPr/>
          <p:nvPr/>
        </p:nvSpPr>
        <p:spPr>
          <a:xfrm>
            <a:off x="8046720" y="4754880"/>
            <a:ext cx="3566160" cy="1463040"/>
          </a:xfrm>
          <a:prstGeom prst="roundRect">
            <a:avLst>
              <a:gd name="adj" fmla="val 5000"/>
            </a:avLst>
          </a:prstGeom>
          <a:solidFill>
            <a:srgbClr val="F2F6FB"/>
          </a:solidFill>
          <a:ln w="12700">
            <a:solidFill>
              <a:srgbClr val="F2F6FB"/>
            </a:solidFill>
            <a:prstDash val="solid"/>
          </a:ln>
        </p:spPr>
      </p:sp>
      <p:sp>
        <p:nvSpPr>
          <p:cNvPr id="62" name="Tile accent"/>
          <p:cNvSpPr/>
          <p:nvPr/>
        </p:nvSpPr>
        <p:spPr>
          <a:xfrm>
            <a:off x="8046720" y="4754880"/>
            <a:ext cx="82296" cy="1463040"/>
          </a:xfrm>
          <a:prstGeom prst="rect">
            <a:avLst/>
          </a:prstGeom>
          <a:solidFill>
            <a:srgbClr val="12263F"/>
          </a:solidFill>
          <a:ln w="12700">
            <a:solidFill>
              <a:srgbClr val="12263F"/>
            </a:solidFill>
            <a:prstDash val="solid"/>
          </a:ln>
        </p:spPr>
      </p:sp>
      <p:sp>
        <p:nvSpPr>
          <p:cNvPr id="63" name="Text 60"/>
          <p:cNvSpPr txBox="1"/>
          <p:nvPr/>
        </p:nvSpPr>
        <p:spPr>
          <a:xfrm>
            <a:off x="8275320" y="4846320"/>
            <a:ext cx="3200400" cy="502920"/>
          </a:xfrm>
          <a:prstGeom prst="rect">
            <a:avLst/>
          </a:prstGeom>
          <a:noFill/>
          <a:ln/>
        </p:spPr>
        <p:txBody>
          <a:bodyPr wrap="square" lIns="0" tIns="0" rIns="0" bIns="0" rtlCol="0" anchor="ctr"/>
          <a:lstStyle/>
          <a:p>
            <a:pPr indent="0" marL="0">
              <a:buNone/>
            </a:pPr>
            <a:r>
              <a:rPr lang="en-US" sz="3000" b="1" dirty="0">
                <a:solidFill>
                  <a:srgbClr val="12263F"/>
                </a:solidFill>
                <a:latin typeface="Cambria" pitchFamily="34" charset="0"/>
                <a:ea typeface="Cambria" pitchFamily="34" charset="-122"/>
                <a:cs typeface="Cambria" pitchFamily="34" charset="-120"/>
              </a:rPr>
              <a:t>3</a:t>
            </a:r>
            <a:endParaRPr lang="en-US" sz="3000" dirty="0"/>
          </a:p>
        </p:txBody>
      </p:sp>
      <p:sp>
        <p:nvSpPr>
          <p:cNvPr id="64" name="Text 61"/>
          <p:cNvSpPr txBox="1"/>
          <p:nvPr/>
        </p:nvSpPr>
        <p:spPr>
          <a:xfrm>
            <a:off x="827532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sources: dates, customers, competitors</a:t>
            </a:r>
            <a:endParaRPr lang="en-US" sz="1300" dirty="0"/>
          </a:p>
        </p:txBody>
      </p:sp>
      <p:sp>
        <p:nvSpPr>
          <p:cNvPr id="65" name="Treatment chip"/>
          <p:cNvSpPr/>
          <p:nvPr/>
        </p:nvSpPr>
        <p:spPr>
          <a:xfrm>
            <a:off x="8275320" y="5824728"/>
            <a:ext cx="1143000" cy="265176"/>
          </a:xfrm>
          <a:prstGeom prst="roundRect">
            <a:avLst>
              <a:gd name="adj" fmla="val 17241"/>
            </a:avLst>
          </a:prstGeom>
          <a:solidFill>
            <a:srgbClr val="12263F"/>
          </a:solidFill>
          <a:ln w="12700">
            <a:solidFill>
              <a:srgbClr val="12263F"/>
            </a:solidFill>
            <a:prstDash val="solid"/>
          </a:ln>
        </p:spPr>
      </p:sp>
      <p:sp>
        <p:nvSpPr>
          <p:cNvPr id="66" name="Text 63"/>
          <p:cNvSpPr txBox="1"/>
          <p:nvPr/>
        </p:nvSpPr>
        <p:spPr>
          <a:xfrm>
            <a:off x="827532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ASSUMED</a:t>
            </a:r>
            <a:endParaRPr lang="en-US" sz="1000" dirty="0"/>
          </a:p>
        </p:txBody>
      </p:sp>
      <p:sp>
        <p:nvSpPr>
          <p:cNvPr id="67" name="Text 64"/>
          <p:cNvSpPr txBox="1"/>
          <p:nvPr/>
        </p:nvSpPr>
        <p:spPr>
          <a:xfrm>
            <a:off x="950976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synthetic calendar, labelled scenarios</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KEY DISCOVERY</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Stock caps sales, so sales understate demand</a:t>
            </a:r>
            <a:endParaRPr lang="en-US" sz="3000" dirty="0"/>
          </a:p>
        </p:txBody>
      </p:sp>
      <p:pic>
        <p:nvPicPr>
          <p:cNvPr id="5" name="Inventory timing figure" descr="/home/user/Technical_Assessment_HamidrezaNademi/part1_etl_pipeline_v1.2/figures/inventory_timing_v1.2.png">    </p:cNvPr>
          <p:cNvPicPr>
            <a:picLocks noChangeAspect="1"/>
          </p:cNvPicPr>
          <p:nvPr/>
        </p:nvPicPr>
        <p:blipFill>
          <a:blip r:embed="rId1"/>
          <a:stretch>
            <a:fillRect/>
          </a:stretch>
        </p:blipFill>
        <p:spPr>
          <a:xfrm>
            <a:off x="548640" y="1691640"/>
            <a:ext cx="5760720" cy="2880360"/>
          </a:xfrm>
          <a:prstGeom prst="rect">
            <a:avLst/>
          </a:prstGeom>
        </p:spPr>
      </p:pic>
      <p:sp>
        <p:nvSpPr>
          <p:cNvPr id="6" name="Stat card"/>
          <p:cNvSpPr/>
          <p:nvPr/>
        </p:nvSpPr>
        <p:spPr>
          <a:xfrm>
            <a:off x="6583680" y="1691640"/>
            <a:ext cx="1600200" cy="1463040"/>
          </a:xfrm>
          <a:prstGeom prst="roundRect">
            <a:avLst>
              <a:gd name="adj" fmla="val 5000"/>
            </a:avLst>
          </a:prstGeom>
          <a:solidFill>
            <a:srgbClr val="F2F6FB"/>
          </a:solidFill>
          <a:ln w="12700">
            <a:solidFill>
              <a:srgbClr val="F2F6FB"/>
            </a:solidFill>
            <a:prstDash val="solid"/>
          </a:ln>
        </p:spPr>
      </p:sp>
      <p:sp>
        <p:nvSpPr>
          <p:cNvPr id="7" name="Text 3"/>
          <p:cNvSpPr txBox="1"/>
          <p:nvPr/>
        </p:nvSpPr>
        <p:spPr>
          <a:xfrm>
            <a:off x="6720840" y="1764792"/>
            <a:ext cx="1325880" cy="658368"/>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0.85</a:t>
            </a:r>
            <a:endParaRPr lang="en-US" sz="2800" dirty="0"/>
          </a:p>
        </p:txBody>
      </p:sp>
      <p:sp>
        <p:nvSpPr>
          <p:cNvPr id="8" name="Text 4"/>
          <p:cNvSpPr txBox="1"/>
          <p:nvPr/>
        </p:nvSpPr>
        <p:spPr>
          <a:xfrm>
            <a:off x="6720840" y="2452421"/>
            <a:ext cx="1325880" cy="672998"/>
          </a:xfrm>
          <a:prstGeom prst="rect">
            <a:avLst/>
          </a:prstGeom>
          <a:noFill/>
          <a:ln/>
        </p:spPr>
        <p:txBody>
          <a:bodyPr wrap="square" lIns="0" tIns="0" rIns="0" bIns="0" rtlCol="0" anchor="t"/>
          <a:lstStyle/>
          <a:p>
            <a:pPr indent="0" marL="0">
              <a:buNone/>
            </a:pPr>
            <a:r>
              <a:rPr lang="en-US" sz="1300" dirty="0">
                <a:solidFill>
                  <a:srgbClr val="5B6B80"/>
                </a:solidFill>
              </a:rPr>
              <a:t>sales vs last week's stock (correlation)</a:t>
            </a:r>
            <a:endParaRPr lang="en-US" sz="1300" dirty="0"/>
          </a:p>
        </p:txBody>
      </p:sp>
      <p:sp>
        <p:nvSpPr>
          <p:cNvPr id="9" name="Stat card"/>
          <p:cNvSpPr/>
          <p:nvPr/>
        </p:nvSpPr>
        <p:spPr>
          <a:xfrm>
            <a:off x="8275320" y="1691640"/>
            <a:ext cx="1600200" cy="1463040"/>
          </a:xfrm>
          <a:prstGeom prst="roundRect">
            <a:avLst>
              <a:gd name="adj" fmla="val 5000"/>
            </a:avLst>
          </a:prstGeom>
          <a:solidFill>
            <a:srgbClr val="F2F6FB"/>
          </a:solidFill>
          <a:ln w="12700">
            <a:solidFill>
              <a:srgbClr val="F2F6FB"/>
            </a:solidFill>
            <a:prstDash val="solid"/>
          </a:ln>
        </p:spPr>
      </p:sp>
      <p:sp>
        <p:nvSpPr>
          <p:cNvPr id="10" name="Text 6"/>
          <p:cNvSpPr txBox="1"/>
          <p:nvPr/>
        </p:nvSpPr>
        <p:spPr>
          <a:xfrm>
            <a:off x="8412480" y="1764792"/>
            <a:ext cx="1325880" cy="658368"/>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1,329</a:t>
            </a:r>
            <a:endParaRPr lang="en-US" sz="2800" dirty="0"/>
          </a:p>
        </p:txBody>
      </p:sp>
      <p:sp>
        <p:nvSpPr>
          <p:cNvPr id="11" name="Text 7"/>
          <p:cNvSpPr txBox="1"/>
          <p:nvPr/>
        </p:nvSpPr>
        <p:spPr>
          <a:xfrm>
            <a:off x="8412480" y="2452421"/>
            <a:ext cx="1325880" cy="672998"/>
          </a:xfrm>
          <a:prstGeom prst="rect">
            <a:avLst/>
          </a:prstGeom>
          <a:noFill/>
          <a:ln/>
        </p:spPr>
        <p:txBody>
          <a:bodyPr wrap="square" lIns="0" tIns="0" rIns="0" bIns="0" rtlCol="0" anchor="t"/>
          <a:lstStyle/>
          <a:p>
            <a:pPr indent="0" marL="0">
              <a:buNone/>
            </a:pPr>
            <a:r>
              <a:rPr lang="en-US" sz="1300" dirty="0">
                <a:solidFill>
                  <a:srgbClr val="5B6B80"/>
                </a:solidFill>
              </a:rPr>
              <a:t>stock-out weeks, all zero sales</a:t>
            </a:r>
            <a:endParaRPr lang="en-US" sz="1300" dirty="0"/>
          </a:p>
        </p:txBody>
      </p:sp>
      <p:sp>
        <p:nvSpPr>
          <p:cNvPr id="12" name="Stat card"/>
          <p:cNvSpPr/>
          <p:nvPr/>
        </p:nvSpPr>
        <p:spPr>
          <a:xfrm>
            <a:off x="9966960" y="1691640"/>
            <a:ext cx="1645920" cy="1463040"/>
          </a:xfrm>
          <a:prstGeom prst="roundRect">
            <a:avLst>
              <a:gd name="adj" fmla="val 5000"/>
            </a:avLst>
          </a:prstGeom>
          <a:solidFill>
            <a:srgbClr val="F2F6FB"/>
          </a:solidFill>
          <a:ln w="12700">
            <a:solidFill>
              <a:srgbClr val="F2F6FB"/>
            </a:solidFill>
            <a:prstDash val="solid"/>
          </a:ln>
        </p:spPr>
      </p:sp>
      <p:sp>
        <p:nvSpPr>
          <p:cNvPr id="13" name="Text 9"/>
          <p:cNvSpPr txBox="1"/>
          <p:nvPr/>
        </p:nvSpPr>
        <p:spPr>
          <a:xfrm>
            <a:off x="10104120" y="1764792"/>
            <a:ext cx="1371600" cy="658368"/>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53%</a:t>
            </a:r>
            <a:endParaRPr lang="en-US" sz="2800" dirty="0"/>
          </a:p>
        </p:txBody>
      </p:sp>
      <p:sp>
        <p:nvSpPr>
          <p:cNvPr id="14" name="Text 10"/>
          <p:cNvSpPr txBox="1"/>
          <p:nvPr/>
        </p:nvSpPr>
        <p:spPr>
          <a:xfrm>
            <a:off x="10104120" y="2452421"/>
            <a:ext cx="1371600" cy="672998"/>
          </a:xfrm>
          <a:prstGeom prst="rect">
            <a:avLst/>
          </a:prstGeom>
          <a:noFill/>
          <a:ln/>
        </p:spPr>
        <p:txBody>
          <a:bodyPr wrap="square" lIns="0" tIns="0" rIns="0" bIns="0" rtlCol="0" anchor="t"/>
          <a:lstStyle/>
          <a:p>
            <a:pPr indent="0" marL="0">
              <a:buNone/>
            </a:pPr>
            <a:r>
              <a:rPr lang="en-US" sz="1300" dirty="0">
                <a:solidFill>
                  <a:srgbClr val="5B6B80"/>
                </a:solidFill>
              </a:rPr>
              <a:t>of weeks capped by stock</a:t>
            </a:r>
            <a:endParaRPr lang="en-US" sz="1300" dirty="0"/>
          </a:p>
        </p:txBody>
      </p:sp>
      <p:sp>
        <p:nvSpPr>
          <p:cNvPr id="15" name="Text 11"/>
          <p:cNvSpPr txBox="1"/>
          <p:nvPr/>
        </p:nvSpPr>
        <p:spPr>
          <a:xfrm>
            <a:off x="6583680" y="3291840"/>
            <a:ext cx="5029200" cy="141732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2A41"/>
                </a:solidFill>
              </a:rPr>
              <a:t>Zero stock always means zero sales; 2,813 more weeks sell exactly the stock.</a:t>
            </a:r>
            <a:endParaRPr lang="en-US" sz="1400" dirty="0"/>
          </a:p>
          <a:p>
            <a:pPr marL="203200" indent="-203200">
              <a:spcAft>
                <a:spcPts val="800"/>
              </a:spcAft>
              <a:buSzPct val="100000"/>
              <a:buChar char="•"/>
            </a:pPr>
            <a:r>
              <a:rPr lang="en-US" sz="1400" dirty="0">
                <a:solidFill>
                  <a:srgbClr val="1B2A41"/>
                </a:solidFill>
              </a:rPr>
              <a:t>So sales = min(demand, stock): they understate what customers wanted.</a:t>
            </a:r>
            <a:endParaRPr lang="en-US" sz="1400" dirty="0"/>
          </a:p>
          <a:p>
            <a:pPr marL="203200" indent="-203200">
              <a:spcAft>
                <a:spcPts val="800"/>
              </a:spcAft>
              <a:buSzPct val="100000"/>
              <a:buChar char="•"/>
            </a:pPr>
            <a:r>
              <a:rPr lang="en-US" sz="1400" dirty="0">
                <a:solidFill>
                  <a:srgbClr val="1B2A41"/>
                </a:solidFill>
              </a:rPr>
              <a:t>Later steps rely on this: forecast demand, lost sales, pricing.</a:t>
            </a:r>
            <a:endParaRPr lang="en-US" sz="1400" dirty="0"/>
          </a:p>
        </p:txBody>
      </p:sp>
      <p:sp>
        <p:nvSpPr>
          <p:cNvPr id="16" name="Callout"/>
          <p:cNvSpPr/>
          <p:nvPr/>
        </p:nvSpPr>
        <p:spPr>
          <a:xfrm>
            <a:off x="548640" y="4846320"/>
            <a:ext cx="11064240" cy="1417320"/>
          </a:xfrm>
          <a:prstGeom prst="roundRect">
            <a:avLst>
              <a:gd name="adj" fmla="val 5161"/>
            </a:avLst>
          </a:prstGeom>
          <a:solidFill>
            <a:srgbClr val="F2F6FB"/>
          </a:solidFill>
          <a:ln w="12700">
            <a:solidFill>
              <a:srgbClr val="D9E1EC"/>
            </a:solidFill>
            <a:prstDash val="solid"/>
          </a:ln>
        </p:spPr>
      </p:sp>
      <p:sp>
        <p:nvSpPr>
          <p:cNvPr id="17" name="Text 13"/>
          <p:cNvSpPr txBox="1"/>
          <p:nvPr/>
        </p:nvSpPr>
        <p:spPr>
          <a:xfrm>
            <a:off x="731520" y="4956048"/>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Assumptions made, and why</a:t>
            </a:r>
            <a:endParaRPr lang="en-US" sz="1400" dirty="0"/>
          </a:p>
        </p:txBody>
      </p:sp>
      <p:sp>
        <p:nvSpPr>
          <p:cNvPr id="18" name="Text 14"/>
          <p:cNvSpPr txBox="1"/>
          <p:nvPr/>
        </p:nvSpPr>
        <p:spPr>
          <a:xfrm>
            <a:off x="731520" y="5303520"/>
            <a:ext cx="10698480" cy="8686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B2A41"/>
                </a:solidFill>
              </a:rPr>
              <a:t>Synthetic calendar (week 1 = 6 Jan 2020): the file has week numbers only; seasonal findings are relative to it.</a:t>
            </a:r>
            <a:endParaRPr lang="en-US" sz="1400" dirty="0"/>
          </a:p>
          <a:p>
            <a:pPr marL="177800" indent="-177800">
              <a:spcAft>
                <a:spcPts val="500"/>
              </a:spcAft>
              <a:buSzPct val="100000"/>
              <a:buChar char="•"/>
            </a:pPr>
            <a:r>
              <a:rPr lang="en-US" sz="1400" dirty="0">
                <a:solidFill>
                  <a:srgbClr val="1B2A41"/>
                </a:solidFill>
              </a:rPr>
              <a:t>Odd values are flagged, never deleted: pile-ups and zero weeks are signals of stock limits, not errors.</a:t>
            </a:r>
            <a:endParaRPr lang="en-US" sz="1400" dirty="0"/>
          </a:p>
          <a:p>
            <a:pPr marL="177800" indent="-177800">
              <a:spcAft>
                <a:spcPts val="500"/>
              </a:spcAft>
              <a:buSzPct val="100000"/>
              <a:buChar char="•"/>
            </a:pPr>
            <a:r>
              <a:rPr lang="en-US" sz="1400" dirty="0">
                <a:solidFill>
                  <a:srgbClr val="1B2A41"/>
                </a:solidFill>
              </a:rPr>
              <a:t>Inventory read as the previous row's stock: verified, zero violations after the realignment.</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PRE-PROCESSING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Demand is reconstructed before forecasting</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5394960" cy="914400"/>
        </p:xfrm>
        <a:graphic>
          <a:graphicData uri="http://schemas.openxmlformats.org/drawingml/2006/table">
            <a:tbl>
              <a:tblPr/>
              <a:tblGrid>
                <a:gridCol w="2651760"/>
                <a:gridCol w="822960"/>
                <a:gridCol w="1920240"/>
              </a:tblGrid>
              <a:tr h="329184">
                <a:tc>
                  <a:txBody>
                    <a:bodyPr/>
                    <a:lstStyle/>
                    <a:p>
                      <a:pPr indent="0" marL="0">
                        <a:buNone/>
                      </a:pPr>
                      <a:r>
                        <a:rPr lang="en-US" sz="1200" b="1" dirty="0">
                          <a:solidFill>
                            <a:srgbClr val="FFFFFF"/>
                          </a:solidFill>
                        </a:rPr>
                        <a:t>Week type</a:t>
                      </a:r>
                      <a:endParaRPr lang="en-US" sz="1200" dirty="0"/>
                    </a:p>
                  </a:txBody>
                  <a:tcPr marL="73152" marR="73152" marT="36576" marB="36576"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200" b="1" dirty="0">
                          <a:solidFill>
                            <a:srgbClr val="FFFFFF"/>
                          </a:solidFill>
                        </a:rPr>
                        <a:t>Share</a:t>
                      </a:r>
                      <a:endParaRPr lang="en-US" sz="1200" dirty="0"/>
                    </a:p>
                  </a:txBody>
                  <a:tcPr marL="73152" marR="73152" marT="36576" marB="36576"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200" b="1" dirty="0">
                          <a:solidFill>
                            <a:srgbClr val="FFFFFF"/>
                          </a:solidFill>
                        </a:rPr>
                        <a:t>Demand used</a:t>
                      </a:r>
                      <a:endParaRPr lang="en-US" sz="1200" dirty="0"/>
                    </a:p>
                  </a:txBody>
                  <a:tcPr marL="73152" marR="73152" marT="36576" marB="36576"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365760">
                <a:tc>
                  <a:txBody>
                    <a:bodyPr/>
                    <a:lstStyle/>
                    <a:p>
                      <a:pPr indent="0" marL="0">
                        <a:buNone/>
                      </a:pPr>
                      <a:r>
                        <a:rPr lang="en-US" sz="1200" dirty="0">
                          <a:solidFill>
                            <a:srgbClr val="1B2A41"/>
                          </a:solidFill>
                        </a:rPr>
                        <a:t>Unconstrained (sales &lt; stock)</a:t>
                      </a:r>
                      <a:endParaRPr lang="en-US" sz="1200" dirty="0"/>
                    </a:p>
                  </a:txBody>
                  <a:tcPr marL="73152" marR="73152" marT="36576" marB="36576"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A41"/>
                          </a:solidFill>
                        </a:rPr>
                        <a:t>46.5%</a:t>
                      </a:r>
                      <a:endParaRPr lang="en-US" sz="1200" dirty="0"/>
                    </a:p>
                  </a:txBody>
                  <a:tcPr marL="73152" marR="73152" marT="36576" marB="36576"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A41"/>
                          </a:solidFill>
                        </a:rPr>
                        <a:t>observed sales</a:t>
                      </a:r>
                      <a:endParaRPr lang="en-US" sz="1200" dirty="0"/>
                    </a:p>
                  </a:txBody>
                  <a:tcPr marL="73152" marR="73152" marT="36576" marB="36576"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B2A41"/>
                          </a:solidFill>
                        </a:rPr>
                        <a:t>Stock-limited (sales = stock)</a:t>
                      </a:r>
                      <a:endParaRPr lang="en-US" sz="1200" dirty="0"/>
                    </a:p>
                  </a:txBody>
                  <a:tcPr marL="73152" marR="73152" marT="36576" marB="36576"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A41"/>
                          </a:solidFill>
                        </a:rPr>
                        <a:t>36.1%</a:t>
                      </a:r>
                      <a:endParaRPr lang="en-US" sz="1200" dirty="0"/>
                    </a:p>
                  </a:txBody>
                  <a:tcPr marL="73152" marR="73152" marT="36576" marB="36576"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A41"/>
                          </a:solidFill>
                        </a:rPr>
                        <a:t>max(sales, blend)</a:t>
                      </a:r>
                      <a:endParaRPr lang="en-US" sz="1200" dirty="0"/>
                    </a:p>
                  </a:txBody>
                  <a:tcPr marL="73152" marR="73152" marT="36576" marB="36576"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B2A41"/>
                          </a:solidFill>
                        </a:rPr>
                        <a:t>Stock-out (stock = 0)</a:t>
                      </a:r>
                      <a:endParaRPr lang="en-US" sz="1200" dirty="0"/>
                    </a:p>
                  </a:txBody>
                  <a:tcPr marL="73152" marR="73152" marT="36576" marB="36576"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A41"/>
                          </a:solidFill>
                        </a:rPr>
                        <a:t>17.0%</a:t>
                      </a:r>
                      <a:endParaRPr lang="en-US" sz="1200" dirty="0"/>
                    </a:p>
                  </a:txBody>
                  <a:tcPr marL="73152" marR="73152" marT="36576" marB="36576"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A41"/>
                          </a:solidFill>
                        </a:rPr>
                        <a:t>max(sales, blend)</a:t>
                      </a:r>
                      <a:endParaRPr lang="en-US" sz="1200" dirty="0"/>
                    </a:p>
                  </a:txBody>
                  <a:tcPr marL="73152" marR="73152" marT="36576" marB="36576"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B2A41"/>
                          </a:solidFill>
                        </a:rPr>
                        <a:t>First week (stock unknown)</a:t>
                      </a:r>
                      <a:endParaRPr lang="en-US" sz="1200" dirty="0"/>
                    </a:p>
                  </a:txBody>
                  <a:tcPr marL="73152" marR="73152" marT="36576" marB="36576"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A41"/>
                          </a:solidFill>
                        </a:rPr>
                        <a:t>0.4%</a:t>
                      </a:r>
                      <a:endParaRPr lang="en-US" sz="1200" dirty="0"/>
                    </a:p>
                  </a:txBody>
                  <a:tcPr marL="73152" marR="73152" marT="36576" marB="36576"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A41"/>
                          </a:solidFill>
                        </a:rPr>
                        <a:t>max(sales, blend)</a:t>
                      </a:r>
                      <a:endParaRPr lang="en-US" sz="1200" dirty="0"/>
                    </a:p>
                  </a:txBody>
                  <a:tcPr marL="73152" marR="73152" marT="36576" marB="36576"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graphicFrame>
        <p:nvGraphicFramePr>
          <p:cNvPr id="6" name="Chart 0" descr=""/>
          <p:cNvGraphicFramePr/>
          <p:nvPr/>
        </p:nvGraphicFramePr>
        <p:xfrm>
          <a:off x="548640" y="3566160"/>
          <a:ext cx="5394960" cy="2697480"/>
        </p:xfrm>
        <a:graphic xmlns:a="http://schemas.openxmlformats.org/drawingml/2006/main">
          <a:graphicData uri="http://schemas.openxmlformats.org/drawingml/2006/chart">
            <c:chart xmlns:c="http://schemas.openxmlformats.org/drawingml/2006/chart" r:id="rId1"/>
          </a:graphicData>
        </a:graphic>
      </p:graphicFrame>
      <p:sp>
        <p:nvSpPr>
          <p:cNvPr id="7" name="Callout"/>
          <p:cNvSpPr/>
          <p:nvPr/>
        </p:nvSpPr>
        <p:spPr>
          <a:xfrm>
            <a:off x="6309360" y="1645920"/>
            <a:ext cx="5303520" cy="1554480"/>
          </a:xfrm>
          <a:prstGeom prst="roundRect">
            <a:avLst>
              <a:gd name="adj" fmla="val 4706"/>
            </a:avLst>
          </a:prstGeom>
          <a:solidFill>
            <a:srgbClr val="F2F6FB"/>
          </a:solidFill>
          <a:ln w="12700">
            <a:solidFill>
              <a:srgbClr val="D9E1EC"/>
            </a:solidFill>
            <a:prstDash val="solid"/>
          </a:ln>
        </p:spPr>
      </p:sp>
      <p:sp>
        <p:nvSpPr>
          <p:cNvPr id="8" name="Text 3"/>
          <p:cNvSpPr txBox="1"/>
          <p:nvPr/>
        </p:nvSpPr>
        <p:spPr>
          <a:xfrm>
            <a:off x="6492240" y="1755648"/>
            <a:ext cx="4937760" cy="292608"/>
          </a:xfrm>
          <a:prstGeom prst="rect">
            <a:avLst/>
          </a:prstGeom>
          <a:noFill/>
          <a:ln/>
        </p:spPr>
        <p:txBody>
          <a:bodyPr wrap="square" lIns="0" tIns="0" rIns="0" bIns="0" rtlCol="0" anchor="ctr"/>
          <a:lstStyle/>
          <a:p>
            <a:pPr indent="0" marL="0">
              <a:buNone/>
            </a:pPr>
            <a:r>
              <a:rPr lang="en-US" sz="1400" b="1" dirty="0">
                <a:solidFill>
                  <a:schemeClr val="accent1"/>
                </a:solidFill>
              </a:rPr>
              <a:t>Seasonal model (the structure)</a:t>
            </a:r>
            <a:endParaRPr lang="en-US" sz="1400" dirty="0"/>
          </a:p>
        </p:txBody>
      </p:sp>
      <p:sp>
        <p:nvSpPr>
          <p:cNvPr id="9" name="Text 4"/>
          <p:cNvSpPr txBox="1"/>
          <p:nvPr/>
        </p:nvSpPr>
        <p:spPr>
          <a:xfrm>
            <a:off x="6492240" y="2103120"/>
            <a:ext cx="4937760" cy="10058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B2A41"/>
                </a:solidFill>
              </a:rPr>
              <a:t>log demand = product level + shared trend + Fourier seasonality over week of year</a:t>
            </a:r>
            <a:endParaRPr lang="en-US" sz="1250" dirty="0"/>
          </a:p>
          <a:p>
            <a:pPr marL="177800" indent="-177800">
              <a:spcAft>
                <a:spcPts val="500"/>
              </a:spcAft>
              <a:buSzPct val="100000"/>
              <a:buChar char="•"/>
            </a:pPr>
            <a:r>
              <a:rPr lang="en-US" sz="1250" dirty="0">
                <a:solidFill>
                  <a:srgbClr val="1B2A41"/>
                </a:solidFill>
              </a:rPr>
              <a:t>Fourier order K = 2 and shared trend chosen by blocked 5-fold CV, 1-SE rule (CV MAPE 6.66%)</a:t>
            </a:r>
            <a:endParaRPr lang="en-US" sz="1250" dirty="0"/>
          </a:p>
        </p:txBody>
      </p:sp>
      <p:sp>
        <p:nvSpPr>
          <p:cNvPr id="10" name="Callout"/>
          <p:cNvSpPr/>
          <p:nvPr/>
        </p:nvSpPr>
        <p:spPr>
          <a:xfrm>
            <a:off x="6309360" y="3337560"/>
            <a:ext cx="5303520" cy="1554480"/>
          </a:xfrm>
          <a:prstGeom prst="roundRect">
            <a:avLst>
              <a:gd name="adj" fmla="val 4706"/>
            </a:avLst>
          </a:prstGeom>
          <a:solidFill>
            <a:srgbClr val="F2F6FB"/>
          </a:solidFill>
          <a:ln w="12700">
            <a:solidFill>
              <a:srgbClr val="D9E1EC"/>
            </a:solidFill>
            <a:prstDash val="solid"/>
          </a:ln>
        </p:spPr>
      </p:sp>
      <p:sp>
        <p:nvSpPr>
          <p:cNvPr id="11" name="Text 6"/>
          <p:cNvSpPr txBox="1"/>
          <p:nvPr/>
        </p:nvSpPr>
        <p:spPr>
          <a:xfrm>
            <a:off x="6492240" y="3447288"/>
            <a:ext cx="4937760" cy="292608"/>
          </a:xfrm>
          <a:prstGeom prst="rect">
            <a:avLst/>
          </a:prstGeom>
          <a:noFill/>
          <a:ln/>
        </p:spPr>
        <p:txBody>
          <a:bodyPr wrap="square" lIns="0" tIns="0" rIns="0" bIns="0" rtlCol="0" anchor="ctr"/>
          <a:lstStyle/>
          <a:p>
            <a:pPr indent="0" marL="0">
              <a:buNone/>
            </a:pPr>
            <a:r>
              <a:rPr lang="en-US" sz="1400" b="1" dirty="0">
                <a:solidFill>
                  <a:schemeClr val="accent1"/>
                </a:solidFill>
              </a:rPr>
              <a:t>Blend and legacy forecast</a:t>
            </a:r>
            <a:endParaRPr lang="en-US" sz="1400" dirty="0"/>
          </a:p>
        </p:txBody>
      </p:sp>
      <p:sp>
        <p:nvSpPr>
          <p:cNvPr id="12" name="Text 7"/>
          <p:cNvSpPr txBox="1"/>
          <p:nvPr/>
        </p:nvSpPr>
        <p:spPr>
          <a:xfrm>
            <a:off x="6492240" y="3794760"/>
            <a:ext cx="4937760" cy="10058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B2A41"/>
                </a:solidFill>
              </a:rPr>
              <a:t>Legacy forecast on known weeks: bias -0.4%, corr. 0.97</a:t>
            </a:r>
            <a:endParaRPr lang="en-US" sz="1250" dirty="0"/>
          </a:p>
          <a:p>
            <a:pPr marL="177800" indent="-177800">
              <a:spcAft>
                <a:spcPts val="500"/>
              </a:spcAft>
              <a:buSzPct val="100000"/>
              <a:buChar char="•"/>
            </a:pPr>
            <a:r>
              <a:rPr lang="en-US" sz="1250" dirty="0">
                <a:solidFill>
                  <a:srgbClr val="1B2A41"/>
                </a:solidFill>
              </a:rPr>
              <a:t>Weight 0.40 fitted out-of-fold; held-out products agree</a:t>
            </a:r>
            <a:endParaRPr lang="en-US" sz="1250" dirty="0"/>
          </a:p>
          <a:p>
            <a:pPr marL="177800" indent="-177800">
              <a:spcAft>
                <a:spcPts val="500"/>
              </a:spcAft>
              <a:buSzPct val="100000"/>
              <a:buChar char="•"/>
            </a:pPr>
            <a:r>
              <a:rPr lang="en-US" sz="1250" dirty="0">
                <a:solidFill>
                  <a:srgbClr val="1B2A41"/>
                </a:solidFill>
              </a:rPr>
              <a:t>606 missing legacy values: model-only (325 weeks)</a:t>
            </a:r>
            <a:endParaRPr lang="en-US" sz="1250" dirty="0"/>
          </a:p>
        </p:txBody>
      </p:sp>
      <p:sp>
        <p:nvSpPr>
          <p:cNvPr id="13" name="Callout"/>
          <p:cNvSpPr/>
          <p:nvPr/>
        </p:nvSpPr>
        <p:spPr>
          <a:xfrm>
            <a:off x="6309360" y="5029200"/>
            <a:ext cx="5303520" cy="1280160"/>
          </a:xfrm>
          <a:prstGeom prst="roundRect">
            <a:avLst>
              <a:gd name="adj" fmla="val 5714"/>
            </a:avLst>
          </a:prstGeom>
          <a:solidFill>
            <a:srgbClr val="F2F6FB"/>
          </a:solidFill>
          <a:ln w="12700">
            <a:solidFill>
              <a:srgbClr val="D9E1EC"/>
            </a:solidFill>
            <a:prstDash val="solid"/>
          </a:ln>
        </p:spPr>
      </p:sp>
      <p:sp>
        <p:nvSpPr>
          <p:cNvPr id="14" name="Text 9"/>
          <p:cNvSpPr txBox="1"/>
          <p:nvPr/>
        </p:nvSpPr>
        <p:spPr>
          <a:xfrm>
            <a:off x="6492240" y="5138928"/>
            <a:ext cx="4937760" cy="292608"/>
          </a:xfrm>
          <a:prstGeom prst="rect">
            <a:avLst/>
          </a:prstGeom>
          <a:noFill/>
          <a:ln/>
        </p:spPr>
        <p:txBody>
          <a:bodyPr wrap="square" lIns="0" tIns="0" rIns="0" bIns="0" rtlCol="0" anchor="ctr"/>
          <a:lstStyle/>
          <a:p>
            <a:pPr indent="0" marL="0">
              <a:buNone/>
            </a:pPr>
            <a:r>
              <a:rPr lang="en-US" sz="1400" b="1" dirty="0">
                <a:solidFill>
                  <a:schemeClr val="accent1"/>
                </a:solidFill>
              </a:rPr>
              <a:t>Result</a:t>
            </a:r>
            <a:endParaRPr lang="en-US" sz="1400" dirty="0"/>
          </a:p>
        </p:txBody>
      </p:sp>
      <p:sp>
        <p:nvSpPr>
          <p:cNvPr id="15" name="Text 10"/>
          <p:cNvSpPr txBox="1"/>
          <p:nvPr/>
        </p:nvSpPr>
        <p:spPr>
          <a:xfrm>
            <a:off x="6492240" y="5486400"/>
            <a:ext cx="4937760" cy="73152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B2A41"/>
                </a:solidFill>
              </a:rPr>
              <a:t>6.2M units of demand (39%) were lost to stock limits</a:t>
            </a:r>
            <a:endParaRPr lang="en-US" sz="1250" dirty="0"/>
          </a:p>
          <a:p>
            <a:pPr marL="177800" indent="-177800">
              <a:spcAft>
                <a:spcPts val="500"/>
              </a:spcAft>
              <a:buSzPct val="100000"/>
              <a:buChar char="•"/>
            </a:pPr>
            <a:r>
              <a:rPr lang="en-US" sz="1250" dirty="0">
                <a:solidFill>
                  <a:srgbClr val="1B2A41"/>
                </a:solidFill>
              </a:rPr>
              <a:t>Limitation: unconstrained weeks lean to lower demand, so the blend error is an estimate</a:t>
            </a:r>
            <a:endParaRPr lang="en-US" sz="12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FEATURE ENGINEERING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Feature engineering in three layers</a:t>
            </a:r>
            <a:endParaRPr lang="en-US" sz="3000" dirty="0"/>
          </a:p>
        </p:txBody>
      </p:sp>
      <p:sp>
        <p:nvSpPr>
          <p:cNvPr id="5" name="Feature layer"/>
          <p:cNvSpPr/>
          <p:nvPr/>
        </p:nvSpPr>
        <p:spPr>
          <a:xfrm>
            <a:off x="548640" y="1645920"/>
            <a:ext cx="6309360" cy="1170432"/>
          </a:xfrm>
          <a:prstGeom prst="roundRect">
            <a:avLst>
              <a:gd name="adj" fmla="val 6250"/>
            </a:avLst>
          </a:prstGeom>
          <a:solidFill>
            <a:srgbClr val="F2F6FB"/>
          </a:solidFill>
          <a:ln w="12700">
            <a:solidFill>
              <a:srgbClr val="F2F6FB"/>
            </a:solidFill>
            <a:prstDash val="solid"/>
          </a:ln>
        </p:spPr>
      </p:sp>
      <p:sp>
        <p:nvSpPr>
          <p:cNvPr id="6" name="Layer accent"/>
          <p:cNvSpPr/>
          <p:nvPr/>
        </p:nvSpPr>
        <p:spPr>
          <a:xfrm>
            <a:off x="548640" y="1645920"/>
            <a:ext cx="82296" cy="1170432"/>
          </a:xfrm>
          <a:prstGeom prst="rect">
            <a:avLst/>
          </a:prstGeom>
          <a:solidFill>
            <a:srgbClr val="2A78D6"/>
          </a:solidFill>
          <a:ln w="12700">
            <a:solidFill>
              <a:srgbClr val="2A78D6"/>
            </a:solidFill>
            <a:prstDash val="solid"/>
          </a:ln>
        </p:spPr>
      </p:sp>
      <p:sp>
        <p:nvSpPr>
          <p:cNvPr id="7" name="Text 4"/>
          <p:cNvSpPr txBox="1"/>
          <p:nvPr/>
        </p:nvSpPr>
        <p:spPr>
          <a:xfrm>
            <a:off x="777240" y="1709928"/>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A  Data and stock features</a:t>
            </a:r>
            <a:pPr indent="0" marL="0">
              <a:buNone/>
            </a:pPr>
            <a:r>
              <a:rPr lang="en-US" sz="1100" i="1" dirty="0">
                <a:solidFill>
                  <a:srgbClr val="5B6B80"/>
                </a:solidFill>
              </a:rPr>
              <a:t>   built in ETL</a:t>
            </a:r>
            <a:endParaRPr lang="en-US" sz="1400" dirty="0"/>
          </a:p>
        </p:txBody>
      </p:sp>
      <p:sp>
        <p:nvSpPr>
          <p:cNvPr id="8" name="Text 5"/>
          <p:cNvSpPr txBox="1"/>
          <p:nvPr/>
        </p:nvSpPr>
        <p:spPr>
          <a:xfrm>
            <a:off x="777240" y="2039112"/>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stock available = previous row's inventory (lag 1)</a:t>
            </a:r>
            <a:endParaRPr lang="en-US" sz="1150" dirty="0"/>
          </a:p>
          <a:p>
            <a:pPr marL="203200" indent="-203200">
              <a:spcAft>
                <a:spcPts val="800"/>
              </a:spcAft>
              <a:buSzPct val="100000"/>
              <a:buChar char="•"/>
            </a:pPr>
            <a:r>
              <a:rPr lang="en-US" sz="1150" dirty="0">
                <a:solidFill>
                  <a:srgbClr val="1B2A41"/>
                </a:solidFill>
              </a:rPr>
              <a:t>censor status and flags: stock-out, capped, pile-up, outlier</a:t>
            </a:r>
            <a:endParaRPr lang="en-US" sz="1150" dirty="0"/>
          </a:p>
          <a:p>
            <a:pPr marL="203200" indent="-203200">
              <a:spcAft>
                <a:spcPts val="800"/>
              </a:spcAft>
              <a:buSzPct val="100000"/>
              <a:buChar char="•"/>
            </a:pPr>
            <a:r>
              <a:rPr lang="en-US" sz="1150" dirty="0">
                <a:solidFill>
                  <a:srgbClr val="1B2A41"/>
                </a:solidFill>
              </a:rPr>
              <a:t>recomputed margin, growth, turnover</a:t>
            </a:r>
            <a:endParaRPr lang="en-US" sz="1150" dirty="0"/>
          </a:p>
        </p:txBody>
      </p:sp>
      <p:sp>
        <p:nvSpPr>
          <p:cNvPr id="9" name="Feature layer"/>
          <p:cNvSpPr/>
          <p:nvPr/>
        </p:nvSpPr>
        <p:spPr>
          <a:xfrm>
            <a:off x="548640" y="2889504"/>
            <a:ext cx="6309360" cy="1170432"/>
          </a:xfrm>
          <a:prstGeom prst="roundRect">
            <a:avLst>
              <a:gd name="adj" fmla="val 6250"/>
            </a:avLst>
          </a:prstGeom>
          <a:solidFill>
            <a:srgbClr val="F2F6FB"/>
          </a:solidFill>
          <a:ln w="12700">
            <a:solidFill>
              <a:srgbClr val="F2F6FB"/>
            </a:solidFill>
            <a:prstDash val="solid"/>
          </a:ln>
        </p:spPr>
      </p:sp>
      <p:sp>
        <p:nvSpPr>
          <p:cNvPr id="10" name="Layer accent"/>
          <p:cNvSpPr/>
          <p:nvPr/>
        </p:nvSpPr>
        <p:spPr>
          <a:xfrm>
            <a:off x="548640" y="2889504"/>
            <a:ext cx="82296" cy="1170432"/>
          </a:xfrm>
          <a:prstGeom prst="rect">
            <a:avLst/>
          </a:prstGeom>
          <a:solidFill>
            <a:srgbClr val="1BAF7A"/>
          </a:solidFill>
          <a:ln w="12700">
            <a:solidFill>
              <a:srgbClr val="1BAF7A"/>
            </a:solidFill>
            <a:prstDash val="solid"/>
          </a:ln>
        </p:spPr>
      </p:sp>
      <p:sp>
        <p:nvSpPr>
          <p:cNvPr id="11" name="Text 8"/>
          <p:cNvSpPr txBox="1"/>
          <p:nvPr/>
        </p:nvSpPr>
        <p:spPr>
          <a:xfrm>
            <a:off x="777240" y="2953512"/>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B  Target and structure</a:t>
            </a:r>
            <a:pPr indent="0" marL="0">
              <a:buNone/>
            </a:pPr>
            <a:r>
              <a:rPr lang="en-US" sz="1100" i="1" dirty="0">
                <a:solidFill>
                  <a:srgbClr val="5B6B80"/>
                </a:solidFill>
              </a:rPr>
              <a:t>   built in pre-processing</a:t>
            </a:r>
            <a:endParaRPr lang="en-US" sz="1400" dirty="0"/>
          </a:p>
        </p:txBody>
      </p:sp>
      <p:sp>
        <p:nvSpPr>
          <p:cNvPr id="12" name="Text 9"/>
          <p:cNvSpPr txBox="1"/>
          <p:nvPr/>
        </p:nvSpPr>
        <p:spPr>
          <a:xfrm>
            <a:off x="777240" y="3282696"/>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demand_est: the reconstructed target</a:t>
            </a:r>
            <a:endParaRPr lang="en-US" sz="1150" dirty="0"/>
          </a:p>
          <a:p>
            <a:pPr marL="203200" indent="-203200">
              <a:spcAft>
                <a:spcPts val="800"/>
              </a:spcAft>
              <a:buSzPct val="100000"/>
              <a:buChar char="•"/>
            </a:pPr>
            <a:r>
              <a:rPr lang="en-US" sz="1150" dirty="0">
                <a:solidFill>
                  <a:srgbClr val="1B2A41"/>
                </a:solidFill>
              </a:rPr>
              <a:t>calendar: week of year, quarter, season, year index</a:t>
            </a:r>
            <a:endParaRPr lang="en-US" sz="1150" dirty="0"/>
          </a:p>
          <a:p>
            <a:pPr marL="203200" indent="-203200">
              <a:spcAft>
                <a:spcPts val="800"/>
              </a:spcAft>
              <a:buSzPct val="100000"/>
              <a:buChar char="•"/>
            </a:pPr>
            <a:r>
              <a:rPr lang="en-US" sz="1150" dirty="0">
                <a:solidFill>
                  <a:srgbClr val="1B2A41"/>
                </a:solidFill>
              </a:rPr>
              <a:t>stock regime (k-means) and high / normal stock profile</a:t>
            </a:r>
            <a:endParaRPr lang="en-US" sz="1150" dirty="0"/>
          </a:p>
        </p:txBody>
      </p:sp>
      <p:sp>
        <p:nvSpPr>
          <p:cNvPr id="13" name="Feature layer"/>
          <p:cNvSpPr/>
          <p:nvPr/>
        </p:nvSpPr>
        <p:spPr>
          <a:xfrm>
            <a:off x="548640" y="4133088"/>
            <a:ext cx="6309360" cy="1170432"/>
          </a:xfrm>
          <a:prstGeom prst="roundRect">
            <a:avLst>
              <a:gd name="adj" fmla="val 6250"/>
            </a:avLst>
          </a:prstGeom>
          <a:solidFill>
            <a:srgbClr val="F2F6FB"/>
          </a:solidFill>
          <a:ln w="12700">
            <a:solidFill>
              <a:srgbClr val="F2F6FB"/>
            </a:solidFill>
            <a:prstDash val="solid"/>
          </a:ln>
        </p:spPr>
      </p:sp>
      <p:sp>
        <p:nvSpPr>
          <p:cNvPr id="14" name="Layer accent"/>
          <p:cNvSpPr/>
          <p:nvPr/>
        </p:nvSpPr>
        <p:spPr>
          <a:xfrm>
            <a:off x="548640" y="4133088"/>
            <a:ext cx="82296" cy="1170432"/>
          </a:xfrm>
          <a:prstGeom prst="rect">
            <a:avLst/>
          </a:prstGeom>
          <a:solidFill>
            <a:srgbClr val="EB6834"/>
          </a:solidFill>
          <a:ln w="12700">
            <a:solidFill>
              <a:srgbClr val="EB6834"/>
            </a:solidFill>
            <a:prstDash val="solid"/>
          </a:ln>
        </p:spPr>
      </p:sp>
      <p:sp>
        <p:nvSpPr>
          <p:cNvPr id="15" name="Text 12"/>
          <p:cNvSpPr txBox="1"/>
          <p:nvPr/>
        </p:nvSpPr>
        <p:spPr>
          <a:xfrm>
            <a:off x="777240" y="4197096"/>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C  Model inputs</a:t>
            </a:r>
            <a:pPr indent="0" marL="0">
              <a:buNone/>
            </a:pPr>
            <a:r>
              <a:rPr lang="en-US" sz="1100" i="1" dirty="0">
                <a:solidFill>
                  <a:srgbClr val="5B6B80"/>
                </a:solidFill>
              </a:rPr>
              <a:t>   built in forecasting</a:t>
            </a:r>
            <a:endParaRPr lang="en-US" sz="1400" dirty="0"/>
          </a:p>
        </p:txBody>
      </p:sp>
      <p:sp>
        <p:nvSpPr>
          <p:cNvPr id="16" name="Text 13"/>
          <p:cNvSpPr txBox="1"/>
          <p:nvPr/>
        </p:nvSpPr>
        <p:spPr>
          <a:xfrm>
            <a:off x="777240" y="4526280"/>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Structural: product level, shared trend, sin / cos of week</a:t>
            </a:r>
            <a:endParaRPr lang="en-US" sz="1150" dirty="0"/>
          </a:p>
          <a:p>
            <a:pPr marL="203200" indent="-203200">
              <a:spcAft>
                <a:spcPts val="800"/>
              </a:spcAft>
              <a:buSzPct val="100000"/>
              <a:buChar char="•"/>
            </a:pPr>
            <a:r>
              <a:rPr lang="en-US" sz="1150" dirty="0">
                <a:solidFill>
                  <a:srgbClr val="1B2A41"/>
                </a:solidFill>
              </a:rPr>
              <a:t>LightGBM: horizon, same week last year (+/- 1), 13 / 26 / 52-week levels</a:t>
            </a:r>
            <a:endParaRPr lang="en-US" sz="1150" dirty="0"/>
          </a:p>
          <a:p>
            <a:pPr marL="203200" indent="-203200">
              <a:spcAft>
                <a:spcPts val="800"/>
              </a:spcAft>
              <a:buSzPct val="100000"/>
              <a:buChar char="•"/>
            </a:pPr>
            <a:r>
              <a:rPr lang="en-US" sz="1150" dirty="0">
                <a:solidFill>
                  <a:srgbClr val="1B2A41"/>
                </a:solidFill>
              </a:rPr>
              <a:t>target relative to the 52-week level</a:t>
            </a:r>
            <a:endParaRPr lang="en-US" sz="1150" dirty="0"/>
          </a:p>
        </p:txBody>
      </p:sp>
      <p:graphicFrame>
        <p:nvGraphicFramePr>
          <p:cNvPr id="17" name="Chart 0" descr=""/>
          <p:cNvGraphicFramePr/>
          <p:nvPr/>
        </p:nvGraphicFramePr>
        <p:xfrm>
          <a:off x="7086600" y="1600200"/>
          <a:ext cx="4526280" cy="2514600"/>
        </p:xfrm>
        <a:graphic xmlns:a="http://schemas.openxmlformats.org/drawingml/2006/main">
          <a:graphicData uri="http://schemas.openxmlformats.org/drawingml/2006/chart">
            <c:chart xmlns:c="http://schemas.openxmlformats.org/drawingml/2006/chart" r:id="rId1"/>
          </a:graphicData>
        </a:graphic>
      </p:graphicFrame>
      <p:sp>
        <p:nvSpPr>
          <p:cNvPr id="18" name="Stat card"/>
          <p:cNvSpPr/>
          <p:nvPr/>
        </p:nvSpPr>
        <p:spPr>
          <a:xfrm>
            <a:off x="7086600" y="4206240"/>
            <a:ext cx="1417320" cy="1143000"/>
          </a:xfrm>
          <a:prstGeom prst="roundRect">
            <a:avLst>
              <a:gd name="adj" fmla="val 6400"/>
            </a:avLst>
          </a:prstGeom>
          <a:solidFill>
            <a:srgbClr val="F2F6FB"/>
          </a:solidFill>
          <a:ln w="12700">
            <a:solidFill>
              <a:srgbClr val="F2F6FB"/>
            </a:solidFill>
            <a:prstDash val="solid"/>
          </a:ln>
        </p:spPr>
      </p:sp>
      <p:sp>
        <p:nvSpPr>
          <p:cNvPr id="19" name="Text 15"/>
          <p:cNvSpPr txBox="1"/>
          <p:nvPr/>
        </p:nvSpPr>
        <p:spPr>
          <a:xfrm>
            <a:off x="7223760" y="4279392"/>
            <a:ext cx="1143000" cy="514350"/>
          </a:xfrm>
          <a:prstGeom prst="rect">
            <a:avLst/>
          </a:prstGeom>
          <a:noFill/>
          <a:ln/>
        </p:spPr>
        <p:txBody>
          <a:bodyPr wrap="square" lIns="0" tIns="0" rIns="0" bIns="0" rtlCol="0" anchor="ctr"/>
          <a:lstStyle/>
          <a:p>
            <a:pPr indent="0" marL="0">
              <a:buNone/>
            </a:pPr>
            <a:r>
              <a:rPr lang="en-US" sz="2000" b="1" dirty="0">
                <a:solidFill>
                  <a:srgbClr val="2A78D6"/>
                </a:solidFill>
                <a:latin typeface="Cambria" pitchFamily="34" charset="0"/>
                <a:ea typeface="Cambria" pitchFamily="34" charset="-122"/>
                <a:cs typeface="Cambria" pitchFamily="34" charset="-120"/>
              </a:rPr>
              <a:t>78-86%</a:t>
            </a:r>
            <a:endParaRPr lang="en-US" sz="2000" dirty="0"/>
          </a:p>
        </p:txBody>
      </p:sp>
      <p:sp>
        <p:nvSpPr>
          <p:cNvPr id="20" name="Text 16"/>
          <p:cNvSpPr txBox="1"/>
          <p:nvPr/>
        </p:nvSpPr>
        <p:spPr>
          <a:xfrm>
            <a:off x="7223760" y="4800600"/>
            <a:ext cx="1143000" cy="525780"/>
          </a:xfrm>
          <a:prstGeom prst="rect">
            <a:avLst/>
          </a:prstGeom>
          <a:noFill/>
          <a:ln/>
        </p:spPr>
        <p:txBody>
          <a:bodyPr wrap="square" lIns="0" tIns="0" rIns="0" bIns="0" rtlCol="0" anchor="t"/>
          <a:lstStyle/>
          <a:p>
            <a:pPr indent="0" marL="0">
              <a:buNone/>
            </a:pPr>
            <a:r>
              <a:rPr lang="en-US" sz="1300" dirty="0">
                <a:solidFill>
                  <a:srgbClr val="5B6B80"/>
                </a:solidFill>
              </a:rPr>
              <a:t>variance by week of year</a:t>
            </a:r>
            <a:endParaRPr lang="en-US" sz="1300" dirty="0"/>
          </a:p>
        </p:txBody>
      </p:sp>
      <p:sp>
        <p:nvSpPr>
          <p:cNvPr id="21" name="Stat card"/>
          <p:cNvSpPr/>
          <p:nvPr/>
        </p:nvSpPr>
        <p:spPr>
          <a:xfrm>
            <a:off x="8595360" y="4206240"/>
            <a:ext cx="1417320" cy="1143000"/>
          </a:xfrm>
          <a:prstGeom prst="roundRect">
            <a:avLst>
              <a:gd name="adj" fmla="val 6400"/>
            </a:avLst>
          </a:prstGeom>
          <a:solidFill>
            <a:srgbClr val="F2F6FB"/>
          </a:solidFill>
          <a:ln w="12700">
            <a:solidFill>
              <a:srgbClr val="F2F6FB"/>
            </a:solidFill>
            <a:prstDash val="solid"/>
          </a:ln>
        </p:spPr>
      </p:sp>
      <p:sp>
        <p:nvSpPr>
          <p:cNvPr id="22" name="Text 18"/>
          <p:cNvSpPr txBox="1"/>
          <p:nvPr/>
        </p:nvSpPr>
        <p:spPr>
          <a:xfrm>
            <a:off x="8732520" y="4279392"/>
            <a:ext cx="1143000" cy="514350"/>
          </a:xfrm>
          <a:prstGeom prst="rect">
            <a:avLst/>
          </a:prstGeom>
          <a:noFill/>
          <a:ln/>
        </p:spPr>
        <p:txBody>
          <a:bodyPr wrap="square" lIns="0" tIns="0" rIns="0" bIns="0" rtlCol="0" anchor="ctr"/>
          <a:lstStyle/>
          <a:p>
            <a:pPr indent="0" marL="0">
              <a:buNone/>
            </a:pPr>
            <a:r>
              <a:rPr lang="en-US" sz="2000" b="1" dirty="0">
                <a:solidFill>
                  <a:srgbClr val="1BAF7A"/>
                </a:solidFill>
                <a:latin typeface="Cambria" pitchFamily="34" charset="0"/>
                <a:ea typeface="Cambria" pitchFamily="34" charset="-122"/>
                <a:cs typeface="Cambria" pitchFamily="34" charset="-120"/>
              </a:rPr>
              <a:t>0.97</a:t>
            </a:r>
            <a:endParaRPr lang="en-US" sz="2000" dirty="0"/>
          </a:p>
        </p:txBody>
      </p:sp>
      <p:sp>
        <p:nvSpPr>
          <p:cNvPr id="23" name="Text 19"/>
          <p:cNvSpPr txBox="1"/>
          <p:nvPr/>
        </p:nvSpPr>
        <p:spPr>
          <a:xfrm>
            <a:off x="8732520" y="4800600"/>
            <a:ext cx="1143000" cy="525780"/>
          </a:xfrm>
          <a:prstGeom prst="rect">
            <a:avLst/>
          </a:prstGeom>
          <a:noFill/>
          <a:ln/>
        </p:spPr>
        <p:txBody>
          <a:bodyPr wrap="square" lIns="0" tIns="0" rIns="0" bIns="0" rtlCol="0" anchor="t"/>
          <a:lstStyle/>
          <a:p>
            <a:pPr indent="0" marL="0">
              <a:buNone/>
            </a:pPr>
            <a:r>
              <a:rPr lang="en-US" sz="1300" dirty="0">
                <a:solidFill>
                  <a:srgbClr val="5B6B80"/>
                </a:solidFill>
              </a:rPr>
              <a:t>product profile correlation</a:t>
            </a:r>
            <a:endParaRPr lang="en-US" sz="1300" dirty="0"/>
          </a:p>
        </p:txBody>
      </p:sp>
      <p:sp>
        <p:nvSpPr>
          <p:cNvPr id="24" name="Stat card"/>
          <p:cNvSpPr/>
          <p:nvPr/>
        </p:nvSpPr>
        <p:spPr>
          <a:xfrm>
            <a:off x="10104120" y="4206240"/>
            <a:ext cx="1508760" cy="1143000"/>
          </a:xfrm>
          <a:prstGeom prst="roundRect">
            <a:avLst>
              <a:gd name="adj" fmla="val 6400"/>
            </a:avLst>
          </a:prstGeom>
          <a:solidFill>
            <a:srgbClr val="F2F6FB"/>
          </a:solidFill>
          <a:ln w="12700">
            <a:solidFill>
              <a:srgbClr val="F2F6FB"/>
            </a:solidFill>
            <a:prstDash val="solid"/>
          </a:ln>
        </p:spPr>
      </p:sp>
      <p:sp>
        <p:nvSpPr>
          <p:cNvPr id="25" name="Text 21"/>
          <p:cNvSpPr txBox="1"/>
          <p:nvPr/>
        </p:nvSpPr>
        <p:spPr>
          <a:xfrm>
            <a:off x="10241280" y="4279392"/>
            <a:ext cx="1234440" cy="514350"/>
          </a:xfrm>
          <a:prstGeom prst="rect">
            <a:avLst/>
          </a:prstGeom>
          <a:noFill/>
          <a:ln/>
        </p:spPr>
        <p:txBody>
          <a:bodyPr wrap="square" lIns="0" tIns="0" rIns="0" bIns="0" rtlCol="0" anchor="ctr"/>
          <a:lstStyle/>
          <a:p>
            <a:pPr indent="0" marL="0">
              <a:buNone/>
            </a:pPr>
            <a:r>
              <a:rPr lang="en-US" sz="2000" b="1" dirty="0">
                <a:solidFill>
                  <a:srgbClr val="EB6834"/>
                </a:solidFill>
                <a:latin typeface="Cambria" pitchFamily="34" charset="0"/>
                <a:ea typeface="Cambria" pitchFamily="34" charset="-122"/>
                <a:cs typeface="Cambria" pitchFamily="34" charset="-120"/>
              </a:rPr>
              <a:t>-0.017</a:t>
            </a:r>
            <a:endParaRPr lang="en-US" sz="2000" dirty="0"/>
          </a:p>
        </p:txBody>
      </p:sp>
      <p:sp>
        <p:nvSpPr>
          <p:cNvPr id="26" name="Text 22"/>
          <p:cNvSpPr txBox="1"/>
          <p:nvPr/>
        </p:nvSpPr>
        <p:spPr>
          <a:xfrm>
            <a:off x="10241280" y="4800600"/>
            <a:ext cx="1234440" cy="525780"/>
          </a:xfrm>
          <a:prstGeom prst="rect">
            <a:avLst/>
          </a:prstGeom>
          <a:noFill/>
          <a:ln/>
        </p:spPr>
        <p:txBody>
          <a:bodyPr wrap="square" lIns="0" tIns="0" rIns="0" bIns="0" rtlCol="0" anchor="t"/>
          <a:lstStyle/>
          <a:p>
            <a:pPr indent="0" marL="0">
              <a:buNone/>
            </a:pPr>
            <a:r>
              <a:rPr lang="en-US" sz="1300" dirty="0">
                <a:solidFill>
                  <a:srgbClr val="5B6B80"/>
                </a:solidFill>
              </a:rPr>
              <a:t>price effect (n.s.)</a:t>
            </a:r>
            <a:endParaRPr lang="en-US" sz="1300" dirty="0"/>
          </a:p>
        </p:txBody>
      </p:sp>
      <p:sp>
        <p:nvSpPr>
          <p:cNvPr id="27" name="Callout"/>
          <p:cNvSpPr/>
          <p:nvPr/>
        </p:nvSpPr>
        <p:spPr>
          <a:xfrm>
            <a:off x="548640" y="5468112"/>
            <a:ext cx="11064240" cy="868680"/>
          </a:xfrm>
          <a:prstGeom prst="roundRect">
            <a:avLst>
              <a:gd name="adj" fmla="val 8421"/>
            </a:avLst>
          </a:prstGeom>
          <a:solidFill>
            <a:srgbClr val="F2F6FB"/>
          </a:solidFill>
          <a:ln w="12700">
            <a:solidFill>
              <a:srgbClr val="D9E1EC"/>
            </a:solidFill>
            <a:prstDash val="solid"/>
          </a:ln>
        </p:spPr>
      </p:sp>
      <p:sp>
        <p:nvSpPr>
          <p:cNvPr id="28" name="Text 24"/>
          <p:cNvSpPr txBox="1"/>
          <p:nvPr/>
        </p:nvSpPr>
        <p:spPr>
          <a:xfrm>
            <a:off x="731520" y="5577840"/>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Rules and decisions</a:t>
            </a:r>
            <a:endParaRPr lang="en-US" sz="1400" dirty="0"/>
          </a:p>
        </p:txBody>
      </p:sp>
      <p:sp>
        <p:nvSpPr>
          <p:cNvPr id="29" name="Text 25"/>
          <p:cNvSpPr txBox="1"/>
          <p:nvPr/>
        </p:nvSpPr>
        <p:spPr>
          <a:xfrm>
            <a:off x="731520" y="5925312"/>
            <a:ext cx="10698480" cy="32004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Only information known at the forecast origin is used; the legacy forecast builds the target but is never an input. One shared seasonal curve; price, cost and stock are not features.</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PREDICTION TARGET AND DATA SPLIT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What is predicted, and how the data is split</a:t>
            </a:r>
            <a:endParaRPr lang="en-US" sz="3000" dirty="0"/>
          </a:p>
        </p:txBody>
      </p:sp>
      <p:sp>
        <p:nvSpPr>
          <p:cNvPr id="5" name="Target chip"/>
          <p:cNvSpPr/>
          <p:nvPr/>
        </p:nvSpPr>
        <p:spPr>
          <a:xfrm>
            <a:off x="548640" y="1645920"/>
            <a:ext cx="3566160" cy="868680"/>
          </a:xfrm>
          <a:prstGeom prst="roundRect">
            <a:avLst>
              <a:gd name="adj" fmla="val 8421"/>
            </a:avLst>
          </a:prstGeom>
          <a:solidFill>
            <a:srgbClr val="F2F6FB"/>
          </a:solidFill>
          <a:ln w="12700">
            <a:solidFill>
              <a:srgbClr val="F2F6FB"/>
            </a:solidFill>
            <a:prstDash val="solid"/>
          </a:ln>
        </p:spPr>
      </p:sp>
      <p:sp>
        <p:nvSpPr>
          <p:cNvPr id="6" name="Chip accent"/>
          <p:cNvSpPr/>
          <p:nvPr/>
        </p:nvSpPr>
        <p:spPr>
          <a:xfrm>
            <a:off x="548640" y="1645920"/>
            <a:ext cx="82296" cy="868680"/>
          </a:xfrm>
          <a:prstGeom prst="rect">
            <a:avLst/>
          </a:prstGeom>
          <a:solidFill>
            <a:srgbClr val="2A78D6"/>
          </a:solidFill>
          <a:ln w="12700">
            <a:solidFill>
              <a:srgbClr val="2A78D6"/>
            </a:solidFill>
            <a:prstDash val="solid"/>
          </a:ln>
        </p:spPr>
      </p:sp>
      <p:sp>
        <p:nvSpPr>
          <p:cNvPr id="7" name="Text 4"/>
          <p:cNvSpPr txBox="1"/>
          <p:nvPr/>
        </p:nvSpPr>
        <p:spPr>
          <a:xfrm>
            <a:off x="777240" y="1700784"/>
            <a:ext cx="3200400" cy="274320"/>
          </a:xfrm>
          <a:prstGeom prst="rect">
            <a:avLst/>
          </a:prstGeom>
          <a:noFill/>
          <a:ln/>
        </p:spPr>
        <p:txBody>
          <a:bodyPr wrap="square" lIns="0" tIns="0" rIns="0" bIns="0" rtlCol="0" anchor="ctr"/>
          <a:lstStyle/>
          <a:p>
            <a:pPr indent="0" marL="0">
              <a:buNone/>
            </a:pPr>
            <a:r>
              <a:rPr lang="en-US" sz="1300" b="1" dirty="0">
                <a:solidFill>
                  <a:srgbClr val="1F5FB0"/>
                </a:solidFill>
              </a:rPr>
              <a:t>Predicted column</a:t>
            </a:r>
            <a:endParaRPr lang="en-US" sz="1300" dirty="0"/>
          </a:p>
        </p:txBody>
      </p:sp>
      <p:sp>
        <p:nvSpPr>
          <p:cNvPr id="8" name="Text 5"/>
          <p:cNvSpPr txBox="1"/>
          <p:nvPr/>
        </p:nvSpPr>
        <p:spPr>
          <a:xfrm>
            <a:off x="777240" y="1975104"/>
            <a:ext cx="3200400" cy="502920"/>
          </a:xfrm>
          <a:prstGeom prst="rect">
            <a:avLst/>
          </a:prstGeom>
          <a:noFill/>
          <a:ln/>
        </p:spPr>
        <p:txBody>
          <a:bodyPr wrap="square" lIns="0" tIns="0" rIns="0" bIns="0" rtlCol="0" anchor="t"/>
          <a:lstStyle/>
          <a:p>
            <a:pPr indent="0" marL="0">
              <a:buNone/>
            </a:pPr>
            <a:r>
              <a:rPr lang="en-US" sz="1200" dirty="0">
                <a:solidFill>
                  <a:srgbClr val="1B2A41"/>
                </a:solidFill>
              </a:rPr>
              <a:t>demand_est: units customers wanted per product-week</a:t>
            </a:r>
            <a:endParaRPr lang="en-US" sz="1200" dirty="0"/>
          </a:p>
        </p:txBody>
      </p:sp>
      <p:sp>
        <p:nvSpPr>
          <p:cNvPr id="9" name="Target chip"/>
          <p:cNvSpPr/>
          <p:nvPr/>
        </p:nvSpPr>
        <p:spPr>
          <a:xfrm>
            <a:off x="4297680" y="1645920"/>
            <a:ext cx="3566160" cy="868680"/>
          </a:xfrm>
          <a:prstGeom prst="roundRect">
            <a:avLst>
              <a:gd name="adj" fmla="val 8421"/>
            </a:avLst>
          </a:prstGeom>
          <a:solidFill>
            <a:srgbClr val="F2F6FB"/>
          </a:solidFill>
          <a:ln w="12700">
            <a:solidFill>
              <a:srgbClr val="F2F6FB"/>
            </a:solidFill>
            <a:prstDash val="solid"/>
          </a:ln>
        </p:spPr>
      </p:sp>
      <p:sp>
        <p:nvSpPr>
          <p:cNvPr id="10" name="Chip accent"/>
          <p:cNvSpPr/>
          <p:nvPr/>
        </p:nvSpPr>
        <p:spPr>
          <a:xfrm>
            <a:off x="4297680" y="1645920"/>
            <a:ext cx="82296" cy="868680"/>
          </a:xfrm>
          <a:prstGeom prst="rect">
            <a:avLst/>
          </a:prstGeom>
          <a:solidFill>
            <a:srgbClr val="1BAF7A"/>
          </a:solidFill>
          <a:ln w="12700">
            <a:solidFill>
              <a:srgbClr val="1BAF7A"/>
            </a:solidFill>
            <a:prstDash val="solid"/>
          </a:ln>
        </p:spPr>
      </p:sp>
      <p:sp>
        <p:nvSpPr>
          <p:cNvPr id="11" name="Text 8"/>
          <p:cNvSpPr txBox="1"/>
          <p:nvPr/>
        </p:nvSpPr>
        <p:spPr>
          <a:xfrm>
            <a:off x="4526280" y="1700784"/>
            <a:ext cx="3200400" cy="274320"/>
          </a:xfrm>
          <a:prstGeom prst="rect">
            <a:avLst/>
          </a:prstGeom>
          <a:noFill/>
          <a:ln/>
        </p:spPr>
        <p:txBody>
          <a:bodyPr wrap="square" lIns="0" tIns="0" rIns="0" bIns="0" rtlCol="0" anchor="ctr"/>
          <a:lstStyle/>
          <a:p>
            <a:pPr indent="0" marL="0">
              <a:buNone/>
            </a:pPr>
            <a:r>
              <a:rPr lang="en-US" sz="1300" b="1" dirty="0">
                <a:solidFill>
                  <a:srgbClr val="138A5F"/>
                </a:solidFill>
              </a:rPr>
              <a:t>Horizon</a:t>
            </a:r>
            <a:endParaRPr lang="en-US" sz="1300" dirty="0"/>
          </a:p>
        </p:txBody>
      </p:sp>
      <p:sp>
        <p:nvSpPr>
          <p:cNvPr id="12" name="Text 9"/>
          <p:cNvSpPr txBox="1"/>
          <p:nvPr/>
        </p:nvSpPr>
        <p:spPr>
          <a:xfrm>
            <a:off x="4526280" y="1975104"/>
            <a:ext cx="3200400" cy="502920"/>
          </a:xfrm>
          <a:prstGeom prst="rect">
            <a:avLst/>
          </a:prstGeom>
          <a:noFill/>
          <a:ln/>
        </p:spPr>
        <p:txBody>
          <a:bodyPr wrap="square" lIns="0" tIns="0" rIns="0" bIns="0" rtlCol="0" anchor="t"/>
          <a:lstStyle/>
          <a:p>
            <a:pPr indent="0" marL="0">
              <a:buNone/>
            </a:pPr>
            <a:r>
              <a:rPr lang="en-US" sz="1200" dirty="0">
                <a:solidFill>
                  <a:srgbClr val="1B2A41"/>
                </a:solidFill>
              </a:rPr>
              <a:t>26 weeks x 30 products = 780 forecasts</a:t>
            </a:r>
            <a:endParaRPr lang="en-US" sz="1200" dirty="0"/>
          </a:p>
        </p:txBody>
      </p:sp>
      <p:sp>
        <p:nvSpPr>
          <p:cNvPr id="13" name="Target chip"/>
          <p:cNvSpPr/>
          <p:nvPr/>
        </p:nvSpPr>
        <p:spPr>
          <a:xfrm>
            <a:off x="8046720" y="1645920"/>
            <a:ext cx="3566160" cy="868680"/>
          </a:xfrm>
          <a:prstGeom prst="roundRect">
            <a:avLst>
              <a:gd name="adj" fmla="val 8421"/>
            </a:avLst>
          </a:prstGeom>
          <a:solidFill>
            <a:srgbClr val="F2F6FB"/>
          </a:solidFill>
          <a:ln w="12700">
            <a:solidFill>
              <a:srgbClr val="F2F6FB"/>
            </a:solidFill>
            <a:prstDash val="solid"/>
          </a:ln>
        </p:spPr>
      </p:sp>
      <p:sp>
        <p:nvSpPr>
          <p:cNvPr id="14" name="Chip accent"/>
          <p:cNvSpPr/>
          <p:nvPr/>
        </p:nvSpPr>
        <p:spPr>
          <a:xfrm>
            <a:off x="8046720" y="1645920"/>
            <a:ext cx="82296" cy="868680"/>
          </a:xfrm>
          <a:prstGeom prst="rect">
            <a:avLst/>
          </a:prstGeom>
          <a:solidFill>
            <a:srgbClr val="EB6834"/>
          </a:solidFill>
          <a:ln w="12700">
            <a:solidFill>
              <a:srgbClr val="EB6834"/>
            </a:solidFill>
            <a:prstDash val="solid"/>
          </a:ln>
        </p:spPr>
      </p:sp>
      <p:sp>
        <p:nvSpPr>
          <p:cNvPr id="15" name="Text 12"/>
          <p:cNvSpPr txBox="1"/>
          <p:nvPr/>
        </p:nvSpPr>
        <p:spPr>
          <a:xfrm>
            <a:off x="8275320" y="1700784"/>
            <a:ext cx="3200400" cy="274320"/>
          </a:xfrm>
          <a:prstGeom prst="rect">
            <a:avLst/>
          </a:prstGeom>
          <a:noFill/>
          <a:ln/>
        </p:spPr>
        <p:txBody>
          <a:bodyPr wrap="square" lIns="0" tIns="0" rIns="0" bIns="0" rtlCol="0" anchor="ctr"/>
          <a:lstStyle/>
          <a:p>
            <a:pPr indent="0" marL="0">
              <a:buNone/>
            </a:pPr>
            <a:r>
              <a:rPr lang="en-US" sz="1300" b="1" dirty="0">
                <a:solidFill>
                  <a:srgbClr val="C24E1F"/>
                </a:solidFill>
              </a:rPr>
              <a:t>Model inputs</a:t>
            </a:r>
            <a:endParaRPr lang="en-US" sz="1300" dirty="0"/>
          </a:p>
        </p:txBody>
      </p:sp>
      <p:sp>
        <p:nvSpPr>
          <p:cNvPr id="16" name="Text 13"/>
          <p:cNvSpPr txBox="1"/>
          <p:nvPr/>
        </p:nvSpPr>
        <p:spPr>
          <a:xfrm>
            <a:off x="8275320" y="1975104"/>
            <a:ext cx="3200400" cy="502920"/>
          </a:xfrm>
          <a:prstGeom prst="rect">
            <a:avLst/>
          </a:prstGeom>
          <a:noFill/>
          <a:ln/>
        </p:spPr>
        <p:txBody>
          <a:bodyPr wrap="square" lIns="0" tIns="0" rIns="0" bIns="0" rtlCol="0" anchor="t"/>
          <a:lstStyle/>
          <a:p>
            <a:pPr indent="0" marL="0">
              <a:buNone/>
            </a:pPr>
            <a:r>
              <a:rPr lang="en-US" sz="1200" dirty="0">
                <a:solidFill>
                  <a:srgbClr val="1B2A41"/>
                </a:solidFill>
              </a:rPr>
              <a:t>past demand_est, week of year, product (legacy forecast excluded)</a:t>
            </a:r>
            <a:endParaRPr lang="en-US" sz="1200" dirty="0"/>
          </a:p>
        </p:txBody>
      </p:sp>
      <p:sp>
        <p:nvSpPr>
          <p:cNvPr id="17" name="Text 14"/>
          <p:cNvSpPr txBox="1"/>
          <p:nvPr/>
        </p:nvSpPr>
        <p:spPr>
          <a:xfrm>
            <a:off x="548640" y="2697480"/>
            <a:ext cx="7315200" cy="274320"/>
          </a:xfrm>
          <a:prstGeom prst="rect">
            <a:avLst/>
          </a:prstGeom>
          <a:noFill/>
          <a:ln/>
        </p:spPr>
        <p:txBody>
          <a:bodyPr wrap="square" lIns="0" tIns="0" rIns="0" bIns="0" rtlCol="0" anchor="ctr"/>
          <a:lstStyle/>
          <a:p>
            <a:pPr indent="0" marL="0">
              <a:buNone/>
            </a:pPr>
            <a:r>
              <a:rPr lang="en-US" sz="1200" b="1" dirty="0">
                <a:solidFill>
                  <a:srgbClr val="5B6B80"/>
                </a:solidFill>
              </a:rPr>
              <a:t>Weeks 1 to 286, time order never broken</a:t>
            </a:r>
            <a:endParaRPr lang="en-US" sz="1200" dirty="0"/>
          </a:p>
        </p:txBody>
      </p:sp>
      <p:sp>
        <p:nvSpPr>
          <p:cNvPr id="18" name="Text 15"/>
          <p:cNvSpPr txBox="1"/>
          <p:nvPr/>
        </p:nvSpPr>
        <p:spPr>
          <a:xfrm>
            <a:off x="548640" y="3017520"/>
            <a:ext cx="960120" cy="347472"/>
          </a:xfrm>
          <a:prstGeom prst="rect">
            <a:avLst/>
          </a:prstGeom>
          <a:noFill/>
          <a:ln/>
        </p:spPr>
        <p:txBody>
          <a:bodyPr wrap="square" lIns="0" tIns="0" rIns="0" bIns="0" rtlCol="0" anchor="ctr"/>
          <a:lstStyle/>
          <a:p>
            <a:pPr indent="0" marL="0">
              <a:buNone/>
            </a:pPr>
            <a:r>
              <a:rPr lang="en-US" sz="1200" b="1" dirty="0">
                <a:solidFill>
                  <a:srgbClr val="1B2A41"/>
                </a:solidFill>
              </a:rPr>
              <a:t>Test 1</a:t>
            </a:r>
            <a:endParaRPr lang="en-US" sz="1200" dirty="0"/>
          </a:p>
        </p:txBody>
      </p:sp>
      <p:sp>
        <p:nvSpPr>
          <p:cNvPr id="19" name="Train"/>
          <p:cNvSpPr/>
          <p:nvPr/>
        </p:nvSpPr>
        <p:spPr>
          <a:xfrm>
            <a:off x="1600200" y="3017520"/>
            <a:ext cx="2626822" cy="347472"/>
          </a:xfrm>
          <a:prstGeom prst="rect">
            <a:avLst/>
          </a:prstGeom>
          <a:solidFill>
            <a:srgbClr val="2A78D6"/>
          </a:solidFill>
          <a:ln w="6350">
            <a:solidFill>
              <a:srgbClr val="FFFFFF"/>
            </a:solidFill>
            <a:prstDash val="solid"/>
          </a:ln>
        </p:spPr>
      </p:sp>
      <p:sp>
        <p:nvSpPr>
          <p:cNvPr id="20" name="Validation"/>
          <p:cNvSpPr/>
          <p:nvPr/>
        </p:nvSpPr>
        <p:spPr>
          <a:xfrm>
            <a:off x="4227022" y="3017520"/>
            <a:ext cx="1313411" cy="347472"/>
          </a:xfrm>
          <a:prstGeom prst="rect">
            <a:avLst/>
          </a:prstGeom>
          <a:solidFill>
            <a:srgbClr val="1BAF7A"/>
          </a:solidFill>
          <a:ln w="6350">
            <a:solidFill>
              <a:srgbClr val="FFFFFF"/>
            </a:solidFill>
            <a:prstDash val="solid"/>
          </a:ln>
        </p:spPr>
      </p:sp>
      <p:sp>
        <p:nvSpPr>
          <p:cNvPr id="21" name="Test"/>
          <p:cNvSpPr/>
          <p:nvPr/>
        </p:nvSpPr>
        <p:spPr>
          <a:xfrm>
            <a:off x="5540433" y="3017520"/>
            <a:ext cx="656705" cy="347472"/>
          </a:xfrm>
          <a:prstGeom prst="rect">
            <a:avLst/>
          </a:prstGeom>
          <a:solidFill>
            <a:srgbClr val="EB6834"/>
          </a:solidFill>
          <a:ln w="6350">
            <a:solidFill>
              <a:srgbClr val="FFFFFF"/>
            </a:solidFill>
            <a:prstDash val="solid"/>
          </a:ln>
        </p:spPr>
      </p:sp>
      <p:sp>
        <p:nvSpPr>
          <p:cNvPr id="22" name="Text 19"/>
          <p:cNvSpPr txBox="1"/>
          <p:nvPr/>
        </p:nvSpPr>
        <p:spPr>
          <a:xfrm>
            <a:off x="1600200" y="3017520"/>
            <a:ext cx="2626822" cy="347472"/>
          </a:xfrm>
          <a:prstGeom prst="rect">
            <a:avLst/>
          </a:prstGeom>
          <a:noFill/>
          <a:ln/>
        </p:spPr>
        <p:txBody>
          <a:bodyPr wrap="square" lIns="0" tIns="0" rIns="0" bIns="0" rtlCol="0" anchor="ctr"/>
          <a:lstStyle/>
          <a:p>
            <a:pPr algn="ctr" indent="0" marL="0">
              <a:buNone/>
            </a:pPr>
            <a:r>
              <a:rPr lang="en-US" sz="1000" dirty="0">
                <a:solidFill>
                  <a:srgbClr val="FFFFFF"/>
                </a:solidFill>
              </a:rPr>
              <a:t>train  1-104</a:t>
            </a:r>
            <a:endParaRPr lang="en-US" sz="1000" dirty="0"/>
          </a:p>
        </p:txBody>
      </p:sp>
      <p:sp>
        <p:nvSpPr>
          <p:cNvPr id="23" name="Text 20"/>
          <p:cNvSpPr txBox="1"/>
          <p:nvPr/>
        </p:nvSpPr>
        <p:spPr>
          <a:xfrm>
            <a:off x="4227022" y="3017520"/>
            <a:ext cx="1313411" cy="347472"/>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24" name="Text 21"/>
          <p:cNvSpPr txBox="1"/>
          <p:nvPr/>
        </p:nvSpPr>
        <p:spPr>
          <a:xfrm>
            <a:off x="5448993" y="3017520"/>
            <a:ext cx="839585" cy="347472"/>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25" name="Text 22"/>
          <p:cNvSpPr txBox="1"/>
          <p:nvPr/>
        </p:nvSpPr>
        <p:spPr>
          <a:xfrm>
            <a:off x="548640" y="3493008"/>
            <a:ext cx="960120" cy="347472"/>
          </a:xfrm>
          <a:prstGeom prst="rect">
            <a:avLst/>
          </a:prstGeom>
          <a:noFill/>
          <a:ln/>
        </p:spPr>
        <p:txBody>
          <a:bodyPr wrap="square" lIns="0" tIns="0" rIns="0" bIns="0" rtlCol="0" anchor="ctr"/>
          <a:lstStyle/>
          <a:p>
            <a:pPr indent="0" marL="0">
              <a:buNone/>
            </a:pPr>
            <a:r>
              <a:rPr lang="en-US" sz="1200" b="1" dirty="0">
                <a:solidFill>
                  <a:srgbClr val="1B2A41"/>
                </a:solidFill>
              </a:rPr>
              <a:t>Test 2</a:t>
            </a:r>
            <a:endParaRPr lang="en-US" sz="1200" dirty="0"/>
          </a:p>
        </p:txBody>
      </p:sp>
      <p:sp>
        <p:nvSpPr>
          <p:cNvPr id="26" name="Train"/>
          <p:cNvSpPr/>
          <p:nvPr/>
        </p:nvSpPr>
        <p:spPr>
          <a:xfrm>
            <a:off x="1600200" y="3493008"/>
            <a:ext cx="3283527" cy="347472"/>
          </a:xfrm>
          <a:prstGeom prst="rect">
            <a:avLst/>
          </a:prstGeom>
          <a:solidFill>
            <a:srgbClr val="2A78D6"/>
          </a:solidFill>
          <a:ln w="6350">
            <a:solidFill>
              <a:srgbClr val="FFFFFF"/>
            </a:solidFill>
            <a:prstDash val="solid"/>
          </a:ln>
        </p:spPr>
      </p:sp>
      <p:sp>
        <p:nvSpPr>
          <p:cNvPr id="27" name="Validation"/>
          <p:cNvSpPr/>
          <p:nvPr/>
        </p:nvSpPr>
        <p:spPr>
          <a:xfrm>
            <a:off x="4883727" y="3493008"/>
            <a:ext cx="1313411" cy="347472"/>
          </a:xfrm>
          <a:prstGeom prst="rect">
            <a:avLst/>
          </a:prstGeom>
          <a:solidFill>
            <a:srgbClr val="1BAF7A"/>
          </a:solidFill>
          <a:ln w="6350">
            <a:solidFill>
              <a:srgbClr val="FFFFFF"/>
            </a:solidFill>
            <a:prstDash val="solid"/>
          </a:ln>
        </p:spPr>
      </p:sp>
      <p:sp>
        <p:nvSpPr>
          <p:cNvPr id="28" name="Test"/>
          <p:cNvSpPr/>
          <p:nvPr/>
        </p:nvSpPr>
        <p:spPr>
          <a:xfrm>
            <a:off x="6197138" y="3493008"/>
            <a:ext cx="656705" cy="347472"/>
          </a:xfrm>
          <a:prstGeom prst="rect">
            <a:avLst/>
          </a:prstGeom>
          <a:solidFill>
            <a:srgbClr val="EB6834"/>
          </a:solidFill>
          <a:ln w="6350">
            <a:solidFill>
              <a:srgbClr val="FFFFFF"/>
            </a:solidFill>
            <a:prstDash val="solid"/>
          </a:ln>
        </p:spPr>
      </p:sp>
      <p:sp>
        <p:nvSpPr>
          <p:cNvPr id="29" name="Text 26"/>
          <p:cNvSpPr txBox="1"/>
          <p:nvPr/>
        </p:nvSpPr>
        <p:spPr>
          <a:xfrm>
            <a:off x="1600200" y="3493008"/>
            <a:ext cx="3283527" cy="347472"/>
          </a:xfrm>
          <a:prstGeom prst="rect">
            <a:avLst/>
          </a:prstGeom>
          <a:noFill/>
          <a:ln/>
        </p:spPr>
        <p:txBody>
          <a:bodyPr wrap="square" lIns="0" tIns="0" rIns="0" bIns="0" rtlCol="0" anchor="ctr"/>
          <a:lstStyle/>
          <a:p>
            <a:pPr algn="ctr" indent="0" marL="0">
              <a:buNone/>
            </a:pPr>
            <a:r>
              <a:rPr lang="en-US" sz="1000" dirty="0">
                <a:solidFill>
                  <a:srgbClr val="FFFFFF"/>
                </a:solidFill>
              </a:rPr>
              <a:t>train  1-130</a:t>
            </a:r>
            <a:endParaRPr lang="en-US" sz="1000" dirty="0"/>
          </a:p>
        </p:txBody>
      </p:sp>
      <p:sp>
        <p:nvSpPr>
          <p:cNvPr id="30" name="Text 27"/>
          <p:cNvSpPr txBox="1"/>
          <p:nvPr/>
        </p:nvSpPr>
        <p:spPr>
          <a:xfrm>
            <a:off x="4883727" y="3493008"/>
            <a:ext cx="1313411" cy="347472"/>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31" name="Text 28"/>
          <p:cNvSpPr txBox="1"/>
          <p:nvPr/>
        </p:nvSpPr>
        <p:spPr>
          <a:xfrm>
            <a:off x="6105698" y="3493008"/>
            <a:ext cx="839585" cy="347472"/>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32" name="Text 29"/>
          <p:cNvSpPr txBox="1"/>
          <p:nvPr/>
        </p:nvSpPr>
        <p:spPr>
          <a:xfrm>
            <a:off x="548640" y="3968496"/>
            <a:ext cx="960120" cy="347472"/>
          </a:xfrm>
          <a:prstGeom prst="rect">
            <a:avLst/>
          </a:prstGeom>
          <a:noFill/>
          <a:ln/>
        </p:spPr>
        <p:txBody>
          <a:bodyPr wrap="square" lIns="0" tIns="0" rIns="0" bIns="0" rtlCol="0" anchor="ctr"/>
          <a:lstStyle/>
          <a:p>
            <a:pPr indent="0" marL="0">
              <a:buNone/>
            </a:pPr>
            <a:r>
              <a:rPr lang="en-US" sz="1200" b="1" dirty="0">
                <a:solidFill>
                  <a:srgbClr val="1B2A41"/>
                </a:solidFill>
              </a:rPr>
              <a:t>Test 3</a:t>
            </a:r>
            <a:endParaRPr lang="en-US" sz="1200" dirty="0"/>
          </a:p>
        </p:txBody>
      </p:sp>
      <p:sp>
        <p:nvSpPr>
          <p:cNvPr id="33" name="Train"/>
          <p:cNvSpPr/>
          <p:nvPr/>
        </p:nvSpPr>
        <p:spPr>
          <a:xfrm>
            <a:off x="1600200" y="3968496"/>
            <a:ext cx="3940233" cy="347472"/>
          </a:xfrm>
          <a:prstGeom prst="rect">
            <a:avLst/>
          </a:prstGeom>
          <a:solidFill>
            <a:srgbClr val="2A78D6"/>
          </a:solidFill>
          <a:ln w="6350">
            <a:solidFill>
              <a:srgbClr val="FFFFFF"/>
            </a:solidFill>
            <a:prstDash val="solid"/>
          </a:ln>
        </p:spPr>
      </p:sp>
      <p:sp>
        <p:nvSpPr>
          <p:cNvPr id="34" name="Validation"/>
          <p:cNvSpPr/>
          <p:nvPr/>
        </p:nvSpPr>
        <p:spPr>
          <a:xfrm>
            <a:off x="5540433" y="3968496"/>
            <a:ext cx="1313411" cy="347472"/>
          </a:xfrm>
          <a:prstGeom prst="rect">
            <a:avLst/>
          </a:prstGeom>
          <a:solidFill>
            <a:srgbClr val="1BAF7A"/>
          </a:solidFill>
          <a:ln w="6350">
            <a:solidFill>
              <a:srgbClr val="FFFFFF"/>
            </a:solidFill>
            <a:prstDash val="solid"/>
          </a:ln>
        </p:spPr>
      </p:sp>
      <p:sp>
        <p:nvSpPr>
          <p:cNvPr id="35" name="Test"/>
          <p:cNvSpPr/>
          <p:nvPr/>
        </p:nvSpPr>
        <p:spPr>
          <a:xfrm>
            <a:off x="6853844" y="3968496"/>
            <a:ext cx="656705" cy="347472"/>
          </a:xfrm>
          <a:prstGeom prst="rect">
            <a:avLst/>
          </a:prstGeom>
          <a:solidFill>
            <a:srgbClr val="EB6834"/>
          </a:solidFill>
          <a:ln w="6350">
            <a:solidFill>
              <a:srgbClr val="FFFFFF"/>
            </a:solidFill>
            <a:prstDash val="solid"/>
          </a:ln>
        </p:spPr>
      </p:sp>
      <p:sp>
        <p:nvSpPr>
          <p:cNvPr id="36" name="Text 33"/>
          <p:cNvSpPr txBox="1"/>
          <p:nvPr/>
        </p:nvSpPr>
        <p:spPr>
          <a:xfrm>
            <a:off x="1600200" y="3968496"/>
            <a:ext cx="3940233" cy="347472"/>
          </a:xfrm>
          <a:prstGeom prst="rect">
            <a:avLst/>
          </a:prstGeom>
          <a:noFill/>
          <a:ln/>
        </p:spPr>
        <p:txBody>
          <a:bodyPr wrap="square" lIns="0" tIns="0" rIns="0" bIns="0" rtlCol="0" anchor="ctr"/>
          <a:lstStyle/>
          <a:p>
            <a:pPr algn="ctr" indent="0" marL="0">
              <a:buNone/>
            </a:pPr>
            <a:r>
              <a:rPr lang="en-US" sz="1000" dirty="0">
                <a:solidFill>
                  <a:srgbClr val="FFFFFF"/>
                </a:solidFill>
              </a:rPr>
              <a:t>train  1-156</a:t>
            </a:r>
            <a:endParaRPr lang="en-US" sz="1000" dirty="0"/>
          </a:p>
        </p:txBody>
      </p:sp>
      <p:sp>
        <p:nvSpPr>
          <p:cNvPr id="37" name="Text 34"/>
          <p:cNvSpPr txBox="1"/>
          <p:nvPr/>
        </p:nvSpPr>
        <p:spPr>
          <a:xfrm>
            <a:off x="5540433" y="3968496"/>
            <a:ext cx="1313411" cy="347472"/>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38" name="Text 35"/>
          <p:cNvSpPr txBox="1"/>
          <p:nvPr/>
        </p:nvSpPr>
        <p:spPr>
          <a:xfrm>
            <a:off x="6762404" y="3968496"/>
            <a:ext cx="839585" cy="347472"/>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39" name="Text 36"/>
          <p:cNvSpPr txBox="1"/>
          <p:nvPr/>
        </p:nvSpPr>
        <p:spPr>
          <a:xfrm>
            <a:off x="548640" y="4443984"/>
            <a:ext cx="960120" cy="347472"/>
          </a:xfrm>
          <a:prstGeom prst="rect">
            <a:avLst/>
          </a:prstGeom>
          <a:noFill/>
          <a:ln/>
        </p:spPr>
        <p:txBody>
          <a:bodyPr wrap="square" lIns="0" tIns="0" rIns="0" bIns="0" rtlCol="0" anchor="ctr"/>
          <a:lstStyle/>
          <a:p>
            <a:pPr indent="0" marL="0">
              <a:buNone/>
            </a:pPr>
            <a:r>
              <a:rPr lang="en-US" sz="1200" b="1" dirty="0">
                <a:solidFill>
                  <a:srgbClr val="1B2A41"/>
                </a:solidFill>
              </a:rPr>
              <a:t>Test 4</a:t>
            </a:r>
            <a:endParaRPr lang="en-US" sz="1200" dirty="0"/>
          </a:p>
        </p:txBody>
      </p:sp>
      <p:sp>
        <p:nvSpPr>
          <p:cNvPr id="40" name="Train"/>
          <p:cNvSpPr/>
          <p:nvPr/>
        </p:nvSpPr>
        <p:spPr>
          <a:xfrm>
            <a:off x="1600200" y="4443984"/>
            <a:ext cx="4596938" cy="347472"/>
          </a:xfrm>
          <a:prstGeom prst="rect">
            <a:avLst/>
          </a:prstGeom>
          <a:solidFill>
            <a:srgbClr val="2A78D6"/>
          </a:solidFill>
          <a:ln w="6350">
            <a:solidFill>
              <a:srgbClr val="FFFFFF"/>
            </a:solidFill>
            <a:prstDash val="solid"/>
          </a:ln>
        </p:spPr>
      </p:sp>
      <p:sp>
        <p:nvSpPr>
          <p:cNvPr id="41" name="Validation"/>
          <p:cNvSpPr/>
          <p:nvPr/>
        </p:nvSpPr>
        <p:spPr>
          <a:xfrm>
            <a:off x="6197138" y="4443984"/>
            <a:ext cx="1313411" cy="347472"/>
          </a:xfrm>
          <a:prstGeom prst="rect">
            <a:avLst/>
          </a:prstGeom>
          <a:solidFill>
            <a:srgbClr val="1BAF7A"/>
          </a:solidFill>
          <a:ln w="6350">
            <a:solidFill>
              <a:srgbClr val="FFFFFF"/>
            </a:solidFill>
            <a:prstDash val="solid"/>
          </a:ln>
        </p:spPr>
      </p:sp>
      <p:sp>
        <p:nvSpPr>
          <p:cNvPr id="42" name="Test"/>
          <p:cNvSpPr/>
          <p:nvPr/>
        </p:nvSpPr>
        <p:spPr>
          <a:xfrm>
            <a:off x="7510549" y="4443984"/>
            <a:ext cx="656705" cy="347472"/>
          </a:xfrm>
          <a:prstGeom prst="rect">
            <a:avLst/>
          </a:prstGeom>
          <a:solidFill>
            <a:srgbClr val="EB6834"/>
          </a:solidFill>
          <a:ln w="6350">
            <a:solidFill>
              <a:srgbClr val="FFFFFF"/>
            </a:solidFill>
            <a:prstDash val="solid"/>
          </a:ln>
        </p:spPr>
      </p:sp>
      <p:sp>
        <p:nvSpPr>
          <p:cNvPr id="43" name="Text 40"/>
          <p:cNvSpPr txBox="1"/>
          <p:nvPr/>
        </p:nvSpPr>
        <p:spPr>
          <a:xfrm>
            <a:off x="1600200" y="4443984"/>
            <a:ext cx="4596938" cy="347472"/>
          </a:xfrm>
          <a:prstGeom prst="rect">
            <a:avLst/>
          </a:prstGeom>
          <a:noFill/>
          <a:ln/>
        </p:spPr>
        <p:txBody>
          <a:bodyPr wrap="square" lIns="0" tIns="0" rIns="0" bIns="0" rtlCol="0" anchor="ctr"/>
          <a:lstStyle/>
          <a:p>
            <a:pPr algn="ctr" indent="0" marL="0">
              <a:buNone/>
            </a:pPr>
            <a:r>
              <a:rPr lang="en-US" sz="1000" dirty="0">
                <a:solidFill>
                  <a:srgbClr val="FFFFFF"/>
                </a:solidFill>
              </a:rPr>
              <a:t>train  1-182</a:t>
            </a:r>
            <a:endParaRPr lang="en-US" sz="1000" dirty="0"/>
          </a:p>
        </p:txBody>
      </p:sp>
      <p:sp>
        <p:nvSpPr>
          <p:cNvPr id="44" name="Text 41"/>
          <p:cNvSpPr txBox="1"/>
          <p:nvPr/>
        </p:nvSpPr>
        <p:spPr>
          <a:xfrm>
            <a:off x="6197138" y="4443984"/>
            <a:ext cx="1313411" cy="347472"/>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45" name="Text 42"/>
          <p:cNvSpPr txBox="1"/>
          <p:nvPr/>
        </p:nvSpPr>
        <p:spPr>
          <a:xfrm>
            <a:off x="7419109" y="4443984"/>
            <a:ext cx="839585" cy="347472"/>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46" name="Text 43"/>
          <p:cNvSpPr txBox="1"/>
          <p:nvPr/>
        </p:nvSpPr>
        <p:spPr>
          <a:xfrm>
            <a:off x="548640" y="4919472"/>
            <a:ext cx="960120" cy="347472"/>
          </a:xfrm>
          <a:prstGeom prst="rect">
            <a:avLst/>
          </a:prstGeom>
          <a:noFill/>
          <a:ln/>
        </p:spPr>
        <p:txBody>
          <a:bodyPr wrap="square" lIns="0" tIns="0" rIns="0" bIns="0" rtlCol="0" anchor="ctr"/>
          <a:lstStyle/>
          <a:p>
            <a:pPr indent="0" marL="0">
              <a:buNone/>
            </a:pPr>
            <a:r>
              <a:rPr lang="en-US" sz="1200" b="1" dirty="0">
                <a:solidFill>
                  <a:srgbClr val="1B2A41"/>
                </a:solidFill>
              </a:rPr>
              <a:t>Final</a:t>
            </a:r>
            <a:endParaRPr lang="en-US" sz="1200" dirty="0"/>
          </a:p>
        </p:txBody>
      </p:sp>
      <p:sp>
        <p:nvSpPr>
          <p:cNvPr id="47" name="Train"/>
          <p:cNvSpPr/>
          <p:nvPr/>
        </p:nvSpPr>
        <p:spPr>
          <a:xfrm>
            <a:off x="1600200" y="4919472"/>
            <a:ext cx="5253644" cy="347472"/>
          </a:xfrm>
          <a:prstGeom prst="rect">
            <a:avLst/>
          </a:prstGeom>
          <a:solidFill>
            <a:srgbClr val="2A78D6"/>
          </a:solidFill>
          <a:ln w="6350">
            <a:solidFill>
              <a:srgbClr val="FFFFFF"/>
            </a:solidFill>
            <a:prstDash val="solid"/>
          </a:ln>
        </p:spPr>
      </p:sp>
      <p:sp>
        <p:nvSpPr>
          <p:cNvPr id="48" name="Validation"/>
          <p:cNvSpPr/>
          <p:nvPr/>
        </p:nvSpPr>
        <p:spPr>
          <a:xfrm>
            <a:off x="6853844" y="4919472"/>
            <a:ext cx="1313411" cy="347472"/>
          </a:xfrm>
          <a:prstGeom prst="rect">
            <a:avLst/>
          </a:prstGeom>
          <a:solidFill>
            <a:srgbClr val="1BAF7A"/>
          </a:solidFill>
          <a:ln w="6350">
            <a:solidFill>
              <a:srgbClr val="FFFFFF"/>
            </a:solidFill>
            <a:prstDash val="solid"/>
          </a:ln>
        </p:spPr>
      </p:sp>
      <p:sp>
        <p:nvSpPr>
          <p:cNvPr id="49" name="Test"/>
          <p:cNvSpPr/>
          <p:nvPr/>
        </p:nvSpPr>
        <p:spPr>
          <a:xfrm>
            <a:off x="8167255" y="4919472"/>
            <a:ext cx="656705" cy="347472"/>
          </a:xfrm>
          <a:prstGeom prst="rect">
            <a:avLst/>
          </a:prstGeom>
          <a:solidFill>
            <a:srgbClr val="8A8F98"/>
          </a:solidFill>
          <a:ln w="6350">
            <a:solidFill>
              <a:srgbClr val="FFFFFF"/>
            </a:solidFill>
            <a:prstDash val="solid"/>
          </a:ln>
        </p:spPr>
      </p:sp>
      <p:sp>
        <p:nvSpPr>
          <p:cNvPr id="50" name="Text 47"/>
          <p:cNvSpPr txBox="1"/>
          <p:nvPr/>
        </p:nvSpPr>
        <p:spPr>
          <a:xfrm>
            <a:off x="1600200" y="4919472"/>
            <a:ext cx="5253644" cy="347472"/>
          </a:xfrm>
          <a:prstGeom prst="rect">
            <a:avLst/>
          </a:prstGeom>
          <a:noFill/>
          <a:ln/>
        </p:spPr>
        <p:txBody>
          <a:bodyPr wrap="square" lIns="0" tIns="0" rIns="0" bIns="0" rtlCol="0" anchor="ctr"/>
          <a:lstStyle/>
          <a:p>
            <a:pPr algn="ctr" indent="0" marL="0">
              <a:buNone/>
            </a:pPr>
            <a:r>
              <a:rPr lang="en-US" sz="1000" dirty="0">
                <a:solidFill>
                  <a:srgbClr val="FFFFFF"/>
                </a:solidFill>
              </a:rPr>
              <a:t>train  1-208</a:t>
            </a:r>
            <a:endParaRPr lang="en-US" sz="1000" dirty="0"/>
          </a:p>
        </p:txBody>
      </p:sp>
      <p:sp>
        <p:nvSpPr>
          <p:cNvPr id="51" name="Text 48"/>
          <p:cNvSpPr txBox="1"/>
          <p:nvPr/>
        </p:nvSpPr>
        <p:spPr>
          <a:xfrm>
            <a:off x="6853844" y="4919472"/>
            <a:ext cx="1313411" cy="347472"/>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52" name="Text 49"/>
          <p:cNvSpPr txBox="1"/>
          <p:nvPr/>
        </p:nvSpPr>
        <p:spPr>
          <a:xfrm>
            <a:off x="8075815" y="4919472"/>
            <a:ext cx="839585" cy="347472"/>
          </a:xfrm>
          <a:prstGeom prst="rect">
            <a:avLst/>
          </a:prstGeom>
          <a:noFill/>
          <a:ln/>
        </p:spPr>
        <p:txBody>
          <a:bodyPr wrap="square" lIns="0" tIns="0" rIns="0" bIns="0" rtlCol="0" anchor="ctr"/>
          <a:lstStyle/>
          <a:p>
            <a:pPr algn="ctr" indent="0" marL="0">
              <a:buNone/>
            </a:pPr>
            <a:r>
              <a:rPr lang="en-US" sz="900" dirty="0">
                <a:solidFill>
                  <a:srgbClr val="FFFFFF"/>
                </a:solidFill>
              </a:rPr>
              <a:t>forecast</a:t>
            </a:r>
            <a:endParaRPr lang="en-US" sz="900" dirty="0"/>
          </a:p>
        </p:txBody>
      </p:sp>
      <p:sp>
        <p:nvSpPr>
          <p:cNvPr id="53" name="Text 50"/>
          <p:cNvSpPr txBox="1"/>
          <p:nvPr/>
        </p:nvSpPr>
        <p:spPr>
          <a:xfrm>
            <a:off x="548640" y="5440680"/>
            <a:ext cx="8138160" cy="822960"/>
          </a:xfrm>
          <a:prstGeom prst="rect">
            <a:avLst/>
          </a:prstGeom>
          <a:noFill/>
          <a:ln/>
        </p:spPr>
        <p:txBody>
          <a:bodyPr wrap="square" lIns="0" tIns="0" rIns="0" bIns="0" rtlCol="0" anchor="t"/>
          <a:lstStyle/>
          <a:p>
            <a:pPr indent="0" marL="0">
              <a:buNone/>
            </a:pPr>
            <a:r>
              <a:rPr lang="en-US" sz="1200" i="1" dirty="0">
                <a:solidFill>
                  <a:srgbClr val="5B6B80"/>
                </a:solidFill>
              </a:rPr>
              <a:t>Validation = last 52 weeks of each training window (two inner 26-week windows) choose the settings; the model is then refitted on all training weeks. Test weeks never influence any setting.</a:t>
            </a:r>
            <a:endParaRPr lang="en-US" sz="1200" dirty="0"/>
          </a:p>
        </p:txBody>
      </p:sp>
      <p:sp>
        <p:nvSpPr>
          <p:cNvPr id="54" name="Stat card"/>
          <p:cNvSpPr/>
          <p:nvPr/>
        </p:nvSpPr>
        <p:spPr>
          <a:xfrm>
            <a:off x="9052560" y="3017520"/>
            <a:ext cx="2560320" cy="1097280"/>
          </a:xfrm>
          <a:prstGeom prst="roundRect">
            <a:avLst>
              <a:gd name="adj" fmla="val 6667"/>
            </a:avLst>
          </a:prstGeom>
          <a:solidFill>
            <a:srgbClr val="F2F6FB"/>
          </a:solidFill>
          <a:ln w="12700">
            <a:solidFill>
              <a:srgbClr val="F2F6FB"/>
            </a:solidFill>
            <a:prstDash val="solid"/>
          </a:ln>
        </p:spPr>
      </p:sp>
      <p:sp>
        <p:nvSpPr>
          <p:cNvPr id="55" name="Text 52"/>
          <p:cNvSpPr txBox="1"/>
          <p:nvPr/>
        </p:nvSpPr>
        <p:spPr>
          <a:xfrm>
            <a:off x="9189720" y="3090672"/>
            <a:ext cx="2286000" cy="493776"/>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3,120</a:t>
            </a:r>
            <a:endParaRPr lang="en-US" sz="2800" dirty="0"/>
          </a:p>
        </p:txBody>
      </p:sp>
      <p:sp>
        <p:nvSpPr>
          <p:cNvPr id="56" name="Text 53"/>
          <p:cNvSpPr txBox="1"/>
          <p:nvPr/>
        </p:nvSpPr>
        <p:spPr>
          <a:xfrm>
            <a:off x="9189720" y="3588106"/>
            <a:ext cx="2286000" cy="504749"/>
          </a:xfrm>
          <a:prstGeom prst="rect">
            <a:avLst/>
          </a:prstGeom>
          <a:noFill/>
          <a:ln/>
        </p:spPr>
        <p:txBody>
          <a:bodyPr wrap="square" lIns="0" tIns="0" rIns="0" bIns="0" rtlCol="0" anchor="t"/>
          <a:lstStyle/>
          <a:p>
            <a:pPr indent="0" marL="0">
              <a:buNone/>
            </a:pPr>
            <a:r>
              <a:rPr lang="en-US" sz="1300" dirty="0">
                <a:solidFill>
                  <a:srgbClr val="5B6B80"/>
                </a:solidFill>
              </a:rPr>
              <a:t>test forecasts: 4 origins x 26 weeks x 30 products</a:t>
            </a:r>
            <a:endParaRPr lang="en-US" sz="1300" dirty="0"/>
          </a:p>
        </p:txBody>
      </p:sp>
      <p:sp>
        <p:nvSpPr>
          <p:cNvPr id="57" name="Stat card"/>
          <p:cNvSpPr/>
          <p:nvPr/>
        </p:nvSpPr>
        <p:spPr>
          <a:xfrm>
            <a:off x="9052560" y="4251960"/>
            <a:ext cx="2560320" cy="1097280"/>
          </a:xfrm>
          <a:prstGeom prst="roundRect">
            <a:avLst>
              <a:gd name="adj" fmla="val 6667"/>
            </a:avLst>
          </a:prstGeom>
          <a:solidFill>
            <a:srgbClr val="F2F6FB"/>
          </a:solidFill>
          <a:ln w="12700">
            <a:solidFill>
              <a:srgbClr val="F2F6FB"/>
            </a:solidFill>
            <a:prstDash val="solid"/>
          </a:ln>
        </p:spPr>
      </p:sp>
      <p:sp>
        <p:nvSpPr>
          <p:cNvPr id="58" name="Text 55"/>
          <p:cNvSpPr txBox="1"/>
          <p:nvPr/>
        </p:nvSpPr>
        <p:spPr>
          <a:xfrm>
            <a:off x="9189720" y="4325112"/>
            <a:ext cx="2286000" cy="493776"/>
          </a:xfrm>
          <a:prstGeom prst="rect">
            <a:avLst/>
          </a:prstGeom>
          <a:noFill/>
          <a:ln/>
        </p:spPr>
        <p:txBody>
          <a:bodyPr wrap="square" lIns="0" tIns="0" rIns="0" bIns="0" rtlCol="0" anchor="ctr"/>
          <a:lstStyle/>
          <a:p>
            <a:pPr indent="0" marL="0">
              <a:buNone/>
            </a:pPr>
            <a:r>
              <a:rPr lang="en-US" sz="2800" b="1" dirty="0">
                <a:solidFill>
                  <a:srgbClr val="1BAF7A"/>
                </a:solidFill>
                <a:latin typeface="Cambria" pitchFamily="34" charset="0"/>
                <a:ea typeface="Cambria" pitchFamily="34" charset="-122"/>
                <a:cs typeface="Cambria" pitchFamily="34" charset="-120"/>
              </a:rPr>
              <a:t>44%</a:t>
            </a:r>
            <a:endParaRPr lang="en-US" sz="2800" dirty="0"/>
          </a:p>
        </p:txBody>
      </p:sp>
      <p:sp>
        <p:nvSpPr>
          <p:cNvPr id="59" name="Text 56"/>
          <p:cNvSpPr txBox="1"/>
          <p:nvPr/>
        </p:nvSpPr>
        <p:spPr>
          <a:xfrm>
            <a:off x="9189720" y="4822546"/>
            <a:ext cx="2286000" cy="504749"/>
          </a:xfrm>
          <a:prstGeom prst="rect">
            <a:avLst/>
          </a:prstGeom>
          <a:noFill/>
          <a:ln/>
        </p:spPr>
        <p:txBody>
          <a:bodyPr wrap="square" lIns="0" tIns="0" rIns="0" bIns="0" rtlCol="0" anchor="t"/>
          <a:lstStyle/>
          <a:p>
            <a:pPr indent="0" marL="0">
              <a:buNone/>
            </a:pPr>
            <a:r>
              <a:rPr lang="en-US" sz="1300" dirty="0">
                <a:solidFill>
                  <a:srgbClr val="5B6B80"/>
                </a:solidFill>
              </a:rPr>
              <a:t>of test weeks are unconstrained: demand = observed sales</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FINE-TUNING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Free parameters: what was tuned and how</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011680"/>
                <a:gridCol w="4206240"/>
                <a:gridCol w="2743200"/>
                <a:gridCol w="2103120"/>
              </a:tblGrid>
              <a:tr h="329184">
                <a:tc>
                  <a:txBody>
                    <a:bodyPr/>
                    <a:lstStyle/>
                    <a:p>
                      <a:pPr indent="0" marL="0">
                        <a:buNone/>
                      </a:pPr>
                      <a:r>
                        <a:rPr lang="en-US" sz="1100" b="1" dirty="0">
                          <a:solidFill>
                            <a:srgbClr val="FFFFFF"/>
                          </a:solidFill>
                        </a:rPr>
                        <a:t>Model</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100" b="1" dirty="0">
                          <a:solidFill>
                            <a:srgbClr val="FFFFFF"/>
                          </a:solidFill>
                        </a:rPr>
                        <a:t>Free parameters searched</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100" b="1" dirty="0">
                          <a:solidFill>
                            <a:srgbClr val="FFFFFF"/>
                          </a:solidFill>
                        </a:rPr>
                        <a:t>Chosen on</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100" b="1" dirty="0">
                          <a:solidFill>
                            <a:srgbClr val="FFFFFF"/>
                          </a:solidFill>
                        </a:rPr>
                        <a:t>Selected</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457200">
                <a:tc>
                  <a:txBody>
                    <a:bodyPr/>
                    <a:lstStyle/>
                    <a:p>
                      <a:pPr indent="0" marL="0">
                        <a:buNone/>
                      </a:pPr>
                      <a:r>
                        <a:rPr lang="en-US" sz="1100" b="1" dirty="0">
                          <a:solidFill>
                            <a:srgbClr val="1B2A41"/>
                          </a:solidFill>
                        </a:rPr>
                        <a:t>Demand reconstruction</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Fourier order K 1-10, trend shared / per product; blend weight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blocked 5-fold CV, 1-SE rule; out-of-fold fit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K = 2, shared; weight 0.40</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B2A41"/>
                          </a:solidFill>
                        </a:rPr>
                        <a:t>Structural (winner)</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Fourier order K 1-8, trend shared / per product (16 combinations)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2 inner windows (T-52, T-26), WAPE</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K = 3, shared trend</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20624">
                <a:tc>
                  <a:txBody>
                    <a:bodyPr/>
                    <a:lstStyle/>
                    <a:p>
                      <a:pPr indent="0" marL="0">
                        <a:buNone/>
                      </a:pPr>
                      <a:r>
                        <a:rPr lang="en-US" sz="1100" b="1" dirty="0">
                          <a:solidFill>
                            <a:srgbClr val="1B2A41"/>
                          </a:solidFill>
                        </a:rPr>
                        <a:t>Holt-Winters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trend none / damped, seasonality additive / multiplicative</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AICc, per product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per product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20624">
                <a:tc>
                  <a:txBody>
                    <a:bodyPr/>
                    <a:lstStyle/>
                    <a:p>
                      <a:pPr indent="0" marL="0">
                        <a:buNone/>
                      </a:pPr>
                      <a:r>
                        <a:rPr lang="en-US" sz="1100" b="1" dirty="0">
                          <a:solidFill>
                            <a:srgbClr val="1B2A41"/>
                          </a:solidFill>
                        </a:rPr>
                        <a:t>SARIMAX</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Fourier K in {2, 3}, ARMA order (1,0,0) / (1,0,1)</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AICc, per product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K 2-3, (1,0,1)</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B2A41"/>
                          </a:solidFill>
                        </a:rPr>
                        <a:t>LightGBM</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leaves, learning rate, min leaf, feature fraction, L2 (10 random configs)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trailing 26-week validation block, early stopping</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7 leaves, 0.03, min leaf 80</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B2A41"/>
                          </a:solidFill>
                        </a:rPr>
                        <a:t>Prophet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changepoint prior 0.01 / 0.1, Fourier order 2 / 4, additive / multiplicative</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inner CV on 6 sample products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prior 0.01, order 2</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B2A41"/>
                          </a:solidFill>
                        </a:rPr>
                        <a:t>Ensembles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members of the average; the top 3 of the walk-forward version</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earlier folds only</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struct, struct-seg, SARIMAX</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6" name="Callout"/>
          <p:cNvSpPr/>
          <p:nvPr/>
        </p:nvSpPr>
        <p:spPr>
          <a:xfrm>
            <a:off x="548640" y="5440680"/>
            <a:ext cx="11064240" cy="868680"/>
          </a:xfrm>
          <a:prstGeom prst="roundRect">
            <a:avLst>
              <a:gd name="adj" fmla="val 8421"/>
            </a:avLst>
          </a:prstGeom>
          <a:solidFill>
            <a:srgbClr val="F2F6FB"/>
          </a:solidFill>
          <a:ln w="12700">
            <a:solidFill>
              <a:srgbClr val="D9E1EC"/>
            </a:solidFill>
            <a:prstDash val="solid"/>
          </a:ln>
        </p:spPr>
      </p:sp>
      <p:sp>
        <p:nvSpPr>
          <p:cNvPr id="7" name="Text 3"/>
          <p:cNvSpPr txBox="1"/>
          <p:nvPr/>
        </p:nvSpPr>
        <p:spPr>
          <a:xfrm>
            <a:off x="731520" y="5550408"/>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The rule behind every row</a:t>
            </a:r>
            <a:endParaRPr lang="en-US" sz="1400" dirty="0"/>
          </a:p>
        </p:txBody>
      </p:sp>
      <p:sp>
        <p:nvSpPr>
          <p:cNvPr id="8" name="Text 4"/>
          <p:cNvSpPr txBox="1"/>
          <p:nvPr/>
        </p:nvSpPr>
        <p:spPr>
          <a:xfrm>
            <a:off x="731520" y="5897880"/>
            <a:ext cx="10698480" cy="3200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B2A41"/>
                </a:solidFill>
              </a:rPr>
              <a:t>Settings are scored on validation windows inside the training weeks only; the winner is refitted on all training weeks before it faces the test weeks.</a:t>
            </a:r>
            <a:endParaRPr lang="en-US" sz="12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THE SELECTED MODEL</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The winner: one seasonal curve for all products</a:t>
            </a:r>
            <a:endParaRPr lang="en-US" sz="3000" dirty="0"/>
          </a:p>
        </p:txBody>
      </p:sp>
      <p:sp>
        <p:nvSpPr>
          <p:cNvPr id="5" name="Formula band"/>
          <p:cNvSpPr/>
          <p:nvPr/>
        </p:nvSpPr>
        <p:spPr>
          <a:xfrm>
            <a:off x="548640" y="1600200"/>
            <a:ext cx="11064240" cy="731520"/>
          </a:xfrm>
          <a:prstGeom prst="roundRect">
            <a:avLst>
              <a:gd name="adj" fmla="val 10000"/>
            </a:avLst>
          </a:prstGeom>
          <a:solidFill>
            <a:srgbClr val="12263F"/>
          </a:solidFill>
          <a:ln w="12700">
            <a:solidFill>
              <a:srgbClr val="12263F"/>
            </a:solidFill>
            <a:prstDash val="solid"/>
          </a:ln>
        </p:spPr>
      </p:sp>
      <p:sp>
        <p:nvSpPr>
          <p:cNvPr id="6" name="Text 3"/>
          <p:cNvSpPr txBox="1"/>
          <p:nvPr/>
        </p:nvSpPr>
        <p:spPr>
          <a:xfrm>
            <a:off x="777240" y="1627632"/>
            <a:ext cx="10607040" cy="676656"/>
          </a:xfrm>
          <a:prstGeom prst="rect">
            <a:avLst/>
          </a:prstGeom>
          <a:noFill/>
          <a:ln/>
        </p:spPr>
        <p:txBody>
          <a:bodyPr wrap="square" lIns="0" tIns="0" rIns="0" bIns="0" rtlCol="0" anchor="ctr"/>
          <a:lstStyle/>
          <a:p>
            <a:pPr indent="0" marL="0">
              <a:buNone/>
            </a:pPr>
            <a:r>
              <a:rPr lang="en-US" sz="1900" b="1" dirty="0">
                <a:solidFill>
                  <a:srgbClr val="FFFFFF"/>
                </a:solidFill>
              </a:rPr>
              <a:t>demand(product, week)  =  product level  ×  growth trend  ×  seasonal factor</a:t>
            </a:r>
            <a:endParaRPr lang="en-US" sz="1900" dirty="0"/>
          </a:p>
          <a:p>
            <a:pPr indent="0" marL="0">
              <a:buNone/>
            </a:pPr>
            <a:r>
              <a:rPr lang="en-US" sz="1150" dirty="0">
                <a:solidFill>
                  <a:srgbClr val="CADCFC"/>
                </a:solidFill>
              </a:rPr>
              <a:t>fitted in log space: log demand = level + trend + sum over k of [ a_k sin(2πk·week/52) + b_k cos(2πk·week/52) ]</a:t>
            </a:r>
            <a:endParaRPr lang="en-US" sz="1900" dirty="0"/>
          </a:p>
        </p:txBody>
      </p:sp>
      <p:sp>
        <p:nvSpPr>
          <p:cNvPr id="7" name="Component card"/>
          <p:cNvSpPr/>
          <p:nvPr/>
        </p:nvSpPr>
        <p:spPr>
          <a:xfrm>
            <a:off x="548640" y="2468880"/>
            <a:ext cx="4297680" cy="822960"/>
          </a:xfrm>
          <a:prstGeom prst="roundRect">
            <a:avLst>
              <a:gd name="adj" fmla="val 8889"/>
            </a:avLst>
          </a:prstGeom>
          <a:solidFill>
            <a:srgbClr val="F2F6FB"/>
          </a:solidFill>
          <a:ln w="12700">
            <a:solidFill>
              <a:srgbClr val="F2F6FB"/>
            </a:solidFill>
            <a:prstDash val="solid"/>
          </a:ln>
        </p:spPr>
      </p:sp>
      <p:sp>
        <p:nvSpPr>
          <p:cNvPr id="8" name="Card accent"/>
          <p:cNvSpPr/>
          <p:nvPr/>
        </p:nvSpPr>
        <p:spPr>
          <a:xfrm>
            <a:off x="548640" y="2468880"/>
            <a:ext cx="82296" cy="822960"/>
          </a:xfrm>
          <a:prstGeom prst="rect">
            <a:avLst/>
          </a:prstGeom>
          <a:solidFill>
            <a:srgbClr val="2A78D6"/>
          </a:solidFill>
          <a:ln w="12700">
            <a:solidFill>
              <a:srgbClr val="2A78D6"/>
            </a:solidFill>
            <a:prstDash val="solid"/>
          </a:ln>
        </p:spPr>
      </p:sp>
      <p:sp>
        <p:nvSpPr>
          <p:cNvPr id="9" name="Text 6"/>
          <p:cNvSpPr txBox="1"/>
          <p:nvPr/>
        </p:nvSpPr>
        <p:spPr>
          <a:xfrm>
            <a:off x="777240" y="2523744"/>
            <a:ext cx="3931920" cy="274320"/>
          </a:xfrm>
          <a:prstGeom prst="rect">
            <a:avLst/>
          </a:prstGeom>
          <a:noFill/>
          <a:ln/>
        </p:spPr>
        <p:txBody>
          <a:bodyPr wrap="square" lIns="0" tIns="0" rIns="0" bIns="0" rtlCol="0" anchor="ctr"/>
          <a:lstStyle/>
          <a:p>
            <a:pPr indent="0" marL="0">
              <a:buNone/>
            </a:pPr>
            <a:r>
              <a:rPr lang="en-US" sz="1400" b="1" dirty="0">
                <a:solidFill>
                  <a:schemeClr val="tx1"/>
                </a:solidFill>
              </a:rPr>
              <a:t>Level</a:t>
            </a:r>
            <a:endParaRPr lang="en-US" sz="1400" dirty="0"/>
          </a:p>
        </p:txBody>
      </p:sp>
      <p:sp>
        <p:nvSpPr>
          <p:cNvPr id="10" name="Text 7"/>
          <p:cNvSpPr txBox="1"/>
          <p:nvPr/>
        </p:nvSpPr>
        <p:spPr>
          <a:xfrm>
            <a:off x="777240" y="2816352"/>
            <a:ext cx="3931920" cy="438912"/>
          </a:xfrm>
          <a:prstGeom prst="rect">
            <a:avLst/>
          </a:prstGeom>
          <a:noFill/>
          <a:ln/>
        </p:spPr>
        <p:txBody>
          <a:bodyPr wrap="square" lIns="0" tIns="0" rIns="0" bIns="0" rtlCol="0" anchor="t"/>
          <a:lstStyle/>
          <a:p>
            <a:pPr indent="0" marL="0">
              <a:buNone/>
            </a:pPr>
            <a:r>
              <a:rPr lang="en-US" sz="1200" dirty="0">
                <a:solidFill>
                  <a:srgbClr val="1B2A41"/>
                </a:solidFill>
              </a:rPr>
              <a:t>one number per product: its normal size (30 numbers)</a:t>
            </a:r>
            <a:endParaRPr lang="en-US" sz="1200" dirty="0"/>
          </a:p>
        </p:txBody>
      </p:sp>
      <p:sp>
        <p:nvSpPr>
          <p:cNvPr id="11" name="Component card"/>
          <p:cNvSpPr/>
          <p:nvPr/>
        </p:nvSpPr>
        <p:spPr>
          <a:xfrm>
            <a:off x="548640" y="3383280"/>
            <a:ext cx="4297680" cy="822960"/>
          </a:xfrm>
          <a:prstGeom prst="roundRect">
            <a:avLst>
              <a:gd name="adj" fmla="val 8889"/>
            </a:avLst>
          </a:prstGeom>
          <a:solidFill>
            <a:srgbClr val="F2F6FB"/>
          </a:solidFill>
          <a:ln w="12700">
            <a:solidFill>
              <a:srgbClr val="F2F6FB"/>
            </a:solidFill>
            <a:prstDash val="solid"/>
          </a:ln>
        </p:spPr>
      </p:sp>
      <p:sp>
        <p:nvSpPr>
          <p:cNvPr id="12" name="Card accent"/>
          <p:cNvSpPr/>
          <p:nvPr/>
        </p:nvSpPr>
        <p:spPr>
          <a:xfrm>
            <a:off x="548640" y="3383280"/>
            <a:ext cx="82296" cy="822960"/>
          </a:xfrm>
          <a:prstGeom prst="rect">
            <a:avLst/>
          </a:prstGeom>
          <a:solidFill>
            <a:srgbClr val="1BAF7A"/>
          </a:solidFill>
          <a:ln w="12700">
            <a:solidFill>
              <a:srgbClr val="1BAF7A"/>
            </a:solidFill>
            <a:prstDash val="solid"/>
          </a:ln>
        </p:spPr>
      </p:sp>
      <p:sp>
        <p:nvSpPr>
          <p:cNvPr id="13" name="Text 10"/>
          <p:cNvSpPr txBox="1"/>
          <p:nvPr/>
        </p:nvSpPr>
        <p:spPr>
          <a:xfrm>
            <a:off x="777240" y="3438144"/>
            <a:ext cx="3931920" cy="274320"/>
          </a:xfrm>
          <a:prstGeom prst="rect">
            <a:avLst/>
          </a:prstGeom>
          <a:noFill/>
          <a:ln/>
        </p:spPr>
        <p:txBody>
          <a:bodyPr wrap="square" lIns="0" tIns="0" rIns="0" bIns="0" rtlCol="0" anchor="ctr"/>
          <a:lstStyle/>
          <a:p>
            <a:pPr indent="0" marL="0">
              <a:buNone/>
            </a:pPr>
            <a:r>
              <a:rPr lang="en-US" sz="1400" b="1" dirty="0">
                <a:solidFill>
                  <a:schemeClr val="tx1"/>
                </a:solidFill>
              </a:rPr>
              <a:t>Growth trend</a:t>
            </a:r>
            <a:endParaRPr lang="en-US" sz="1400" dirty="0"/>
          </a:p>
        </p:txBody>
      </p:sp>
      <p:sp>
        <p:nvSpPr>
          <p:cNvPr id="14" name="Text 11"/>
          <p:cNvSpPr txBox="1"/>
          <p:nvPr/>
        </p:nvSpPr>
        <p:spPr>
          <a:xfrm>
            <a:off x="777240" y="3730752"/>
            <a:ext cx="3931920" cy="438912"/>
          </a:xfrm>
          <a:prstGeom prst="rect">
            <a:avLst/>
          </a:prstGeom>
          <a:noFill/>
          <a:ln/>
        </p:spPr>
        <p:txBody>
          <a:bodyPr wrap="square" lIns="0" tIns="0" rIns="0" bIns="0" rtlCol="0" anchor="t"/>
          <a:lstStyle/>
          <a:p>
            <a:pPr indent="0" marL="0">
              <a:buNone/>
            </a:pPr>
            <a:r>
              <a:rPr lang="en-US" sz="1200" dirty="0">
                <a:solidFill>
                  <a:srgbClr val="1B2A41"/>
                </a:solidFill>
              </a:rPr>
              <a:t>one shared slope: about +2.8% a year</a:t>
            </a:r>
            <a:endParaRPr lang="en-US" sz="1200" dirty="0"/>
          </a:p>
        </p:txBody>
      </p:sp>
      <p:sp>
        <p:nvSpPr>
          <p:cNvPr id="15" name="Component card"/>
          <p:cNvSpPr/>
          <p:nvPr/>
        </p:nvSpPr>
        <p:spPr>
          <a:xfrm>
            <a:off x="548640" y="4297680"/>
            <a:ext cx="4297680" cy="822960"/>
          </a:xfrm>
          <a:prstGeom prst="roundRect">
            <a:avLst>
              <a:gd name="adj" fmla="val 8889"/>
            </a:avLst>
          </a:prstGeom>
          <a:solidFill>
            <a:srgbClr val="F2F6FB"/>
          </a:solidFill>
          <a:ln w="12700">
            <a:solidFill>
              <a:srgbClr val="F2F6FB"/>
            </a:solidFill>
            <a:prstDash val="solid"/>
          </a:ln>
        </p:spPr>
      </p:sp>
      <p:sp>
        <p:nvSpPr>
          <p:cNvPr id="16" name="Card accent"/>
          <p:cNvSpPr/>
          <p:nvPr/>
        </p:nvSpPr>
        <p:spPr>
          <a:xfrm>
            <a:off x="548640" y="4297680"/>
            <a:ext cx="82296" cy="822960"/>
          </a:xfrm>
          <a:prstGeom prst="rect">
            <a:avLst/>
          </a:prstGeom>
          <a:solidFill>
            <a:srgbClr val="EB6834"/>
          </a:solidFill>
          <a:ln w="12700">
            <a:solidFill>
              <a:srgbClr val="EB6834"/>
            </a:solidFill>
            <a:prstDash val="solid"/>
          </a:ln>
        </p:spPr>
      </p:sp>
      <p:sp>
        <p:nvSpPr>
          <p:cNvPr id="17" name="Text 14"/>
          <p:cNvSpPr txBox="1"/>
          <p:nvPr/>
        </p:nvSpPr>
        <p:spPr>
          <a:xfrm>
            <a:off x="777240" y="4352544"/>
            <a:ext cx="3931920" cy="274320"/>
          </a:xfrm>
          <a:prstGeom prst="rect">
            <a:avLst/>
          </a:prstGeom>
          <a:noFill/>
          <a:ln/>
        </p:spPr>
        <p:txBody>
          <a:bodyPr wrap="square" lIns="0" tIns="0" rIns="0" bIns="0" rtlCol="0" anchor="ctr"/>
          <a:lstStyle/>
          <a:p>
            <a:pPr indent="0" marL="0">
              <a:buNone/>
            </a:pPr>
            <a:r>
              <a:rPr lang="en-US" sz="1400" b="1" dirty="0">
                <a:solidFill>
                  <a:schemeClr val="tx1"/>
                </a:solidFill>
              </a:rPr>
              <a:t>Season</a:t>
            </a:r>
            <a:endParaRPr lang="en-US" sz="1400" dirty="0"/>
          </a:p>
        </p:txBody>
      </p:sp>
      <p:sp>
        <p:nvSpPr>
          <p:cNvPr id="18" name="Text 15"/>
          <p:cNvSpPr txBox="1"/>
          <p:nvPr/>
        </p:nvSpPr>
        <p:spPr>
          <a:xfrm>
            <a:off x="777240" y="4645152"/>
            <a:ext cx="3931920" cy="438912"/>
          </a:xfrm>
          <a:prstGeom prst="rect">
            <a:avLst/>
          </a:prstGeom>
          <a:noFill/>
          <a:ln/>
        </p:spPr>
        <p:txBody>
          <a:bodyPr wrap="square" lIns="0" tIns="0" rIns="0" bIns="0" rtlCol="0" anchor="t"/>
          <a:lstStyle/>
          <a:p>
            <a:pPr indent="0" marL="0">
              <a:buNone/>
            </a:pPr>
            <a:r>
              <a:rPr lang="en-US" sz="1200" dirty="0">
                <a:solidFill>
                  <a:srgbClr val="1B2A41"/>
                </a:solidFill>
              </a:rPr>
              <a:t>K = 3 sine / cosine pairs shared by all 30 products (6 numbers)</a:t>
            </a:r>
            <a:endParaRPr lang="en-US" sz="1200" dirty="0"/>
          </a:p>
        </p:txBody>
      </p:sp>
      <p:sp>
        <p:nvSpPr>
          <p:cNvPr id="19" name="Text 16"/>
          <p:cNvSpPr txBox="1"/>
          <p:nvPr/>
        </p:nvSpPr>
        <p:spPr>
          <a:xfrm>
            <a:off x="5074920" y="2423160"/>
            <a:ext cx="6492240" cy="274320"/>
          </a:xfrm>
          <a:prstGeom prst="rect">
            <a:avLst/>
          </a:prstGeom>
          <a:noFill/>
          <a:ln/>
        </p:spPr>
        <p:txBody>
          <a:bodyPr wrap="square" lIns="0" tIns="0" rIns="0" bIns="0" rtlCol="0" anchor="ctr"/>
          <a:lstStyle/>
          <a:p>
            <a:pPr indent="0" marL="0">
              <a:buNone/>
            </a:pPr>
            <a:r>
              <a:rPr lang="en-US" sz="1300" b="1" dirty="0">
                <a:solidFill>
                  <a:srgbClr val="5B6B80"/>
                </a:solidFill>
              </a:rPr>
              <a:t>Barley, week 235 (first test week)</a:t>
            </a:r>
            <a:endParaRPr lang="en-US" sz="1300" dirty="0"/>
          </a:p>
        </p:txBody>
      </p:sp>
      <p:sp>
        <p:nvSpPr>
          <p:cNvPr id="20" name="Equation chip"/>
          <p:cNvSpPr/>
          <p:nvPr/>
        </p:nvSpPr>
        <p:spPr>
          <a:xfrm>
            <a:off x="5074920" y="2743200"/>
            <a:ext cx="1024128" cy="777240"/>
          </a:xfrm>
          <a:prstGeom prst="roundRect">
            <a:avLst>
              <a:gd name="adj" fmla="val 7059"/>
            </a:avLst>
          </a:prstGeom>
          <a:solidFill>
            <a:srgbClr val="F2F6FB"/>
          </a:solidFill>
          <a:ln w="9525">
            <a:solidFill>
              <a:srgbClr val="D9E1EC"/>
            </a:solidFill>
            <a:prstDash val="solid"/>
          </a:ln>
        </p:spPr>
      </p:sp>
      <p:sp>
        <p:nvSpPr>
          <p:cNvPr id="21" name="Text 18"/>
          <p:cNvSpPr txBox="1"/>
          <p:nvPr/>
        </p:nvSpPr>
        <p:spPr>
          <a:xfrm>
            <a:off x="5074920" y="2770632"/>
            <a:ext cx="1024128" cy="411480"/>
          </a:xfrm>
          <a:prstGeom prst="rect">
            <a:avLst/>
          </a:prstGeom>
          <a:noFill/>
          <a:ln/>
        </p:spPr>
        <p:txBody>
          <a:bodyPr wrap="square" lIns="0" tIns="0" rIns="0" bIns="0" rtlCol="0" anchor="ctr"/>
          <a:lstStyle/>
          <a:p>
            <a:pPr algn="ctr" indent="0" marL="0">
              <a:buNone/>
            </a:pPr>
            <a:r>
              <a:rPr lang="en-US" sz="1500" b="1" dirty="0">
                <a:solidFill>
                  <a:srgbClr val="1B2A41"/>
                </a:solidFill>
                <a:latin typeface="Cambria" pitchFamily="34" charset="0"/>
                <a:ea typeface="Cambria" pitchFamily="34" charset="-122"/>
                <a:cs typeface="Cambria" pitchFamily="34" charset="-120"/>
              </a:rPr>
              <a:t>2,579</a:t>
            </a:r>
            <a:endParaRPr lang="en-US" sz="1500" dirty="0"/>
          </a:p>
        </p:txBody>
      </p:sp>
      <p:sp>
        <p:nvSpPr>
          <p:cNvPr id="22" name="Text 19"/>
          <p:cNvSpPr txBox="1"/>
          <p:nvPr/>
        </p:nvSpPr>
        <p:spPr>
          <a:xfrm>
            <a:off x="5074920" y="3163824"/>
            <a:ext cx="1024128" cy="320040"/>
          </a:xfrm>
          <a:prstGeom prst="rect">
            <a:avLst/>
          </a:prstGeom>
          <a:noFill/>
          <a:ln/>
        </p:spPr>
        <p:txBody>
          <a:bodyPr wrap="square" lIns="0" tIns="0" rIns="0" bIns="0" rtlCol="0" anchor="t"/>
          <a:lstStyle/>
          <a:p>
            <a:pPr algn="ctr" indent="0" marL="0">
              <a:buNone/>
            </a:pPr>
            <a:r>
              <a:rPr lang="en-US" sz="950" dirty="0">
                <a:solidFill>
                  <a:srgbClr val="5B6B80"/>
                </a:solidFill>
              </a:rPr>
              <a:t>level (units)</a:t>
            </a:r>
            <a:endParaRPr lang="en-US" sz="950" dirty="0"/>
          </a:p>
        </p:txBody>
      </p:sp>
      <p:sp>
        <p:nvSpPr>
          <p:cNvPr id="23" name="Equation chip"/>
          <p:cNvSpPr/>
          <p:nvPr/>
        </p:nvSpPr>
        <p:spPr>
          <a:xfrm>
            <a:off x="6163056" y="2743200"/>
            <a:ext cx="1024128" cy="777240"/>
          </a:xfrm>
          <a:prstGeom prst="roundRect">
            <a:avLst>
              <a:gd name="adj" fmla="val 7059"/>
            </a:avLst>
          </a:prstGeom>
          <a:solidFill>
            <a:srgbClr val="F2F6FB"/>
          </a:solidFill>
          <a:ln w="9525">
            <a:solidFill>
              <a:srgbClr val="D9E1EC"/>
            </a:solidFill>
            <a:prstDash val="solid"/>
          </a:ln>
        </p:spPr>
      </p:sp>
      <p:sp>
        <p:nvSpPr>
          <p:cNvPr id="24" name="Text 21"/>
          <p:cNvSpPr txBox="1"/>
          <p:nvPr/>
        </p:nvSpPr>
        <p:spPr>
          <a:xfrm>
            <a:off x="6163056" y="2770632"/>
            <a:ext cx="1024128" cy="411480"/>
          </a:xfrm>
          <a:prstGeom prst="rect">
            <a:avLst/>
          </a:prstGeom>
          <a:noFill/>
          <a:ln/>
        </p:spPr>
        <p:txBody>
          <a:bodyPr wrap="square" lIns="0" tIns="0" rIns="0" bIns="0" rtlCol="0" anchor="ctr"/>
          <a:lstStyle/>
          <a:p>
            <a:pPr algn="ctr" indent="0" marL="0">
              <a:buNone/>
            </a:pPr>
            <a:r>
              <a:rPr lang="en-US" sz="1500" b="1" dirty="0">
                <a:solidFill>
                  <a:srgbClr val="1B2A41"/>
                </a:solidFill>
                <a:latin typeface="Cambria" pitchFamily="34" charset="0"/>
                <a:ea typeface="Cambria" pitchFamily="34" charset="-122"/>
                <a:cs typeface="Cambria" pitchFamily="34" charset="-120"/>
              </a:rPr>
              <a:t>× 1.057</a:t>
            </a:r>
            <a:endParaRPr lang="en-US" sz="1500" dirty="0"/>
          </a:p>
        </p:txBody>
      </p:sp>
      <p:sp>
        <p:nvSpPr>
          <p:cNvPr id="25" name="Text 22"/>
          <p:cNvSpPr txBox="1"/>
          <p:nvPr/>
        </p:nvSpPr>
        <p:spPr>
          <a:xfrm>
            <a:off x="6163056" y="3163824"/>
            <a:ext cx="1024128" cy="320040"/>
          </a:xfrm>
          <a:prstGeom prst="rect">
            <a:avLst/>
          </a:prstGeom>
          <a:noFill/>
          <a:ln/>
        </p:spPr>
        <p:txBody>
          <a:bodyPr wrap="square" lIns="0" tIns="0" rIns="0" bIns="0" rtlCol="0" anchor="t"/>
          <a:lstStyle/>
          <a:p>
            <a:pPr algn="ctr" indent="0" marL="0">
              <a:buNone/>
            </a:pPr>
            <a:r>
              <a:rPr lang="en-US" sz="950" dirty="0">
                <a:solidFill>
                  <a:srgbClr val="5B6B80"/>
                </a:solidFill>
              </a:rPr>
              <a:t>trend</a:t>
            </a:r>
            <a:endParaRPr lang="en-US" sz="950" dirty="0"/>
          </a:p>
        </p:txBody>
      </p:sp>
      <p:sp>
        <p:nvSpPr>
          <p:cNvPr id="26" name="Equation chip"/>
          <p:cNvSpPr/>
          <p:nvPr/>
        </p:nvSpPr>
        <p:spPr>
          <a:xfrm>
            <a:off x="7251192" y="2743200"/>
            <a:ext cx="1024128" cy="777240"/>
          </a:xfrm>
          <a:prstGeom prst="roundRect">
            <a:avLst>
              <a:gd name="adj" fmla="val 7059"/>
            </a:avLst>
          </a:prstGeom>
          <a:solidFill>
            <a:srgbClr val="F2F6FB"/>
          </a:solidFill>
          <a:ln w="9525">
            <a:solidFill>
              <a:srgbClr val="D9E1EC"/>
            </a:solidFill>
            <a:prstDash val="solid"/>
          </a:ln>
        </p:spPr>
      </p:sp>
      <p:sp>
        <p:nvSpPr>
          <p:cNvPr id="27" name="Text 24"/>
          <p:cNvSpPr txBox="1"/>
          <p:nvPr/>
        </p:nvSpPr>
        <p:spPr>
          <a:xfrm>
            <a:off x="7251192" y="2770632"/>
            <a:ext cx="1024128" cy="411480"/>
          </a:xfrm>
          <a:prstGeom prst="rect">
            <a:avLst/>
          </a:prstGeom>
          <a:noFill/>
          <a:ln/>
        </p:spPr>
        <p:txBody>
          <a:bodyPr wrap="square" lIns="0" tIns="0" rIns="0" bIns="0" rtlCol="0" anchor="ctr"/>
          <a:lstStyle/>
          <a:p>
            <a:pPr algn="ctr" indent="0" marL="0">
              <a:buNone/>
            </a:pPr>
            <a:r>
              <a:rPr lang="en-US" sz="1500" b="1" dirty="0">
                <a:solidFill>
                  <a:srgbClr val="1B2A41"/>
                </a:solidFill>
                <a:latin typeface="Cambria" pitchFamily="34" charset="0"/>
                <a:ea typeface="Cambria" pitchFamily="34" charset="-122"/>
                <a:cs typeface="Cambria" pitchFamily="34" charset="-120"/>
              </a:rPr>
              <a:t>× 0.983</a:t>
            </a:r>
            <a:endParaRPr lang="en-US" sz="1500" dirty="0"/>
          </a:p>
        </p:txBody>
      </p:sp>
      <p:sp>
        <p:nvSpPr>
          <p:cNvPr id="28" name="Text 25"/>
          <p:cNvSpPr txBox="1"/>
          <p:nvPr/>
        </p:nvSpPr>
        <p:spPr>
          <a:xfrm>
            <a:off x="7251192" y="3163824"/>
            <a:ext cx="1024128" cy="320040"/>
          </a:xfrm>
          <a:prstGeom prst="rect">
            <a:avLst/>
          </a:prstGeom>
          <a:noFill/>
          <a:ln/>
        </p:spPr>
        <p:txBody>
          <a:bodyPr wrap="square" lIns="0" tIns="0" rIns="0" bIns="0" rtlCol="0" anchor="t"/>
          <a:lstStyle/>
          <a:p>
            <a:pPr algn="ctr" indent="0" marL="0">
              <a:buNone/>
            </a:pPr>
            <a:r>
              <a:rPr lang="en-US" sz="950" dirty="0">
                <a:solidFill>
                  <a:srgbClr val="5B6B80"/>
                </a:solidFill>
              </a:rPr>
              <a:t>season, week 27</a:t>
            </a:r>
            <a:endParaRPr lang="en-US" sz="950" dirty="0"/>
          </a:p>
        </p:txBody>
      </p:sp>
      <p:sp>
        <p:nvSpPr>
          <p:cNvPr id="29" name="Equation chip"/>
          <p:cNvSpPr/>
          <p:nvPr/>
        </p:nvSpPr>
        <p:spPr>
          <a:xfrm>
            <a:off x="8339328" y="2743200"/>
            <a:ext cx="1024128" cy="777240"/>
          </a:xfrm>
          <a:prstGeom prst="roundRect">
            <a:avLst>
              <a:gd name="adj" fmla="val 7059"/>
            </a:avLst>
          </a:prstGeom>
          <a:solidFill>
            <a:srgbClr val="F2F6FB"/>
          </a:solidFill>
          <a:ln w="9525">
            <a:solidFill>
              <a:srgbClr val="D9E1EC"/>
            </a:solidFill>
            <a:prstDash val="solid"/>
          </a:ln>
        </p:spPr>
      </p:sp>
      <p:sp>
        <p:nvSpPr>
          <p:cNvPr id="30" name="Text 27"/>
          <p:cNvSpPr txBox="1"/>
          <p:nvPr/>
        </p:nvSpPr>
        <p:spPr>
          <a:xfrm>
            <a:off x="8339328" y="2770632"/>
            <a:ext cx="1024128" cy="411480"/>
          </a:xfrm>
          <a:prstGeom prst="rect">
            <a:avLst/>
          </a:prstGeom>
          <a:noFill/>
          <a:ln/>
        </p:spPr>
        <p:txBody>
          <a:bodyPr wrap="square" lIns="0" tIns="0" rIns="0" bIns="0" rtlCol="0" anchor="ctr"/>
          <a:lstStyle/>
          <a:p>
            <a:pPr algn="ctr" indent="0" marL="0">
              <a:buNone/>
            </a:pPr>
            <a:r>
              <a:rPr lang="en-US" sz="1500" b="1" dirty="0">
                <a:solidFill>
                  <a:srgbClr val="1B2A41"/>
                </a:solidFill>
                <a:latin typeface="Cambria" pitchFamily="34" charset="0"/>
                <a:ea typeface="Cambria" pitchFamily="34" charset="-122"/>
                <a:cs typeface="Cambria" pitchFamily="34" charset="-120"/>
              </a:rPr>
              <a:t>× 1.002</a:t>
            </a:r>
            <a:endParaRPr lang="en-US" sz="1500" dirty="0"/>
          </a:p>
        </p:txBody>
      </p:sp>
      <p:sp>
        <p:nvSpPr>
          <p:cNvPr id="31" name="Text 28"/>
          <p:cNvSpPr txBox="1"/>
          <p:nvPr/>
        </p:nvSpPr>
        <p:spPr>
          <a:xfrm>
            <a:off x="8339328" y="3163824"/>
            <a:ext cx="1024128" cy="320040"/>
          </a:xfrm>
          <a:prstGeom prst="rect">
            <a:avLst/>
          </a:prstGeom>
          <a:noFill/>
          <a:ln/>
        </p:spPr>
        <p:txBody>
          <a:bodyPr wrap="square" lIns="0" tIns="0" rIns="0" bIns="0" rtlCol="0" anchor="t"/>
          <a:lstStyle/>
          <a:p>
            <a:pPr algn="ctr" indent="0" marL="0">
              <a:buNone/>
            </a:pPr>
            <a:r>
              <a:rPr lang="en-US" sz="950" dirty="0">
                <a:solidFill>
                  <a:srgbClr val="5B6B80"/>
                </a:solidFill>
              </a:rPr>
              <a:t>log bias fix</a:t>
            </a:r>
            <a:endParaRPr lang="en-US" sz="950" dirty="0"/>
          </a:p>
        </p:txBody>
      </p:sp>
      <p:sp>
        <p:nvSpPr>
          <p:cNvPr id="32" name="Equation chip"/>
          <p:cNvSpPr/>
          <p:nvPr/>
        </p:nvSpPr>
        <p:spPr>
          <a:xfrm>
            <a:off x="9427464" y="2743200"/>
            <a:ext cx="1024128" cy="777240"/>
          </a:xfrm>
          <a:prstGeom prst="roundRect">
            <a:avLst>
              <a:gd name="adj" fmla="val 7059"/>
            </a:avLst>
          </a:prstGeom>
          <a:solidFill>
            <a:srgbClr val="E3F6EE"/>
          </a:solidFill>
          <a:ln w="9525">
            <a:solidFill>
              <a:srgbClr val="D9E1EC"/>
            </a:solidFill>
            <a:prstDash val="solid"/>
          </a:ln>
        </p:spPr>
      </p:sp>
      <p:sp>
        <p:nvSpPr>
          <p:cNvPr id="33" name="Text 30"/>
          <p:cNvSpPr txBox="1"/>
          <p:nvPr/>
        </p:nvSpPr>
        <p:spPr>
          <a:xfrm>
            <a:off x="9427464" y="2770632"/>
            <a:ext cx="1024128" cy="411480"/>
          </a:xfrm>
          <a:prstGeom prst="rect">
            <a:avLst/>
          </a:prstGeom>
          <a:noFill/>
          <a:ln/>
        </p:spPr>
        <p:txBody>
          <a:bodyPr wrap="square" lIns="0" tIns="0" rIns="0" bIns="0" rtlCol="0" anchor="ctr"/>
          <a:lstStyle/>
          <a:p>
            <a:pPr algn="ctr" indent="0" marL="0">
              <a:buNone/>
            </a:pPr>
            <a:r>
              <a:rPr lang="en-US" sz="1500" b="1" dirty="0">
                <a:solidFill>
                  <a:srgbClr val="138A5F"/>
                </a:solidFill>
                <a:latin typeface="Cambria" pitchFamily="34" charset="0"/>
                <a:ea typeface="Cambria" pitchFamily="34" charset="-122"/>
                <a:cs typeface="Cambria" pitchFamily="34" charset="-120"/>
              </a:rPr>
              <a:t>= 2,687</a:t>
            </a:r>
            <a:endParaRPr lang="en-US" sz="1500" dirty="0"/>
          </a:p>
        </p:txBody>
      </p:sp>
      <p:sp>
        <p:nvSpPr>
          <p:cNvPr id="34" name="Text 31"/>
          <p:cNvSpPr txBox="1"/>
          <p:nvPr/>
        </p:nvSpPr>
        <p:spPr>
          <a:xfrm>
            <a:off x="9427464" y="3163824"/>
            <a:ext cx="1024128" cy="320040"/>
          </a:xfrm>
          <a:prstGeom prst="rect">
            <a:avLst/>
          </a:prstGeom>
          <a:noFill/>
          <a:ln/>
        </p:spPr>
        <p:txBody>
          <a:bodyPr wrap="square" lIns="0" tIns="0" rIns="0" bIns="0" rtlCol="0" anchor="t"/>
          <a:lstStyle/>
          <a:p>
            <a:pPr algn="ctr" indent="0" marL="0">
              <a:buNone/>
            </a:pPr>
            <a:r>
              <a:rPr lang="en-US" sz="950" dirty="0">
                <a:solidFill>
                  <a:srgbClr val="5B6B80"/>
                </a:solidFill>
              </a:rPr>
              <a:t>forecast</a:t>
            </a:r>
            <a:endParaRPr lang="en-US" sz="950" dirty="0"/>
          </a:p>
        </p:txBody>
      </p:sp>
      <p:sp>
        <p:nvSpPr>
          <p:cNvPr id="35" name="Equation chip"/>
          <p:cNvSpPr/>
          <p:nvPr/>
        </p:nvSpPr>
        <p:spPr>
          <a:xfrm>
            <a:off x="10515600" y="2743200"/>
            <a:ext cx="1024128" cy="777240"/>
          </a:xfrm>
          <a:prstGeom prst="roundRect">
            <a:avLst>
              <a:gd name="adj" fmla="val 7059"/>
            </a:avLst>
          </a:prstGeom>
          <a:solidFill>
            <a:srgbClr val="FDEBE4"/>
          </a:solidFill>
          <a:ln w="9525">
            <a:solidFill>
              <a:srgbClr val="D9E1EC"/>
            </a:solidFill>
            <a:prstDash val="solid"/>
          </a:ln>
        </p:spPr>
      </p:sp>
      <p:sp>
        <p:nvSpPr>
          <p:cNvPr id="36" name="Text 33"/>
          <p:cNvSpPr txBox="1"/>
          <p:nvPr/>
        </p:nvSpPr>
        <p:spPr>
          <a:xfrm>
            <a:off x="10515600" y="2770632"/>
            <a:ext cx="1024128" cy="411480"/>
          </a:xfrm>
          <a:prstGeom prst="rect">
            <a:avLst/>
          </a:prstGeom>
          <a:noFill/>
          <a:ln/>
        </p:spPr>
        <p:txBody>
          <a:bodyPr wrap="square" lIns="0" tIns="0" rIns="0" bIns="0" rtlCol="0" anchor="ctr"/>
          <a:lstStyle/>
          <a:p>
            <a:pPr algn="ctr" indent="0" marL="0">
              <a:buNone/>
            </a:pPr>
            <a:r>
              <a:rPr lang="en-US" sz="1500" b="1" dirty="0">
                <a:solidFill>
                  <a:srgbClr val="C24E1F"/>
                </a:solidFill>
                <a:latin typeface="Cambria" pitchFamily="34" charset="0"/>
                <a:ea typeface="Cambria" pitchFamily="34" charset="-122"/>
                <a:cs typeface="Cambria" pitchFamily="34" charset="-120"/>
              </a:rPr>
              <a:t>2,505</a:t>
            </a:r>
            <a:endParaRPr lang="en-US" sz="1500" dirty="0"/>
          </a:p>
        </p:txBody>
      </p:sp>
      <p:sp>
        <p:nvSpPr>
          <p:cNvPr id="37" name="Text 34"/>
          <p:cNvSpPr txBox="1"/>
          <p:nvPr/>
        </p:nvSpPr>
        <p:spPr>
          <a:xfrm>
            <a:off x="10515600" y="3163824"/>
            <a:ext cx="1024128" cy="320040"/>
          </a:xfrm>
          <a:prstGeom prst="rect">
            <a:avLst/>
          </a:prstGeom>
          <a:noFill/>
          <a:ln/>
        </p:spPr>
        <p:txBody>
          <a:bodyPr wrap="square" lIns="0" tIns="0" rIns="0" bIns="0" rtlCol="0" anchor="t"/>
          <a:lstStyle/>
          <a:p>
            <a:pPr algn="ctr" indent="0" marL="0">
              <a:buNone/>
            </a:pPr>
            <a:r>
              <a:rPr lang="en-US" sz="950" dirty="0">
                <a:solidFill>
                  <a:srgbClr val="5B6B80"/>
                </a:solidFill>
              </a:rPr>
              <a:t>actual</a:t>
            </a:r>
            <a:endParaRPr lang="en-US" sz="950" dirty="0"/>
          </a:p>
        </p:txBody>
      </p:sp>
      <p:graphicFrame>
        <p:nvGraphicFramePr>
          <p:cNvPr id="38" name="Chart 0" descr=""/>
          <p:cNvGraphicFramePr/>
          <p:nvPr/>
        </p:nvGraphicFramePr>
        <p:xfrm>
          <a:off x="4983480" y="3611880"/>
          <a:ext cx="6629400" cy="1828800"/>
        </p:xfrm>
        <a:graphic xmlns:a="http://schemas.openxmlformats.org/drawingml/2006/main">
          <a:graphicData uri="http://schemas.openxmlformats.org/drawingml/2006/chart">
            <c:chart xmlns:c="http://schemas.openxmlformats.org/drawingml/2006/chart" r:id="rId1"/>
          </a:graphicData>
        </a:graphic>
      </p:graphicFrame>
      <p:sp>
        <p:nvSpPr>
          <p:cNvPr id="39" name="Text 35"/>
          <p:cNvSpPr txBox="1"/>
          <p:nvPr/>
        </p:nvSpPr>
        <p:spPr>
          <a:xfrm>
            <a:off x="5074920" y="5440680"/>
            <a:ext cx="6492240" cy="256032"/>
          </a:xfrm>
          <a:prstGeom prst="rect">
            <a:avLst/>
          </a:prstGeom>
          <a:noFill/>
          <a:ln/>
        </p:spPr>
        <p:txBody>
          <a:bodyPr wrap="square" lIns="0" tIns="0" rIns="0" bIns="0" rtlCol="0" anchor="ctr"/>
          <a:lstStyle/>
          <a:p>
            <a:pPr indent="0" marL="0">
              <a:buNone/>
            </a:pPr>
            <a:r>
              <a:rPr lang="en-US" sz="1100" i="1" dirty="0">
                <a:solidFill>
                  <a:srgbClr val="5B6B80"/>
                </a:solidFill>
              </a:rPr>
              <a:t>Barley, 26 test weeks: forecast vs actual, average miss 4.8% (all products 4.6%)</a:t>
            </a:r>
            <a:endParaRPr lang="en-US" sz="1100" dirty="0"/>
          </a:p>
        </p:txBody>
      </p:sp>
      <p:sp>
        <p:nvSpPr>
          <p:cNvPr id="40" name="Callout"/>
          <p:cNvSpPr/>
          <p:nvPr/>
        </p:nvSpPr>
        <p:spPr>
          <a:xfrm>
            <a:off x="548640" y="5486400"/>
            <a:ext cx="4297680" cy="822960"/>
          </a:xfrm>
          <a:prstGeom prst="roundRect">
            <a:avLst>
              <a:gd name="adj" fmla="val 8889"/>
            </a:avLst>
          </a:prstGeom>
          <a:solidFill>
            <a:srgbClr val="F2F6FB"/>
          </a:solidFill>
          <a:ln w="12700">
            <a:solidFill>
              <a:srgbClr val="D9E1EC"/>
            </a:solidFill>
            <a:prstDash val="solid"/>
          </a:ln>
        </p:spPr>
      </p:sp>
      <p:sp>
        <p:nvSpPr>
          <p:cNvPr id="41" name="Text 37"/>
          <p:cNvSpPr txBox="1"/>
          <p:nvPr/>
        </p:nvSpPr>
        <p:spPr>
          <a:xfrm>
            <a:off x="731520" y="5596128"/>
            <a:ext cx="3931920" cy="292608"/>
          </a:xfrm>
          <a:prstGeom prst="rect">
            <a:avLst/>
          </a:prstGeom>
          <a:noFill/>
          <a:ln/>
        </p:spPr>
        <p:txBody>
          <a:bodyPr wrap="square" lIns="0" tIns="0" rIns="0" bIns="0" rtlCol="0" anchor="ctr"/>
          <a:lstStyle/>
          <a:p>
            <a:pPr indent="0" marL="0">
              <a:buNone/>
            </a:pPr>
            <a:r>
              <a:rPr lang="en-US" sz="1400" b="1" dirty="0">
                <a:solidFill>
                  <a:schemeClr val="accent1"/>
                </a:solidFill>
              </a:rPr>
              <a:t>Why it wins</a:t>
            </a:r>
            <a:endParaRPr lang="en-US" sz="1400" dirty="0"/>
          </a:p>
        </p:txBody>
      </p:sp>
      <p:sp>
        <p:nvSpPr>
          <p:cNvPr id="42" name="Text 38"/>
          <p:cNvSpPr txBox="1"/>
          <p:nvPr/>
        </p:nvSpPr>
        <p:spPr>
          <a:xfrm>
            <a:off x="731520" y="5943600"/>
            <a:ext cx="3931920" cy="27432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37 numbers learned from 7,800 weeks: little room to over-fit</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RESULTS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13 models compared: the simple structure wins</a:t>
            </a:r>
            <a:endParaRPr lang="en-US" sz="3000" dirty="0"/>
          </a:p>
        </p:txBody>
      </p:sp>
      <p:graphicFrame>
        <p:nvGraphicFramePr>
          <p:cNvPr id="5" name="Chart 0" descr=""/>
          <p:cNvGraphicFramePr/>
          <p:nvPr/>
        </p:nvGraphicFramePr>
        <p:xfrm>
          <a:off x="548640" y="1600200"/>
          <a:ext cx="7223760" cy="4709160"/>
        </p:xfrm>
        <a:graphic xmlns:a="http://schemas.openxmlformats.org/drawingml/2006/main">
          <a:graphicData uri="http://schemas.openxmlformats.org/drawingml/2006/chart">
            <c:chart xmlns:c="http://schemas.openxmlformats.org/drawingml/2006/chart" r:id="rId1"/>
          </a:graphicData>
        </a:graphic>
      </p:graphicFrame>
      <p:sp>
        <p:nvSpPr>
          <p:cNvPr id="6" name="Stat card"/>
          <p:cNvSpPr/>
          <p:nvPr/>
        </p:nvSpPr>
        <p:spPr>
          <a:xfrm>
            <a:off x="8046720" y="1645920"/>
            <a:ext cx="1737360" cy="1188720"/>
          </a:xfrm>
          <a:prstGeom prst="roundRect">
            <a:avLst>
              <a:gd name="adj" fmla="val 6154"/>
            </a:avLst>
          </a:prstGeom>
          <a:solidFill>
            <a:srgbClr val="F2F6FB"/>
          </a:solidFill>
          <a:ln w="12700">
            <a:solidFill>
              <a:srgbClr val="F2F6FB"/>
            </a:solidFill>
            <a:prstDash val="solid"/>
          </a:ln>
        </p:spPr>
      </p:sp>
      <p:sp>
        <p:nvSpPr>
          <p:cNvPr id="7" name="Text 3"/>
          <p:cNvSpPr txBox="1"/>
          <p:nvPr/>
        </p:nvSpPr>
        <p:spPr>
          <a:xfrm>
            <a:off x="8183880" y="1719072"/>
            <a:ext cx="1463040" cy="534924"/>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4.57%</a:t>
            </a:r>
            <a:endParaRPr lang="en-US" sz="2600" dirty="0"/>
          </a:p>
        </p:txBody>
      </p:sp>
      <p:sp>
        <p:nvSpPr>
          <p:cNvPr id="8" name="Text 4"/>
          <p:cNvSpPr txBox="1"/>
          <p:nvPr/>
        </p:nvSpPr>
        <p:spPr>
          <a:xfrm>
            <a:off x="8183880" y="2264054"/>
            <a:ext cx="1463040" cy="546811"/>
          </a:xfrm>
          <a:prstGeom prst="rect">
            <a:avLst/>
          </a:prstGeom>
          <a:noFill/>
          <a:ln/>
        </p:spPr>
        <p:txBody>
          <a:bodyPr wrap="square" lIns="0" tIns="0" rIns="0" bIns="0" rtlCol="0" anchor="t"/>
          <a:lstStyle/>
          <a:p>
            <a:pPr indent="0" marL="0">
              <a:buNone/>
            </a:pPr>
            <a:r>
              <a:rPr lang="en-US" sz="1300" dirty="0">
                <a:solidFill>
                  <a:srgbClr val="5B6B80"/>
                </a:solidFill>
              </a:rPr>
              <a:t>winner, all test weeks</a:t>
            </a:r>
            <a:endParaRPr lang="en-US" sz="1300" dirty="0"/>
          </a:p>
        </p:txBody>
      </p:sp>
      <p:sp>
        <p:nvSpPr>
          <p:cNvPr id="9" name="Stat card"/>
          <p:cNvSpPr/>
          <p:nvPr/>
        </p:nvSpPr>
        <p:spPr>
          <a:xfrm>
            <a:off x="9875520" y="1645920"/>
            <a:ext cx="1737360" cy="1188720"/>
          </a:xfrm>
          <a:prstGeom prst="roundRect">
            <a:avLst>
              <a:gd name="adj" fmla="val 6154"/>
            </a:avLst>
          </a:prstGeom>
          <a:solidFill>
            <a:srgbClr val="F2F6FB"/>
          </a:solidFill>
          <a:ln w="12700">
            <a:solidFill>
              <a:srgbClr val="F2F6FB"/>
            </a:solidFill>
            <a:prstDash val="solid"/>
          </a:ln>
        </p:spPr>
      </p:sp>
      <p:sp>
        <p:nvSpPr>
          <p:cNvPr id="10" name="Text 6"/>
          <p:cNvSpPr txBox="1"/>
          <p:nvPr/>
        </p:nvSpPr>
        <p:spPr>
          <a:xfrm>
            <a:off x="10012680" y="1719072"/>
            <a:ext cx="1463040" cy="534924"/>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6.64%</a:t>
            </a:r>
            <a:endParaRPr lang="en-US" sz="2600" dirty="0"/>
          </a:p>
        </p:txBody>
      </p:sp>
      <p:sp>
        <p:nvSpPr>
          <p:cNvPr id="11" name="Text 7"/>
          <p:cNvSpPr txBox="1"/>
          <p:nvPr/>
        </p:nvSpPr>
        <p:spPr>
          <a:xfrm>
            <a:off x="10012680" y="2264054"/>
            <a:ext cx="1463040" cy="546811"/>
          </a:xfrm>
          <a:prstGeom prst="rect">
            <a:avLst/>
          </a:prstGeom>
          <a:noFill/>
          <a:ln/>
        </p:spPr>
        <p:txBody>
          <a:bodyPr wrap="square" lIns="0" tIns="0" rIns="0" bIns="0" rtlCol="0" anchor="t"/>
          <a:lstStyle/>
          <a:p>
            <a:pPr indent="0" marL="0">
              <a:buNone/>
            </a:pPr>
            <a:r>
              <a:rPr lang="en-US" sz="1300" dirty="0">
                <a:solidFill>
                  <a:srgbClr val="5B6B80"/>
                </a:solidFill>
              </a:rPr>
              <a:t>winner, unconstrained weeks</a:t>
            </a:r>
            <a:endParaRPr lang="en-US" sz="1300" dirty="0"/>
          </a:p>
        </p:txBody>
      </p:sp>
      <p:sp>
        <p:nvSpPr>
          <p:cNvPr id="12" name="Text 8"/>
          <p:cNvSpPr txBox="1"/>
          <p:nvPr/>
        </p:nvSpPr>
        <p:spPr>
          <a:xfrm>
            <a:off x="8046720" y="3017520"/>
            <a:ext cx="3566160" cy="3200400"/>
          </a:xfrm>
          <a:prstGeom prst="rect">
            <a:avLst/>
          </a:prstGeom>
          <a:noFill/>
          <a:ln/>
        </p:spPr>
        <p:txBody>
          <a:bodyPr wrap="square" lIns="0" tIns="0" rIns="0" bIns="0" rtlCol="0" anchor="t"/>
          <a:lstStyle/>
          <a:p>
            <a:pPr marL="203200" indent="-203200">
              <a:spcAft>
                <a:spcPts val="800"/>
              </a:spcAft>
              <a:buSzPct val="100000"/>
              <a:buChar char="•"/>
            </a:pPr>
            <a:r>
              <a:rPr lang="en-US" sz="1300" b="1" dirty="0">
                <a:solidFill>
                  <a:srgbClr val="1B2A41"/>
                </a:solidFill>
              </a:rPr>
              <a:t>Honest figure: </a:t>
            </a:r>
            <a:pPr indent="0" marL="0">
              <a:spcAft>
                <a:spcPts val="800"/>
              </a:spcAft>
              <a:buNone/>
            </a:pPr>
            <a:r>
              <a:rPr lang="en-US" sz="1300" dirty="0">
                <a:solidFill>
                  <a:srgbClr val="1B2A41"/>
                </a:solidFill>
              </a:rPr>
              <a:t>6.6% where demand was observed directly.</a:t>
            </a:r>
            <a:endParaRPr lang="en-US" sz="1300" dirty="0"/>
          </a:p>
          <a:p>
            <a:pPr marL="203200" indent="-203200">
              <a:spcAft>
                <a:spcPts val="800"/>
              </a:spcAft>
              <a:buSzPct val="100000"/>
              <a:buChar char="•"/>
            </a:pPr>
            <a:r>
              <a:rPr lang="en-US" sz="1300" b="1" dirty="0">
                <a:solidFill>
                  <a:srgbClr val="1B2A41"/>
                </a:solidFill>
              </a:rPr>
              <a:t>Top models tie there: </a:t>
            </a:r>
            <a:pPr indent="0" marL="0">
              <a:spcAft>
                <a:spcPts val="800"/>
              </a:spcAft>
              <a:buNone/>
            </a:pPr>
            <a:r>
              <a:rPr lang="en-US" sz="1300" dirty="0">
                <a:solidFill>
                  <a:srgbClr val="1B2A41"/>
                </a:solidFill>
              </a:rPr>
              <a:t>6.6 to 6.8%. The structure matters, not complexity.</a:t>
            </a:r>
            <a:endParaRPr lang="en-US" sz="1300" dirty="0"/>
          </a:p>
          <a:p>
            <a:pPr marL="203200" indent="-203200">
              <a:spcAft>
                <a:spcPts val="800"/>
              </a:spcAft>
              <a:buSzPct val="100000"/>
              <a:buChar char="•"/>
            </a:pPr>
            <a:r>
              <a:rPr lang="en-US" sz="1300" b="1" dirty="0">
                <a:solidFill>
                  <a:srgbClr val="1B2A41"/>
                </a:solidFill>
              </a:rPr>
              <a:t>ML does not win: </a:t>
            </a:r>
            <a:pPr indent="0" marL="0">
              <a:spcAft>
                <a:spcPts val="800"/>
              </a:spcAft>
              <a:buNone/>
            </a:pPr>
            <a:r>
              <a:rPr lang="en-US" sz="1300" dirty="0">
                <a:solidFill>
                  <a:srgbClr val="1B2A41"/>
                </a:solidFill>
              </a:rPr>
              <a:t>LightGBM 4.78%, Prophet 4.76%.</a:t>
            </a:r>
            <a:endParaRPr lang="en-US" sz="1300" dirty="0"/>
          </a:p>
          <a:p>
            <a:pPr marL="203200" indent="-203200">
              <a:spcAft>
                <a:spcPts val="800"/>
              </a:spcAft>
              <a:buSzPct val="100000"/>
              <a:buChar char="•"/>
            </a:pPr>
            <a:r>
              <a:rPr lang="en-US" sz="1300" b="1" dirty="0">
                <a:solidFill>
                  <a:srgbClr val="1B2A41"/>
                </a:solidFill>
              </a:rPr>
              <a:t>13% better </a:t>
            </a:r>
            <a:pPr indent="0" marL="0">
              <a:spcAft>
                <a:spcPts val="800"/>
              </a:spcAft>
              <a:buNone/>
            </a:pPr>
            <a:r>
              <a:rPr lang="en-US" sz="1300" dirty="0">
                <a:solidFill>
                  <a:srgbClr val="1B2A41"/>
                </a:solidFill>
              </a:rPr>
              <a:t>than the best simple rule, 34% than last year's week.</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THE 26-WEEK FORECAST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Next 26 weeks: $64.6M potential, $28.7M unserved</a:t>
            </a:r>
            <a:endParaRPr lang="en-US" sz="3000" dirty="0"/>
          </a:p>
        </p:txBody>
      </p:sp>
      <p:pic>
        <p:nvPicPr>
          <p:cNvPr id="5" name="Forecast figure" descr="/home/user/Technical_Assessment_HamidrezaNademi/part2_forecasting_v1.2/figures/final_forecast_v1.2.png">    </p:cNvPr>
          <p:cNvPicPr>
            <a:picLocks noChangeAspect="1"/>
          </p:cNvPicPr>
          <p:nvPr/>
        </p:nvPicPr>
        <p:blipFill>
          <a:blip r:embed="rId1"/>
          <a:stretch>
            <a:fillRect/>
          </a:stretch>
        </p:blipFill>
        <p:spPr>
          <a:xfrm>
            <a:off x="548640" y="1600200"/>
            <a:ext cx="6583680" cy="2103120"/>
          </a:xfrm>
          <a:prstGeom prst="rect">
            <a:avLst/>
          </a:prstGeom>
        </p:spPr>
      </p:pic>
      <p:sp>
        <p:nvSpPr>
          <p:cNvPr id="6" name="Stat card"/>
          <p:cNvSpPr/>
          <p:nvPr/>
        </p:nvSpPr>
        <p:spPr>
          <a:xfrm>
            <a:off x="7315200" y="1600200"/>
            <a:ext cx="1325880" cy="1005840"/>
          </a:xfrm>
          <a:prstGeom prst="roundRect">
            <a:avLst>
              <a:gd name="adj" fmla="val 7273"/>
            </a:avLst>
          </a:prstGeom>
          <a:solidFill>
            <a:srgbClr val="F2F6FB"/>
          </a:solidFill>
          <a:ln w="12700">
            <a:solidFill>
              <a:srgbClr val="F2F6FB"/>
            </a:solidFill>
            <a:prstDash val="solid"/>
          </a:ln>
        </p:spPr>
      </p:sp>
      <p:sp>
        <p:nvSpPr>
          <p:cNvPr id="7" name="Text 3"/>
          <p:cNvSpPr txBox="1"/>
          <p:nvPr/>
        </p:nvSpPr>
        <p:spPr>
          <a:xfrm>
            <a:off x="7452360" y="1673352"/>
            <a:ext cx="1051560" cy="452628"/>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2.0M</a:t>
            </a:r>
            <a:endParaRPr lang="en-US" sz="2200" dirty="0"/>
          </a:p>
        </p:txBody>
      </p:sp>
      <p:sp>
        <p:nvSpPr>
          <p:cNvPr id="8" name="Text 4"/>
          <p:cNvSpPr txBox="1"/>
          <p:nvPr/>
        </p:nvSpPr>
        <p:spPr>
          <a:xfrm>
            <a:off x="7452360" y="2123237"/>
            <a:ext cx="1051560" cy="462686"/>
          </a:xfrm>
          <a:prstGeom prst="rect">
            <a:avLst/>
          </a:prstGeom>
          <a:noFill/>
          <a:ln/>
        </p:spPr>
        <p:txBody>
          <a:bodyPr wrap="square" lIns="0" tIns="0" rIns="0" bIns="0" rtlCol="0" anchor="t"/>
          <a:lstStyle/>
          <a:p>
            <a:pPr indent="0" marL="0">
              <a:buNone/>
            </a:pPr>
            <a:r>
              <a:rPr lang="en-US" sz="1300" dirty="0">
                <a:solidFill>
                  <a:srgbClr val="5B6B80"/>
                </a:solidFill>
              </a:rPr>
              <a:t>units forecast</a:t>
            </a:r>
            <a:endParaRPr lang="en-US" sz="1300" dirty="0"/>
          </a:p>
        </p:txBody>
      </p:sp>
      <p:sp>
        <p:nvSpPr>
          <p:cNvPr id="9" name="Stat card"/>
          <p:cNvSpPr/>
          <p:nvPr/>
        </p:nvSpPr>
        <p:spPr>
          <a:xfrm>
            <a:off x="8732520" y="1600200"/>
            <a:ext cx="1371600" cy="1005840"/>
          </a:xfrm>
          <a:prstGeom prst="roundRect">
            <a:avLst>
              <a:gd name="adj" fmla="val 7273"/>
            </a:avLst>
          </a:prstGeom>
          <a:solidFill>
            <a:srgbClr val="F2F6FB"/>
          </a:solidFill>
          <a:ln w="12700">
            <a:solidFill>
              <a:srgbClr val="F2F6FB"/>
            </a:solidFill>
            <a:prstDash val="solid"/>
          </a:ln>
        </p:spPr>
      </p:sp>
      <p:sp>
        <p:nvSpPr>
          <p:cNvPr id="10" name="Text 6"/>
          <p:cNvSpPr txBox="1"/>
          <p:nvPr/>
        </p:nvSpPr>
        <p:spPr>
          <a:xfrm>
            <a:off x="8869680" y="1673352"/>
            <a:ext cx="1097280" cy="452628"/>
          </a:xfrm>
          <a:prstGeom prst="rect">
            <a:avLst/>
          </a:prstGeom>
          <a:noFill/>
          <a:ln/>
        </p:spPr>
        <p:txBody>
          <a:bodyPr wrap="square" lIns="0" tIns="0" rIns="0" bIns="0" rtlCol="0" anchor="ctr"/>
          <a:lstStyle/>
          <a:p>
            <a:pPr indent="0" marL="0">
              <a:buNone/>
            </a:pPr>
            <a:r>
              <a:rPr lang="en-US" sz="2200" b="1" dirty="0">
                <a:solidFill>
                  <a:srgbClr val="1BAF7A"/>
                </a:solidFill>
                <a:latin typeface="Cambria" pitchFamily="34" charset="0"/>
                <a:ea typeface="Cambria" pitchFamily="34" charset="-122"/>
                <a:cs typeface="Cambria" pitchFamily="34" charset="-120"/>
              </a:rPr>
              <a:t>+2.8%</a:t>
            </a:r>
            <a:endParaRPr lang="en-US" sz="2200" dirty="0"/>
          </a:p>
        </p:txBody>
      </p:sp>
      <p:sp>
        <p:nvSpPr>
          <p:cNvPr id="11" name="Text 7"/>
          <p:cNvSpPr txBox="1"/>
          <p:nvPr/>
        </p:nvSpPr>
        <p:spPr>
          <a:xfrm>
            <a:off x="8869680" y="2123237"/>
            <a:ext cx="1097280" cy="462686"/>
          </a:xfrm>
          <a:prstGeom prst="rect">
            <a:avLst/>
          </a:prstGeom>
          <a:noFill/>
          <a:ln/>
        </p:spPr>
        <p:txBody>
          <a:bodyPr wrap="square" lIns="0" tIns="0" rIns="0" bIns="0" rtlCol="0" anchor="t"/>
          <a:lstStyle/>
          <a:p>
            <a:pPr indent="0" marL="0">
              <a:buNone/>
            </a:pPr>
            <a:r>
              <a:rPr lang="en-US" sz="1300" dirty="0">
                <a:solidFill>
                  <a:srgbClr val="5B6B80"/>
                </a:solidFill>
              </a:rPr>
              <a:t>vs last year</a:t>
            </a:r>
            <a:endParaRPr lang="en-US" sz="1300" dirty="0"/>
          </a:p>
        </p:txBody>
      </p:sp>
      <p:sp>
        <p:nvSpPr>
          <p:cNvPr id="12" name="Stat card"/>
          <p:cNvSpPr/>
          <p:nvPr/>
        </p:nvSpPr>
        <p:spPr>
          <a:xfrm>
            <a:off x="10195560" y="1600200"/>
            <a:ext cx="1417320" cy="1005840"/>
          </a:xfrm>
          <a:prstGeom prst="roundRect">
            <a:avLst>
              <a:gd name="adj" fmla="val 7273"/>
            </a:avLst>
          </a:prstGeom>
          <a:solidFill>
            <a:srgbClr val="F2F6FB"/>
          </a:solidFill>
          <a:ln w="12700">
            <a:solidFill>
              <a:srgbClr val="F2F6FB"/>
            </a:solidFill>
            <a:prstDash val="solid"/>
          </a:ln>
        </p:spPr>
      </p:sp>
      <p:sp>
        <p:nvSpPr>
          <p:cNvPr id="13" name="Text 9"/>
          <p:cNvSpPr txBox="1"/>
          <p:nvPr/>
        </p:nvSpPr>
        <p:spPr>
          <a:xfrm>
            <a:off x="10332720" y="1673352"/>
            <a:ext cx="1143000" cy="452628"/>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80%</a:t>
            </a:r>
            <a:endParaRPr lang="en-US" sz="2200" dirty="0"/>
          </a:p>
        </p:txBody>
      </p:sp>
      <p:sp>
        <p:nvSpPr>
          <p:cNvPr id="14" name="Text 10"/>
          <p:cNvSpPr txBox="1"/>
          <p:nvPr/>
        </p:nvSpPr>
        <p:spPr>
          <a:xfrm>
            <a:off x="10332720" y="2123237"/>
            <a:ext cx="1143000" cy="462686"/>
          </a:xfrm>
          <a:prstGeom prst="rect">
            <a:avLst/>
          </a:prstGeom>
          <a:noFill/>
          <a:ln/>
        </p:spPr>
        <p:txBody>
          <a:bodyPr wrap="square" lIns="0" tIns="0" rIns="0" bIns="0" rtlCol="0" anchor="t"/>
          <a:lstStyle/>
          <a:p>
            <a:pPr indent="0" marL="0">
              <a:buNone/>
            </a:pPr>
            <a:r>
              <a:rPr lang="en-US" sz="1300" dirty="0">
                <a:solidFill>
                  <a:srgbClr val="5B6B80"/>
                </a:solidFill>
              </a:rPr>
              <a:t>inside P10-P90</a:t>
            </a:r>
            <a:endParaRPr lang="en-US" sz="1300" dirty="0"/>
          </a:p>
        </p:txBody>
      </p:sp>
      <p:sp>
        <p:nvSpPr>
          <p:cNvPr id="15" name="Text 11"/>
          <p:cNvSpPr txBox="1"/>
          <p:nvPr/>
        </p:nvSpPr>
        <p:spPr>
          <a:xfrm>
            <a:off x="7315200" y="2697480"/>
            <a:ext cx="4297680" cy="457200"/>
          </a:xfrm>
          <a:prstGeom prst="rect">
            <a:avLst/>
          </a:prstGeom>
          <a:noFill/>
          <a:ln/>
        </p:spPr>
        <p:txBody>
          <a:bodyPr wrap="square" lIns="0" tIns="0" rIns="0" bIns="0" rtlCol="0" anchor="t"/>
          <a:lstStyle/>
          <a:p>
            <a:pPr indent="0" marL="0">
              <a:buNone/>
            </a:pPr>
            <a:r>
              <a:rPr lang="en-US" sz="1100" i="1" dirty="0">
                <a:solidFill>
                  <a:srgbClr val="5B6B80"/>
                </a:solidFill>
              </a:rPr>
              <a:t>Range P10-P90 from backtest errors: 1.84M to 2.15M units</a:t>
            </a:r>
            <a:endParaRPr lang="en-US" sz="1100" dirty="0"/>
          </a:p>
        </p:txBody>
      </p:sp>
      <p:sp>
        <p:nvSpPr>
          <p:cNvPr id="16" name="Bridge step"/>
          <p:cNvSpPr/>
          <p:nvPr/>
        </p:nvSpPr>
        <p:spPr>
          <a:xfrm>
            <a:off x="548640" y="3886200"/>
            <a:ext cx="3566160" cy="749808"/>
          </a:xfrm>
          <a:prstGeom prst="roundRect">
            <a:avLst>
              <a:gd name="adj" fmla="val 7317"/>
            </a:avLst>
          </a:prstGeom>
          <a:solidFill>
            <a:srgbClr val="F2F6FB"/>
          </a:solidFill>
          <a:ln w="12700">
            <a:solidFill>
              <a:srgbClr val="F2F6FB"/>
            </a:solidFill>
            <a:prstDash val="solid"/>
          </a:ln>
        </p:spPr>
      </p:sp>
      <p:sp>
        <p:nvSpPr>
          <p:cNvPr id="17" name="Text 13"/>
          <p:cNvSpPr txBox="1"/>
          <p:nvPr/>
        </p:nvSpPr>
        <p:spPr>
          <a:xfrm>
            <a:off x="685800" y="3922776"/>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1,998k units</a:t>
            </a:r>
            <a:endParaRPr lang="en-US" sz="1300" dirty="0"/>
          </a:p>
        </p:txBody>
      </p:sp>
      <p:sp>
        <p:nvSpPr>
          <p:cNvPr id="18" name="Text 14"/>
          <p:cNvSpPr txBox="1"/>
          <p:nvPr/>
        </p:nvSpPr>
        <p:spPr>
          <a:xfrm>
            <a:off x="68580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forecast demand (P50), summed over 780 product-weeks</a:t>
            </a:r>
            <a:endParaRPr lang="en-US" sz="1050" dirty="0"/>
          </a:p>
        </p:txBody>
      </p:sp>
      <p:sp>
        <p:nvSpPr>
          <p:cNvPr id="19" name="Bridge step"/>
          <p:cNvSpPr/>
          <p:nvPr/>
        </p:nvSpPr>
        <p:spPr>
          <a:xfrm>
            <a:off x="4297680" y="3886200"/>
            <a:ext cx="3566160" cy="749808"/>
          </a:xfrm>
          <a:prstGeom prst="roundRect">
            <a:avLst>
              <a:gd name="adj" fmla="val 7317"/>
            </a:avLst>
          </a:prstGeom>
          <a:solidFill>
            <a:srgbClr val="F2F6FB"/>
          </a:solidFill>
          <a:ln w="12700">
            <a:solidFill>
              <a:srgbClr val="F2F6FB"/>
            </a:solidFill>
            <a:prstDash val="solid"/>
          </a:ln>
        </p:spPr>
      </p:sp>
      <p:sp>
        <p:nvSpPr>
          <p:cNvPr id="20" name="Text 16"/>
          <p:cNvSpPr txBox="1"/>
          <p:nvPr/>
        </p:nvSpPr>
        <p:spPr>
          <a:xfrm>
            <a:off x="4434840" y="3922776"/>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 last-13-week price</a:t>
            </a:r>
            <a:endParaRPr lang="en-US" sz="1300" dirty="0"/>
          </a:p>
        </p:txBody>
      </p:sp>
      <p:sp>
        <p:nvSpPr>
          <p:cNvPr id="21" name="Text 17"/>
          <p:cNvSpPr txBox="1"/>
          <p:nvPr/>
        </p:nvSpPr>
        <p:spPr>
          <a:xfrm>
            <a:off x="443484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each product's own average price</a:t>
            </a:r>
            <a:endParaRPr lang="en-US" sz="1050" dirty="0"/>
          </a:p>
        </p:txBody>
      </p:sp>
      <p:sp>
        <p:nvSpPr>
          <p:cNvPr id="22" name="Bridge step"/>
          <p:cNvSpPr/>
          <p:nvPr/>
        </p:nvSpPr>
        <p:spPr>
          <a:xfrm>
            <a:off x="8046720" y="3886200"/>
            <a:ext cx="3566160" cy="749808"/>
          </a:xfrm>
          <a:prstGeom prst="roundRect">
            <a:avLst>
              <a:gd name="adj" fmla="val 7317"/>
            </a:avLst>
          </a:prstGeom>
          <a:solidFill>
            <a:srgbClr val="FFFFFF"/>
          </a:solidFill>
          <a:ln w="25400">
            <a:solidFill>
              <a:srgbClr val="2A78D6"/>
            </a:solidFill>
            <a:prstDash val="solid"/>
          </a:ln>
        </p:spPr>
      </p:sp>
      <p:sp>
        <p:nvSpPr>
          <p:cNvPr id="23" name="Text 19"/>
          <p:cNvSpPr txBox="1"/>
          <p:nvPr/>
        </p:nvSpPr>
        <p:spPr>
          <a:xfrm>
            <a:off x="8183880" y="3922776"/>
            <a:ext cx="3291840" cy="320040"/>
          </a:xfrm>
          <a:prstGeom prst="rect">
            <a:avLst/>
          </a:prstGeom>
          <a:noFill/>
          <a:ln/>
        </p:spPr>
        <p:txBody>
          <a:bodyPr wrap="square" lIns="0" tIns="0" rIns="0" bIns="0" rtlCol="0" anchor="ctr"/>
          <a:lstStyle/>
          <a:p>
            <a:pPr indent="0" marL="0">
              <a:buNone/>
            </a:pPr>
            <a:r>
              <a:rPr lang="en-US" sz="1500" b="1" dirty="0">
                <a:solidFill>
                  <a:srgbClr val="1F5FB0"/>
                </a:solidFill>
                <a:latin typeface="Cambria" pitchFamily="34" charset="0"/>
                <a:ea typeface="Cambria" pitchFamily="34" charset="-122"/>
                <a:cs typeface="Cambria" pitchFamily="34" charset="-120"/>
              </a:rPr>
              <a:t>= $64.6M</a:t>
            </a:r>
            <a:endParaRPr lang="en-US" sz="1500" dirty="0"/>
          </a:p>
        </p:txBody>
      </p:sp>
      <p:sp>
        <p:nvSpPr>
          <p:cNvPr id="24" name="Text 20"/>
          <p:cNvSpPr txBox="1"/>
          <p:nvPr/>
        </p:nvSpPr>
        <p:spPr>
          <a:xfrm>
            <a:off x="818388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revenue potential if every unit could be sold</a:t>
            </a:r>
            <a:endParaRPr lang="en-US" sz="1050" dirty="0"/>
          </a:p>
        </p:txBody>
      </p:sp>
      <p:sp>
        <p:nvSpPr>
          <p:cNvPr id="25" name="Bridge step"/>
          <p:cNvSpPr/>
          <p:nvPr/>
        </p:nvSpPr>
        <p:spPr>
          <a:xfrm>
            <a:off x="548640" y="4727448"/>
            <a:ext cx="3566160" cy="749808"/>
          </a:xfrm>
          <a:prstGeom prst="roundRect">
            <a:avLst>
              <a:gd name="adj" fmla="val 7317"/>
            </a:avLst>
          </a:prstGeom>
          <a:solidFill>
            <a:srgbClr val="F2F6FB"/>
          </a:solidFill>
          <a:ln w="12700">
            <a:solidFill>
              <a:srgbClr val="F2F6FB"/>
            </a:solidFill>
            <a:prstDash val="solid"/>
          </a:ln>
        </p:spPr>
      </p:sp>
      <p:sp>
        <p:nvSpPr>
          <p:cNvPr id="26" name="Text 22"/>
          <p:cNvSpPr txBox="1"/>
          <p:nvPr/>
        </p:nvSpPr>
        <p:spPr>
          <a:xfrm>
            <a:off x="685800" y="4764024"/>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stock simulation</a:t>
            </a:r>
            <a:endParaRPr lang="en-US" sz="1300" dirty="0"/>
          </a:p>
        </p:txBody>
      </p:sp>
      <p:sp>
        <p:nvSpPr>
          <p:cNvPr id="27" name="Text 23"/>
          <p:cNvSpPr txBox="1"/>
          <p:nvPr/>
        </p:nvSpPr>
        <p:spPr>
          <a:xfrm>
            <a:off x="68580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sold = min(demand, stock drawn from the last 104 weeks): 1,093k units</a:t>
            </a:r>
            <a:endParaRPr lang="en-US" sz="1050" dirty="0"/>
          </a:p>
        </p:txBody>
      </p:sp>
      <p:sp>
        <p:nvSpPr>
          <p:cNvPr id="28" name="Bridge step"/>
          <p:cNvSpPr/>
          <p:nvPr/>
        </p:nvSpPr>
        <p:spPr>
          <a:xfrm>
            <a:off x="4297680" y="4727448"/>
            <a:ext cx="3566160" cy="749808"/>
          </a:xfrm>
          <a:prstGeom prst="roundRect">
            <a:avLst>
              <a:gd name="adj" fmla="val 7317"/>
            </a:avLst>
          </a:prstGeom>
          <a:solidFill>
            <a:srgbClr val="FFFFFF"/>
          </a:solidFill>
          <a:ln w="25400">
            <a:solidFill>
              <a:srgbClr val="1BAF7A"/>
            </a:solidFill>
            <a:prstDash val="solid"/>
          </a:ln>
        </p:spPr>
      </p:sp>
      <p:sp>
        <p:nvSpPr>
          <p:cNvPr id="29" name="Text 25"/>
          <p:cNvSpPr txBox="1"/>
          <p:nvPr/>
        </p:nvSpPr>
        <p:spPr>
          <a:xfrm>
            <a:off x="4434840" y="4764024"/>
            <a:ext cx="3291840" cy="320040"/>
          </a:xfrm>
          <a:prstGeom prst="rect">
            <a:avLst/>
          </a:prstGeom>
          <a:noFill/>
          <a:ln/>
        </p:spPr>
        <p:txBody>
          <a:bodyPr wrap="square" lIns="0" tIns="0" rIns="0" bIns="0" rtlCol="0" anchor="ctr"/>
          <a:lstStyle/>
          <a:p>
            <a:pPr indent="0" marL="0">
              <a:buNone/>
            </a:pPr>
            <a:r>
              <a:rPr lang="en-US" sz="1500" b="1" dirty="0">
                <a:solidFill>
                  <a:srgbClr val="138A5F"/>
                </a:solidFill>
                <a:latin typeface="Cambria" pitchFamily="34" charset="0"/>
                <a:ea typeface="Cambria" pitchFamily="34" charset="-122"/>
                <a:cs typeface="Cambria" pitchFamily="34" charset="-120"/>
              </a:rPr>
              <a:t>= $35.8M</a:t>
            </a:r>
            <a:endParaRPr lang="en-US" sz="1500" dirty="0"/>
          </a:p>
        </p:txBody>
      </p:sp>
      <p:sp>
        <p:nvSpPr>
          <p:cNvPr id="30" name="Text 26"/>
          <p:cNvSpPr txBox="1"/>
          <p:nvPr/>
        </p:nvSpPr>
        <p:spPr>
          <a:xfrm>
            <a:off x="443484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expected sales at historical stock levels</a:t>
            </a:r>
            <a:endParaRPr lang="en-US" sz="1050" dirty="0"/>
          </a:p>
        </p:txBody>
      </p:sp>
      <p:sp>
        <p:nvSpPr>
          <p:cNvPr id="31" name="Bridge step"/>
          <p:cNvSpPr/>
          <p:nvPr/>
        </p:nvSpPr>
        <p:spPr>
          <a:xfrm>
            <a:off x="8046720" y="4727448"/>
            <a:ext cx="3566160" cy="749808"/>
          </a:xfrm>
          <a:prstGeom prst="roundRect">
            <a:avLst>
              <a:gd name="adj" fmla="val 7317"/>
            </a:avLst>
          </a:prstGeom>
          <a:solidFill>
            <a:srgbClr val="FFFFFF"/>
          </a:solidFill>
          <a:ln w="25400">
            <a:solidFill>
              <a:srgbClr val="EB6834"/>
            </a:solidFill>
            <a:prstDash val="solid"/>
          </a:ln>
        </p:spPr>
      </p:sp>
      <p:sp>
        <p:nvSpPr>
          <p:cNvPr id="32" name="Text 28"/>
          <p:cNvSpPr txBox="1"/>
          <p:nvPr/>
        </p:nvSpPr>
        <p:spPr>
          <a:xfrm>
            <a:off x="8183880" y="4764024"/>
            <a:ext cx="3291840" cy="320040"/>
          </a:xfrm>
          <a:prstGeom prst="rect">
            <a:avLst/>
          </a:prstGeom>
          <a:noFill/>
          <a:ln/>
        </p:spPr>
        <p:txBody>
          <a:bodyPr wrap="square" lIns="0" tIns="0" rIns="0" bIns="0" rtlCol="0" anchor="ctr"/>
          <a:lstStyle/>
          <a:p>
            <a:pPr indent="0" marL="0">
              <a:buNone/>
            </a:pPr>
            <a:r>
              <a:rPr lang="en-US" sz="1500" b="1" dirty="0">
                <a:solidFill>
                  <a:srgbClr val="C24E1F"/>
                </a:solidFill>
                <a:latin typeface="Cambria" pitchFamily="34" charset="0"/>
                <a:ea typeface="Cambria" pitchFamily="34" charset="-122"/>
                <a:cs typeface="Cambria" pitchFamily="34" charset="-120"/>
              </a:rPr>
              <a:t>$64.6M - $35.8M = $28.7M</a:t>
            </a:r>
            <a:endParaRPr lang="en-US" sz="1500" dirty="0"/>
          </a:p>
        </p:txBody>
      </p:sp>
      <p:sp>
        <p:nvSpPr>
          <p:cNvPr id="33" name="Text 29"/>
          <p:cNvSpPr txBox="1"/>
          <p:nvPr/>
        </p:nvSpPr>
        <p:spPr>
          <a:xfrm>
            <a:off x="818388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unserved demand (44%)</a:t>
            </a:r>
            <a:endParaRPr lang="en-US" sz="1050" dirty="0"/>
          </a:p>
        </p:txBody>
      </p:sp>
      <p:sp>
        <p:nvSpPr>
          <p:cNvPr id="34" name="Text 30"/>
          <p:cNvSpPr txBox="1"/>
          <p:nvPr/>
        </p:nvSpPr>
        <p:spPr>
          <a:xfrm>
            <a:off x="548640" y="5623560"/>
            <a:ext cx="11064240" cy="640080"/>
          </a:xfrm>
          <a:prstGeom prst="rect">
            <a:avLst/>
          </a:prstGeom>
          <a:noFill/>
          <a:ln/>
        </p:spPr>
        <p:txBody>
          <a:bodyPr wrap="square" lIns="0" tIns="0" rIns="0" bIns="0" rtlCol="0" anchor="t"/>
          <a:lstStyle/>
          <a:p>
            <a:pPr indent="0" marL="0">
              <a:buNone/>
            </a:pPr>
            <a:r>
              <a:rPr lang="en-US" sz="1200" i="1" dirty="0">
                <a:solidFill>
                  <a:srgbClr val="5B6B80"/>
                </a:solidFill>
              </a:rPr>
              <a:t>Example, Barley week 1: 2,899 units × $7.447 = $21,589 potential; history lets 1,397 units sell ($10,406); 1,494 units ($11,182) unserved.   Assumptions: stock follows each product's history; prices stay at the last 13-week average.</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3 · DASHBOARD</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 dashboard built for managers, not analysts</a:t>
            </a:r>
            <a:endParaRPr lang="en-US" sz="3000" dirty="0"/>
          </a:p>
        </p:txBody>
      </p:sp>
      <p:pic>
        <p:nvPicPr>
          <p:cNvPr id="5" name="Dashboard overview" descr="/tmp/claude-0/-home-user-Technical-Assessment-HamidrezaNademi/35a9d481-a40b-596b-a99c-a9e318cbdc12/scratchpad/deck/dash_overview_top.png">    </p:cNvPr>
          <p:cNvPicPr>
            <a:picLocks noChangeAspect="1"/>
          </p:cNvPicPr>
          <p:nvPr/>
        </p:nvPicPr>
        <p:blipFill>
          <a:blip r:embed="rId1"/>
          <a:stretch>
            <a:fillRect/>
          </a:stretch>
        </p:blipFill>
        <p:spPr>
          <a:xfrm>
            <a:off x="548640" y="1645920"/>
            <a:ext cx="5486400" cy="3044952"/>
          </a:xfrm>
          <a:prstGeom prst="rect">
            <a:avLst/>
          </a:prstGeom>
        </p:spPr>
      </p:pic>
      <p:sp>
        <p:nvSpPr>
          <p:cNvPr id="6" name="Text 2"/>
          <p:cNvSpPr txBox="1"/>
          <p:nvPr/>
        </p:nvSpPr>
        <p:spPr>
          <a:xfrm>
            <a:off x="548640" y="4727448"/>
            <a:ext cx="5486400" cy="274320"/>
          </a:xfrm>
          <a:prstGeom prst="rect">
            <a:avLst/>
          </a:prstGeom>
          <a:noFill/>
          <a:ln/>
        </p:spPr>
        <p:txBody>
          <a:bodyPr wrap="square" lIns="0" tIns="0" rIns="0" bIns="0" rtlCol="0" anchor="ctr"/>
          <a:lstStyle/>
          <a:p>
            <a:pPr indent="0" marL="0">
              <a:buNone/>
            </a:pPr>
            <a:r>
              <a:rPr lang="en-US" sz="1200" i="1" dirty="0">
                <a:solidFill>
                  <a:srgbClr val="5B6B80"/>
                </a:solidFill>
              </a:rPr>
              <a:t>Overview tab (live demo available)</a:t>
            </a:r>
            <a:endParaRPr lang="en-US" sz="1200" dirty="0"/>
          </a:p>
        </p:txBody>
      </p:sp>
      <p:sp>
        <p:nvSpPr>
          <p:cNvPr id="7" name="Text 3"/>
          <p:cNvSpPr txBox="1"/>
          <p:nvPr/>
        </p:nvSpPr>
        <p:spPr>
          <a:xfrm>
            <a:off x="6309360" y="1645920"/>
            <a:ext cx="5303520" cy="3383280"/>
          </a:xfrm>
          <a:prstGeom prst="rect">
            <a:avLst/>
          </a:prstGeom>
          <a:noFill/>
          <a:ln/>
        </p:spPr>
        <p:txBody>
          <a:bodyPr wrap="square" lIns="0" tIns="0" rIns="0" bIns="0" rtlCol="0" anchor="t"/>
          <a:lstStyle/>
          <a:p>
            <a:pPr marL="203200" indent="-203200">
              <a:spcAft>
                <a:spcPts val="800"/>
              </a:spcAft>
              <a:buSzPct val="100000"/>
              <a:buChar char="•"/>
            </a:pPr>
            <a:r>
              <a:rPr lang="en-US" sz="1400" b="1" dirty="0">
                <a:solidFill>
                  <a:srgbClr val="1B2A41"/>
                </a:solidFill>
              </a:rPr>
              <a:t>Start from the reader: </a:t>
            </a:r>
            <a:pPr indent="0" marL="0">
              <a:spcAft>
                <a:spcPts val="800"/>
              </a:spcAft>
              <a:buNone/>
            </a:pPr>
            <a:r>
              <a:rPr lang="en-US" sz="1400" dirty="0">
                <a:solidFill>
                  <a:srgbClr val="1B2A41"/>
                </a:solidFill>
              </a:rPr>
              <a:t>bottom line first, everyday words (days of stock, demand served).</a:t>
            </a:r>
            <a:endParaRPr lang="en-US" sz="1400" dirty="0"/>
          </a:p>
          <a:p>
            <a:pPr marL="203200" indent="-203200">
              <a:spcAft>
                <a:spcPts val="800"/>
              </a:spcAft>
              <a:buSzPct val="100000"/>
              <a:buChar char="•"/>
            </a:pPr>
            <a:r>
              <a:rPr lang="en-US" sz="1400" b="1" dirty="0">
                <a:solidFill>
                  <a:srgbClr val="1B2A41"/>
                </a:solidFill>
              </a:rPr>
              <a:t>One tab, one question: </a:t>
            </a:r>
            <a:pPr indent="0" marL="0">
              <a:spcAft>
                <a:spcPts val="800"/>
              </a:spcAft>
              <a:buNone/>
            </a:pPr>
            <a:r>
              <a:rPr lang="en-US" sz="1400" dirty="0">
                <a:solidFill>
                  <a:srgbClr val="1B2A41"/>
                </a:solidFill>
              </a:rPr>
              <a:t>financial, stock and service, credit, forecast, pricing, alerts.</a:t>
            </a:r>
            <a:endParaRPr lang="en-US" sz="1400" dirty="0"/>
          </a:p>
          <a:p>
            <a:pPr marL="203200" indent="-203200">
              <a:spcAft>
                <a:spcPts val="800"/>
              </a:spcAft>
              <a:buSzPct val="100000"/>
              <a:buChar char="•"/>
            </a:pPr>
            <a:r>
              <a:rPr lang="en-US" sz="1400" b="1" dirty="0">
                <a:solidFill>
                  <a:srgbClr val="1B2A41"/>
                </a:solidFill>
              </a:rPr>
              <a:t>No data, no pretending: </a:t>
            </a:r>
            <a:pPr indent="0" marL="0">
              <a:spcAft>
                <a:spcPts val="800"/>
              </a:spcAft>
              <a:buNone/>
            </a:pPr>
            <a:r>
              <a:rPr lang="en-US" sz="1400" dirty="0">
                <a:solidFill>
                  <a:srgbClr val="1B2A41"/>
                </a:solidFill>
              </a:rPr>
              <a:t>credit uses editable, labelled scenario inputs.</a:t>
            </a:r>
            <a:endParaRPr lang="en-US" sz="1400" dirty="0"/>
          </a:p>
          <a:p>
            <a:pPr marL="203200" indent="-203200">
              <a:spcAft>
                <a:spcPts val="800"/>
              </a:spcAft>
              <a:buSzPct val="100000"/>
              <a:buChar char="•"/>
            </a:pPr>
            <a:r>
              <a:rPr lang="en-US" sz="1400" b="1" dirty="0">
                <a:solidFill>
                  <a:srgbClr val="1B2A41"/>
                </a:solidFill>
              </a:rPr>
              <a:t>Alerts are rules, not black boxes: </a:t>
            </a:r>
            <a:pPr indent="0" marL="0">
              <a:spcAft>
                <a:spcPts val="800"/>
              </a:spcAft>
              <a:buNone/>
            </a:pPr>
            <a:r>
              <a:rPr lang="en-US" sz="1400" dirty="0">
                <a:solidFill>
                  <a:srgbClr val="1B2A41"/>
                </a:solidFill>
              </a:rPr>
              <a:t>six rules, editable thresholds, money at stake, next action.</a:t>
            </a:r>
            <a:endParaRPr lang="en-US" sz="1400" dirty="0"/>
          </a:p>
          <a:p>
            <a:pPr marL="203200" indent="-203200">
              <a:spcAft>
                <a:spcPts val="800"/>
              </a:spcAft>
              <a:buSzPct val="100000"/>
              <a:buChar char="•"/>
            </a:pPr>
            <a:r>
              <a:rPr lang="en-US" sz="1400" b="1" dirty="0">
                <a:solidFill>
                  <a:srgbClr val="1B2A41"/>
                </a:solidFill>
              </a:rPr>
              <a:t>Trust: </a:t>
            </a:r>
            <a:pPr indent="0" marL="0">
              <a:spcAft>
                <a:spcPts val="800"/>
              </a:spcAft>
              <a:buNone/>
            </a:pPr>
            <a:r>
              <a:rPr lang="en-US" sz="1400" dirty="0">
                <a:solidFill>
                  <a:srgbClr val="1B2A41"/>
                </a:solidFill>
              </a:rPr>
              <a:t>24 automatic tests reconcile every KPI to the database.</a:t>
            </a:r>
            <a:endParaRPr lang="en-US" sz="1400" dirty="0"/>
          </a:p>
        </p:txBody>
      </p:sp>
      <p:sp>
        <p:nvSpPr>
          <p:cNvPr id="8" name="Stat card"/>
          <p:cNvSpPr/>
          <p:nvPr/>
        </p:nvSpPr>
        <p:spPr>
          <a:xfrm>
            <a:off x="548640" y="5120640"/>
            <a:ext cx="2606040" cy="1143000"/>
          </a:xfrm>
          <a:prstGeom prst="roundRect">
            <a:avLst>
              <a:gd name="adj" fmla="val 6400"/>
            </a:avLst>
          </a:prstGeom>
          <a:solidFill>
            <a:srgbClr val="F2F6FB"/>
          </a:solidFill>
          <a:ln w="12700">
            <a:solidFill>
              <a:srgbClr val="F2F6FB"/>
            </a:solidFill>
            <a:prstDash val="solid"/>
          </a:ln>
        </p:spPr>
      </p:sp>
      <p:sp>
        <p:nvSpPr>
          <p:cNvPr id="9" name="Text 5"/>
          <p:cNvSpPr txBox="1"/>
          <p:nvPr/>
        </p:nvSpPr>
        <p:spPr>
          <a:xfrm>
            <a:off x="685800" y="5193792"/>
            <a:ext cx="2331720" cy="51435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$65.4M</a:t>
            </a:r>
            <a:endParaRPr lang="en-US" sz="2800" dirty="0"/>
          </a:p>
        </p:txBody>
      </p:sp>
      <p:sp>
        <p:nvSpPr>
          <p:cNvPr id="10" name="Text 6"/>
          <p:cNvSpPr txBox="1"/>
          <p:nvPr/>
        </p:nvSpPr>
        <p:spPr>
          <a:xfrm>
            <a:off x="68580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revenue, +3.3% vs last year</a:t>
            </a:r>
            <a:endParaRPr lang="en-US" sz="1300" dirty="0"/>
          </a:p>
        </p:txBody>
      </p:sp>
      <p:sp>
        <p:nvSpPr>
          <p:cNvPr id="11" name="Stat card"/>
          <p:cNvSpPr/>
          <p:nvPr/>
        </p:nvSpPr>
        <p:spPr>
          <a:xfrm>
            <a:off x="3337560" y="5120640"/>
            <a:ext cx="2606040" cy="1143000"/>
          </a:xfrm>
          <a:prstGeom prst="roundRect">
            <a:avLst>
              <a:gd name="adj" fmla="val 6400"/>
            </a:avLst>
          </a:prstGeom>
          <a:solidFill>
            <a:srgbClr val="F2F6FB"/>
          </a:solidFill>
          <a:ln w="12700">
            <a:solidFill>
              <a:srgbClr val="F2F6FB"/>
            </a:solidFill>
            <a:prstDash val="solid"/>
          </a:ln>
        </p:spPr>
      </p:sp>
      <p:sp>
        <p:nvSpPr>
          <p:cNvPr id="12" name="Text 8"/>
          <p:cNvSpPr txBox="1"/>
          <p:nvPr/>
        </p:nvSpPr>
        <p:spPr>
          <a:xfrm>
            <a:off x="3474720" y="5193792"/>
            <a:ext cx="2331720" cy="51435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21.5%</a:t>
            </a:r>
            <a:endParaRPr lang="en-US" sz="2800" dirty="0"/>
          </a:p>
        </p:txBody>
      </p:sp>
      <p:sp>
        <p:nvSpPr>
          <p:cNvPr id="13" name="Text 9"/>
          <p:cNvSpPr txBox="1"/>
          <p:nvPr/>
        </p:nvSpPr>
        <p:spPr>
          <a:xfrm>
            <a:off x="347472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gross margin, flat</a:t>
            </a:r>
            <a:endParaRPr lang="en-US" sz="1300" dirty="0"/>
          </a:p>
        </p:txBody>
      </p:sp>
      <p:sp>
        <p:nvSpPr>
          <p:cNvPr id="14" name="Stat card"/>
          <p:cNvSpPr/>
          <p:nvPr/>
        </p:nvSpPr>
        <p:spPr>
          <a:xfrm>
            <a:off x="6126480" y="5120640"/>
            <a:ext cx="2606040" cy="1143000"/>
          </a:xfrm>
          <a:prstGeom prst="roundRect">
            <a:avLst>
              <a:gd name="adj" fmla="val 6400"/>
            </a:avLst>
          </a:prstGeom>
          <a:solidFill>
            <a:srgbClr val="F2F6FB"/>
          </a:solidFill>
          <a:ln w="12700">
            <a:solidFill>
              <a:srgbClr val="F2F6FB"/>
            </a:solidFill>
            <a:prstDash val="solid"/>
          </a:ln>
        </p:spPr>
      </p:sp>
      <p:sp>
        <p:nvSpPr>
          <p:cNvPr id="15" name="Text 11"/>
          <p:cNvSpPr txBox="1"/>
          <p:nvPr/>
        </p:nvSpPr>
        <p:spPr>
          <a:xfrm>
            <a:off x="6263640" y="5193792"/>
            <a:ext cx="2331720" cy="51435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60%</a:t>
            </a:r>
            <a:endParaRPr lang="en-US" sz="2800" dirty="0"/>
          </a:p>
        </p:txBody>
      </p:sp>
      <p:sp>
        <p:nvSpPr>
          <p:cNvPr id="16" name="Text 12"/>
          <p:cNvSpPr txBox="1"/>
          <p:nvPr/>
        </p:nvSpPr>
        <p:spPr>
          <a:xfrm>
            <a:off x="626364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of demand served; $43.2M lost</a:t>
            </a:r>
            <a:endParaRPr lang="en-US" sz="1300" dirty="0"/>
          </a:p>
        </p:txBody>
      </p:sp>
      <p:sp>
        <p:nvSpPr>
          <p:cNvPr id="17" name="Stat card"/>
          <p:cNvSpPr/>
          <p:nvPr/>
        </p:nvSpPr>
        <p:spPr>
          <a:xfrm>
            <a:off x="8915400" y="5120640"/>
            <a:ext cx="2606040" cy="1143000"/>
          </a:xfrm>
          <a:prstGeom prst="roundRect">
            <a:avLst>
              <a:gd name="adj" fmla="val 6400"/>
            </a:avLst>
          </a:prstGeom>
          <a:solidFill>
            <a:srgbClr val="F2F6FB"/>
          </a:solidFill>
          <a:ln w="12700">
            <a:solidFill>
              <a:srgbClr val="F2F6FB"/>
            </a:solidFill>
            <a:prstDash val="solid"/>
          </a:ln>
        </p:spPr>
      </p:sp>
      <p:sp>
        <p:nvSpPr>
          <p:cNvPr id="18" name="Text 14"/>
          <p:cNvSpPr txBox="1"/>
          <p:nvPr/>
        </p:nvSpPr>
        <p:spPr>
          <a:xfrm>
            <a:off x="9052560" y="5193792"/>
            <a:ext cx="2331720" cy="514350"/>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16 high</a:t>
            </a:r>
            <a:endParaRPr lang="en-US" sz="2800" dirty="0"/>
          </a:p>
        </p:txBody>
      </p:sp>
      <p:sp>
        <p:nvSpPr>
          <p:cNvPr id="19" name="Text 15"/>
          <p:cNvSpPr txBox="1"/>
          <p:nvPr/>
        </p:nvSpPr>
        <p:spPr>
          <a:xfrm>
            <a:off x="905256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priority alerts, each with an action</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DYNAMIC PRICING: THE IDEA</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Four data insights point to one pricing idea</a:t>
            </a:r>
            <a:endParaRPr lang="en-US" sz="3000" dirty="0"/>
          </a:p>
        </p:txBody>
      </p:sp>
      <p:sp>
        <p:nvSpPr>
          <p:cNvPr id="5" name="Insight card"/>
          <p:cNvSpPr/>
          <p:nvPr/>
        </p:nvSpPr>
        <p:spPr>
          <a:xfrm>
            <a:off x="548640" y="1600200"/>
            <a:ext cx="2651760" cy="1325880"/>
          </a:xfrm>
          <a:prstGeom prst="roundRect">
            <a:avLst>
              <a:gd name="adj" fmla="val 5517"/>
            </a:avLst>
          </a:prstGeom>
          <a:solidFill>
            <a:srgbClr val="F2F6FB"/>
          </a:solidFill>
          <a:ln w="12700">
            <a:solidFill>
              <a:srgbClr val="F2F6FB"/>
            </a:solidFill>
            <a:prstDash val="solid"/>
          </a:ln>
        </p:spPr>
      </p:sp>
      <p:sp>
        <p:nvSpPr>
          <p:cNvPr id="6" name="Text 3"/>
          <p:cNvSpPr txBox="1"/>
          <p:nvPr/>
        </p:nvSpPr>
        <p:spPr>
          <a:xfrm>
            <a:off x="73152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1</a:t>
            </a:r>
            <a:endParaRPr lang="en-US" sz="950" dirty="0"/>
          </a:p>
        </p:txBody>
      </p:sp>
      <p:sp>
        <p:nvSpPr>
          <p:cNvPr id="7" name="Text 4"/>
          <p:cNvSpPr txBox="1"/>
          <p:nvPr/>
        </p:nvSpPr>
        <p:spPr>
          <a:xfrm>
            <a:off x="731520" y="1828800"/>
            <a:ext cx="2286000" cy="45720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78%</a:t>
            </a:r>
            <a:endParaRPr lang="en-US" sz="2800" dirty="0"/>
          </a:p>
        </p:txBody>
      </p:sp>
      <p:sp>
        <p:nvSpPr>
          <p:cNvPr id="8" name="Text 5"/>
          <p:cNvSpPr txBox="1"/>
          <p:nvPr/>
        </p:nvSpPr>
        <p:spPr>
          <a:xfrm>
            <a:off x="73152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of forecast product-weeks are scarce: stock cannot cover demand</a:t>
            </a:r>
            <a:endParaRPr lang="en-US" sz="1150" dirty="0"/>
          </a:p>
        </p:txBody>
      </p:sp>
      <p:sp>
        <p:nvSpPr>
          <p:cNvPr id="9" name="Insight card"/>
          <p:cNvSpPr/>
          <p:nvPr/>
        </p:nvSpPr>
        <p:spPr>
          <a:xfrm>
            <a:off x="3337560" y="1600200"/>
            <a:ext cx="2651760" cy="1325880"/>
          </a:xfrm>
          <a:prstGeom prst="roundRect">
            <a:avLst>
              <a:gd name="adj" fmla="val 5517"/>
            </a:avLst>
          </a:prstGeom>
          <a:solidFill>
            <a:srgbClr val="F2F6FB"/>
          </a:solidFill>
          <a:ln w="12700">
            <a:solidFill>
              <a:srgbClr val="F2F6FB"/>
            </a:solidFill>
            <a:prstDash val="solid"/>
          </a:ln>
        </p:spPr>
      </p:sp>
      <p:sp>
        <p:nvSpPr>
          <p:cNvPr id="10" name="Text 7"/>
          <p:cNvSpPr txBox="1"/>
          <p:nvPr/>
        </p:nvSpPr>
        <p:spPr>
          <a:xfrm>
            <a:off x="352044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2</a:t>
            </a:r>
            <a:endParaRPr lang="en-US" sz="950" dirty="0"/>
          </a:p>
        </p:txBody>
      </p:sp>
      <p:sp>
        <p:nvSpPr>
          <p:cNvPr id="11" name="Text 8"/>
          <p:cNvSpPr txBox="1"/>
          <p:nvPr/>
        </p:nvSpPr>
        <p:spPr>
          <a:xfrm>
            <a:off x="3520440" y="1828800"/>
            <a:ext cx="2286000" cy="45720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±25%</a:t>
            </a:r>
            <a:endParaRPr lang="en-US" sz="2800" dirty="0"/>
          </a:p>
        </p:txBody>
      </p:sp>
      <p:sp>
        <p:nvSpPr>
          <p:cNvPr id="12" name="Text 9"/>
          <p:cNvSpPr txBox="1"/>
          <p:nvPr/>
        </p:nvSpPr>
        <p:spPr>
          <a:xfrm>
            <a:off x="352044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yearly demand swing: peak week 13, quiet week 38</a:t>
            </a:r>
            <a:endParaRPr lang="en-US" sz="1150" dirty="0"/>
          </a:p>
        </p:txBody>
      </p:sp>
      <p:sp>
        <p:nvSpPr>
          <p:cNvPr id="13" name="Insight card"/>
          <p:cNvSpPr/>
          <p:nvPr/>
        </p:nvSpPr>
        <p:spPr>
          <a:xfrm>
            <a:off x="6126480" y="1600200"/>
            <a:ext cx="2651760" cy="1325880"/>
          </a:xfrm>
          <a:prstGeom prst="roundRect">
            <a:avLst>
              <a:gd name="adj" fmla="val 5517"/>
            </a:avLst>
          </a:prstGeom>
          <a:solidFill>
            <a:srgbClr val="F2F6FB"/>
          </a:solidFill>
          <a:ln w="12700">
            <a:solidFill>
              <a:srgbClr val="F2F6FB"/>
            </a:solidFill>
            <a:prstDash val="solid"/>
          </a:ln>
        </p:spPr>
      </p:sp>
      <p:sp>
        <p:nvSpPr>
          <p:cNvPr id="14" name="Text 11"/>
          <p:cNvSpPr txBox="1"/>
          <p:nvPr/>
        </p:nvSpPr>
        <p:spPr>
          <a:xfrm>
            <a:off x="630936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3</a:t>
            </a:r>
            <a:endParaRPr lang="en-US" sz="950" dirty="0"/>
          </a:p>
        </p:txBody>
      </p:sp>
      <p:sp>
        <p:nvSpPr>
          <p:cNvPr id="15" name="Text 12"/>
          <p:cNvSpPr txBox="1"/>
          <p:nvPr/>
        </p:nvSpPr>
        <p:spPr>
          <a:xfrm>
            <a:off x="6309360" y="1828800"/>
            <a:ext cx="2286000" cy="457200"/>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$10.8M</a:t>
            </a:r>
            <a:endParaRPr lang="en-US" sz="2800" dirty="0"/>
          </a:p>
        </p:txBody>
      </p:sp>
      <p:sp>
        <p:nvSpPr>
          <p:cNvPr id="16" name="Text 13"/>
          <p:cNvSpPr txBox="1"/>
          <p:nvPr/>
        </p:nvSpPr>
        <p:spPr>
          <a:xfrm>
            <a:off x="630936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tied up in 5 over-stocked products (64 to 370 weeks of stock)</a:t>
            </a:r>
            <a:endParaRPr lang="en-US" sz="1150" dirty="0"/>
          </a:p>
        </p:txBody>
      </p:sp>
      <p:sp>
        <p:nvSpPr>
          <p:cNvPr id="17" name="Insight card"/>
          <p:cNvSpPr/>
          <p:nvPr/>
        </p:nvSpPr>
        <p:spPr>
          <a:xfrm>
            <a:off x="8915400" y="1600200"/>
            <a:ext cx="2651760" cy="1325880"/>
          </a:xfrm>
          <a:prstGeom prst="roundRect">
            <a:avLst>
              <a:gd name="adj" fmla="val 5517"/>
            </a:avLst>
          </a:prstGeom>
          <a:solidFill>
            <a:srgbClr val="F2F6FB"/>
          </a:solidFill>
          <a:ln w="12700">
            <a:solidFill>
              <a:srgbClr val="F2F6FB"/>
            </a:solidFill>
            <a:prstDash val="solid"/>
          </a:ln>
        </p:spPr>
      </p:sp>
      <p:sp>
        <p:nvSpPr>
          <p:cNvPr id="18" name="Text 15"/>
          <p:cNvSpPr txBox="1"/>
          <p:nvPr/>
        </p:nvSpPr>
        <p:spPr>
          <a:xfrm>
            <a:off x="909828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4</a:t>
            </a:r>
            <a:endParaRPr lang="en-US" sz="950" dirty="0"/>
          </a:p>
        </p:txBody>
      </p:sp>
      <p:sp>
        <p:nvSpPr>
          <p:cNvPr id="19" name="Text 16"/>
          <p:cNvSpPr txBox="1"/>
          <p:nvPr/>
        </p:nvSpPr>
        <p:spPr>
          <a:xfrm>
            <a:off x="9098280" y="1828800"/>
            <a:ext cx="2286000" cy="457200"/>
          </a:xfrm>
          <a:prstGeom prst="rect">
            <a:avLst/>
          </a:prstGeom>
          <a:noFill/>
          <a:ln/>
        </p:spPr>
        <p:txBody>
          <a:bodyPr wrap="square" lIns="0" tIns="0" rIns="0" bIns="0" rtlCol="0" anchor="ctr"/>
          <a:lstStyle/>
          <a:p>
            <a:pPr indent="0" marL="0">
              <a:buNone/>
            </a:pPr>
            <a:r>
              <a:rPr lang="en-US" sz="2800" b="1" dirty="0">
                <a:solidFill>
                  <a:srgbClr val="5B6B80"/>
                </a:solidFill>
                <a:latin typeface="Cambria" pitchFamily="34" charset="0"/>
                <a:ea typeface="Cambria" pitchFamily="34" charset="-122"/>
                <a:cs typeface="Cambria" pitchFamily="34" charset="-120"/>
              </a:rPr>
              <a:t>≈ 0</a:t>
            </a:r>
            <a:endParaRPr lang="en-US" sz="2800" dirty="0"/>
          </a:p>
        </p:txBody>
      </p:sp>
      <p:sp>
        <p:nvSpPr>
          <p:cNvPr id="20" name="Text 17"/>
          <p:cNvSpPr txBox="1"/>
          <p:nvPr/>
        </p:nvSpPr>
        <p:spPr>
          <a:xfrm>
            <a:off x="909828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measurable price effect: -0.017 (range -0.056 to +0.021)</a:t>
            </a:r>
            <a:endParaRPr lang="en-US" sz="1150" dirty="0"/>
          </a:p>
        </p:txBody>
      </p:sp>
      <p:sp>
        <p:nvSpPr>
          <p:cNvPr id="21" name="Idea band"/>
          <p:cNvSpPr/>
          <p:nvPr/>
        </p:nvSpPr>
        <p:spPr>
          <a:xfrm>
            <a:off x="548640" y="3035808"/>
            <a:ext cx="11064240" cy="402336"/>
          </a:xfrm>
          <a:prstGeom prst="rect">
            <a:avLst/>
          </a:prstGeom>
          <a:solidFill>
            <a:srgbClr val="12263F"/>
          </a:solidFill>
          <a:ln w="12700">
            <a:solidFill>
              <a:srgbClr val="12263F"/>
            </a:solidFill>
            <a:prstDash val="solid"/>
          </a:ln>
        </p:spPr>
      </p:sp>
      <p:sp>
        <p:nvSpPr>
          <p:cNvPr id="22" name="Text 19"/>
          <p:cNvSpPr txBox="1"/>
          <p:nvPr/>
        </p:nvSpPr>
        <p:spPr>
          <a:xfrm>
            <a:off x="731520" y="3035808"/>
            <a:ext cx="10698480" cy="402336"/>
          </a:xfrm>
          <a:prstGeom prst="rect">
            <a:avLst/>
          </a:prstGeom>
          <a:noFill/>
          <a:ln/>
        </p:spPr>
        <p:txBody>
          <a:bodyPr wrap="square" lIns="0" tIns="0" rIns="0" bIns="0" rtlCol="0" anchor="ctr"/>
          <a:lstStyle/>
          <a:p>
            <a:pPr indent="0" marL="0">
              <a:buNone/>
            </a:pPr>
            <a:r>
              <a:rPr lang="en-US" sz="1250" b="1" dirty="0">
                <a:solidFill>
                  <a:srgbClr val="FFFFFF"/>
                </a:solidFill>
              </a:rPr>
              <a:t>So the idea:  raise price where stock sells out anyway  ·  ignore unknown price sensitivity  ·  discount only if it pays</a:t>
            </a:r>
            <a:endParaRPr lang="en-US" sz="1250" dirty="0"/>
          </a:p>
        </p:txBody>
      </p:sp>
      <p:graphicFrame>
        <p:nvGraphicFramePr>
          <p:cNvPr id="23" name="Chart 0" descr=""/>
          <p:cNvGraphicFramePr/>
          <p:nvPr/>
        </p:nvGraphicFramePr>
        <p:xfrm>
          <a:off x="548640" y="3566160"/>
          <a:ext cx="5760720" cy="2743200"/>
        </p:xfrm>
        <a:graphic xmlns:a="http://schemas.openxmlformats.org/drawingml/2006/main">
          <a:graphicData uri="http://schemas.openxmlformats.org/drawingml/2006/chart">
            <c:chart xmlns:c="http://schemas.openxmlformats.org/drawingml/2006/chart" r:id="rId1"/>
          </a:graphicData>
        </a:graphic>
      </p:graphicFrame>
      <p:sp>
        <p:nvSpPr>
          <p:cNvPr id="24" name="State card"/>
          <p:cNvSpPr/>
          <p:nvPr/>
        </p:nvSpPr>
        <p:spPr>
          <a:xfrm>
            <a:off x="6492240" y="3611880"/>
            <a:ext cx="5120640" cy="822960"/>
          </a:xfrm>
          <a:prstGeom prst="roundRect">
            <a:avLst>
              <a:gd name="adj" fmla="val 8889"/>
            </a:avLst>
          </a:prstGeom>
          <a:solidFill>
            <a:srgbClr val="F2F6FB"/>
          </a:solidFill>
          <a:ln w="12700">
            <a:solidFill>
              <a:srgbClr val="F2F6FB"/>
            </a:solidFill>
            <a:prstDash val="solid"/>
          </a:ln>
        </p:spPr>
      </p:sp>
      <p:sp>
        <p:nvSpPr>
          <p:cNvPr id="25" name="State accent"/>
          <p:cNvSpPr/>
          <p:nvPr/>
        </p:nvSpPr>
        <p:spPr>
          <a:xfrm>
            <a:off x="6492240" y="3611880"/>
            <a:ext cx="82296" cy="822960"/>
          </a:xfrm>
          <a:prstGeom prst="rect">
            <a:avLst/>
          </a:prstGeom>
          <a:solidFill>
            <a:srgbClr val="EB6834"/>
          </a:solidFill>
          <a:ln w="12700">
            <a:solidFill>
              <a:srgbClr val="EB6834"/>
            </a:solidFill>
            <a:prstDash val="solid"/>
          </a:ln>
        </p:spPr>
      </p:sp>
      <p:sp>
        <p:nvSpPr>
          <p:cNvPr id="26" name="Text 22"/>
          <p:cNvSpPr txBox="1"/>
          <p:nvPr/>
        </p:nvSpPr>
        <p:spPr>
          <a:xfrm>
            <a:off x="6720840" y="36667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Scarce  78%</a:t>
            </a:r>
            <a:endParaRPr lang="en-US" sz="1400" dirty="0"/>
          </a:p>
        </p:txBody>
      </p:sp>
      <p:sp>
        <p:nvSpPr>
          <p:cNvPr id="27" name="Text 23"/>
          <p:cNvSpPr txBox="1"/>
          <p:nvPr/>
        </p:nvSpPr>
        <p:spPr>
          <a:xfrm>
            <a:off x="6720840" y="3977640"/>
            <a:ext cx="1920240" cy="411480"/>
          </a:xfrm>
          <a:prstGeom prst="rect">
            <a:avLst/>
          </a:prstGeom>
          <a:noFill/>
          <a:ln/>
        </p:spPr>
        <p:txBody>
          <a:bodyPr wrap="square" lIns="0" tIns="0" rIns="0" bIns="0" rtlCol="0" anchor="t"/>
          <a:lstStyle/>
          <a:p>
            <a:pPr indent="0" marL="0">
              <a:buNone/>
            </a:pPr>
            <a:r>
              <a:rPr lang="en-US" sz="1100" dirty="0">
                <a:solidFill>
                  <a:srgbClr val="5B6B80"/>
                </a:solidFill>
              </a:rPr>
              <a:t>demand exceeds stock</a:t>
            </a:r>
            <a:endParaRPr lang="en-US" sz="1100" dirty="0"/>
          </a:p>
        </p:txBody>
      </p:sp>
      <p:sp>
        <p:nvSpPr>
          <p:cNvPr id="28" name="Text 24"/>
          <p:cNvSpPr txBox="1"/>
          <p:nvPr/>
        </p:nvSpPr>
        <p:spPr>
          <a:xfrm>
            <a:off x="8686800" y="36850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raise price up to +8%, only while units sold stay within 1%</a:t>
            </a:r>
            <a:endParaRPr lang="en-US" sz="1200" dirty="0"/>
          </a:p>
        </p:txBody>
      </p:sp>
      <p:sp>
        <p:nvSpPr>
          <p:cNvPr id="29" name="State card"/>
          <p:cNvSpPr/>
          <p:nvPr/>
        </p:nvSpPr>
        <p:spPr>
          <a:xfrm>
            <a:off x="6492240" y="4526280"/>
            <a:ext cx="5120640" cy="822960"/>
          </a:xfrm>
          <a:prstGeom prst="roundRect">
            <a:avLst>
              <a:gd name="adj" fmla="val 8889"/>
            </a:avLst>
          </a:prstGeom>
          <a:solidFill>
            <a:srgbClr val="F2F6FB"/>
          </a:solidFill>
          <a:ln w="12700">
            <a:solidFill>
              <a:srgbClr val="F2F6FB"/>
            </a:solidFill>
            <a:prstDash val="solid"/>
          </a:ln>
        </p:spPr>
      </p:sp>
      <p:sp>
        <p:nvSpPr>
          <p:cNvPr id="30" name="State accent"/>
          <p:cNvSpPr/>
          <p:nvPr/>
        </p:nvSpPr>
        <p:spPr>
          <a:xfrm>
            <a:off x="6492240" y="4526280"/>
            <a:ext cx="82296" cy="822960"/>
          </a:xfrm>
          <a:prstGeom prst="rect">
            <a:avLst/>
          </a:prstGeom>
          <a:solidFill>
            <a:srgbClr val="1BAF7A"/>
          </a:solidFill>
          <a:ln w="12700">
            <a:solidFill>
              <a:srgbClr val="1BAF7A"/>
            </a:solidFill>
            <a:prstDash val="solid"/>
          </a:ln>
        </p:spPr>
      </p:sp>
      <p:sp>
        <p:nvSpPr>
          <p:cNvPr id="31" name="Text 27"/>
          <p:cNvSpPr txBox="1"/>
          <p:nvPr/>
        </p:nvSpPr>
        <p:spPr>
          <a:xfrm>
            <a:off x="6720840" y="45811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Balanced  5%</a:t>
            </a:r>
            <a:endParaRPr lang="en-US" sz="1400" dirty="0"/>
          </a:p>
        </p:txBody>
      </p:sp>
      <p:sp>
        <p:nvSpPr>
          <p:cNvPr id="32" name="Text 28"/>
          <p:cNvSpPr txBox="1"/>
          <p:nvPr/>
        </p:nvSpPr>
        <p:spPr>
          <a:xfrm>
            <a:off x="6720840" y="4892040"/>
            <a:ext cx="1920240" cy="411480"/>
          </a:xfrm>
          <a:prstGeom prst="rect">
            <a:avLst/>
          </a:prstGeom>
          <a:noFill/>
          <a:ln/>
        </p:spPr>
        <p:txBody>
          <a:bodyPr wrap="square" lIns="0" tIns="0" rIns="0" bIns="0" rtlCol="0" anchor="t"/>
          <a:lstStyle/>
          <a:p>
            <a:pPr indent="0" marL="0">
              <a:buNone/>
            </a:pPr>
            <a:r>
              <a:rPr lang="en-US" sz="1100" dirty="0">
                <a:solidFill>
                  <a:srgbClr val="5B6B80"/>
                </a:solidFill>
              </a:rPr>
              <a:t>stock covers demand</a:t>
            </a:r>
            <a:endParaRPr lang="en-US" sz="1100" dirty="0"/>
          </a:p>
        </p:txBody>
      </p:sp>
      <p:sp>
        <p:nvSpPr>
          <p:cNvPr id="33" name="Text 29"/>
          <p:cNvSpPr txBox="1"/>
          <p:nvPr/>
        </p:nvSpPr>
        <p:spPr>
          <a:xfrm>
            <a:off x="8686800" y="45994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hold the price</a:t>
            </a:r>
            <a:endParaRPr lang="en-US" sz="1200" dirty="0"/>
          </a:p>
        </p:txBody>
      </p:sp>
      <p:sp>
        <p:nvSpPr>
          <p:cNvPr id="34" name="State card"/>
          <p:cNvSpPr/>
          <p:nvPr/>
        </p:nvSpPr>
        <p:spPr>
          <a:xfrm>
            <a:off x="6492240" y="5440680"/>
            <a:ext cx="5120640" cy="822960"/>
          </a:xfrm>
          <a:prstGeom prst="roundRect">
            <a:avLst>
              <a:gd name="adj" fmla="val 8889"/>
            </a:avLst>
          </a:prstGeom>
          <a:solidFill>
            <a:srgbClr val="F2F6FB"/>
          </a:solidFill>
          <a:ln w="12700">
            <a:solidFill>
              <a:srgbClr val="F2F6FB"/>
            </a:solidFill>
            <a:prstDash val="solid"/>
          </a:ln>
        </p:spPr>
      </p:sp>
      <p:sp>
        <p:nvSpPr>
          <p:cNvPr id="35" name="State accent"/>
          <p:cNvSpPr/>
          <p:nvPr/>
        </p:nvSpPr>
        <p:spPr>
          <a:xfrm>
            <a:off x="6492240" y="5440680"/>
            <a:ext cx="82296" cy="822960"/>
          </a:xfrm>
          <a:prstGeom prst="rect">
            <a:avLst/>
          </a:prstGeom>
          <a:solidFill>
            <a:srgbClr val="2A78D6"/>
          </a:solidFill>
          <a:ln w="12700">
            <a:solidFill>
              <a:srgbClr val="2A78D6"/>
            </a:solidFill>
            <a:prstDash val="solid"/>
          </a:ln>
        </p:spPr>
      </p:sp>
      <p:sp>
        <p:nvSpPr>
          <p:cNvPr id="36" name="Text 32"/>
          <p:cNvSpPr txBox="1"/>
          <p:nvPr/>
        </p:nvSpPr>
        <p:spPr>
          <a:xfrm>
            <a:off x="6720840" y="54955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Surplus  17%</a:t>
            </a:r>
            <a:endParaRPr lang="en-US" sz="1400" dirty="0"/>
          </a:p>
        </p:txBody>
      </p:sp>
      <p:sp>
        <p:nvSpPr>
          <p:cNvPr id="37" name="Text 33"/>
          <p:cNvSpPr txBox="1"/>
          <p:nvPr/>
        </p:nvSpPr>
        <p:spPr>
          <a:xfrm>
            <a:off x="6720840" y="5806440"/>
            <a:ext cx="1920240" cy="411480"/>
          </a:xfrm>
          <a:prstGeom prst="rect">
            <a:avLst/>
          </a:prstGeom>
          <a:noFill/>
          <a:ln/>
        </p:spPr>
        <p:txBody>
          <a:bodyPr wrap="square" lIns="0" tIns="0" rIns="0" bIns="0" rtlCol="0" anchor="t"/>
          <a:lstStyle/>
          <a:p>
            <a:pPr indent="0" marL="0">
              <a:buNone/>
            </a:pPr>
            <a:r>
              <a:rPr lang="en-US" sz="1100" dirty="0">
                <a:solidFill>
                  <a:srgbClr val="5B6B80"/>
                </a:solidFill>
              </a:rPr>
              <a:t>over 26 weeks of stock</a:t>
            </a:r>
            <a:endParaRPr lang="en-US" sz="1100" dirty="0"/>
          </a:p>
        </p:txBody>
      </p:sp>
      <p:sp>
        <p:nvSpPr>
          <p:cNvPr id="38" name="Text 34"/>
          <p:cNvSpPr txBox="1"/>
          <p:nvPr/>
        </p:nvSpPr>
        <p:spPr>
          <a:xfrm>
            <a:off x="8686800" y="55138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markdown only if profit rises; otherwise fix purchasing</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THE PRICING ENGINE</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Six rules turn the forecast into a price</a:t>
            </a:r>
            <a:endParaRPr lang="en-US" sz="3000" dirty="0"/>
          </a:p>
        </p:txBody>
      </p:sp>
      <p:sp>
        <p:nvSpPr>
          <p:cNvPr id="5" name="Rule card"/>
          <p:cNvSpPr/>
          <p:nvPr/>
        </p:nvSpPr>
        <p:spPr>
          <a:xfrm>
            <a:off x="548640" y="1645920"/>
            <a:ext cx="3566160" cy="2240280"/>
          </a:xfrm>
          <a:prstGeom prst="roundRect">
            <a:avLst>
              <a:gd name="adj" fmla="val 3265"/>
            </a:avLst>
          </a:prstGeom>
          <a:solidFill>
            <a:srgbClr val="F2F6FB"/>
          </a:solidFill>
          <a:ln w="12700">
            <a:solidFill>
              <a:srgbClr val="F2F6FB"/>
            </a:solidFill>
            <a:prstDash val="solid"/>
          </a:ln>
        </p:spPr>
      </p:sp>
      <p:sp>
        <p:nvSpPr>
          <p:cNvPr id="6" name="Rule accent"/>
          <p:cNvSpPr/>
          <p:nvPr/>
        </p:nvSpPr>
        <p:spPr>
          <a:xfrm>
            <a:off x="548640" y="1645920"/>
            <a:ext cx="3566160" cy="64008"/>
          </a:xfrm>
          <a:prstGeom prst="rect">
            <a:avLst/>
          </a:prstGeom>
          <a:solidFill>
            <a:srgbClr val="2A78D6"/>
          </a:solidFill>
          <a:ln w="12700">
            <a:solidFill>
              <a:srgbClr val="2A78D6"/>
            </a:solidFill>
            <a:prstDash val="solid"/>
          </a:ln>
        </p:spPr>
      </p:sp>
      <p:sp>
        <p:nvSpPr>
          <p:cNvPr id="7" name="Text 4"/>
          <p:cNvSpPr txBox="1"/>
          <p:nvPr/>
        </p:nvSpPr>
        <p:spPr>
          <a:xfrm>
            <a:off x="731520" y="1773936"/>
            <a:ext cx="3200400" cy="329184"/>
          </a:xfrm>
          <a:prstGeom prst="rect">
            <a:avLst/>
          </a:prstGeom>
          <a:noFill/>
          <a:ln/>
        </p:spPr>
        <p:txBody>
          <a:bodyPr wrap="square" lIns="0" tIns="0" rIns="0" bIns="0" rtlCol="0" anchor="ctr"/>
          <a:lstStyle/>
          <a:p>
            <a:pPr indent="0" marL="0">
              <a:buNone/>
            </a:pPr>
            <a:r>
              <a:rPr lang="en-US" sz="1500" b="1" dirty="0">
                <a:solidFill>
                  <a:schemeClr val="tx1"/>
                </a:solidFill>
              </a:rPr>
              <a:t>1  Scarcity premium</a:t>
            </a:r>
            <a:endParaRPr lang="en-US" sz="1500" dirty="0"/>
          </a:p>
        </p:txBody>
      </p:sp>
      <p:sp>
        <p:nvSpPr>
          <p:cNvPr id="8" name="Text 5"/>
          <p:cNvSpPr txBox="1"/>
          <p:nvPr/>
        </p:nvSpPr>
        <p:spPr>
          <a:xfrm>
            <a:off x="731520" y="2121408"/>
            <a:ext cx="3200400" cy="566928"/>
          </a:xfrm>
          <a:prstGeom prst="rect">
            <a:avLst/>
          </a:prstGeom>
          <a:noFill/>
          <a:ln/>
        </p:spPr>
        <p:txBody>
          <a:bodyPr wrap="square" lIns="0" tIns="0" rIns="0" bIns="0" rtlCol="0" anchor="t"/>
          <a:lstStyle/>
          <a:p>
            <a:pPr indent="0" marL="0">
              <a:buNone/>
            </a:pPr>
            <a:r>
              <a:rPr lang="en-US" sz="1250" b="1" dirty="0">
                <a:solidFill>
                  <a:schemeClr val="accent1"/>
                </a:solidFill>
              </a:rPr>
              <a:t>rise = 8% x min(1, g / 30%) x season</a:t>
            </a:r>
            <a:endParaRPr lang="en-US" sz="1250" dirty="0"/>
          </a:p>
        </p:txBody>
      </p:sp>
      <p:sp>
        <p:nvSpPr>
          <p:cNvPr id="9" name="Text 6"/>
          <p:cNvSpPr txBox="1"/>
          <p:nvPr/>
        </p:nvSpPr>
        <p:spPr>
          <a:xfrm>
            <a:off x="731520" y="2697480"/>
            <a:ext cx="3200400" cy="685800"/>
          </a:xfrm>
          <a:prstGeom prst="rect">
            <a:avLst/>
          </a:prstGeom>
          <a:noFill/>
          <a:ln/>
        </p:spPr>
        <p:txBody>
          <a:bodyPr wrap="square" lIns="0" tIns="0" rIns="0" bIns="0" rtlCol="0" anchor="t"/>
          <a:lstStyle/>
          <a:p>
            <a:pPr indent="0" marL="0">
              <a:buNone/>
            </a:pPr>
            <a:r>
              <a:rPr lang="en-US" sz="1150" dirty="0">
                <a:solidFill>
                  <a:srgbClr val="1B2A41"/>
                </a:solidFill>
              </a:rPr>
              <a:t>g = share of demand that cannot be served; only if g &gt; 5%. Season: peak 1, normal 0.75, off-peak 0.5.</a:t>
            </a:r>
            <a:endParaRPr lang="en-US" sz="1150" dirty="0"/>
          </a:p>
        </p:txBody>
      </p:sp>
      <p:sp>
        <p:nvSpPr>
          <p:cNvPr id="10" name="Text 7"/>
          <p:cNvSpPr txBox="1"/>
          <p:nvPr/>
        </p:nvSpPr>
        <p:spPr>
          <a:xfrm>
            <a:off x="731520" y="3383280"/>
            <a:ext cx="3200400" cy="457200"/>
          </a:xfrm>
          <a:prstGeom prst="rect">
            <a:avLst/>
          </a:prstGeom>
          <a:noFill/>
          <a:ln/>
        </p:spPr>
        <p:txBody>
          <a:bodyPr wrap="square" lIns="0" tIns="0" rIns="0" bIns="0" rtlCol="0" anchor="t"/>
          <a:lstStyle/>
          <a:p>
            <a:pPr indent="0" marL="0">
              <a:buNone/>
            </a:pPr>
            <a:r>
              <a:rPr lang="en-US" sz="1150" i="1" dirty="0">
                <a:solidFill>
                  <a:srgbClr val="5B6B80"/>
                </a:solidFill>
              </a:rPr>
              <a:t>Why: if stock sells out anyway, a higher price is pure profit.</a:t>
            </a:r>
            <a:endParaRPr lang="en-US" sz="1150" dirty="0"/>
          </a:p>
        </p:txBody>
      </p:sp>
      <p:sp>
        <p:nvSpPr>
          <p:cNvPr id="11" name="Rule card"/>
          <p:cNvSpPr/>
          <p:nvPr/>
        </p:nvSpPr>
        <p:spPr>
          <a:xfrm>
            <a:off x="4297680" y="1645920"/>
            <a:ext cx="3566160" cy="2240280"/>
          </a:xfrm>
          <a:prstGeom prst="roundRect">
            <a:avLst>
              <a:gd name="adj" fmla="val 3265"/>
            </a:avLst>
          </a:prstGeom>
          <a:solidFill>
            <a:srgbClr val="F2F6FB"/>
          </a:solidFill>
          <a:ln w="12700">
            <a:solidFill>
              <a:srgbClr val="F2F6FB"/>
            </a:solidFill>
            <a:prstDash val="solid"/>
          </a:ln>
        </p:spPr>
      </p:sp>
      <p:sp>
        <p:nvSpPr>
          <p:cNvPr id="12" name="Rule accent"/>
          <p:cNvSpPr/>
          <p:nvPr/>
        </p:nvSpPr>
        <p:spPr>
          <a:xfrm>
            <a:off x="4297680" y="1645920"/>
            <a:ext cx="3566160" cy="64008"/>
          </a:xfrm>
          <a:prstGeom prst="rect">
            <a:avLst/>
          </a:prstGeom>
          <a:solidFill>
            <a:srgbClr val="1BAF7A"/>
          </a:solidFill>
          <a:ln w="12700">
            <a:solidFill>
              <a:srgbClr val="1BAF7A"/>
            </a:solidFill>
            <a:prstDash val="solid"/>
          </a:ln>
        </p:spPr>
      </p:sp>
      <p:sp>
        <p:nvSpPr>
          <p:cNvPr id="13" name="Text 10"/>
          <p:cNvSpPr txBox="1"/>
          <p:nvPr/>
        </p:nvSpPr>
        <p:spPr>
          <a:xfrm>
            <a:off x="4480560" y="1773936"/>
            <a:ext cx="3200400" cy="329184"/>
          </a:xfrm>
          <a:prstGeom prst="rect">
            <a:avLst/>
          </a:prstGeom>
          <a:noFill/>
          <a:ln/>
        </p:spPr>
        <p:txBody>
          <a:bodyPr wrap="square" lIns="0" tIns="0" rIns="0" bIns="0" rtlCol="0" anchor="ctr"/>
          <a:lstStyle/>
          <a:p>
            <a:pPr indent="0" marL="0">
              <a:buNone/>
            </a:pPr>
            <a:r>
              <a:rPr lang="en-US" sz="1500" b="1" dirty="0">
                <a:solidFill>
                  <a:schemeClr val="tx1"/>
                </a:solidFill>
              </a:rPr>
              <a:t>2  Sell-out protection</a:t>
            </a:r>
            <a:endParaRPr lang="en-US" sz="1500" dirty="0"/>
          </a:p>
        </p:txBody>
      </p:sp>
      <p:sp>
        <p:nvSpPr>
          <p:cNvPr id="14" name="Text 11"/>
          <p:cNvSpPr txBox="1"/>
          <p:nvPr/>
        </p:nvSpPr>
        <p:spPr>
          <a:xfrm>
            <a:off x="4480560" y="2121408"/>
            <a:ext cx="3200400" cy="566928"/>
          </a:xfrm>
          <a:prstGeom prst="rect">
            <a:avLst/>
          </a:prstGeom>
          <a:noFill/>
          <a:ln/>
        </p:spPr>
        <p:txBody>
          <a:bodyPr wrap="square" lIns="0" tIns="0" rIns="0" bIns="0" rtlCol="0" anchor="t"/>
          <a:lstStyle/>
          <a:p>
            <a:pPr indent="0" marL="0">
              <a:buNone/>
            </a:pPr>
            <a:r>
              <a:rPr lang="en-US" sz="1250" b="1" dirty="0">
                <a:solidFill>
                  <a:schemeClr val="accent1"/>
                </a:solidFill>
              </a:rPr>
              <a:t>largest rise M with E[units] &gt;= 99% of today's</a:t>
            </a:r>
            <a:endParaRPr lang="en-US" sz="1250" dirty="0"/>
          </a:p>
        </p:txBody>
      </p:sp>
      <p:sp>
        <p:nvSpPr>
          <p:cNvPr id="15" name="Text 12"/>
          <p:cNvSpPr txBox="1"/>
          <p:nvPr/>
        </p:nvSpPr>
        <p:spPr>
          <a:xfrm>
            <a:off x="4480560" y="2697480"/>
            <a:ext cx="3200400" cy="685800"/>
          </a:xfrm>
          <a:prstGeom prst="rect">
            <a:avLst/>
          </a:prstGeom>
          <a:noFill/>
          <a:ln/>
        </p:spPr>
        <p:txBody>
          <a:bodyPr wrap="square" lIns="0" tIns="0" rIns="0" bIns="0" rtlCol="0" anchor="t"/>
          <a:lstStyle/>
          <a:p>
            <a:pPr indent="0" marL="0">
              <a:buNone/>
            </a:pPr>
            <a:r>
              <a:rPr lang="en-US" sz="1150" dirty="0">
                <a:solidFill>
                  <a:srgbClr val="1B2A41"/>
                </a:solidFill>
              </a:rPr>
              <a:t>Tested by 1,000 simulated demand draws, with customers twice as price-sensitive.</a:t>
            </a:r>
            <a:endParaRPr lang="en-US" sz="1150" dirty="0"/>
          </a:p>
        </p:txBody>
      </p:sp>
      <p:sp>
        <p:nvSpPr>
          <p:cNvPr id="16" name="Text 13"/>
          <p:cNvSpPr txBox="1"/>
          <p:nvPr/>
        </p:nvSpPr>
        <p:spPr>
          <a:xfrm>
            <a:off x="4480560" y="3383280"/>
            <a:ext cx="3200400" cy="457200"/>
          </a:xfrm>
          <a:prstGeom prst="rect">
            <a:avLst/>
          </a:prstGeom>
          <a:noFill/>
          <a:ln/>
        </p:spPr>
        <p:txBody>
          <a:bodyPr wrap="square" lIns="0" tIns="0" rIns="0" bIns="0" rtlCol="0" anchor="t"/>
          <a:lstStyle/>
          <a:p>
            <a:pPr indent="0" marL="0">
              <a:buNone/>
            </a:pPr>
            <a:r>
              <a:rPr lang="en-US" sz="1150" i="1" dirty="0">
                <a:solidFill>
                  <a:srgbClr val="5B6B80"/>
                </a:solidFill>
              </a:rPr>
              <a:t>Why: price sensitivity is unknown; do not rely on it.</a:t>
            </a:r>
            <a:endParaRPr lang="en-US" sz="1150" dirty="0"/>
          </a:p>
        </p:txBody>
      </p:sp>
      <p:sp>
        <p:nvSpPr>
          <p:cNvPr id="17" name="Rule card"/>
          <p:cNvSpPr/>
          <p:nvPr/>
        </p:nvSpPr>
        <p:spPr>
          <a:xfrm>
            <a:off x="8046720" y="1645920"/>
            <a:ext cx="3566160" cy="2240280"/>
          </a:xfrm>
          <a:prstGeom prst="roundRect">
            <a:avLst>
              <a:gd name="adj" fmla="val 3265"/>
            </a:avLst>
          </a:prstGeom>
          <a:solidFill>
            <a:srgbClr val="F2F6FB"/>
          </a:solidFill>
          <a:ln w="12700">
            <a:solidFill>
              <a:srgbClr val="F2F6FB"/>
            </a:solidFill>
            <a:prstDash val="solid"/>
          </a:ln>
        </p:spPr>
      </p:sp>
      <p:sp>
        <p:nvSpPr>
          <p:cNvPr id="18" name="Rule accent"/>
          <p:cNvSpPr/>
          <p:nvPr/>
        </p:nvSpPr>
        <p:spPr>
          <a:xfrm>
            <a:off x="8046720" y="1645920"/>
            <a:ext cx="3566160" cy="64008"/>
          </a:xfrm>
          <a:prstGeom prst="rect">
            <a:avLst/>
          </a:prstGeom>
          <a:solidFill>
            <a:srgbClr val="EB6834"/>
          </a:solidFill>
          <a:ln w="12700">
            <a:solidFill>
              <a:srgbClr val="EB6834"/>
            </a:solidFill>
            <a:prstDash val="solid"/>
          </a:ln>
        </p:spPr>
      </p:sp>
      <p:sp>
        <p:nvSpPr>
          <p:cNvPr id="19" name="Text 16"/>
          <p:cNvSpPr txBox="1"/>
          <p:nvPr/>
        </p:nvSpPr>
        <p:spPr>
          <a:xfrm>
            <a:off x="8229600" y="1773936"/>
            <a:ext cx="3200400" cy="329184"/>
          </a:xfrm>
          <a:prstGeom prst="rect">
            <a:avLst/>
          </a:prstGeom>
          <a:noFill/>
          <a:ln/>
        </p:spPr>
        <p:txBody>
          <a:bodyPr wrap="square" lIns="0" tIns="0" rIns="0" bIns="0" rtlCol="0" anchor="ctr"/>
          <a:lstStyle/>
          <a:p>
            <a:pPr indent="0" marL="0">
              <a:buNone/>
            </a:pPr>
            <a:r>
              <a:rPr lang="en-US" sz="1500" b="1" dirty="0">
                <a:solidFill>
                  <a:schemeClr val="tx1"/>
                </a:solidFill>
              </a:rPr>
              <a:t>3  Surplus markdown</a:t>
            </a:r>
            <a:endParaRPr lang="en-US" sz="1500" dirty="0"/>
          </a:p>
        </p:txBody>
      </p:sp>
      <p:sp>
        <p:nvSpPr>
          <p:cNvPr id="20" name="Text 17"/>
          <p:cNvSpPr txBox="1"/>
          <p:nvPr/>
        </p:nvSpPr>
        <p:spPr>
          <a:xfrm>
            <a:off x="8229600" y="2121408"/>
            <a:ext cx="3200400" cy="566928"/>
          </a:xfrm>
          <a:prstGeom prst="rect">
            <a:avLst/>
          </a:prstGeom>
          <a:noFill/>
          <a:ln/>
        </p:spPr>
        <p:txBody>
          <a:bodyPr wrap="square" lIns="0" tIns="0" rIns="0" bIns="0" rtlCol="0" anchor="t"/>
          <a:lstStyle/>
          <a:p>
            <a:pPr indent="0" marL="0">
              <a:buNone/>
            </a:pPr>
            <a:r>
              <a:rPr lang="en-US" sz="1250" b="1" dirty="0">
                <a:solidFill>
                  <a:schemeClr val="accent1"/>
                </a:solidFill>
              </a:rPr>
              <a:t>up to 10%, deeper as weeks of stock exceed 26</a:t>
            </a:r>
            <a:endParaRPr lang="en-US" sz="1250" dirty="0"/>
          </a:p>
        </p:txBody>
      </p:sp>
      <p:sp>
        <p:nvSpPr>
          <p:cNvPr id="21" name="Text 18"/>
          <p:cNvSpPr txBox="1"/>
          <p:nvPr/>
        </p:nvSpPr>
        <p:spPr>
          <a:xfrm>
            <a:off x="8229600" y="2697480"/>
            <a:ext cx="3200400" cy="685800"/>
          </a:xfrm>
          <a:prstGeom prst="rect">
            <a:avLst/>
          </a:prstGeom>
          <a:noFill/>
          <a:ln/>
        </p:spPr>
        <p:txBody>
          <a:bodyPr wrap="square" lIns="0" tIns="0" rIns="0" bIns="0" rtlCol="0" anchor="t"/>
          <a:lstStyle/>
          <a:p>
            <a:pPr indent="0" marL="0">
              <a:buNone/>
            </a:pPr>
            <a:r>
              <a:rPr lang="en-US" sz="1150" dirty="0">
                <a:solidFill>
                  <a:srgbClr val="1B2A41"/>
                </a:solidFill>
              </a:rPr>
              <a:t>Applied only if simulated profit improves, counting the carrying-cost saving.</a:t>
            </a:r>
            <a:endParaRPr lang="en-US" sz="1150" dirty="0"/>
          </a:p>
        </p:txBody>
      </p:sp>
      <p:sp>
        <p:nvSpPr>
          <p:cNvPr id="22" name="Text 19"/>
          <p:cNvSpPr txBox="1"/>
          <p:nvPr/>
        </p:nvSpPr>
        <p:spPr>
          <a:xfrm>
            <a:off x="8229600" y="3383280"/>
            <a:ext cx="3200400" cy="457200"/>
          </a:xfrm>
          <a:prstGeom prst="rect">
            <a:avLst/>
          </a:prstGeom>
          <a:noFill/>
          <a:ln/>
        </p:spPr>
        <p:txBody>
          <a:bodyPr wrap="square" lIns="0" tIns="0" rIns="0" bIns="0" rtlCol="0" anchor="t"/>
          <a:lstStyle/>
          <a:p>
            <a:pPr indent="0" marL="0">
              <a:buNone/>
            </a:pPr>
            <a:r>
              <a:rPr lang="en-US" sz="1150" i="1" dirty="0">
                <a:solidFill>
                  <a:srgbClr val="5B6B80"/>
                </a:solidFill>
              </a:rPr>
              <a:t>Why: a discount gives away margin on every unit.</a:t>
            </a:r>
            <a:endParaRPr lang="en-US" sz="1150" dirty="0"/>
          </a:p>
        </p:txBody>
      </p:sp>
      <p:sp>
        <p:nvSpPr>
          <p:cNvPr id="23" name="Rule card"/>
          <p:cNvSpPr/>
          <p:nvPr/>
        </p:nvSpPr>
        <p:spPr>
          <a:xfrm>
            <a:off x="548640" y="4023360"/>
            <a:ext cx="3566160" cy="2240280"/>
          </a:xfrm>
          <a:prstGeom prst="roundRect">
            <a:avLst>
              <a:gd name="adj" fmla="val 3265"/>
            </a:avLst>
          </a:prstGeom>
          <a:solidFill>
            <a:srgbClr val="F2F6FB"/>
          </a:solidFill>
          <a:ln w="12700">
            <a:solidFill>
              <a:srgbClr val="F2F6FB"/>
            </a:solidFill>
            <a:prstDash val="solid"/>
          </a:ln>
        </p:spPr>
      </p:sp>
      <p:sp>
        <p:nvSpPr>
          <p:cNvPr id="24" name="Rule accent"/>
          <p:cNvSpPr/>
          <p:nvPr/>
        </p:nvSpPr>
        <p:spPr>
          <a:xfrm>
            <a:off x="548640" y="4023360"/>
            <a:ext cx="3566160" cy="64008"/>
          </a:xfrm>
          <a:prstGeom prst="rect">
            <a:avLst/>
          </a:prstGeom>
          <a:solidFill>
            <a:srgbClr val="D03B3B"/>
          </a:solidFill>
          <a:ln w="12700">
            <a:solidFill>
              <a:srgbClr val="D03B3B"/>
            </a:solidFill>
            <a:prstDash val="solid"/>
          </a:ln>
        </p:spPr>
      </p:sp>
      <p:sp>
        <p:nvSpPr>
          <p:cNvPr id="25" name="Text 22"/>
          <p:cNvSpPr txBox="1"/>
          <p:nvPr/>
        </p:nvSpPr>
        <p:spPr>
          <a:xfrm>
            <a:off x="731520" y="4151376"/>
            <a:ext cx="3200400" cy="329184"/>
          </a:xfrm>
          <a:prstGeom prst="rect">
            <a:avLst/>
          </a:prstGeom>
          <a:noFill/>
          <a:ln/>
        </p:spPr>
        <p:txBody>
          <a:bodyPr wrap="square" lIns="0" tIns="0" rIns="0" bIns="0" rtlCol="0" anchor="ctr"/>
          <a:lstStyle/>
          <a:p>
            <a:pPr indent="0" marL="0">
              <a:buNone/>
            </a:pPr>
            <a:r>
              <a:rPr lang="en-US" sz="1500" b="1" dirty="0">
                <a:solidFill>
                  <a:schemeClr val="tx1"/>
                </a:solidFill>
              </a:rPr>
              <a:t>4  Credit risk</a:t>
            </a:r>
            <a:endParaRPr lang="en-US" sz="1500" dirty="0"/>
          </a:p>
        </p:txBody>
      </p:sp>
      <p:sp>
        <p:nvSpPr>
          <p:cNvPr id="26" name="Text 23"/>
          <p:cNvSpPr txBox="1"/>
          <p:nvPr/>
        </p:nvSpPr>
        <p:spPr>
          <a:xfrm>
            <a:off x="731520" y="4498848"/>
            <a:ext cx="3200400" cy="566928"/>
          </a:xfrm>
          <a:prstGeom prst="rect">
            <a:avLst/>
          </a:prstGeom>
          <a:noFill/>
          <a:ln/>
        </p:spPr>
        <p:txBody>
          <a:bodyPr wrap="square" lIns="0" tIns="0" rIns="0" bIns="0" rtlCol="0" anchor="t"/>
          <a:lstStyle/>
          <a:p>
            <a:pPr indent="0" marL="0">
              <a:buNone/>
            </a:pPr>
            <a:r>
              <a:rPr lang="en-US" sz="1250" b="1" dirty="0">
                <a:solidFill>
                  <a:schemeClr val="accent1"/>
                </a:solidFill>
              </a:rPr>
              <a:t>D/E: no markdown, premium = default share + DSO/365 x 8%</a:t>
            </a:r>
            <a:endParaRPr lang="en-US" sz="1250" dirty="0"/>
          </a:p>
        </p:txBody>
      </p:sp>
      <p:sp>
        <p:nvSpPr>
          <p:cNvPr id="27" name="Text 24"/>
          <p:cNvSpPr txBox="1"/>
          <p:nvPr/>
        </p:nvSpPr>
        <p:spPr>
          <a:xfrm>
            <a:off x="731520" y="5074920"/>
            <a:ext cx="3200400" cy="685800"/>
          </a:xfrm>
          <a:prstGeom prst="rect">
            <a:avLst/>
          </a:prstGeom>
          <a:noFill/>
          <a:ln/>
        </p:spPr>
        <p:txBody>
          <a:bodyPr wrap="square" lIns="0" tIns="0" rIns="0" bIns="0" rtlCol="0" anchor="t"/>
          <a:lstStyle/>
          <a:p>
            <a:pPr indent="0" marL="0">
              <a:buNone/>
            </a:pPr>
            <a:r>
              <a:rPr lang="en-US" sz="1150" dirty="0">
                <a:solidFill>
                  <a:srgbClr val="1B2A41"/>
                </a:solidFill>
              </a:rPr>
              <a:t>Rating C: markdown capped at 5%.</a:t>
            </a:r>
            <a:endParaRPr lang="en-US" sz="1150" dirty="0"/>
          </a:p>
        </p:txBody>
      </p:sp>
      <p:sp>
        <p:nvSpPr>
          <p:cNvPr id="28" name="Text 25"/>
          <p:cNvSpPr txBox="1"/>
          <p:nvPr/>
        </p:nvSpPr>
        <p:spPr>
          <a:xfrm>
            <a:off x="731520" y="5760720"/>
            <a:ext cx="3200400" cy="457200"/>
          </a:xfrm>
          <a:prstGeom prst="rect">
            <a:avLst/>
          </a:prstGeom>
          <a:noFill/>
          <a:ln/>
        </p:spPr>
        <p:txBody>
          <a:bodyPr wrap="square" lIns="0" tIns="0" rIns="0" bIns="0" rtlCol="0" anchor="t"/>
          <a:lstStyle/>
          <a:p>
            <a:pPr indent="0" marL="0">
              <a:buNone/>
            </a:pPr>
            <a:r>
              <a:rPr lang="en-US" sz="1150" i="1" dirty="0">
                <a:solidFill>
                  <a:srgbClr val="5B6B80"/>
                </a:solidFill>
              </a:rPr>
              <a:t>Why: risky credit must pay for loss and funding.</a:t>
            </a:r>
            <a:endParaRPr lang="en-US" sz="1150" dirty="0"/>
          </a:p>
        </p:txBody>
      </p:sp>
      <p:sp>
        <p:nvSpPr>
          <p:cNvPr id="29" name="Rule card"/>
          <p:cNvSpPr/>
          <p:nvPr/>
        </p:nvSpPr>
        <p:spPr>
          <a:xfrm>
            <a:off x="4297680" y="4023360"/>
            <a:ext cx="3566160" cy="2240280"/>
          </a:xfrm>
          <a:prstGeom prst="roundRect">
            <a:avLst>
              <a:gd name="adj" fmla="val 3265"/>
            </a:avLst>
          </a:prstGeom>
          <a:solidFill>
            <a:srgbClr val="F2F6FB"/>
          </a:solidFill>
          <a:ln w="12700">
            <a:solidFill>
              <a:srgbClr val="F2F6FB"/>
            </a:solidFill>
            <a:prstDash val="solid"/>
          </a:ln>
        </p:spPr>
      </p:sp>
      <p:sp>
        <p:nvSpPr>
          <p:cNvPr id="30" name="Rule accent"/>
          <p:cNvSpPr/>
          <p:nvPr/>
        </p:nvSpPr>
        <p:spPr>
          <a:xfrm>
            <a:off x="4297680" y="4023360"/>
            <a:ext cx="3566160" cy="64008"/>
          </a:xfrm>
          <a:prstGeom prst="rect">
            <a:avLst/>
          </a:prstGeom>
          <a:solidFill>
            <a:srgbClr val="8A8F98"/>
          </a:solidFill>
          <a:ln w="12700">
            <a:solidFill>
              <a:srgbClr val="8A8F98"/>
            </a:solidFill>
            <a:prstDash val="solid"/>
          </a:ln>
        </p:spPr>
      </p:sp>
      <p:sp>
        <p:nvSpPr>
          <p:cNvPr id="31" name="Text 28"/>
          <p:cNvSpPr txBox="1"/>
          <p:nvPr/>
        </p:nvSpPr>
        <p:spPr>
          <a:xfrm>
            <a:off x="4480560" y="4151376"/>
            <a:ext cx="3200400" cy="329184"/>
          </a:xfrm>
          <a:prstGeom prst="rect">
            <a:avLst/>
          </a:prstGeom>
          <a:noFill/>
          <a:ln/>
        </p:spPr>
        <p:txBody>
          <a:bodyPr wrap="square" lIns="0" tIns="0" rIns="0" bIns="0" rtlCol="0" anchor="ctr"/>
          <a:lstStyle/>
          <a:p>
            <a:pPr indent="0" marL="0">
              <a:buNone/>
            </a:pPr>
            <a:r>
              <a:rPr lang="en-US" sz="1500" b="1" dirty="0">
                <a:solidFill>
                  <a:schemeClr val="tx1"/>
                </a:solidFill>
              </a:rPr>
              <a:t>5  Guardrails</a:t>
            </a:r>
            <a:endParaRPr lang="en-US" sz="1500" dirty="0"/>
          </a:p>
        </p:txBody>
      </p:sp>
      <p:sp>
        <p:nvSpPr>
          <p:cNvPr id="32" name="Text 29"/>
          <p:cNvSpPr txBox="1"/>
          <p:nvPr/>
        </p:nvSpPr>
        <p:spPr>
          <a:xfrm>
            <a:off x="4480560" y="4498848"/>
            <a:ext cx="3200400" cy="566928"/>
          </a:xfrm>
          <a:prstGeom prst="rect">
            <a:avLst/>
          </a:prstGeom>
          <a:noFill/>
          <a:ln/>
        </p:spPr>
        <p:txBody>
          <a:bodyPr wrap="square" lIns="0" tIns="0" rIns="0" bIns="0" rtlCol="0" anchor="t"/>
          <a:lstStyle/>
          <a:p>
            <a:pPr indent="0" marL="0">
              <a:buNone/>
            </a:pPr>
            <a:r>
              <a:rPr lang="en-US" sz="1250" b="1" dirty="0">
                <a:solidFill>
                  <a:schemeClr val="accent1"/>
                </a:solidFill>
              </a:rPr>
              <a:t>cost floor, market band 0.92 to 1.10, step 3% a week</a:t>
            </a:r>
            <a:endParaRPr lang="en-US" sz="1250" dirty="0"/>
          </a:p>
        </p:txBody>
      </p:sp>
      <p:sp>
        <p:nvSpPr>
          <p:cNvPr id="33" name="Text 30"/>
          <p:cNvSpPr txBox="1"/>
          <p:nvPr/>
        </p:nvSpPr>
        <p:spPr>
          <a:xfrm>
            <a:off x="4480560" y="5074920"/>
            <a:ext cx="3200400" cy="685800"/>
          </a:xfrm>
          <a:prstGeom prst="rect">
            <a:avLst/>
          </a:prstGeom>
          <a:noFill/>
          <a:ln/>
        </p:spPr>
        <p:txBody>
          <a:bodyPr wrap="square" lIns="0" tIns="0" rIns="0" bIns="0" rtlCol="0" anchor="t"/>
          <a:lstStyle/>
          <a:p>
            <a:pPr indent="0" marL="0">
              <a:buNone/>
            </a:pPr>
            <a:r>
              <a:rPr lang="en-US" sz="1150" dirty="0">
                <a:solidFill>
                  <a:srgbClr val="1B2A41"/>
                </a:solidFill>
              </a:rPr>
              <a:t>Floor = cost + 5% + holding cost, adjusted for expected credit loss.</a:t>
            </a:r>
            <a:endParaRPr lang="en-US" sz="1150" dirty="0"/>
          </a:p>
        </p:txBody>
      </p:sp>
      <p:sp>
        <p:nvSpPr>
          <p:cNvPr id="34" name="Text 31"/>
          <p:cNvSpPr txBox="1"/>
          <p:nvPr/>
        </p:nvSpPr>
        <p:spPr>
          <a:xfrm>
            <a:off x="4480560" y="5760720"/>
            <a:ext cx="3200400" cy="457200"/>
          </a:xfrm>
          <a:prstGeom prst="rect">
            <a:avLst/>
          </a:prstGeom>
          <a:noFill/>
          <a:ln/>
        </p:spPr>
        <p:txBody>
          <a:bodyPr wrap="square" lIns="0" tIns="0" rIns="0" bIns="0" rtlCol="0" anchor="t"/>
          <a:lstStyle/>
          <a:p>
            <a:pPr indent="0" marL="0">
              <a:buNone/>
            </a:pPr>
            <a:r>
              <a:rPr lang="en-US" sz="1150" i="1" dirty="0">
                <a:solidFill>
                  <a:srgbClr val="5B6B80"/>
                </a:solidFill>
              </a:rPr>
              <a:t>Why: no loss-making sale, no price shock.</a:t>
            </a:r>
            <a:endParaRPr lang="en-US" sz="1150" dirty="0"/>
          </a:p>
        </p:txBody>
      </p:sp>
      <p:sp>
        <p:nvSpPr>
          <p:cNvPr id="35" name="Rule card"/>
          <p:cNvSpPr/>
          <p:nvPr/>
        </p:nvSpPr>
        <p:spPr>
          <a:xfrm>
            <a:off x="8046720" y="4023360"/>
            <a:ext cx="3566160" cy="2240280"/>
          </a:xfrm>
          <a:prstGeom prst="roundRect">
            <a:avLst>
              <a:gd name="adj" fmla="val 3265"/>
            </a:avLst>
          </a:prstGeom>
          <a:solidFill>
            <a:srgbClr val="F2F6FB"/>
          </a:solidFill>
          <a:ln w="12700">
            <a:solidFill>
              <a:srgbClr val="F2F6FB"/>
            </a:solidFill>
            <a:prstDash val="solid"/>
          </a:ln>
        </p:spPr>
      </p:sp>
      <p:sp>
        <p:nvSpPr>
          <p:cNvPr id="36" name="Rule accent"/>
          <p:cNvSpPr/>
          <p:nvPr/>
        </p:nvSpPr>
        <p:spPr>
          <a:xfrm>
            <a:off x="8046720" y="4023360"/>
            <a:ext cx="3566160" cy="64008"/>
          </a:xfrm>
          <a:prstGeom prst="rect">
            <a:avLst/>
          </a:prstGeom>
          <a:solidFill>
            <a:srgbClr val="12263F"/>
          </a:solidFill>
          <a:ln w="12700">
            <a:solidFill>
              <a:srgbClr val="12263F"/>
            </a:solidFill>
            <a:prstDash val="solid"/>
          </a:ln>
        </p:spPr>
      </p:sp>
      <p:sp>
        <p:nvSpPr>
          <p:cNvPr id="37" name="Text 34"/>
          <p:cNvSpPr txBox="1"/>
          <p:nvPr/>
        </p:nvSpPr>
        <p:spPr>
          <a:xfrm>
            <a:off x="8229600" y="4151376"/>
            <a:ext cx="3200400" cy="329184"/>
          </a:xfrm>
          <a:prstGeom prst="rect">
            <a:avLst/>
          </a:prstGeom>
          <a:noFill/>
          <a:ln/>
        </p:spPr>
        <p:txBody>
          <a:bodyPr wrap="square" lIns="0" tIns="0" rIns="0" bIns="0" rtlCol="0" anchor="ctr"/>
          <a:lstStyle/>
          <a:p>
            <a:pPr indent="0" marL="0">
              <a:buNone/>
            </a:pPr>
            <a:r>
              <a:rPr lang="en-US" sz="1500" b="1" dirty="0">
                <a:solidFill>
                  <a:schemeClr val="tx1"/>
                </a:solidFill>
              </a:rPr>
              <a:t>6  Final price</a:t>
            </a:r>
            <a:endParaRPr lang="en-US" sz="1500" dirty="0"/>
          </a:p>
        </p:txBody>
      </p:sp>
      <p:sp>
        <p:nvSpPr>
          <p:cNvPr id="38" name="Text 35"/>
          <p:cNvSpPr txBox="1"/>
          <p:nvPr/>
        </p:nvSpPr>
        <p:spPr>
          <a:xfrm>
            <a:off x="8229600" y="4498848"/>
            <a:ext cx="3200400" cy="566928"/>
          </a:xfrm>
          <a:prstGeom prst="rect">
            <a:avLst/>
          </a:prstGeom>
          <a:noFill/>
          <a:ln/>
        </p:spPr>
        <p:txBody>
          <a:bodyPr wrap="square" lIns="0" tIns="0" rIns="0" bIns="0" rtlCol="0" anchor="t"/>
          <a:lstStyle/>
          <a:p>
            <a:pPr indent="0" marL="0">
              <a:buNone/>
            </a:pPr>
            <a:r>
              <a:rPr lang="en-US" sz="1250" b="1" dirty="0">
                <a:solidFill>
                  <a:schemeClr val="accent1"/>
                </a:solidFill>
              </a:rPr>
              <a:t>today's price, rules 1-4, then clipped by rule 5</a:t>
            </a:r>
            <a:endParaRPr lang="en-US" sz="1250" dirty="0"/>
          </a:p>
        </p:txBody>
      </p:sp>
      <p:sp>
        <p:nvSpPr>
          <p:cNvPr id="39" name="Text 36"/>
          <p:cNvSpPr txBox="1"/>
          <p:nvPr/>
        </p:nvSpPr>
        <p:spPr>
          <a:xfrm>
            <a:off x="8229600" y="5074920"/>
            <a:ext cx="3200400" cy="685800"/>
          </a:xfrm>
          <a:prstGeom prst="rect">
            <a:avLst/>
          </a:prstGeom>
          <a:noFill/>
          <a:ln/>
        </p:spPr>
        <p:txBody>
          <a:bodyPr wrap="square" lIns="0" tIns="0" rIns="0" bIns="0" rtlCol="0" anchor="t"/>
          <a:lstStyle/>
          <a:p>
            <a:pPr indent="0" marL="0">
              <a:buNone/>
            </a:pPr>
            <a:r>
              <a:rPr lang="en-US" sz="1150" dirty="0">
                <a:solidFill>
                  <a:srgbClr val="1B2A41"/>
                </a:solidFill>
              </a:rPr>
              <a:t>The binding limit is recorded for every product-week.</a:t>
            </a:r>
            <a:endParaRPr lang="en-US" sz="1150" dirty="0"/>
          </a:p>
        </p:txBody>
      </p:sp>
      <p:sp>
        <p:nvSpPr>
          <p:cNvPr id="40" name="Text 37"/>
          <p:cNvSpPr txBox="1"/>
          <p:nvPr/>
        </p:nvSpPr>
        <p:spPr>
          <a:xfrm>
            <a:off x="8229600" y="5760720"/>
            <a:ext cx="3200400" cy="457200"/>
          </a:xfrm>
          <a:prstGeom prst="rect">
            <a:avLst/>
          </a:prstGeom>
          <a:noFill/>
          <a:ln/>
        </p:spPr>
        <p:txBody>
          <a:bodyPr wrap="square" lIns="0" tIns="0" rIns="0" bIns="0" rtlCol="0" anchor="t"/>
          <a:lstStyle/>
          <a:p>
            <a:pPr indent="0" marL="0">
              <a:buNone/>
            </a:pPr>
            <a:r>
              <a:rPr lang="en-US" sz="1150" i="1" dirty="0">
                <a:solidFill>
                  <a:srgbClr val="5B6B80"/>
                </a:solidFill>
              </a:rPr>
              <a:t>Why: every price can be explained.</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A WORKED EXAMPLE</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One price, step by step: Barley</a:t>
            </a:r>
            <a:endParaRPr lang="en-US" sz="3000" dirty="0"/>
          </a:p>
        </p:txBody>
      </p:sp>
      <p:sp>
        <p:nvSpPr>
          <p:cNvPr id="5" name="Step card"/>
          <p:cNvSpPr/>
          <p:nvPr/>
        </p:nvSpPr>
        <p:spPr>
          <a:xfrm>
            <a:off x="548640" y="1600200"/>
            <a:ext cx="2651760" cy="1417320"/>
          </a:xfrm>
          <a:prstGeom prst="roundRect">
            <a:avLst>
              <a:gd name="adj" fmla="val 5161"/>
            </a:avLst>
          </a:prstGeom>
          <a:solidFill>
            <a:srgbClr val="F2F6FB"/>
          </a:solidFill>
          <a:ln w="12700">
            <a:solidFill>
              <a:srgbClr val="F2F6FB"/>
            </a:solidFill>
            <a:prstDash val="solid"/>
          </a:ln>
        </p:spPr>
      </p:sp>
      <p:sp>
        <p:nvSpPr>
          <p:cNvPr id="6" name="Text 3"/>
          <p:cNvSpPr txBox="1"/>
          <p:nvPr/>
        </p:nvSpPr>
        <p:spPr>
          <a:xfrm>
            <a:off x="713232" y="1664208"/>
            <a:ext cx="2377440" cy="274320"/>
          </a:xfrm>
          <a:prstGeom prst="rect">
            <a:avLst/>
          </a:prstGeom>
          <a:noFill/>
          <a:ln/>
        </p:spPr>
        <p:txBody>
          <a:bodyPr wrap="square" lIns="0" tIns="0" rIns="0" bIns="0" rtlCol="0" anchor="ctr"/>
          <a:lstStyle/>
          <a:p>
            <a:pPr indent="0" marL="0">
              <a:buNone/>
            </a:pPr>
            <a:r>
              <a:rPr lang="en-US" sz="1200" b="1" dirty="0">
                <a:solidFill>
                  <a:srgbClr val="5B6B80"/>
                </a:solidFill>
              </a:rPr>
              <a:t>Rule 1: scarcity</a:t>
            </a:r>
            <a:endParaRPr lang="en-US" sz="1200" dirty="0"/>
          </a:p>
        </p:txBody>
      </p:sp>
      <p:sp>
        <p:nvSpPr>
          <p:cNvPr id="7" name="Text 4"/>
          <p:cNvSpPr txBox="1"/>
          <p:nvPr/>
        </p:nvSpPr>
        <p:spPr>
          <a:xfrm>
            <a:off x="713232" y="1920240"/>
            <a:ext cx="2377440" cy="502920"/>
          </a:xfrm>
          <a:prstGeom prst="rect">
            <a:avLst/>
          </a:prstGeom>
          <a:noFill/>
          <a:ln/>
        </p:spPr>
        <p:txBody>
          <a:bodyPr wrap="square" lIns="0" tIns="0" rIns="0" bIns="0" rtlCol="0" anchor="ctr"/>
          <a:lstStyle/>
          <a:p>
            <a:pPr indent="0" marL="0">
              <a:buNone/>
            </a:pPr>
            <a:r>
              <a:rPr lang="en-US" sz="2800" b="1" dirty="0">
                <a:solidFill>
                  <a:srgbClr val="1F5FB0"/>
                </a:solidFill>
                <a:latin typeface="Cambria" pitchFamily="34" charset="0"/>
                <a:ea typeface="Cambria" pitchFamily="34" charset="-122"/>
                <a:cs typeface="Cambria" pitchFamily="34" charset="-120"/>
              </a:rPr>
              <a:t>+6.0%</a:t>
            </a:r>
            <a:endParaRPr lang="en-US" sz="2800" dirty="0"/>
          </a:p>
        </p:txBody>
      </p:sp>
      <p:sp>
        <p:nvSpPr>
          <p:cNvPr id="8" name="Text 5"/>
          <p:cNvSpPr txBox="1"/>
          <p:nvPr/>
        </p:nvSpPr>
        <p:spPr>
          <a:xfrm>
            <a:off x="713232" y="2450592"/>
            <a:ext cx="2377440" cy="502920"/>
          </a:xfrm>
          <a:prstGeom prst="rect">
            <a:avLst/>
          </a:prstGeom>
          <a:noFill/>
          <a:ln/>
        </p:spPr>
        <p:txBody>
          <a:bodyPr wrap="square" lIns="0" tIns="0" rIns="0" bIns="0" rtlCol="0" anchor="t"/>
          <a:lstStyle/>
          <a:p>
            <a:pPr indent="0" marL="0">
              <a:buNone/>
            </a:pPr>
            <a:r>
              <a:rPr lang="en-US" sz="1100" dirty="0">
                <a:solidFill>
                  <a:srgbClr val="1B2A41"/>
                </a:solidFill>
              </a:rPr>
              <a:t>52% of demand cannot be served, normal season</a:t>
            </a:r>
            <a:endParaRPr lang="en-US" sz="1100" dirty="0"/>
          </a:p>
        </p:txBody>
      </p:sp>
      <p:sp>
        <p:nvSpPr>
          <p:cNvPr id="9" name="Flow arrow"/>
          <p:cNvSpPr/>
          <p:nvPr/>
        </p:nvSpPr>
        <p:spPr>
          <a:xfrm>
            <a:off x="3200400" y="2304288"/>
            <a:ext cx="137160" cy="0"/>
          </a:xfrm>
          <a:prstGeom prst="line">
            <a:avLst/>
          </a:prstGeom>
          <a:noFill/>
          <a:ln w="19050">
            <a:solidFill>
              <a:srgbClr val="8A8F98"/>
            </a:solidFill>
            <a:prstDash val="solid"/>
            <a:tailEnd type="triangle"/>
          </a:ln>
        </p:spPr>
      </p:sp>
      <p:sp>
        <p:nvSpPr>
          <p:cNvPr id="10" name="Step card"/>
          <p:cNvSpPr/>
          <p:nvPr/>
        </p:nvSpPr>
        <p:spPr>
          <a:xfrm>
            <a:off x="3337560" y="1600200"/>
            <a:ext cx="2651760" cy="1417320"/>
          </a:xfrm>
          <a:prstGeom prst="roundRect">
            <a:avLst>
              <a:gd name="adj" fmla="val 5161"/>
            </a:avLst>
          </a:prstGeom>
          <a:solidFill>
            <a:srgbClr val="F2F6FB"/>
          </a:solidFill>
          <a:ln w="12700">
            <a:solidFill>
              <a:srgbClr val="F2F6FB"/>
            </a:solidFill>
            <a:prstDash val="solid"/>
          </a:ln>
        </p:spPr>
      </p:sp>
      <p:sp>
        <p:nvSpPr>
          <p:cNvPr id="11" name="Text 8"/>
          <p:cNvSpPr txBox="1"/>
          <p:nvPr/>
        </p:nvSpPr>
        <p:spPr>
          <a:xfrm>
            <a:off x="3502152" y="1664208"/>
            <a:ext cx="2377440" cy="274320"/>
          </a:xfrm>
          <a:prstGeom prst="rect">
            <a:avLst/>
          </a:prstGeom>
          <a:noFill/>
          <a:ln/>
        </p:spPr>
        <p:txBody>
          <a:bodyPr wrap="square" lIns="0" tIns="0" rIns="0" bIns="0" rtlCol="0" anchor="ctr"/>
          <a:lstStyle/>
          <a:p>
            <a:pPr indent="0" marL="0">
              <a:buNone/>
            </a:pPr>
            <a:r>
              <a:rPr lang="en-US" sz="1200" b="1" dirty="0">
                <a:solidFill>
                  <a:srgbClr val="5B6B80"/>
                </a:solidFill>
              </a:rPr>
              <a:t>Rule 2: sell-out protection</a:t>
            </a:r>
            <a:endParaRPr lang="en-US" sz="1200" dirty="0"/>
          </a:p>
        </p:txBody>
      </p:sp>
      <p:sp>
        <p:nvSpPr>
          <p:cNvPr id="12" name="Text 9"/>
          <p:cNvSpPr txBox="1"/>
          <p:nvPr/>
        </p:nvSpPr>
        <p:spPr>
          <a:xfrm>
            <a:off x="3502152" y="1920240"/>
            <a:ext cx="2377440" cy="502920"/>
          </a:xfrm>
          <a:prstGeom prst="rect">
            <a:avLst/>
          </a:prstGeom>
          <a:noFill/>
          <a:ln/>
        </p:spPr>
        <p:txBody>
          <a:bodyPr wrap="square" lIns="0" tIns="0" rIns="0" bIns="0" rtlCol="0" anchor="ctr"/>
          <a:lstStyle/>
          <a:p>
            <a:pPr indent="0" marL="0">
              <a:buNone/>
            </a:pPr>
            <a:r>
              <a:rPr lang="en-US" sz="2800" b="1" dirty="0">
                <a:solidFill>
                  <a:srgbClr val="138A5F"/>
                </a:solidFill>
                <a:latin typeface="Cambria" pitchFamily="34" charset="0"/>
                <a:ea typeface="Cambria" pitchFamily="34" charset="-122"/>
                <a:cs typeface="Cambria" pitchFamily="34" charset="-120"/>
              </a:rPr>
              <a:t>+4.5%</a:t>
            </a:r>
            <a:endParaRPr lang="en-US" sz="2800" dirty="0"/>
          </a:p>
        </p:txBody>
      </p:sp>
      <p:sp>
        <p:nvSpPr>
          <p:cNvPr id="13" name="Text 10"/>
          <p:cNvSpPr txBox="1"/>
          <p:nvPr/>
        </p:nvSpPr>
        <p:spPr>
          <a:xfrm>
            <a:off x="3502152" y="2450592"/>
            <a:ext cx="2377440" cy="502920"/>
          </a:xfrm>
          <a:prstGeom prst="rect">
            <a:avLst/>
          </a:prstGeom>
          <a:noFill/>
          <a:ln/>
        </p:spPr>
        <p:txBody>
          <a:bodyPr wrap="square" lIns="0" tIns="0" rIns="0" bIns="0" rtlCol="0" anchor="t"/>
          <a:lstStyle/>
          <a:p>
            <a:pPr indent="0" marL="0">
              <a:buNone/>
            </a:pPr>
            <a:r>
              <a:rPr lang="en-US" sz="1100" dirty="0">
                <a:solidFill>
                  <a:srgbClr val="1B2A41"/>
                </a:solidFill>
              </a:rPr>
              <a:t>largest rise that keeps units within 1%</a:t>
            </a:r>
            <a:endParaRPr lang="en-US" sz="1100" dirty="0"/>
          </a:p>
        </p:txBody>
      </p:sp>
      <p:sp>
        <p:nvSpPr>
          <p:cNvPr id="14" name="Flow arrow"/>
          <p:cNvSpPr/>
          <p:nvPr/>
        </p:nvSpPr>
        <p:spPr>
          <a:xfrm>
            <a:off x="5989320" y="2304288"/>
            <a:ext cx="137160" cy="0"/>
          </a:xfrm>
          <a:prstGeom prst="line">
            <a:avLst/>
          </a:prstGeom>
          <a:noFill/>
          <a:ln w="19050">
            <a:solidFill>
              <a:srgbClr val="8A8F98"/>
            </a:solidFill>
            <a:prstDash val="solid"/>
            <a:tailEnd type="triangle"/>
          </a:ln>
        </p:spPr>
      </p:sp>
      <p:sp>
        <p:nvSpPr>
          <p:cNvPr id="15" name="Step card"/>
          <p:cNvSpPr/>
          <p:nvPr/>
        </p:nvSpPr>
        <p:spPr>
          <a:xfrm>
            <a:off x="6126480" y="1600200"/>
            <a:ext cx="2651760" cy="1417320"/>
          </a:xfrm>
          <a:prstGeom prst="roundRect">
            <a:avLst>
              <a:gd name="adj" fmla="val 5161"/>
            </a:avLst>
          </a:prstGeom>
          <a:solidFill>
            <a:srgbClr val="F2F6FB"/>
          </a:solidFill>
          <a:ln w="12700">
            <a:solidFill>
              <a:srgbClr val="F2F6FB"/>
            </a:solidFill>
            <a:prstDash val="solid"/>
          </a:ln>
        </p:spPr>
      </p:sp>
      <p:sp>
        <p:nvSpPr>
          <p:cNvPr id="16" name="Text 13"/>
          <p:cNvSpPr txBox="1"/>
          <p:nvPr/>
        </p:nvSpPr>
        <p:spPr>
          <a:xfrm>
            <a:off x="6291072" y="1664208"/>
            <a:ext cx="2377440" cy="274320"/>
          </a:xfrm>
          <a:prstGeom prst="rect">
            <a:avLst/>
          </a:prstGeom>
          <a:noFill/>
          <a:ln/>
        </p:spPr>
        <p:txBody>
          <a:bodyPr wrap="square" lIns="0" tIns="0" rIns="0" bIns="0" rtlCol="0" anchor="ctr"/>
          <a:lstStyle/>
          <a:p>
            <a:pPr indent="0" marL="0">
              <a:buNone/>
            </a:pPr>
            <a:r>
              <a:rPr lang="en-US" sz="1200" b="1" dirty="0">
                <a:solidFill>
                  <a:srgbClr val="5B6B80"/>
                </a:solidFill>
              </a:rPr>
              <a:t>Rule 5: weekly step limit</a:t>
            </a:r>
            <a:endParaRPr lang="en-US" sz="1200" dirty="0"/>
          </a:p>
        </p:txBody>
      </p:sp>
      <p:sp>
        <p:nvSpPr>
          <p:cNvPr id="17" name="Text 14"/>
          <p:cNvSpPr txBox="1"/>
          <p:nvPr/>
        </p:nvSpPr>
        <p:spPr>
          <a:xfrm>
            <a:off x="6291072" y="1920240"/>
            <a:ext cx="2377440" cy="502920"/>
          </a:xfrm>
          <a:prstGeom prst="rect">
            <a:avLst/>
          </a:prstGeom>
          <a:noFill/>
          <a:ln/>
        </p:spPr>
        <p:txBody>
          <a:bodyPr wrap="square" lIns="0" tIns="0" rIns="0" bIns="0" rtlCol="0" anchor="ctr"/>
          <a:lstStyle/>
          <a:p>
            <a:pPr indent="0" marL="0">
              <a:buNone/>
            </a:pPr>
            <a:r>
              <a:rPr lang="en-US" sz="2800" b="1" dirty="0">
                <a:solidFill>
                  <a:srgbClr val="C24E1F"/>
                </a:solidFill>
                <a:latin typeface="Cambria" pitchFamily="34" charset="0"/>
                <a:ea typeface="Cambria" pitchFamily="34" charset="-122"/>
                <a:cs typeface="Cambria" pitchFamily="34" charset="-120"/>
              </a:rPr>
              <a:t>+3.0%</a:t>
            </a:r>
            <a:endParaRPr lang="en-US" sz="2800" dirty="0"/>
          </a:p>
        </p:txBody>
      </p:sp>
      <p:sp>
        <p:nvSpPr>
          <p:cNvPr id="18" name="Text 15"/>
          <p:cNvSpPr txBox="1"/>
          <p:nvPr/>
        </p:nvSpPr>
        <p:spPr>
          <a:xfrm>
            <a:off x="6291072" y="2450592"/>
            <a:ext cx="2377440" cy="502920"/>
          </a:xfrm>
          <a:prstGeom prst="rect">
            <a:avLst/>
          </a:prstGeom>
          <a:noFill/>
          <a:ln/>
        </p:spPr>
        <p:txBody>
          <a:bodyPr wrap="square" lIns="0" tIns="0" rIns="0" bIns="0" rtlCol="0" anchor="t"/>
          <a:lstStyle/>
          <a:p>
            <a:pPr indent="0" marL="0">
              <a:buNone/>
            </a:pPr>
            <a:r>
              <a:rPr lang="en-US" sz="1100" dirty="0">
                <a:solidFill>
                  <a:srgbClr val="1B2A41"/>
                </a:solidFill>
              </a:rPr>
              <a:t>no jump above 3% in one week</a:t>
            </a:r>
            <a:endParaRPr lang="en-US" sz="1100" dirty="0"/>
          </a:p>
        </p:txBody>
      </p:sp>
      <p:sp>
        <p:nvSpPr>
          <p:cNvPr id="19" name="Flow arrow"/>
          <p:cNvSpPr/>
          <p:nvPr/>
        </p:nvSpPr>
        <p:spPr>
          <a:xfrm>
            <a:off x="8778240" y="2304288"/>
            <a:ext cx="137160" cy="0"/>
          </a:xfrm>
          <a:prstGeom prst="line">
            <a:avLst/>
          </a:prstGeom>
          <a:noFill/>
          <a:ln w="19050">
            <a:solidFill>
              <a:srgbClr val="8A8F98"/>
            </a:solidFill>
            <a:prstDash val="solid"/>
            <a:tailEnd type="triangle"/>
          </a:ln>
        </p:spPr>
      </p:sp>
      <p:sp>
        <p:nvSpPr>
          <p:cNvPr id="20" name="Step card"/>
          <p:cNvSpPr/>
          <p:nvPr/>
        </p:nvSpPr>
        <p:spPr>
          <a:xfrm>
            <a:off x="8915400" y="1600200"/>
            <a:ext cx="2651760" cy="1417320"/>
          </a:xfrm>
          <a:prstGeom prst="roundRect">
            <a:avLst>
              <a:gd name="adj" fmla="val 5161"/>
            </a:avLst>
          </a:prstGeom>
          <a:solidFill>
            <a:srgbClr val="E8EEF7"/>
          </a:solidFill>
          <a:ln w="19050">
            <a:solidFill>
              <a:srgbClr val="12263F"/>
            </a:solidFill>
            <a:prstDash val="solid"/>
          </a:ln>
        </p:spPr>
      </p:sp>
      <p:sp>
        <p:nvSpPr>
          <p:cNvPr id="21" name="Text 18"/>
          <p:cNvSpPr txBox="1"/>
          <p:nvPr/>
        </p:nvSpPr>
        <p:spPr>
          <a:xfrm>
            <a:off x="9079992" y="1664208"/>
            <a:ext cx="2377440" cy="274320"/>
          </a:xfrm>
          <a:prstGeom prst="rect">
            <a:avLst/>
          </a:prstGeom>
          <a:noFill/>
          <a:ln/>
        </p:spPr>
        <p:txBody>
          <a:bodyPr wrap="square" lIns="0" tIns="0" rIns="0" bIns="0" rtlCol="0" anchor="ctr"/>
          <a:lstStyle/>
          <a:p>
            <a:pPr indent="0" marL="0">
              <a:buNone/>
            </a:pPr>
            <a:r>
              <a:rPr lang="en-US" sz="1200" b="1" dirty="0">
                <a:solidFill>
                  <a:srgbClr val="5B6B80"/>
                </a:solidFill>
              </a:rPr>
              <a:t>Final price</a:t>
            </a:r>
            <a:endParaRPr lang="en-US" sz="1200" dirty="0"/>
          </a:p>
        </p:txBody>
      </p:sp>
      <p:sp>
        <p:nvSpPr>
          <p:cNvPr id="22" name="Text 19"/>
          <p:cNvSpPr txBox="1"/>
          <p:nvPr/>
        </p:nvSpPr>
        <p:spPr>
          <a:xfrm>
            <a:off x="9079992" y="1920240"/>
            <a:ext cx="2377440" cy="502920"/>
          </a:xfrm>
          <a:prstGeom prst="rect">
            <a:avLst/>
          </a:prstGeom>
          <a:noFill/>
          <a:ln/>
        </p:spPr>
        <p:txBody>
          <a:bodyPr wrap="square" lIns="0" tIns="0" rIns="0" bIns="0" rtlCol="0" anchor="ctr"/>
          <a:lstStyle/>
          <a:p>
            <a:pPr indent="0" marL="0">
              <a:buNone/>
            </a:pPr>
            <a:r>
              <a:rPr lang="en-US" sz="2800" b="1" dirty="0">
                <a:solidFill>
                  <a:srgbClr val="12263F"/>
                </a:solidFill>
                <a:latin typeface="Cambria" pitchFamily="34" charset="0"/>
                <a:ea typeface="Cambria" pitchFamily="34" charset="-122"/>
                <a:cs typeface="Cambria" pitchFamily="34" charset="-120"/>
              </a:rPr>
              <a:t>$7.67</a:t>
            </a:r>
            <a:endParaRPr lang="en-US" sz="2800" dirty="0"/>
          </a:p>
        </p:txBody>
      </p:sp>
      <p:sp>
        <p:nvSpPr>
          <p:cNvPr id="23" name="Text 20"/>
          <p:cNvSpPr txBox="1"/>
          <p:nvPr/>
        </p:nvSpPr>
        <p:spPr>
          <a:xfrm>
            <a:off x="9079992" y="2450592"/>
            <a:ext cx="2377440" cy="502920"/>
          </a:xfrm>
          <a:prstGeom prst="rect">
            <a:avLst/>
          </a:prstGeom>
          <a:noFill/>
          <a:ln/>
        </p:spPr>
        <p:txBody>
          <a:bodyPr wrap="square" lIns="0" tIns="0" rIns="0" bIns="0" rtlCol="0" anchor="t"/>
          <a:lstStyle/>
          <a:p>
            <a:pPr indent="0" marL="0">
              <a:buNone/>
            </a:pPr>
            <a:r>
              <a:rPr lang="en-US" sz="1100" dirty="0">
                <a:solidFill>
                  <a:srgbClr val="1B2A41"/>
                </a:solidFill>
              </a:rPr>
              <a:t>today $7.447; floor $6.27, band $6.85-$8.19</a:t>
            </a:r>
            <a:endParaRPr lang="en-US" sz="1100" dirty="0"/>
          </a:p>
        </p:txBody>
      </p:sp>
      <p:graphicFrame>
        <p:nvGraphicFramePr>
          <p:cNvPr id="24" name="Chart 0" descr=""/>
          <p:cNvGraphicFramePr/>
          <p:nvPr/>
        </p:nvGraphicFramePr>
        <p:xfrm>
          <a:off x="548640" y="3154680"/>
          <a:ext cx="6766560" cy="3154680"/>
        </p:xfrm>
        <a:graphic xmlns:a="http://schemas.openxmlformats.org/drawingml/2006/main">
          <a:graphicData uri="http://schemas.openxmlformats.org/drawingml/2006/chart">
            <c:chart xmlns:c="http://schemas.openxmlformats.org/drawingml/2006/chart" r:id="rId1"/>
          </a:graphicData>
        </a:graphic>
      </p:graphicFrame>
      <p:sp>
        <p:nvSpPr>
          <p:cNvPr id="25" name="Example card"/>
          <p:cNvSpPr/>
          <p:nvPr/>
        </p:nvSpPr>
        <p:spPr>
          <a:xfrm>
            <a:off x="7498080" y="3200400"/>
            <a:ext cx="4114800" cy="960120"/>
          </a:xfrm>
          <a:prstGeom prst="roundRect">
            <a:avLst>
              <a:gd name="adj" fmla="val 7619"/>
            </a:avLst>
          </a:prstGeom>
          <a:solidFill>
            <a:srgbClr val="F2F6FB"/>
          </a:solidFill>
          <a:ln w="12700">
            <a:solidFill>
              <a:srgbClr val="F2F6FB"/>
            </a:solidFill>
            <a:prstDash val="solid"/>
          </a:ln>
        </p:spPr>
      </p:sp>
      <p:sp>
        <p:nvSpPr>
          <p:cNvPr id="26" name="Card accent"/>
          <p:cNvSpPr/>
          <p:nvPr/>
        </p:nvSpPr>
        <p:spPr>
          <a:xfrm>
            <a:off x="7498080" y="3200400"/>
            <a:ext cx="82296" cy="960120"/>
          </a:xfrm>
          <a:prstGeom prst="rect">
            <a:avLst/>
          </a:prstGeom>
          <a:solidFill>
            <a:srgbClr val="2A78D6"/>
          </a:solidFill>
          <a:ln w="12700">
            <a:solidFill>
              <a:srgbClr val="2A78D6"/>
            </a:solidFill>
            <a:prstDash val="solid"/>
          </a:ln>
        </p:spPr>
      </p:sp>
      <p:sp>
        <p:nvSpPr>
          <p:cNvPr id="27" name="Text 23"/>
          <p:cNvSpPr txBox="1"/>
          <p:nvPr/>
        </p:nvSpPr>
        <p:spPr>
          <a:xfrm>
            <a:off x="7726680" y="3255264"/>
            <a:ext cx="3749040" cy="274320"/>
          </a:xfrm>
          <a:prstGeom prst="rect">
            <a:avLst/>
          </a:prstGeom>
          <a:noFill/>
          <a:ln/>
        </p:spPr>
        <p:txBody>
          <a:bodyPr wrap="square" lIns="0" tIns="0" rIns="0" bIns="0" rtlCol="0" anchor="ctr"/>
          <a:lstStyle/>
          <a:p>
            <a:pPr indent="0" marL="0">
              <a:buNone/>
            </a:pPr>
            <a:r>
              <a:rPr lang="en-US" sz="1300" b="1" dirty="0">
                <a:solidFill>
                  <a:schemeClr val="tx1"/>
                </a:solidFill>
              </a:rPr>
              <a:t>Wheat - Hard Red</a:t>
            </a:r>
            <a:endParaRPr lang="en-US" sz="1300" dirty="0"/>
          </a:p>
        </p:txBody>
      </p:sp>
      <p:sp>
        <p:nvSpPr>
          <p:cNvPr id="28" name="Text 24"/>
          <p:cNvSpPr txBox="1"/>
          <p:nvPr/>
        </p:nvSpPr>
        <p:spPr>
          <a:xfrm>
            <a:off x="7726680" y="3547872"/>
            <a:ext cx="3749040" cy="566928"/>
          </a:xfrm>
          <a:prstGeom prst="rect">
            <a:avLst/>
          </a:prstGeom>
          <a:noFill/>
          <a:ln/>
        </p:spPr>
        <p:txBody>
          <a:bodyPr wrap="square" lIns="0" tIns="0" rIns="0" bIns="0" rtlCol="0" anchor="t"/>
          <a:lstStyle/>
          <a:p>
            <a:pPr indent="0" marL="0">
              <a:buNone/>
            </a:pPr>
            <a:r>
              <a:rPr lang="en-US" sz="1150" dirty="0">
                <a:solidFill>
                  <a:srgbClr val="1B2A41"/>
                </a:solidFill>
              </a:rPr>
              <a:t>260 weeks of stock: markdown rejected, it pays only if customers were 3.5x as price-sensitive.</a:t>
            </a:r>
            <a:endParaRPr lang="en-US" sz="1150" dirty="0"/>
          </a:p>
        </p:txBody>
      </p:sp>
      <p:sp>
        <p:nvSpPr>
          <p:cNvPr id="29" name="Example card"/>
          <p:cNvSpPr/>
          <p:nvPr/>
        </p:nvSpPr>
        <p:spPr>
          <a:xfrm>
            <a:off x="7498080" y="4251960"/>
            <a:ext cx="4114800" cy="960120"/>
          </a:xfrm>
          <a:prstGeom prst="roundRect">
            <a:avLst>
              <a:gd name="adj" fmla="val 7619"/>
            </a:avLst>
          </a:prstGeom>
          <a:solidFill>
            <a:srgbClr val="F2F6FB"/>
          </a:solidFill>
          <a:ln w="12700">
            <a:solidFill>
              <a:srgbClr val="F2F6FB"/>
            </a:solidFill>
            <a:prstDash val="solid"/>
          </a:ln>
        </p:spPr>
      </p:sp>
      <p:sp>
        <p:nvSpPr>
          <p:cNvPr id="30" name="Card accent"/>
          <p:cNvSpPr/>
          <p:nvPr/>
        </p:nvSpPr>
        <p:spPr>
          <a:xfrm>
            <a:off x="7498080" y="4251960"/>
            <a:ext cx="82296" cy="960120"/>
          </a:xfrm>
          <a:prstGeom prst="rect">
            <a:avLst/>
          </a:prstGeom>
          <a:solidFill>
            <a:srgbClr val="D03B3B"/>
          </a:solidFill>
          <a:ln w="12700">
            <a:solidFill>
              <a:srgbClr val="D03B3B"/>
            </a:solidFill>
            <a:prstDash val="solid"/>
          </a:ln>
        </p:spPr>
      </p:sp>
      <p:sp>
        <p:nvSpPr>
          <p:cNvPr id="31" name="Text 27"/>
          <p:cNvSpPr txBox="1"/>
          <p:nvPr/>
        </p:nvSpPr>
        <p:spPr>
          <a:xfrm>
            <a:off x="7726680" y="4306824"/>
            <a:ext cx="3749040" cy="274320"/>
          </a:xfrm>
          <a:prstGeom prst="rect">
            <a:avLst/>
          </a:prstGeom>
          <a:noFill/>
          <a:ln/>
        </p:spPr>
        <p:txBody>
          <a:bodyPr wrap="square" lIns="0" tIns="0" rIns="0" bIns="0" rtlCol="0" anchor="ctr"/>
          <a:lstStyle/>
          <a:p>
            <a:pPr indent="0" marL="0">
              <a:buNone/>
            </a:pPr>
            <a:r>
              <a:rPr lang="en-US" sz="1300" b="1" dirty="0">
                <a:solidFill>
                  <a:schemeClr val="tx1"/>
                </a:solidFill>
              </a:rPr>
              <a:t>Cocoa Powder (rating D)</a:t>
            </a:r>
            <a:endParaRPr lang="en-US" sz="1300" dirty="0"/>
          </a:p>
        </p:txBody>
      </p:sp>
      <p:sp>
        <p:nvSpPr>
          <p:cNvPr id="32" name="Text 28"/>
          <p:cNvSpPr txBox="1"/>
          <p:nvPr/>
        </p:nvSpPr>
        <p:spPr>
          <a:xfrm>
            <a:off x="7726680" y="4599432"/>
            <a:ext cx="3749040" cy="566928"/>
          </a:xfrm>
          <a:prstGeom prst="rect">
            <a:avLst/>
          </a:prstGeom>
          <a:noFill/>
          <a:ln/>
        </p:spPr>
        <p:txBody>
          <a:bodyPr wrap="square" lIns="0" tIns="0" rIns="0" bIns="0" rtlCol="0" anchor="t"/>
          <a:lstStyle/>
          <a:p>
            <a:pPr indent="0" marL="0">
              <a:buNone/>
            </a:pPr>
            <a:r>
              <a:rPr lang="en-US" sz="1150" dirty="0">
                <a:solidFill>
                  <a:srgbClr val="1B2A41"/>
                </a:solidFill>
              </a:rPr>
              <a:t>no discounts, credit-risk premium, 15 days shorter terms.</a:t>
            </a:r>
            <a:endParaRPr lang="en-US" sz="1150" dirty="0"/>
          </a:p>
        </p:txBody>
      </p:sp>
      <p:sp>
        <p:nvSpPr>
          <p:cNvPr id="33" name="Example card"/>
          <p:cNvSpPr/>
          <p:nvPr/>
        </p:nvSpPr>
        <p:spPr>
          <a:xfrm>
            <a:off x="7498080" y="5303520"/>
            <a:ext cx="4114800" cy="960120"/>
          </a:xfrm>
          <a:prstGeom prst="roundRect">
            <a:avLst>
              <a:gd name="adj" fmla="val 7619"/>
            </a:avLst>
          </a:prstGeom>
          <a:solidFill>
            <a:srgbClr val="F2F6FB"/>
          </a:solidFill>
          <a:ln w="12700">
            <a:solidFill>
              <a:srgbClr val="F2F6FB"/>
            </a:solidFill>
            <a:prstDash val="solid"/>
          </a:ln>
        </p:spPr>
      </p:sp>
      <p:sp>
        <p:nvSpPr>
          <p:cNvPr id="34" name="Card accent"/>
          <p:cNvSpPr/>
          <p:nvPr/>
        </p:nvSpPr>
        <p:spPr>
          <a:xfrm>
            <a:off x="7498080" y="5303520"/>
            <a:ext cx="82296" cy="960120"/>
          </a:xfrm>
          <a:prstGeom prst="rect">
            <a:avLst/>
          </a:prstGeom>
          <a:solidFill>
            <a:srgbClr val="8A8F98"/>
          </a:solidFill>
          <a:ln w="12700">
            <a:solidFill>
              <a:srgbClr val="8A8F98"/>
            </a:solidFill>
            <a:prstDash val="solid"/>
          </a:ln>
        </p:spPr>
      </p:sp>
      <p:sp>
        <p:nvSpPr>
          <p:cNvPr id="35" name="Text 31"/>
          <p:cNvSpPr txBox="1"/>
          <p:nvPr/>
        </p:nvSpPr>
        <p:spPr>
          <a:xfrm>
            <a:off x="7726680" y="5358384"/>
            <a:ext cx="3749040" cy="274320"/>
          </a:xfrm>
          <a:prstGeom prst="rect">
            <a:avLst/>
          </a:prstGeom>
          <a:noFill/>
          <a:ln/>
        </p:spPr>
        <p:txBody>
          <a:bodyPr wrap="square" lIns="0" tIns="0" rIns="0" bIns="0" rtlCol="0" anchor="ctr"/>
          <a:lstStyle/>
          <a:p>
            <a:pPr indent="0" marL="0">
              <a:buNone/>
            </a:pPr>
            <a:r>
              <a:rPr lang="en-US" sz="1300" b="1" dirty="0">
                <a:solidFill>
                  <a:schemeClr val="tx1"/>
                </a:solidFill>
              </a:rPr>
              <a:t>Limits on every price</a:t>
            </a:r>
            <a:endParaRPr lang="en-US" sz="1300" dirty="0"/>
          </a:p>
        </p:txBody>
      </p:sp>
      <p:sp>
        <p:nvSpPr>
          <p:cNvPr id="36" name="Text 32"/>
          <p:cNvSpPr txBox="1"/>
          <p:nvPr/>
        </p:nvSpPr>
        <p:spPr>
          <a:xfrm>
            <a:off x="7726680" y="5650992"/>
            <a:ext cx="3749040" cy="566928"/>
          </a:xfrm>
          <a:prstGeom prst="rect">
            <a:avLst/>
          </a:prstGeom>
          <a:noFill/>
          <a:ln/>
        </p:spPr>
        <p:txBody>
          <a:bodyPr wrap="square" lIns="0" tIns="0" rIns="0" bIns="0" rtlCol="0" anchor="t"/>
          <a:lstStyle/>
          <a:p>
            <a:pPr indent="0" marL="0">
              <a:buNone/>
            </a:pPr>
            <a:r>
              <a:rPr lang="en-US" sz="1150" dirty="0">
                <a:solidFill>
                  <a:srgbClr val="1B2A41"/>
                </a:solidFill>
              </a:rPr>
              <a:t>cost floor, band 0.92 to 1.10, max 3% a week.</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VALIDATION AND IMPACT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Tested four ways: gain stays near +$1.3M</a:t>
            </a:r>
            <a:endParaRPr lang="en-US" sz="3000" dirty="0"/>
          </a:p>
        </p:txBody>
      </p:sp>
      <p:graphicFrame>
        <p:nvGraphicFramePr>
          <p:cNvPr id="5" name="Chart 0" descr=""/>
          <p:cNvGraphicFramePr/>
          <p:nvPr/>
        </p:nvGraphicFramePr>
        <p:xfrm>
          <a:off x="548640" y="1600200"/>
          <a:ext cx="5669280" cy="3840480"/>
        </p:xfrm>
        <a:graphic xmlns:a="http://schemas.openxmlformats.org/drawingml/2006/main">
          <a:graphicData uri="http://schemas.openxmlformats.org/drawingml/2006/chart">
            <c:chart xmlns:c="http://schemas.openxmlformats.org/drawingml/2006/chart" r:id="rId1"/>
          </a:graphicData>
        </a:graphic>
      </p:graphicFrame>
      <p:sp>
        <p:nvSpPr>
          <p:cNvPr id="6" name="Test card"/>
          <p:cNvSpPr/>
          <p:nvPr/>
        </p:nvSpPr>
        <p:spPr>
          <a:xfrm>
            <a:off x="6492240" y="1600200"/>
            <a:ext cx="2514600" cy="1874520"/>
          </a:xfrm>
          <a:prstGeom prst="roundRect">
            <a:avLst>
              <a:gd name="adj" fmla="val 3902"/>
            </a:avLst>
          </a:prstGeom>
          <a:solidFill>
            <a:srgbClr val="F2F6FB"/>
          </a:solidFill>
          <a:ln w="12700">
            <a:solidFill>
              <a:srgbClr val="F2F6FB"/>
            </a:solidFill>
            <a:prstDash val="solid"/>
          </a:ln>
        </p:spPr>
      </p:sp>
      <p:sp>
        <p:nvSpPr>
          <p:cNvPr id="7" name="Step number"/>
          <p:cNvSpPr/>
          <p:nvPr/>
        </p:nvSpPr>
        <p:spPr>
          <a:xfrm>
            <a:off x="6629400" y="1709928"/>
            <a:ext cx="411480" cy="411480"/>
          </a:xfrm>
          <a:prstGeom prst="ellipse">
            <a:avLst/>
          </a:prstGeom>
          <a:solidFill>
            <a:srgbClr val="2A78D6"/>
          </a:solidFill>
          <a:ln w="12700">
            <a:solidFill>
              <a:srgbClr val="FFFFFF"/>
            </a:solidFill>
            <a:prstDash val="solid"/>
          </a:ln>
        </p:spPr>
      </p:sp>
      <p:sp>
        <p:nvSpPr>
          <p:cNvPr id="8" name="Text 4"/>
          <p:cNvSpPr txBox="1"/>
          <p:nvPr/>
        </p:nvSpPr>
        <p:spPr>
          <a:xfrm>
            <a:off x="6629400" y="170992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5"/>
          <p:cNvSpPr txBox="1"/>
          <p:nvPr/>
        </p:nvSpPr>
        <p:spPr>
          <a:xfrm>
            <a:off x="7132320" y="170992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Simulate</a:t>
            </a:r>
            <a:endParaRPr lang="en-US" sz="1300" dirty="0"/>
          </a:p>
        </p:txBody>
      </p:sp>
      <p:sp>
        <p:nvSpPr>
          <p:cNvPr id="10" name="Text 6"/>
          <p:cNvSpPr txBox="1"/>
          <p:nvPr/>
        </p:nvSpPr>
        <p:spPr>
          <a:xfrm>
            <a:off x="6629400" y="2221992"/>
            <a:ext cx="2240280" cy="1188720"/>
          </a:xfrm>
          <a:prstGeom prst="rect">
            <a:avLst/>
          </a:prstGeom>
          <a:noFill/>
          <a:ln/>
        </p:spPr>
        <p:txBody>
          <a:bodyPr wrap="square" lIns="0" tIns="0" rIns="0" bIns="0" rtlCol="0" anchor="t"/>
          <a:lstStyle/>
          <a:p>
            <a:pPr indent="0" marL="0">
              <a:buNone/>
            </a:pPr>
            <a:r>
              <a:rPr lang="en-US" sz="1150" dirty="0">
                <a:solidFill>
                  <a:srgbClr val="1B2A41"/>
                </a:solidFill>
              </a:rPr>
              <a:t>1,000 demand and stock draws per product-week; same draws with and without the engine</a:t>
            </a:r>
            <a:endParaRPr lang="en-US" sz="1150" dirty="0"/>
          </a:p>
        </p:txBody>
      </p:sp>
      <p:sp>
        <p:nvSpPr>
          <p:cNvPr id="11" name="Test card"/>
          <p:cNvSpPr/>
          <p:nvPr/>
        </p:nvSpPr>
        <p:spPr>
          <a:xfrm>
            <a:off x="9098280" y="1600200"/>
            <a:ext cx="2514600" cy="1874520"/>
          </a:xfrm>
          <a:prstGeom prst="roundRect">
            <a:avLst>
              <a:gd name="adj" fmla="val 3902"/>
            </a:avLst>
          </a:prstGeom>
          <a:solidFill>
            <a:srgbClr val="F2F6FB"/>
          </a:solidFill>
          <a:ln w="12700">
            <a:solidFill>
              <a:srgbClr val="F2F6FB"/>
            </a:solidFill>
            <a:prstDash val="solid"/>
          </a:ln>
        </p:spPr>
      </p:sp>
      <p:sp>
        <p:nvSpPr>
          <p:cNvPr id="12" name="Step number"/>
          <p:cNvSpPr/>
          <p:nvPr/>
        </p:nvSpPr>
        <p:spPr>
          <a:xfrm>
            <a:off x="9235440" y="1709928"/>
            <a:ext cx="411480" cy="411480"/>
          </a:xfrm>
          <a:prstGeom prst="ellipse">
            <a:avLst/>
          </a:prstGeom>
          <a:solidFill>
            <a:srgbClr val="1BAF7A"/>
          </a:solidFill>
          <a:ln w="12700">
            <a:solidFill>
              <a:srgbClr val="FFFFFF"/>
            </a:solidFill>
            <a:prstDash val="solid"/>
          </a:ln>
        </p:spPr>
      </p:sp>
      <p:sp>
        <p:nvSpPr>
          <p:cNvPr id="13" name="Text 9"/>
          <p:cNvSpPr txBox="1"/>
          <p:nvPr/>
        </p:nvSpPr>
        <p:spPr>
          <a:xfrm>
            <a:off x="9235440" y="170992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4" name="Text 10"/>
          <p:cNvSpPr txBox="1"/>
          <p:nvPr/>
        </p:nvSpPr>
        <p:spPr>
          <a:xfrm>
            <a:off x="9738360" y="170992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Stress sensitivity</a:t>
            </a:r>
            <a:endParaRPr lang="en-US" sz="1300" dirty="0"/>
          </a:p>
        </p:txBody>
      </p:sp>
      <p:sp>
        <p:nvSpPr>
          <p:cNvPr id="15" name="Text 11"/>
          <p:cNvSpPr txBox="1"/>
          <p:nvPr/>
        </p:nvSpPr>
        <p:spPr>
          <a:xfrm>
            <a:off x="9235440" y="2221992"/>
            <a:ext cx="2240280" cy="1188720"/>
          </a:xfrm>
          <a:prstGeom prst="rect">
            <a:avLst/>
          </a:prstGeom>
          <a:noFill/>
          <a:ln/>
        </p:spPr>
        <p:txBody>
          <a:bodyPr wrap="square" lIns="0" tIns="0" rIns="0" bIns="0" rtlCol="0" anchor="t"/>
          <a:lstStyle/>
          <a:p>
            <a:pPr indent="0" marL="0">
              <a:buNone/>
            </a:pPr>
            <a:r>
              <a:rPr lang="en-US" sz="1150" dirty="0">
                <a:solidFill>
                  <a:srgbClr val="1B2A41"/>
                </a:solidFill>
              </a:rPr>
              <a:t>price sensitivity 0 to -3: result is a range</a:t>
            </a:r>
            <a:endParaRPr lang="en-US" sz="1150" dirty="0"/>
          </a:p>
        </p:txBody>
      </p:sp>
      <p:sp>
        <p:nvSpPr>
          <p:cNvPr id="16" name="Test card"/>
          <p:cNvSpPr/>
          <p:nvPr/>
        </p:nvSpPr>
        <p:spPr>
          <a:xfrm>
            <a:off x="6492240" y="3566160"/>
            <a:ext cx="2514600" cy="1874520"/>
          </a:xfrm>
          <a:prstGeom prst="roundRect">
            <a:avLst>
              <a:gd name="adj" fmla="val 3902"/>
            </a:avLst>
          </a:prstGeom>
          <a:solidFill>
            <a:srgbClr val="F2F6FB"/>
          </a:solidFill>
          <a:ln w="12700">
            <a:solidFill>
              <a:srgbClr val="F2F6FB"/>
            </a:solidFill>
            <a:prstDash val="solid"/>
          </a:ln>
        </p:spPr>
      </p:sp>
      <p:sp>
        <p:nvSpPr>
          <p:cNvPr id="17" name="Step number"/>
          <p:cNvSpPr/>
          <p:nvPr/>
        </p:nvSpPr>
        <p:spPr>
          <a:xfrm>
            <a:off x="6629400" y="3675888"/>
            <a:ext cx="411480" cy="411480"/>
          </a:xfrm>
          <a:prstGeom prst="ellipse">
            <a:avLst/>
          </a:prstGeom>
          <a:solidFill>
            <a:srgbClr val="EB6834"/>
          </a:solidFill>
          <a:ln w="12700">
            <a:solidFill>
              <a:srgbClr val="FFFFFF"/>
            </a:solidFill>
            <a:prstDash val="solid"/>
          </a:ln>
        </p:spPr>
      </p:sp>
      <p:sp>
        <p:nvSpPr>
          <p:cNvPr id="18" name="Text 14"/>
          <p:cNvSpPr txBox="1"/>
          <p:nvPr/>
        </p:nvSpPr>
        <p:spPr>
          <a:xfrm>
            <a:off x="6629400" y="367588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9" name="Text 15"/>
          <p:cNvSpPr txBox="1"/>
          <p:nvPr/>
        </p:nvSpPr>
        <p:spPr>
          <a:xfrm>
            <a:off x="7132320" y="367588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Replay the past</a:t>
            </a:r>
            <a:endParaRPr lang="en-US" sz="1300" dirty="0"/>
          </a:p>
        </p:txBody>
      </p:sp>
      <p:sp>
        <p:nvSpPr>
          <p:cNvPr id="20" name="Text 16"/>
          <p:cNvSpPr txBox="1"/>
          <p:nvPr/>
        </p:nvSpPr>
        <p:spPr>
          <a:xfrm>
            <a:off x="6629400" y="4187952"/>
            <a:ext cx="2240280" cy="1188720"/>
          </a:xfrm>
          <a:prstGeom prst="rect">
            <a:avLst/>
          </a:prstGeom>
          <a:noFill/>
          <a:ln/>
        </p:spPr>
        <p:txBody>
          <a:bodyPr wrap="square" lIns="0" tIns="0" rIns="0" bIns="0" rtlCol="0" anchor="t"/>
          <a:lstStyle/>
          <a:p>
            <a:pPr indent="0" marL="0">
              <a:buNone/>
            </a:pPr>
            <a:r>
              <a:rPr lang="en-US" sz="1150" dirty="0">
                <a:solidFill>
                  <a:srgbClr val="1B2A41"/>
                </a:solidFill>
              </a:rPr>
              <a:t>last 52 weeks, only past information: +$1.43M</a:t>
            </a:r>
            <a:endParaRPr lang="en-US" sz="1150" dirty="0"/>
          </a:p>
        </p:txBody>
      </p:sp>
      <p:sp>
        <p:nvSpPr>
          <p:cNvPr id="21" name="Test card"/>
          <p:cNvSpPr/>
          <p:nvPr/>
        </p:nvSpPr>
        <p:spPr>
          <a:xfrm>
            <a:off x="9098280" y="3566160"/>
            <a:ext cx="2514600" cy="1874520"/>
          </a:xfrm>
          <a:prstGeom prst="roundRect">
            <a:avLst>
              <a:gd name="adj" fmla="val 3902"/>
            </a:avLst>
          </a:prstGeom>
          <a:solidFill>
            <a:srgbClr val="F2F6FB"/>
          </a:solidFill>
          <a:ln w="12700">
            <a:solidFill>
              <a:srgbClr val="F2F6FB"/>
            </a:solidFill>
            <a:prstDash val="solid"/>
          </a:ln>
        </p:spPr>
      </p:sp>
      <p:sp>
        <p:nvSpPr>
          <p:cNvPr id="22" name="Step number"/>
          <p:cNvSpPr/>
          <p:nvPr/>
        </p:nvSpPr>
        <p:spPr>
          <a:xfrm>
            <a:off x="9235440" y="3675888"/>
            <a:ext cx="411480" cy="411480"/>
          </a:xfrm>
          <a:prstGeom prst="ellipse">
            <a:avLst/>
          </a:prstGeom>
          <a:solidFill>
            <a:srgbClr val="D03B3B"/>
          </a:solidFill>
          <a:ln w="12700">
            <a:solidFill>
              <a:srgbClr val="FFFFFF"/>
            </a:solidFill>
            <a:prstDash val="solid"/>
          </a:ln>
        </p:spPr>
      </p:sp>
      <p:sp>
        <p:nvSpPr>
          <p:cNvPr id="23" name="Text 19"/>
          <p:cNvSpPr txBox="1"/>
          <p:nvPr/>
        </p:nvSpPr>
        <p:spPr>
          <a:xfrm>
            <a:off x="9235440" y="367588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4" name="Text 20"/>
          <p:cNvSpPr txBox="1"/>
          <p:nvPr/>
        </p:nvSpPr>
        <p:spPr>
          <a:xfrm>
            <a:off x="9738360" y="367588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Stress the inputs</a:t>
            </a:r>
            <a:endParaRPr lang="en-US" sz="1300" dirty="0"/>
          </a:p>
        </p:txBody>
      </p:sp>
      <p:sp>
        <p:nvSpPr>
          <p:cNvPr id="25" name="Text 21"/>
          <p:cNvSpPr txBox="1"/>
          <p:nvPr/>
        </p:nvSpPr>
        <p:spPr>
          <a:xfrm>
            <a:off x="9235440" y="4187952"/>
            <a:ext cx="2240280" cy="1188720"/>
          </a:xfrm>
          <a:prstGeom prst="rect">
            <a:avLst/>
          </a:prstGeom>
          <a:noFill/>
          <a:ln/>
        </p:spPr>
        <p:txBody>
          <a:bodyPr wrap="square" lIns="0" tIns="0" rIns="0" bIns="0" rtlCol="0" anchor="t"/>
          <a:lstStyle/>
          <a:p>
            <a:pPr indent="0" marL="0">
              <a:buNone/>
            </a:pPr>
            <a:r>
              <a:rPr lang="en-US" sz="1150" dirty="0">
                <a:solidFill>
                  <a:srgbClr val="1B2A41"/>
                </a:solidFill>
              </a:rPr>
              <a:t>16 settings all positive; demand at 60% of estimate: still +$0.94M</a:t>
            </a:r>
            <a:endParaRPr lang="en-US" sz="1150" dirty="0"/>
          </a:p>
        </p:txBody>
      </p:sp>
      <p:sp>
        <p:nvSpPr>
          <p:cNvPr id="26" name="Stat card"/>
          <p:cNvSpPr/>
          <p:nvPr/>
        </p:nvSpPr>
        <p:spPr>
          <a:xfrm>
            <a:off x="548640" y="5532120"/>
            <a:ext cx="3566160" cy="777240"/>
          </a:xfrm>
          <a:prstGeom prst="roundRect">
            <a:avLst>
              <a:gd name="adj" fmla="val 9412"/>
            </a:avLst>
          </a:prstGeom>
          <a:solidFill>
            <a:srgbClr val="F2F6FB"/>
          </a:solidFill>
          <a:ln w="12700">
            <a:solidFill>
              <a:srgbClr val="F2F6FB"/>
            </a:solidFill>
            <a:prstDash val="solid"/>
          </a:ln>
        </p:spPr>
      </p:sp>
      <p:sp>
        <p:nvSpPr>
          <p:cNvPr id="27" name="Text 23"/>
          <p:cNvSpPr txBox="1"/>
          <p:nvPr/>
        </p:nvSpPr>
        <p:spPr>
          <a:xfrm>
            <a:off x="685800" y="5532120"/>
            <a:ext cx="1234440" cy="777240"/>
          </a:xfrm>
          <a:prstGeom prst="rect">
            <a:avLst/>
          </a:prstGeom>
          <a:noFill/>
          <a:ln/>
        </p:spPr>
        <p:txBody>
          <a:bodyPr wrap="square" lIns="0" tIns="0" rIns="0" bIns="0" rtlCol="0" anchor="ctr"/>
          <a:lstStyle/>
          <a:p>
            <a:pPr indent="0" marL="0">
              <a:buNone/>
            </a:pPr>
            <a:r>
              <a:rPr lang="en-US" sz="2000" b="1" dirty="0">
                <a:solidFill>
                  <a:srgbClr val="138A5F"/>
                </a:solidFill>
                <a:latin typeface="Cambria" pitchFamily="34" charset="0"/>
                <a:ea typeface="Cambria" pitchFamily="34" charset="-122"/>
                <a:cs typeface="Cambria" pitchFamily="34" charset="-120"/>
              </a:rPr>
              <a:t>19 / 19</a:t>
            </a:r>
            <a:endParaRPr lang="en-US" sz="2000" dirty="0"/>
          </a:p>
        </p:txBody>
      </p:sp>
      <p:sp>
        <p:nvSpPr>
          <p:cNvPr id="28" name="Text 24"/>
          <p:cNvSpPr txBox="1"/>
          <p:nvPr/>
        </p:nvSpPr>
        <p:spPr>
          <a:xfrm>
            <a:off x="1965960" y="5532120"/>
            <a:ext cx="2057400" cy="777240"/>
          </a:xfrm>
          <a:prstGeom prst="rect">
            <a:avLst/>
          </a:prstGeom>
          <a:noFill/>
          <a:ln/>
        </p:spPr>
        <p:txBody>
          <a:bodyPr wrap="square" lIns="0" tIns="0" rIns="0" bIns="0" rtlCol="0" anchor="ctr"/>
          <a:lstStyle/>
          <a:p>
            <a:pPr indent="0" marL="0">
              <a:buNone/>
            </a:pPr>
            <a:r>
              <a:rPr lang="en-US" sz="1050" dirty="0">
                <a:solidFill>
                  <a:srgbClr val="5B6B80"/>
                </a:solidFill>
              </a:rPr>
              <a:t>automatic checks pass: band, floor, step, credit, arithmetic, replay</a:t>
            </a:r>
            <a:endParaRPr lang="en-US" sz="1050" dirty="0"/>
          </a:p>
        </p:txBody>
      </p:sp>
      <p:sp>
        <p:nvSpPr>
          <p:cNvPr id="29" name="Stat card"/>
          <p:cNvSpPr/>
          <p:nvPr/>
        </p:nvSpPr>
        <p:spPr>
          <a:xfrm>
            <a:off x="4297680" y="5532120"/>
            <a:ext cx="3566160" cy="777240"/>
          </a:xfrm>
          <a:prstGeom prst="roundRect">
            <a:avLst>
              <a:gd name="adj" fmla="val 9412"/>
            </a:avLst>
          </a:prstGeom>
          <a:solidFill>
            <a:srgbClr val="F2F6FB"/>
          </a:solidFill>
          <a:ln w="12700">
            <a:solidFill>
              <a:srgbClr val="F2F6FB"/>
            </a:solidFill>
            <a:prstDash val="solid"/>
          </a:ln>
        </p:spPr>
      </p:sp>
      <p:sp>
        <p:nvSpPr>
          <p:cNvPr id="30" name="Text 26"/>
          <p:cNvSpPr txBox="1"/>
          <p:nvPr/>
        </p:nvSpPr>
        <p:spPr>
          <a:xfrm>
            <a:off x="4434840" y="5532120"/>
            <a:ext cx="1234440" cy="777240"/>
          </a:xfrm>
          <a:prstGeom prst="rect">
            <a:avLst/>
          </a:prstGeom>
          <a:noFill/>
          <a:ln/>
        </p:spPr>
        <p:txBody>
          <a:bodyPr wrap="square" lIns="0" tIns="0" rIns="0" bIns="0" rtlCol="0" anchor="ctr"/>
          <a:lstStyle/>
          <a:p>
            <a:pPr indent="0" marL="0">
              <a:buNone/>
            </a:pPr>
            <a:r>
              <a:rPr lang="en-US" sz="2000" b="1" dirty="0">
                <a:solidFill>
                  <a:srgbClr val="C24E1F"/>
                </a:solidFill>
                <a:latin typeface="Cambria" pitchFamily="34" charset="0"/>
                <a:ea typeface="Cambria" pitchFamily="34" charset="-122"/>
                <a:cs typeface="Cambria" pitchFamily="34" charset="-120"/>
              </a:rPr>
              <a:t>-0.017</a:t>
            </a:r>
            <a:endParaRPr lang="en-US" sz="2000" dirty="0"/>
          </a:p>
        </p:txBody>
      </p:sp>
      <p:sp>
        <p:nvSpPr>
          <p:cNvPr id="31" name="Text 27"/>
          <p:cNvSpPr txBox="1"/>
          <p:nvPr/>
        </p:nvSpPr>
        <p:spPr>
          <a:xfrm>
            <a:off x="5715000" y="5532120"/>
            <a:ext cx="2057400" cy="777240"/>
          </a:xfrm>
          <a:prstGeom prst="rect">
            <a:avLst/>
          </a:prstGeom>
          <a:noFill/>
          <a:ln/>
        </p:spPr>
        <p:txBody>
          <a:bodyPr wrap="square" lIns="0" tIns="0" rIns="0" bIns="0" rtlCol="0" anchor="ctr"/>
          <a:lstStyle/>
          <a:p>
            <a:pPr indent="0" marL="0">
              <a:buNone/>
            </a:pPr>
            <a:r>
              <a:rPr lang="en-US" sz="1050" dirty="0">
                <a:solidFill>
                  <a:srgbClr val="5B6B80"/>
                </a:solidFill>
              </a:rPr>
              <a:t>price effect in the data: not measurable, hence a range of results</a:t>
            </a:r>
            <a:endParaRPr lang="en-US" sz="1050" dirty="0"/>
          </a:p>
        </p:txBody>
      </p:sp>
      <p:sp>
        <p:nvSpPr>
          <p:cNvPr id="32" name="Stat card"/>
          <p:cNvSpPr/>
          <p:nvPr/>
        </p:nvSpPr>
        <p:spPr>
          <a:xfrm>
            <a:off x="8046720" y="5532120"/>
            <a:ext cx="3566160" cy="777240"/>
          </a:xfrm>
          <a:prstGeom prst="roundRect">
            <a:avLst>
              <a:gd name="adj" fmla="val 9412"/>
            </a:avLst>
          </a:prstGeom>
          <a:solidFill>
            <a:srgbClr val="F2F6FB"/>
          </a:solidFill>
          <a:ln w="12700">
            <a:solidFill>
              <a:srgbClr val="F2F6FB"/>
            </a:solidFill>
            <a:prstDash val="solid"/>
          </a:ln>
        </p:spPr>
      </p:sp>
      <p:sp>
        <p:nvSpPr>
          <p:cNvPr id="33" name="Text 29"/>
          <p:cNvSpPr txBox="1"/>
          <p:nvPr/>
        </p:nvSpPr>
        <p:spPr>
          <a:xfrm>
            <a:off x="8183880" y="5532120"/>
            <a:ext cx="1234440" cy="777240"/>
          </a:xfrm>
          <a:prstGeom prst="rect">
            <a:avLst/>
          </a:prstGeom>
          <a:noFill/>
          <a:ln/>
        </p:spPr>
        <p:txBody>
          <a:bodyPr wrap="square" lIns="0" tIns="0" rIns="0" bIns="0" rtlCol="0" anchor="ctr"/>
          <a:lstStyle/>
          <a:p>
            <a:pPr indent="0" marL="0">
              <a:buNone/>
            </a:pPr>
            <a:r>
              <a:rPr lang="en-US" sz="2000" b="1" dirty="0">
                <a:solidFill>
                  <a:srgbClr val="1F5FB0"/>
                </a:solidFill>
                <a:latin typeface="Cambria" pitchFamily="34" charset="0"/>
                <a:ea typeface="Cambria" pitchFamily="34" charset="-122"/>
                <a:cs typeface="Cambria" pitchFamily="34" charset="-120"/>
              </a:rPr>
              <a:t>-0.4%</a:t>
            </a:r>
            <a:endParaRPr lang="en-US" sz="2000" dirty="0"/>
          </a:p>
        </p:txBody>
      </p:sp>
      <p:sp>
        <p:nvSpPr>
          <p:cNvPr id="34" name="Text 30"/>
          <p:cNvSpPr txBox="1"/>
          <p:nvPr/>
        </p:nvSpPr>
        <p:spPr>
          <a:xfrm>
            <a:off x="9464040" y="5532120"/>
            <a:ext cx="2057400" cy="777240"/>
          </a:xfrm>
          <a:prstGeom prst="rect">
            <a:avLst/>
          </a:prstGeom>
          <a:noFill/>
          <a:ln/>
        </p:spPr>
        <p:txBody>
          <a:bodyPr wrap="square" lIns="0" tIns="0" rIns="0" bIns="0" rtlCol="0" anchor="ctr"/>
          <a:lstStyle/>
          <a:p>
            <a:pPr indent="0" marL="0">
              <a:buNone/>
            </a:pPr>
            <a:r>
              <a:rPr lang="en-US" sz="1050" dirty="0">
                <a:solidFill>
                  <a:srgbClr val="5B6B80"/>
                </a:solidFill>
              </a:rPr>
              <a:t>change in units sold in the planning case: same units, higher price</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BEYOND PRICE</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Beyond price: stock, credit and pilots</a:t>
            </a:r>
            <a:endParaRPr lang="en-US" sz="3000" dirty="0"/>
          </a:p>
        </p:txBody>
      </p:sp>
      <p:graphicFrame>
        <p:nvGraphicFramePr>
          <p:cNvPr id="5" name="Chart 0" descr=""/>
          <p:cNvGraphicFramePr/>
          <p:nvPr/>
        </p:nvGraphicFramePr>
        <p:xfrm>
          <a:off x="548640" y="1645920"/>
          <a:ext cx="5760720" cy="29260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 y="4617720"/>
            <a:ext cx="5760720" cy="411480"/>
          </a:xfrm>
          <a:prstGeom prst="rect">
            <a:avLst/>
          </a:prstGeom>
          <a:noFill/>
          <a:ln/>
        </p:spPr>
        <p:txBody>
          <a:bodyPr wrap="square" lIns="0" tIns="0" rIns="0" bIns="0" rtlCol="0" anchor="t"/>
          <a:lstStyle/>
          <a:p>
            <a:pPr indent="0" marL="0">
              <a:buNone/>
            </a:pPr>
            <a:r>
              <a:rPr lang="en-US" sz="1150" i="1" dirty="0">
                <a:solidFill>
                  <a:srgbClr val="5B6B80"/>
                </a:solidFill>
              </a:rPr>
              <a:t>Assumptions: holding cost 12% a year, funding cost 8% a year, credit ratings from scenario inputs.</a:t>
            </a:r>
            <a:endParaRPr lang="en-US" sz="1150" dirty="0"/>
          </a:p>
        </p:txBody>
      </p:sp>
      <p:sp>
        <p:nvSpPr>
          <p:cNvPr id="7" name="Stat card"/>
          <p:cNvSpPr/>
          <p:nvPr/>
        </p:nvSpPr>
        <p:spPr>
          <a:xfrm>
            <a:off x="6583680" y="1691640"/>
            <a:ext cx="2468880" cy="1280160"/>
          </a:xfrm>
          <a:prstGeom prst="roundRect">
            <a:avLst>
              <a:gd name="adj" fmla="val 5714"/>
            </a:avLst>
          </a:prstGeom>
          <a:solidFill>
            <a:srgbClr val="F2F6FB"/>
          </a:solidFill>
          <a:ln w="12700">
            <a:solidFill>
              <a:srgbClr val="F2F6FB"/>
            </a:solidFill>
            <a:prstDash val="solid"/>
          </a:ln>
        </p:spPr>
      </p:sp>
      <p:sp>
        <p:nvSpPr>
          <p:cNvPr id="8" name="Text 4"/>
          <p:cNvSpPr txBox="1"/>
          <p:nvPr/>
        </p:nvSpPr>
        <p:spPr>
          <a:xfrm>
            <a:off x="6720840" y="1764792"/>
            <a:ext cx="2194560" cy="576072"/>
          </a:xfrm>
          <a:prstGeom prst="rect">
            <a:avLst/>
          </a:prstGeom>
          <a:noFill/>
          <a:ln/>
        </p:spPr>
        <p:txBody>
          <a:bodyPr wrap="square" lIns="0" tIns="0" rIns="0" bIns="0" rtlCol="0" anchor="ctr"/>
          <a:lstStyle/>
          <a:p>
            <a:pPr indent="0" marL="0">
              <a:buNone/>
            </a:pPr>
            <a:r>
              <a:rPr lang="en-US" sz="3000" b="1" dirty="0">
                <a:solidFill>
                  <a:srgbClr val="D03B3B"/>
                </a:solidFill>
                <a:latin typeface="Cambria" pitchFamily="34" charset="0"/>
                <a:ea typeface="Cambria" pitchFamily="34" charset="-122"/>
                <a:cs typeface="Cambria" pitchFamily="34" charset="-120"/>
              </a:rPr>
              <a:t>$1.3M</a:t>
            </a:r>
            <a:endParaRPr lang="en-US" sz="3000" dirty="0"/>
          </a:p>
        </p:txBody>
      </p:sp>
      <p:sp>
        <p:nvSpPr>
          <p:cNvPr id="9" name="Text 5"/>
          <p:cNvSpPr txBox="1"/>
          <p:nvPr/>
        </p:nvSpPr>
        <p:spPr>
          <a:xfrm>
            <a:off x="6720840" y="2357323"/>
            <a:ext cx="2194560" cy="588874"/>
          </a:xfrm>
          <a:prstGeom prst="rect">
            <a:avLst/>
          </a:prstGeom>
          <a:noFill/>
          <a:ln/>
        </p:spPr>
        <p:txBody>
          <a:bodyPr wrap="square" lIns="0" tIns="0" rIns="0" bIns="0" rtlCol="0" anchor="t"/>
          <a:lstStyle/>
          <a:p>
            <a:pPr indent="0" marL="0">
              <a:buNone/>
            </a:pPr>
            <a:r>
              <a:rPr lang="en-US" sz="1300" dirty="0">
                <a:solidFill>
                  <a:srgbClr val="5B6B80"/>
                </a:solidFill>
              </a:rPr>
              <a:t>a year to carry the excess, more than the pricing gain</a:t>
            </a:r>
            <a:endParaRPr lang="en-US" sz="1300" dirty="0"/>
          </a:p>
        </p:txBody>
      </p:sp>
      <p:sp>
        <p:nvSpPr>
          <p:cNvPr id="10" name="Stat card"/>
          <p:cNvSpPr/>
          <p:nvPr/>
        </p:nvSpPr>
        <p:spPr>
          <a:xfrm>
            <a:off x="9189720" y="1691640"/>
            <a:ext cx="2423160" cy="1280160"/>
          </a:xfrm>
          <a:prstGeom prst="roundRect">
            <a:avLst>
              <a:gd name="adj" fmla="val 5714"/>
            </a:avLst>
          </a:prstGeom>
          <a:solidFill>
            <a:srgbClr val="F2F6FB"/>
          </a:solidFill>
          <a:ln w="12700">
            <a:solidFill>
              <a:srgbClr val="F2F6FB"/>
            </a:solidFill>
            <a:prstDash val="solid"/>
          </a:ln>
        </p:spPr>
      </p:sp>
      <p:sp>
        <p:nvSpPr>
          <p:cNvPr id="11" name="Text 7"/>
          <p:cNvSpPr txBox="1"/>
          <p:nvPr/>
        </p:nvSpPr>
        <p:spPr>
          <a:xfrm>
            <a:off x="9326880" y="1764792"/>
            <a:ext cx="2148840" cy="576072"/>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17-49%</a:t>
            </a:r>
            <a:endParaRPr lang="en-US" sz="3000" dirty="0"/>
          </a:p>
        </p:txBody>
      </p:sp>
      <p:sp>
        <p:nvSpPr>
          <p:cNvPr id="12" name="Text 8"/>
          <p:cNvSpPr txBox="1"/>
          <p:nvPr/>
        </p:nvSpPr>
        <p:spPr>
          <a:xfrm>
            <a:off x="9326880" y="2357323"/>
            <a:ext cx="2148840" cy="588874"/>
          </a:xfrm>
          <a:prstGeom prst="rect">
            <a:avLst/>
          </a:prstGeom>
          <a:noFill/>
          <a:ln/>
        </p:spPr>
        <p:txBody>
          <a:bodyPr wrap="square" lIns="0" tIns="0" rIns="0" bIns="0" rtlCol="0" anchor="t"/>
          <a:lstStyle/>
          <a:p>
            <a:pPr indent="0" marL="0">
              <a:buNone/>
            </a:pPr>
            <a:r>
              <a:rPr lang="en-US" sz="1300" dirty="0">
                <a:solidFill>
                  <a:srgbClr val="5B6B80"/>
                </a:solidFill>
              </a:rPr>
              <a:t>price cut needed to clear it in a year</a:t>
            </a:r>
            <a:endParaRPr lang="en-US" sz="1300" dirty="0"/>
          </a:p>
        </p:txBody>
      </p:sp>
      <p:sp>
        <p:nvSpPr>
          <p:cNvPr id="13" name="Text 9"/>
          <p:cNvSpPr txBox="1"/>
          <p:nvPr/>
        </p:nvSpPr>
        <p:spPr>
          <a:xfrm>
            <a:off x="6583680" y="3108960"/>
            <a:ext cx="5029200" cy="1920240"/>
          </a:xfrm>
          <a:prstGeom prst="rect">
            <a:avLst/>
          </a:prstGeom>
          <a:noFill/>
          <a:ln/>
        </p:spPr>
        <p:txBody>
          <a:bodyPr wrap="square" lIns="0" tIns="0" rIns="0" bIns="0" rtlCol="0" anchor="t"/>
          <a:lstStyle/>
          <a:p>
            <a:pPr marL="203200" indent="-203200">
              <a:spcAft>
                <a:spcPts val="800"/>
              </a:spcAft>
              <a:buSzPct val="100000"/>
              <a:buChar char="•"/>
            </a:pPr>
            <a:r>
              <a:rPr lang="en-US" sz="1300" b="1" dirty="0">
                <a:solidFill>
                  <a:srgbClr val="1B2A41"/>
                </a:solidFill>
              </a:rPr>
              <a:t>Over-stock: </a:t>
            </a:r>
            <a:pPr indent="0" marL="0">
              <a:spcAft>
                <a:spcPts val="800"/>
              </a:spcAft>
              <a:buNone/>
            </a:pPr>
            <a:r>
              <a:rPr lang="en-US" sz="1300" dirty="0">
                <a:solidFill>
                  <a:srgbClr val="1B2A41"/>
                </a:solidFill>
              </a:rPr>
              <a:t>purchasing stops; bulk or export deals. 200 test markdowns did not pay.</a:t>
            </a:r>
            <a:endParaRPr lang="en-US" sz="1300" dirty="0"/>
          </a:p>
          <a:p>
            <a:pPr marL="203200" indent="-203200">
              <a:spcAft>
                <a:spcPts val="800"/>
              </a:spcAft>
              <a:buSzPct val="100000"/>
              <a:buChar char="•"/>
            </a:pPr>
            <a:r>
              <a:rPr lang="en-US" sz="1300" b="1" dirty="0">
                <a:solidFill>
                  <a:srgbClr val="1B2A41"/>
                </a:solidFill>
              </a:rPr>
              <a:t>Credit D/E: </a:t>
            </a:r>
            <a:pPr indent="0" marL="0">
              <a:spcAft>
                <a:spcPts val="800"/>
              </a:spcAft>
              <a:buNone/>
            </a:pPr>
            <a:r>
              <a:rPr lang="en-US" sz="1300" dirty="0">
                <a:solidFill>
                  <a:srgbClr val="1B2A41"/>
                </a:solidFill>
              </a:rPr>
              <a:t>no discounts, 2.5% risk premium; 15 days shorter terms free about $361K.</a:t>
            </a:r>
            <a:endParaRPr lang="en-US" sz="1300" dirty="0"/>
          </a:p>
          <a:p>
            <a:pPr marL="203200" indent="-203200">
              <a:spcAft>
                <a:spcPts val="800"/>
              </a:spcAft>
              <a:buSzPct val="100000"/>
              <a:buChar char="•"/>
            </a:pPr>
            <a:r>
              <a:rPr lang="en-US" sz="1300" b="1" dirty="0">
                <a:solidFill>
                  <a:srgbClr val="1B2A41"/>
                </a:solidFill>
              </a:rPr>
              <a:t>Lean products: </a:t>
            </a:r>
            <a:pPr indent="0" marL="0">
              <a:spcAft>
                <a:spcPts val="800"/>
              </a:spcAft>
              <a:buNone/>
            </a:pPr>
            <a:r>
              <a:rPr lang="en-US" sz="1300" dirty="0">
                <a:solidFill>
                  <a:srgbClr val="1B2A41"/>
                </a:solidFill>
              </a:rPr>
              <a:t>raise stock cover; a price gain needs continued sales.</a:t>
            </a:r>
            <a:endParaRPr lang="en-US" sz="1300" dirty="0"/>
          </a:p>
        </p:txBody>
      </p:sp>
      <p:sp>
        <p:nvSpPr>
          <p:cNvPr id="14" name="Callout"/>
          <p:cNvSpPr/>
          <p:nvPr/>
        </p:nvSpPr>
        <p:spPr>
          <a:xfrm>
            <a:off x="548640" y="5166360"/>
            <a:ext cx="11064240" cy="1143000"/>
          </a:xfrm>
          <a:prstGeom prst="roundRect">
            <a:avLst>
              <a:gd name="adj" fmla="val 6400"/>
            </a:avLst>
          </a:prstGeom>
          <a:solidFill>
            <a:srgbClr val="F2F6FB"/>
          </a:solidFill>
          <a:ln w="12700">
            <a:solidFill>
              <a:srgbClr val="D9E1EC"/>
            </a:solidFill>
            <a:prstDash val="solid"/>
          </a:ln>
        </p:spPr>
      </p:sp>
      <p:sp>
        <p:nvSpPr>
          <p:cNvPr id="15" name="Text 11"/>
          <p:cNvSpPr txBox="1"/>
          <p:nvPr/>
        </p:nvSpPr>
        <p:spPr>
          <a:xfrm>
            <a:off x="731520" y="5276088"/>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Pilots replace the two open assumptions with measurements</a:t>
            </a:r>
            <a:endParaRPr lang="en-US" sz="1400" dirty="0"/>
          </a:p>
        </p:txBody>
      </p:sp>
      <p:sp>
        <p:nvSpPr>
          <p:cNvPr id="16" name="Text 12"/>
          <p:cNvSpPr txBox="1"/>
          <p:nvPr/>
        </p:nvSpPr>
        <p:spPr>
          <a:xfrm>
            <a:off x="731520" y="5623560"/>
            <a:ext cx="10698480" cy="59436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B2A41"/>
                </a:solidFill>
              </a:rPr>
              <a:t>Pilot A (8 weeks): 6 scarce products at +3% / +5% with matched controls; success = units within 1% of control and stock still sells out.</a:t>
            </a:r>
            <a:endParaRPr lang="en-US" sz="1200" dirty="0"/>
          </a:p>
          <a:p>
            <a:pPr marL="177800" indent="-177800">
              <a:spcAft>
                <a:spcPts val="500"/>
              </a:spcAft>
              <a:buSzPct val="100000"/>
              <a:buChar char="•"/>
            </a:pPr>
            <a:r>
              <a:rPr lang="en-US" sz="1200" dirty="0">
                <a:solidFill>
                  <a:srgbClr val="1B2A41"/>
                </a:solidFill>
              </a:rPr>
              <a:t>Pilot B (8 weeks): high-stock products at +3% / -3% in random weeks to measure real price sensitivity (weekly noise about 8%).</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ASSUMPTIONS REGISTER</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Assumptions, reasons and how each is replaced</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474720"/>
                <a:gridCol w="3566160"/>
                <a:gridCol w="4023360"/>
              </a:tblGrid>
              <a:tr h="384048">
                <a:tc>
                  <a:txBody>
                    <a:bodyPr/>
                    <a:lstStyle/>
                    <a:p>
                      <a:pPr indent="0" marL="0">
                        <a:buNone/>
                      </a:pPr>
                      <a:r>
                        <a:rPr lang="en-US" sz="1300" b="1" dirty="0">
                          <a:solidFill>
                            <a:srgbClr val="FFFFFF"/>
                          </a:solidFill>
                        </a:rPr>
                        <a:t>Assumption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Why it was made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How it is checked or replaced</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566928">
                <a:tc>
                  <a:txBody>
                    <a:bodyPr/>
                    <a:lstStyle/>
                    <a:p>
                      <a:pPr indent="0" marL="0">
                        <a:buNone/>
                      </a:pPr>
                      <a:r>
                        <a:rPr lang="en-US" sz="1300" dirty="0">
                          <a:solidFill>
                            <a:srgbClr val="1B2A41"/>
                          </a:solidFill>
                        </a:rPr>
                        <a:t>Synthetic calendar from 6 Jan 2020</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the file has week numbers only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real dates replace it; no result depends on the start date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Sales = min(demand, stock)</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stock-outs give zero sales; pile-ups sit at the stock caps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verified: zero violations in the database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Old forecast is a usable demand signal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unbiased (-0.4%) on weeks where truth is known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blend weight learned out-of-fold; accuracy also on clean weeks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Future stock follows its own history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future purchasing is unknown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dashboard shows the stock-limited and unconstrained views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Credit terms, delays, default rates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no customer or invoice data exists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editable in the dashboard; replace with payment history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Price sensitivity -1 (plan) and -2 (stress)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price barely varies (4%), so the data cannot measure it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results shown from 0 to -3; Pilot B measures it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Competitor band -8% / +10%, holding 12%, funding 8%</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no competitor data; standard cost-of-capital levels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adjustable parameters; replace with observations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SUMMARY</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The constraint is availability, not demand or price</a:t>
            </a:r>
            <a:endParaRPr lang="en-US" sz="3000" dirty="0"/>
          </a:p>
        </p:txBody>
      </p:sp>
      <p:sp>
        <p:nvSpPr>
          <p:cNvPr id="5" name="Stat card"/>
          <p:cNvSpPr/>
          <p:nvPr/>
        </p:nvSpPr>
        <p:spPr>
          <a:xfrm>
            <a:off x="548640" y="1783080"/>
            <a:ext cx="2606040" cy="2331720"/>
          </a:xfrm>
          <a:prstGeom prst="roundRect">
            <a:avLst>
              <a:gd name="adj" fmla="val 3137"/>
            </a:avLst>
          </a:prstGeom>
          <a:solidFill>
            <a:srgbClr val="F2F6FB"/>
          </a:solidFill>
          <a:ln w="12700">
            <a:solidFill>
              <a:srgbClr val="F2F6FB"/>
            </a:solidFill>
            <a:prstDash val="solid"/>
          </a:ln>
        </p:spPr>
      </p:sp>
      <p:sp>
        <p:nvSpPr>
          <p:cNvPr id="6" name="Text 3"/>
          <p:cNvSpPr txBox="1"/>
          <p:nvPr/>
        </p:nvSpPr>
        <p:spPr>
          <a:xfrm>
            <a:off x="685800" y="1856232"/>
            <a:ext cx="2331720" cy="1049274"/>
          </a:xfrm>
          <a:prstGeom prst="rect">
            <a:avLst/>
          </a:prstGeom>
          <a:noFill/>
          <a:ln/>
        </p:spPr>
        <p:txBody>
          <a:bodyPr wrap="square" lIns="0" tIns="0" rIns="0" bIns="0" rtlCol="0" anchor="ctr"/>
          <a:lstStyle/>
          <a:p>
            <a:pPr indent="0" marL="0">
              <a:buNone/>
            </a:pPr>
            <a:r>
              <a:rPr lang="en-US" sz="4000" b="1" dirty="0">
                <a:solidFill>
                  <a:srgbClr val="EB6834"/>
                </a:solidFill>
                <a:latin typeface="Cambria" pitchFamily="34" charset="0"/>
                <a:ea typeface="Cambria" pitchFamily="34" charset="-122"/>
                <a:cs typeface="Cambria" pitchFamily="34" charset="-120"/>
              </a:rPr>
              <a:t>~40%</a:t>
            </a:r>
            <a:endParaRPr lang="en-US" sz="4000" dirty="0"/>
          </a:p>
        </p:txBody>
      </p:sp>
      <p:sp>
        <p:nvSpPr>
          <p:cNvPr id="7" name="Text 4"/>
          <p:cNvSpPr txBox="1"/>
          <p:nvPr/>
        </p:nvSpPr>
        <p:spPr>
          <a:xfrm>
            <a:off x="685800" y="2995574"/>
            <a:ext cx="2331720" cy="1072591"/>
          </a:xfrm>
          <a:prstGeom prst="rect">
            <a:avLst/>
          </a:prstGeom>
          <a:noFill/>
          <a:ln/>
        </p:spPr>
        <p:txBody>
          <a:bodyPr wrap="square" lIns="0" tIns="0" rIns="0" bIns="0" rtlCol="0" anchor="t"/>
          <a:lstStyle/>
          <a:p>
            <a:pPr indent="0" marL="0">
              <a:buNone/>
            </a:pPr>
            <a:r>
              <a:rPr lang="en-US" sz="1300" dirty="0">
                <a:solidFill>
                  <a:srgbClr val="5B6B80"/>
                </a:solidFill>
              </a:rPr>
              <a:t>of customer demand went unserved in the last 52 weeks: products ran out of stock</a:t>
            </a:r>
            <a:endParaRPr lang="en-US" sz="1300" dirty="0"/>
          </a:p>
        </p:txBody>
      </p:sp>
      <p:sp>
        <p:nvSpPr>
          <p:cNvPr id="8" name="Stat card"/>
          <p:cNvSpPr/>
          <p:nvPr/>
        </p:nvSpPr>
        <p:spPr>
          <a:xfrm>
            <a:off x="3337560" y="1783080"/>
            <a:ext cx="2606040" cy="2331720"/>
          </a:xfrm>
          <a:prstGeom prst="roundRect">
            <a:avLst>
              <a:gd name="adj" fmla="val 3137"/>
            </a:avLst>
          </a:prstGeom>
          <a:solidFill>
            <a:srgbClr val="F2F6FB"/>
          </a:solidFill>
          <a:ln w="12700">
            <a:solidFill>
              <a:srgbClr val="F2F6FB"/>
            </a:solidFill>
            <a:prstDash val="solid"/>
          </a:ln>
        </p:spPr>
      </p:sp>
      <p:sp>
        <p:nvSpPr>
          <p:cNvPr id="9" name="Text 6"/>
          <p:cNvSpPr txBox="1"/>
          <p:nvPr/>
        </p:nvSpPr>
        <p:spPr>
          <a:xfrm>
            <a:off x="3474720" y="1856232"/>
            <a:ext cx="2331720" cy="1049274"/>
          </a:xfrm>
          <a:prstGeom prst="rect">
            <a:avLst/>
          </a:prstGeom>
          <a:noFill/>
          <a:ln/>
        </p:spPr>
        <p:txBody>
          <a:bodyPr wrap="square" lIns="0" tIns="0" rIns="0" bIns="0" rtlCol="0" anchor="ctr"/>
          <a:lstStyle/>
          <a:p>
            <a:pPr indent="0" marL="0">
              <a:buNone/>
            </a:pPr>
            <a:r>
              <a:rPr lang="en-US" sz="4000" b="1" dirty="0">
                <a:solidFill>
                  <a:srgbClr val="2A78D6"/>
                </a:solidFill>
                <a:latin typeface="Cambria" pitchFamily="34" charset="0"/>
                <a:ea typeface="Cambria" pitchFamily="34" charset="-122"/>
                <a:cs typeface="Cambria" pitchFamily="34" charset="-120"/>
              </a:rPr>
              <a:t>4.6%</a:t>
            </a:r>
            <a:endParaRPr lang="en-US" sz="4000" dirty="0"/>
          </a:p>
        </p:txBody>
      </p:sp>
      <p:sp>
        <p:nvSpPr>
          <p:cNvPr id="10" name="Text 7"/>
          <p:cNvSpPr txBox="1"/>
          <p:nvPr/>
        </p:nvSpPr>
        <p:spPr>
          <a:xfrm>
            <a:off x="3474720" y="2995574"/>
            <a:ext cx="2331720" cy="1072591"/>
          </a:xfrm>
          <a:prstGeom prst="rect">
            <a:avLst/>
          </a:prstGeom>
          <a:noFill/>
          <a:ln/>
        </p:spPr>
        <p:txBody>
          <a:bodyPr wrap="square" lIns="0" tIns="0" rIns="0" bIns="0" rtlCol="0" anchor="t"/>
          <a:lstStyle/>
          <a:p>
            <a:pPr indent="0" marL="0">
              <a:buNone/>
            </a:pPr>
            <a:r>
              <a:rPr lang="en-US" sz="1300" dirty="0">
                <a:solidFill>
                  <a:srgbClr val="5B6B80"/>
                </a:solidFill>
              </a:rPr>
              <a:t>average forecast miss (WAPE) for the next 26 weeks, 13% better than the best simple rule</a:t>
            </a:r>
            <a:endParaRPr lang="en-US" sz="1300" dirty="0"/>
          </a:p>
        </p:txBody>
      </p:sp>
      <p:sp>
        <p:nvSpPr>
          <p:cNvPr id="11" name="Stat card"/>
          <p:cNvSpPr/>
          <p:nvPr/>
        </p:nvSpPr>
        <p:spPr>
          <a:xfrm>
            <a:off x="6126480" y="1783080"/>
            <a:ext cx="2606040" cy="2331720"/>
          </a:xfrm>
          <a:prstGeom prst="roundRect">
            <a:avLst>
              <a:gd name="adj" fmla="val 3137"/>
            </a:avLst>
          </a:prstGeom>
          <a:solidFill>
            <a:srgbClr val="F2F6FB"/>
          </a:solidFill>
          <a:ln w="12700">
            <a:solidFill>
              <a:srgbClr val="F2F6FB"/>
            </a:solidFill>
            <a:prstDash val="solid"/>
          </a:ln>
        </p:spPr>
      </p:sp>
      <p:sp>
        <p:nvSpPr>
          <p:cNvPr id="12" name="Text 9"/>
          <p:cNvSpPr txBox="1"/>
          <p:nvPr/>
        </p:nvSpPr>
        <p:spPr>
          <a:xfrm>
            <a:off x="6263640" y="1856232"/>
            <a:ext cx="2331720" cy="1049274"/>
          </a:xfrm>
          <a:prstGeom prst="rect">
            <a:avLst/>
          </a:prstGeom>
          <a:noFill/>
          <a:ln/>
        </p:spPr>
        <p:txBody>
          <a:bodyPr wrap="square" lIns="0" tIns="0" rIns="0" bIns="0" rtlCol="0" anchor="ctr"/>
          <a:lstStyle/>
          <a:p>
            <a:pPr indent="0" marL="0">
              <a:buNone/>
            </a:pPr>
            <a:r>
              <a:rPr lang="en-US" sz="4000" b="1" dirty="0">
                <a:solidFill>
                  <a:srgbClr val="D03B3B"/>
                </a:solidFill>
                <a:latin typeface="Cambria" pitchFamily="34" charset="0"/>
                <a:ea typeface="Cambria" pitchFamily="34" charset="-122"/>
                <a:cs typeface="Cambria" pitchFamily="34" charset="-120"/>
              </a:rPr>
              <a:t>$10.8M</a:t>
            </a:r>
            <a:endParaRPr lang="en-US" sz="4000" dirty="0"/>
          </a:p>
        </p:txBody>
      </p:sp>
      <p:sp>
        <p:nvSpPr>
          <p:cNvPr id="13" name="Text 10"/>
          <p:cNvSpPr txBox="1"/>
          <p:nvPr/>
        </p:nvSpPr>
        <p:spPr>
          <a:xfrm>
            <a:off x="6263640" y="2995574"/>
            <a:ext cx="2331720" cy="1072591"/>
          </a:xfrm>
          <a:prstGeom prst="rect">
            <a:avLst/>
          </a:prstGeom>
          <a:noFill/>
          <a:ln/>
        </p:spPr>
        <p:txBody>
          <a:bodyPr wrap="square" lIns="0" tIns="0" rIns="0" bIns="0" rtlCol="0" anchor="t"/>
          <a:lstStyle/>
          <a:p>
            <a:pPr indent="0" marL="0">
              <a:buNone/>
            </a:pPr>
            <a:r>
              <a:rPr lang="en-US" sz="1300" dirty="0">
                <a:solidFill>
                  <a:srgbClr val="5B6B80"/>
                </a:solidFill>
              </a:rPr>
              <a:t>tied up in 5 over-stocked products, while the other products sell out</a:t>
            </a:r>
            <a:endParaRPr lang="en-US" sz="1300" dirty="0"/>
          </a:p>
        </p:txBody>
      </p:sp>
      <p:sp>
        <p:nvSpPr>
          <p:cNvPr id="14" name="Stat card"/>
          <p:cNvSpPr/>
          <p:nvPr/>
        </p:nvSpPr>
        <p:spPr>
          <a:xfrm>
            <a:off x="8915400" y="1783080"/>
            <a:ext cx="2606040" cy="2331720"/>
          </a:xfrm>
          <a:prstGeom prst="roundRect">
            <a:avLst>
              <a:gd name="adj" fmla="val 3137"/>
            </a:avLst>
          </a:prstGeom>
          <a:solidFill>
            <a:srgbClr val="F2F6FB"/>
          </a:solidFill>
          <a:ln w="12700">
            <a:solidFill>
              <a:srgbClr val="F2F6FB"/>
            </a:solidFill>
            <a:prstDash val="solid"/>
          </a:ln>
        </p:spPr>
      </p:sp>
      <p:sp>
        <p:nvSpPr>
          <p:cNvPr id="15" name="Text 12"/>
          <p:cNvSpPr txBox="1"/>
          <p:nvPr/>
        </p:nvSpPr>
        <p:spPr>
          <a:xfrm>
            <a:off x="9052560" y="1856232"/>
            <a:ext cx="2331720" cy="1049274"/>
          </a:xfrm>
          <a:prstGeom prst="rect">
            <a:avLst/>
          </a:prstGeom>
          <a:noFill/>
          <a:ln/>
        </p:spPr>
        <p:txBody>
          <a:bodyPr wrap="square" lIns="0" tIns="0" rIns="0" bIns="0" rtlCol="0" anchor="ctr"/>
          <a:lstStyle/>
          <a:p>
            <a:pPr indent="0" marL="0">
              <a:buNone/>
            </a:pPr>
            <a:r>
              <a:rPr lang="en-US" sz="4000" b="1" dirty="0">
                <a:solidFill>
                  <a:srgbClr val="1BAF7A"/>
                </a:solidFill>
                <a:latin typeface="Cambria" pitchFamily="34" charset="0"/>
                <a:ea typeface="Cambria" pitchFamily="34" charset="-122"/>
                <a:cs typeface="Cambria" pitchFamily="34" charset="-120"/>
              </a:rPr>
              <a:t>+$1.3M</a:t>
            </a:r>
            <a:endParaRPr lang="en-US" sz="4000" dirty="0"/>
          </a:p>
        </p:txBody>
      </p:sp>
      <p:sp>
        <p:nvSpPr>
          <p:cNvPr id="16" name="Text 13"/>
          <p:cNvSpPr txBox="1"/>
          <p:nvPr/>
        </p:nvSpPr>
        <p:spPr>
          <a:xfrm>
            <a:off x="9052560" y="2995574"/>
            <a:ext cx="2331720" cy="1072591"/>
          </a:xfrm>
          <a:prstGeom prst="rect">
            <a:avLst/>
          </a:prstGeom>
          <a:noFill/>
          <a:ln/>
        </p:spPr>
        <p:txBody>
          <a:bodyPr wrap="square" lIns="0" tIns="0" rIns="0" bIns="0" rtlCol="0" anchor="t"/>
          <a:lstStyle/>
          <a:p>
            <a:pPr indent="0" marL="0">
              <a:buNone/>
            </a:pPr>
            <a:r>
              <a:rPr lang="en-US" sz="1300" dirty="0">
                <a:solidFill>
                  <a:srgbClr val="5B6B80"/>
                </a:solidFill>
              </a:rPr>
              <a:t>extra profit in 26 weeks from stock-aware pricing (range $1.2M to $1.3M)</a:t>
            </a:r>
            <a:endParaRPr lang="en-US" sz="1300" dirty="0"/>
          </a:p>
        </p:txBody>
      </p:sp>
      <p:sp>
        <p:nvSpPr>
          <p:cNvPr id="17" name="Text 14"/>
          <p:cNvSpPr txBox="1"/>
          <p:nvPr/>
        </p:nvSpPr>
        <p:spPr>
          <a:xfrm>
            <a:off x="548640" y="4434840"/>
            <a:ext cx="11064240" cy="1737360"/>
          </a:xfrm>
          <a:prstGeom prst="rect">
            <a:avLst/>
          </a:prstGeom>
          <a:noFill/>
          <a:ln/>
        </p:spPr>
        <p:txBody>
          <a:bodyPr wrap="square" lIns="0" tIns="0" rIns="0" bIns="0" rtlCol="0" anchor="t"/>
          <a:lstStyle/>
          <a:p>
            <a:pPr marL="203200" indent="-203200">
              <a:spcAft>
                <a:spcPts val="800"/>
              </a:spcAft>
              <a:buSzPct val="100000"/>
              <a:buChar char="•"/>
            </a:pPr>
            <a:r>
              <a:rPr lang="en-US" sz="1700" b="1" dirty="0">
                <a:solidFill>
                  <a:srgbClr val="1B2A41"/>
                </a:solidFill>
              </a:rPr>
              <a:t>What it means: </a:t>
            </a:r>
            <a:pPr indent="0" marL="0">
              <a:spcAft>
                <a:spcPts val="800"/>
              </a:spcAft>
              <a:buNone/>
            </a:pPr>
            <a:r>
              <a:rPr lang="en-US" sz="1700" dirty="0">
                <a:solidFill>
                  <a:srgbClr val="1B2A41"/>
                </a:solidFill>
              </a:rPr>
              <a:t>customers want more than can be served, so the money is in stock planning first and pricing second.</a:t>
            </a:r>
            <a:endParaRPr lang="en-US" sz="1700" dirty="0"/>
          </a:p>
          <a:p>
            <a:pPr marL="203200" indent="-203200">
              <a:spcAft>
                <a:spcPts val="800"/>
              </a:spcAft>
              <a:buSzPct val="100000"/>
              <a:buChar char="•"/>
            </a:pPr>
            <a:r>
              <a:rPr lang="en-US" sz="1700" b="1" dirty="0">
                <a:solidFill>
                  <a:srgbClr val="1B2A41"/>
                </a:solidFill>
              </a:rPr>
              <a:t>What was built: </a:t>
            </a:r>
            <a:pPr indent="0" marL="0">
              <a:spcAft>
                <a:spcPts val="800"/>
              </a:spcAft>
              <a:buNone/>
            </a:pPr>
            <a:r>
              <a:rPr lang="en-US" sz="1700" dirty="0">
                <a:solidFill>
                  <a:srgbClr val="1B2A41"/>
                </a:solidFill>
              </a:rPr>
              <a:t>a clean database, a forecast engine, a manager dashboard with alerts, and a rule-based pricing framework with safety limits.</a:t>
            </a:r>
            <a:endParaRPr lang="en-US" sz="1700" dirty="0"/>
          </a:p>
          <a:p>
            <a:pPr marL="203200" indent="-203200">
              <a:spcAft>
                <a:spcPts val="800"/>
              </a:spcAft>
              <a:buSzPct val="100000"/>
              <a:buChar char="•"/>
            </a:pPr>
            <a:r>
              <a:rPr lang="en-US" sz="1700" b="1" dirty="0">
                <a:solidFill>
                  <a:srgbClr val="1B2A41"/>
                </a:solidFill>
              </a:rPr>
              <a:t>Next steps: </a:t>
            </a:r>
            <a:pPr indent="0" marL="0">
              <a:spcAft>
                <a:spcPts val="800"/>
              </a:spcAft>
              <a:buNone/>
            </a:pPr>
            <a:r>
              <a:rPr lang="en-US" sz="1700" dirty="0">
                <a:solidFill>
                  <a:srgbClr val="1B2A41"/>
                </a:solidFill>
              </a:rPr>
              <a:t>purchasing of the five over-stocked products stops, cover for the lean ones rises, and a short pricing pilot precedes roll-out.</a:t>
            </a:r>
            <a:endParaRPr lang="en-US" sz="17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rmani Trade">
  <a:themeElements>
    <a:clrScheme name="Armani Trade">
      <a:dk1>
        <a:srgbClr val="1B2A41"/>
      </a:dk1>
      <a:lt1>
        <a:srgbClr val="FFFFFF"/>
      </a:lt1>
      <a:dk2>
        <a:srgbClr val="12263F"/>
      </a:dk2>
      <a:lt2>
        <a:srgbClr val="F2F6FB"/>
      </a:lt2>
      <a:accent1>
        <a:srgbClr val="2A78D6"/>
      </a:accent1>
      <a:accent2>
        <a:srgbClr val="EB6834"/>
      </a:accent2>
      <a:accent3>
        <a:srgbClr val="1BAF7A"/>
      </a:accent3>
      <a:accent4>
        <a:srgbClr val="8A8F98"/>
      </a:accent4>
      <a:accent5>
        <a:srgbClr val="EDA100"/>
      </a:accent5>
      <a:accent6>
        <a:srgbClr val="D03B3B"/>
      </a:accent6>
      <a:hlink>
        <a:srgbClr val="2A78D6"/>
      </a:hlink>
      <a:folHlink>
        <a:srgbClr val="8A8F98"/>
      </a:folHlink>
    </a:clrScheme>
    <a:fontScheme name="Armani Tra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Armani Middle East Trading - Data Science Technical Assessment</dc:title>
  <dc:subject>PptxGenJS Presentation</dc:subject>
  <dc:creator>Hamidreza Nademi</dc:creator>
  <cp:lastModifiedBy>Hamidreza Nademi</cp:lastModifiedBy>
  <cp:revision>1</cp:revision>
  <dcterms:created xsi:type="dcterms:W3CDTF">2026-10-06T20:25:14Z</dcterms:created>
  <dcterms:modified xsi:type="dcterms:W3CDTF">2026-10-06T20:25:14Z</dcterms:modified>
</cp:coreProperties>
</file>