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27cc3f5c-0f15-2640-651a-dd9c68eebca2}">
          <p14:sldIdLst>
            <p14:sldId id="256"/>
            <p14:sldId id="257"/>
          </p14:sldIdLst>
        </p14:section>
        <p14:section name="Part 1 - Data" id="{77cfc829-d560-5d4b-a574-2d5203a42683}">
          <p14:sldIdLst>
            <p14:sldId id="258"/>
            <p14:sldId id="259"/>
          </p14:sldIdLst>
        </p14:section>
        <p14:section name="Part 2 - Forecast" id="{b1160e3a-a1c9-acd6-5af4-254941239145}">
          <p14:sldIdLst>
            <p14:sldId id="260"/>
            <p14:sldId id="261"/>
            <p14:sldId id="262"/>
            <p14:sldId id="263"/>
            <p14:sldId id="264"/>
            <p14:sldId id="265"/>
            <p14:sldId id="266"/>
          </p14:sldIdLst>
        </p14:section>
        <p14:section name="Part 3 - Dashboard" id="{06d92423-c25e-92c5-0eec-789880a1a2ff}">
          <p14:sldIdLst>
            <p14:sldId id="267"/>
            <p14:sldId id="268"/>
          </p14:sldIdLst>
        </p14:section>
        <p14:section name="Part 4 - Pricing" id="{3eea8f8a-4369-11b0-6d0c-279de422e2f7}">
          <p14:sldIdLst>
            <p14:sldId id="269"/>
            <p14:sldId id="270"/>
            <p14:sldId id="271"/>
            <p14:sldId id="272"/>
            <p14:sldId id="273"/>
            <p14:sldId id="274"/>
          </p14:sldIdLst>
        </p14:section>
        <p14:section name="Wrap-up" id="{f6240464-19e8-5d86-d3b3-c4b4152ad57c}">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What the learner relies on (share of importance)</a:t>
            </a:r>
          </a:p>
        </c:rich>
      </c:tx>
      <c:layout/>
      <c:overlay val="0"/>
    </c:title>
    <c:autoTitleDeleted val="0"/>
    <c:plotArea>
      <c:layout/>
      <c:barChart>
        <c:barDir val="bar"/>
        <c:grouping val="clustered"/>
        <c:varyColors val="0"/>
        <c:ser>
          <c:idx val="0"/>
          <c:order val="0"/>
          <c:tx>
            <c:strRef>
              <c:f>Sheet1!$B$1</c:f>
              <c:strCache>
                <c:ptCount val="1"/>
                <c:pt idx="0">
                  <c:v>Gain %</c:v>
                </c:pt>
              </c:strCache>
            </c:strRef>
          </c:tx>
          <c:spPr>
            <a:solidFill>
              <a:srgbClr val="2A78D6"/>
            </a:solidFill>
            <a:effectLst/>
          </c:spPr>
          <c:invertIfNegative val="0"/>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of year</c:v>
                  </c:pt>
                  <c:pt idx="1">
                    <c:v>Season (sin 1)</c:v>
                  </c:pt>
                  <c:pt idx="2">
                    <c:v>Last year, neighbours</c:v>
                  </c:pt>
                  <c:pt idx="3">
                    <c:v>Season (cos 2)</c:v>
                  </c:pt>
                  <c:pt idx="4">
                    <c:v>Last year, same week</c:v>
                  </c:pt>
                  <c:pt idx="5">
                    <c:v>Season (sin 3)</c:v>
                  </c:pt>
                </c:lvl>
              </c:multiLvlStrCache>
            </c:multiLvlStrRef>
          </c:cat>
          <c:val>
            <c:numRef>
              <c:f>Sheet1!$B$2:$B$7</c:f>
              <c:numCache>
                <c:formatCode>General</c:formatCode>
                <c:ptCount val="6"/>
                <c:pt idx="0">
                  <c:v>45.6</c:v>
                </c:pt>
                <c:pt idx="1">
                  <c:v>31.9</c:v>
                </c:pt>
                <c:pt idx="2">
                  <c:v>10.7</c:v>
                </c:pt>
                <c:pt idx="3">
                  <c:v>6.8</c:v>
                </c:pt>
                <c:pt idx="4">
                  <c:v>2.9</c:v>
                </c:pt>
                <c:pt idx="5">
                  <c:v>1.7</c:v>
                </c:pt>
              </c:numCache>
            </c:numRef>
          </c:val>
        </c:ser>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Winner's error in each test: stable between 4.3% and 5.1%</a:t>
            </a:r>
          </a:p>
        </c:rich>
      </c:tx>
      <c:layout/>
      <c:overlay val="0"/>
    </c:title>
    <c:autoTitleDeleted val="0"/>
    <c:plotArea>
      <c:layout/>
      <c:barChart>
        <c:barDir val="col"/>
        <c:grouping val="clustered"/>
        <c:varyColors val="0"/>
        <c:ser>
          <c:idx val="0"/>
          <c:order val="0"/>
          <c:tx>
            <c:strRef>
              <c:f>Sheet1!$B$1</c:f>
              <c:strCache>
                <c:ptCount val="1"/>
                <c:pt idx="0">
                  <c:v>WAPE %</c:v>
                </c:pt>
              </c:strCache>
            </c:strRef>
          </c:tx>
          <c:spPr>
            <a:solidFill>
              <a:srgbClr val="EB6834"/>
            </a:solidFill>
            <a:effectLst/>
          </c:spPr>
          <c:invertIfNegative val="0"/>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Test 1 (weeks 157-182)</c:v>
                  </c:pt>
                  <c:pt idx="1">
                    <c:v>Test 2 (183-208)</c:v>
                  </c:pt>
                  <c:pt idx="2">
                    <c:v>Test 3 (209-234)</c:v>
                  </c:pt>
                  <c:pt idx="3">
                    <c:v>Test 4 (235-260)</c:v>
                  </c:pt>
                </c:lvl>
              </c:multiLvlStrCache>
            </c:multiLvlStrRef>
          </c:cat>
          <c:val>
            <c:numRef>
              <c:f>Sheet1!$B$2:$B$5</c:f>
              <c:numCache>
                <c:formatCode>General</c:formatCode>
                <c:ptCount val="4"/>
                <c:pt idx="0">
                  <c:v>4.32</c:v>
                </c:pt>
                <c:pt idx="1">
                  <c:v>5.05</c:v>
                </c:pt>
                <c:pt idx="2">
                  <c:v>4.31</c:v>
                </c:pt>
                <c:pt idx="3">
                  <c:v>4.61</c:v>
                </c:pt>
              </c:numCache>
            </c:numRef>
          </c:val>
        </c:ser>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demand</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Sheet1!$B$2:$B$79</c:f>
              <c:numCache>
                <c:formatCode>General</c:formatCode>
                <c:ptCount val="78"/>
                <c:pt idx="0">
                  <c:v>2773.05</c:v>
                </c:pt>
                <c:pt idx="1">
                  <c:v>2539.65</c:v>
                </c:pt>
                <c:pt idx="2">
                  <c:v>2467.52</c:v>
                </c:pt>
                <c:pt idx="3">
                  <c:v>2444.47</c:v>
                </c:pt>
                <c:pt idx="4">
                  <c:v>2491.27</c:v>
                </c:pt>
                <c:pt idx="5">
                  <c:v>2221.21</c:v>
                </c:pt>
                <c:pt idx="6">
                  <c:v>2102.43</c:v>
                </c:pt>
                <c:pt idx="7">
                  <c:v>2010.97</c:v>
                </c:pt>
                <c:pt idx="8">
                  <c:v>1906.28</c:v>
                </c:pt>
                <c:pt idx="9">
                  <c:v>2216.36</c:v>
                </c:pt>
                <c:pt idx="10">
                  <c:v>2067.59</c:v>
                </c:pt>
                <c:pt idx="11">
                  <c:v>1793</c:v>
                </c:pt>
                <c:pt idx="12">
                  <c:v>2072.64</c:v>
                </c:pt>
                <c:pt idx="13">
                  <c:v>2082.26</c:v>
                </c:pt>
                <c:pt idx="14">
                  <c:v>2187</c:v>
                </c:pt>
                <c:pt idx="15">
                  <c:v>2004</c:v>
                </c:pt>
                <c:pt idx="16">
                  <c:v>1910.47</c:v>
                </c:pt>
                <c:pt idx="17">
                  <c:v>2165.74</c:v>
                </c:pt>
                <c:pt idx="18">
                  <c:v>2109.6</c:v>
                </c:pt>
                <c:pt idx="19">
                  <c:v>2231.37</c:v>
                </c:pt>
                <c:pt idx="20">
                  <c:v>2338.17</c:v>
                </c:pt>
                <c:pt idx="21">
                  <c:v>2246.04</c:v>
                </c:pt>
                <c:pt idx="22">
                  <c:v>2642.47</c:v>
                </c:pt>
                <c:pt idx="23">
                  <c:v>2556.84</c:v>
                </c:pt>
                <c:pt idx="24">
                  <c:v>2526.51</c:v>
                </c:pt>
                <c:pt idx="25">
                  <c:v>2767.88</c:v>
                </c:pt>
                <c:pt idx="26">
                  <c:v>2987.79</c:v>
                </c:pt>
                <c:pt idx="27">
                  <c:v>2824.7</c:v>
                </c:pt>
                <c:pt idx="28">
                  <c:v>2997.1</c:v>
                </c:pt>
                <c:pt idx="29">
                  <c:v>2988.17</c:v>
                </c:pt>
                <c:pt idx="30">
                  <c:v>2985.1</c:v>
                </c:pt>
                <c:pt idx="31">
                  <c:v>3459.95</c:v>
                </c:pt>
                <c:pt idx="32">
                  <c:v>3283.68</c:v>
                </c:pt>
                <c:pt idx="33">
                  <c:v>3720.21</c:v>
                </c:pt>
                <c:pt idx="34">
                  <c:v>3416.33</c:v>
                </c:pt>
                <c:pt idx="35">
                  <c:v>3373.53</c:v>
                </c:pt>
                <c:pt idx="36">
                  <c:v>3549.28</c:v>
                </c:pt>
                <c:pt idx="37">
                  <c:v>3663.59</c:v>
                </c:pt>
                <c:pt idx="38">
                  <c:v>3564.82</c:v>
                </c:pt>
                <c:pt idx="39">
                  <c:v>3535.9</c:v>
                </c:pt>
                <c:pt idx="40">
                  <c:v>3481.44</c:v>
                </c:pt>
                <c:pt idx="41">
                  <c:v>3544.28</c:v>
                </c:pt>
                <c:pt idx="42">
                  <c:v>3346.36</c:v>
                </c:pt>
                <c:pt idx="43">
                  <c:v>3456.81</c:v>
                </c:pt>
                <c:pt idx="44">
                  <c:v>3314.66</c:v>
                </c:pt>
                <c:pt idx="45">
                  <c:v>3259.53</c:v>
                </c:pt>
                <c:pt idx="46">
                  <c:v>3449.33</c:v>
                </c:pt>
                <c:pt idx="47">
                  <c:v>3100.23</c:v>
                </c:pt>
                <c:pt idx="48">
                  <c:v>2984.96</c:v>
                </c:pt>
                <c:pt idx="49">
                  <c:v>2944.51</c:v>
                </c:pt>
                <c:pt idx="50">
                  <c:v>2856.24</c:v>
                </c:pt>
                <c:pt idx="51">
                  <c:v>2565.47</c:v>
                </c:pt>
                <c:pt idx="52">
                  <c:v>2504.99</c:v>
                </c:pt>
                <c:pt idx="53">
                  <c:v>2592.73</c:v>
                </c:pt>
                <c:pt idx="54">
                  <c:v>2576.32</c:v>
                </c:pt>
                <c:pt idx="55">
                  <c:v>2396</c:v>
                </c:pt>
                <c:pt idx="56">
                  <c:v>2604</c:v>
                </c:pt>
                <c:pt idx="57">
                  <c:v>2314.31</c:v>
                </c:pt>
                <c:pt idx="58">
                  <c:v>2412.67</c:v>
                </c:pt>
                <c:pt idx="59">
                  <c:v>2326</c:v>
                </c:pt>
                <c:pt idx="60">
                  <c:v>2217</c:v>
                </c:pt>
                <c:pt idx="61">
                  <c:v>2291</c:v>
                </c:pt>
                <c:pt idx="62">
                  <c:v>2014</c:v>
                </c:pt>
                <c:pt idx="63">
                  <c:v>1908</c:v>
                </c:pt>
                <c:pt idx="64">
                  <c:v>2203.17</c:v>
                </c:pt>
                <c:pt idx="65">
                  <c:v>1851</c:v>
                </c:pt>
                <c:pt idx="66">
                  <c:v>2206</c:v>
                </c:pt>
                <c:pt idx="67">
                  <c:v>2150</c:v>
                </c:pt>
                <c:pt idx="68">
                  <c:v>2265</c:v>
                </c:pt>
                <c:pt idx="69">
                  <c:v>2319</c:v>
                </c:pt>
                <c:pt idx="70">
                  <c:v>2420.11</c:v>
                </c:pt>
                <c:pt idx="71">
                  <c:v>2305.11</c:v>
                </c:pt>
                <c:pt idx="72">
                  <c:v>2252.11</c:v>
                </c:pt>
                <c:pt idx="73">
                  <c:v>2615.9</c:v>
                </c:pt>
                <c:pt idx="74">
                  <c:v>2605.46</c:v>
                </c:pt>
                <c:pt idx="75">
                  <c:v>2679.19</c:v>
                </c:pt>
                <c:pt idx="76">
                  <c:v>2426.58</c:v>
                </c:pt>
                <c:pt idx="77">
                  <c:v>3000.44</c:v>
                </c:pt>
              </c:numCache>
            </c:numRef>
          </c:val>
          <c:smooth val="0"/>
        </c:ser>
        <c:ser>
          <c:idx val="1"/>
          <c:order val="1"/>
          <c:tx>
            <c:strRef>
              <c:f>Sheet1!$C$1</c:f>
              <c:strCache>
                <c:ptCount val="1"/>
                <c:pt idx="0">
                  <c:v>Forecast</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Sheet1!$C$2:$C$79</c:f>
              <c:numCache>
                <c:formatCode>General</c:formatCode>
                <c:ptCount val="7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2687.0532052078806</c:v>
                </c:pt>
                <c:pt idx="53">
                  <c:v>2605.609147869284</c:v>
                </c:pt>
                <c:pt idx="54">
                  <c:v>2526.9994240880087</c:v>
                </c:pt>
                <c:pt idx="55">
                  <c:v>2452.401401440831</c:v>
                </c:pt>
                <c:pt idx="56">
                  <c:v>2382.8912479742767</c:v>
                </c:pt>
                <c:pt idx="57">
                  <c:v>2319.428479197983</c:v>
                </c:pt>
                <c:pt idx="58">
                  <c:v>2262.847587929719</c:v>
                </c:pt>
                <c:pt idx="59">
                  <c:v>2213.8561973292776</c:v>
                </c:pt>
                <c:pt idx="60">
                  <c:v>2173.038546966784</c:v>
                </c:pt>
                <c:pt idx="61">
                  <c:v>2140.862700824322</c:v>
                </c:pt>
                <c:pt idx="62">
                  <c:v>2117.6896717829623</c:v>
                </c:pt>
                <c:pt idx="63">
                  <c:v>2103.782673470135</c:v>
                </c:pt>
                <c:pt idx="64">
                  <c:v>2099.314901117175</c:v>
                </c:pt>
                <c:pt idx="65">
                  <c:v>2104.374564858116</c:v>
                </c:pt>
                <c:pt idx="66">
                  <c:v>2118.966310960878</c:v>
                </c:pt>
                <c:pt idx="67">
                  <c:v>2143.0086357751265</c:v>
                </c:pt>
                <c:pt idx="68">
                  <c:v>2176.327398107919</c:v>
                </c:pt>
                <c:pt idx="69">
                  <c:v>2218.6460458412143</c:v>
                </c:pt>
                <c:pt idx="70">
                  <c:v>2269.5736662124546</c:v>
                </c:pt>
                <c:pt idx="71">
                  <c:v>2328.5924114857735</c:v>
                </c:pt>
                <c:pt idx="72">
                  <c:v>2395.046195863507</c:v>
                </c:pt>
                <c:pt idx="73">
                  <c:v>2468.1327486050263</c:v>
                </c:pt>
                <c:pt idx="74">
                  <c:v>2546.9010839939438</c:v>
                </c:pt>
                <c:pt idx="75">
                  <c:v>2630.2561649075537</c:v>
                </c:pt>
                <c:pt idx="76">
                  <c:v>2716.971976417431</c:v>
                </c:pt>
                <c:pt idx="77">
                  <c:v>2805.7134167498557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0"/>
                </a:solidFill>
                <a:latin typeface="Calibri"/>
              </a:defRPr>
            </a:pPr>
            <a:endParaRPr lang="en-US"/>
          </a:p>
        </c:txPr>
        <c:crossAx val="2094734552"/>
        <c:crosses val="autoZero"/>
        <c:auto val="1"/>
        <c:lblAlgn val="ctr"/>
        <c:noMultiLvlLbl val="1"/>
        <c:tickLblSkip val="13"/>
      </c:catAx>
      <c:valAx>
        <c:axId val="2094734552"/>
        <c:scaling>
          <c:orientation val="minMax"/>
          <c:max val="4000"/>
          <c:min val="1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4"/>
        <c:crosses val="autoZero"/>
        <c:crossBetween val="between"/>
        <c:majorUnit val="1000"/>
      </c:valAx>
      <c:spPr>
        <a:noFill/>
        <a:ln>
          <a:noFill/>
        </a:ln>
        <a:effectLst/>
      </c:spPr>
    </c:plotArea>
    <c:legend>
      <c:legendPos val="t"/>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Average miss (WAPE, %) by model, lower is better</a:t>
            </a:r>
          </a:p>
        </c:rich>
      </c:tx>
      <c:layout/>
      <c:overlay val="0"/>
    </c:title>
    <c:autoTitleDeleted val="0"/>
    <c:plotArea>
      <c:layout/>
      <c:barChart>
        <c:barDir val="bar"/>
        <c:grouping val="clustered"/>
        <c:varyColors val="0"/>
        <c:ser>
          <c:idx val="0"/>
          <c:order val="0"/>
          <c:tx>
            <c:strRef>
              <c:f>Sheet1!$B$1</c:f>
              <c:strCache>
                <c:ptCount val="1"/>
                <c:pt idx="0">
                  <c:v>All test weeks</c:v>
                </c:pt>
              </c:strCache>
            </c:strRef>
          </c:tx>
          <c:spPr>
            <a:solidFill>
              <a:srgbClr val="2A78D6"/>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ser>
          <c:idx val="1"/>
          <c:order val="1"/>
          <c:tx>
            <c:strRef>
              <c:f>Sheet1!$C$1</c:f>
              <c:strCache>
                <c:ptCount val="1"/>
                <c:pt idx="0">
                  <c:v>Unconstrained weeks only</c:v>
                </c:pt>
              </c:strCache>
            </c:strRef>
          </c:tx>
          <c:spPr>
            <a:solidFill>
              <a:srgbClr val="1BAF7A"/>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Sheet1!$C$2:$C$13</c:f>
              <c:numCache>
                <c:formatCode>General</c:formatCode>
                <c:ptCount val="12"/>
                <c:pt idx="0">
                  <c:v>6.64</c:v>
                </c:pt>
                <c:pt idx="1">
                  <c:v>6.63</c:v>
                </c:pt>
                <c:pt idx="2">
                  <c:v>6.63</c:v>
                </c:pt>
                <c:pt idx="3">
                  <c:v>6.74</c:v>
                </c:pt>
                <c:pt idx="4">
                  <c:v>6.7</c:v>
                </c:pt>
                <c:pt idx="5">
                  <c:v>6.62</c:v>
                </c:pt>
                <c:pt idx="6">
                  <c:v>6.8</c:v>
                </c:pt>
                <c:pt idx="7">
                  <c:v>6.81</c:v>
                </c:pt>
                <c:pt idx="8">
                  <c:v>7.03</c:v>
                </c:pt>
                <c:pt idx="9">
                  <c:v>6.81</c:v>
                </c:pt>
                <c:pt idx="10">
                  <c:v>7.36</c:v>
                </c:pt>
                <c:pt idx="11">
                  <c:v>8.81</c:v>
                </c:pt>
              </c:numCache>
            </c:numRef>
          </c:val>
        </c:ser>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Risk score by category (scenario inputs)</a:t>
            </a:r>
          </a:p>
        </c:rich>
      </c:tx>
      <c:layout/>
      <c:overlay val="0"/>
    </c:title>
    <c:autoTitleDeleted val="0"/>
    <c:plotArea>
      <c:layout/>
      <c:barChart>
        <c:barDir val="bar"/>
        <c:grouping val="clustered"/>
        <c:varyColors val="0"/>
        <c:ser>
          <c:idx val="0"/>
          <c:order val="0"/>
          <c:tx>
            <c:strRef>
              <c:f>Sheet1!$B$1</c:f>
              <c:strCache>
                <c:ptCount val="1"/>
                <c:pt idx="0">
                  <c:v>Risk score</c:v>
                </c:pt>
              </c:strCache>
            </c:strRef>
          </c:tx>
          <c:spPr>
            <a:solidFill>
              <a:srgbClr val="EC835A"/>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EC835A"/>
              </a:solidFill>
              <a:effectLst/>
            </c:spPr>
          </c:dPt>
          <c:dPt>
            <c:idx val="1"/>
            <c:invertIfNegative val="0"/>
            <c:bubble3D val="0"/>
            <c:spPr>
              <a:solidFill>
                <a:srgbClr val="FAB219"/>
              </a:solidFill>
              <a:effectLst/>
            </c:spPr>
          </c:dPt>
          <c:dPt>
            <c:idx val="2"/>
            <c:invertIfNegative val="0"/>
            <c:bubble3D val="0"/>
            <c:spPr>
              <a:solidFill>
                <a:srgbClr val="FAB219"/>
              </a:solidFill>
              <a:effectLst/>
            </c:spPr>
          </c:dPt>
          <c:dPt>
            <c:idx val="3"/>
            <c:invertIfNegative val="0"/>
            <c:bubble3D val="0"/>
            <c:spPr>
              <a:solidFill>
                <a:srgbClr val="7FB800"/>
              </a:solidFill>
              <a:effectLst/>
            </c:spPr>
          </c:dPt>
          <c:dPt>
            <c:idx val="4"/>
            <c:invertIfNegative val="0"/>
            <c:bubble3D val="0"/>
            <c:spPr>
              <a:solidFill>
                <a:srgbClr val="7FB800"/>
              </a:solidFill>
              <a:effectLst/>
            </c:spPr>
          </c:dPt>
          <c:dPt>
            <c:idx val="5"/>
            <c:invertIfNegative val="0"/>
            <c:bubble3D val="0"/>
            <c:spPr>
              <a:solidFill>
                <a:srgbClr val="7FB800"/>
              </a:solidFill>
              <a:effectLst/>
            </c:spPr>
          </c:dPt>
          <c:dPt>
            <c:idx val="6"/>
            <c:invertIfNegative val="0"/>
            <c:bubble3D val="0"/>
            <c:spPr>
              <a:solidFill>
                <a:srgbClr val="7FB800"/>
              </a:solidFill>
              <a:effectLst/>
            </c:spPr>
          </c:dPt>
          <c:dPt>
            <c:idx val="7"/>
            <c:invertIfNegative val="0"/>
            <c:bubble3D val="0"/>
            <c:spPr>
              <a:solidFill>
                <a:srgbClr val="7FB800"/>
              </a:solidFill>
              <a:effectLst/>
            </c:spPr>
          </c:dPt>
          <c:cat>
            <c:multiLvlStrRef>
              <c:f>Sheet1!$A$2:$A$9</c:f>
              <c:multiLvlStrCache>
                <c:ptCount val="8"/>
                <c:lvl>
                  <c:pt idx="0">
                    <c:v>Beverages &amp; Cocoa</c:v>
                  </c:pt>
                  <c:pt idx="1">
                    <c:v>Spices &amp; Seasonings</c:v>
                  </c:pt>
                  <c:pt idx="2">
                    <c:v>Cereals &amp; Grains</c:v>
                  </c:pt>
                  <c:pt idx="3">
                    <c:v>Pulses</c:v>
                  </c:pt>
                  <c:pt idx="4">
                    <c:v>Canned Foods</c:v>
                  </c:pt>
                  <c:pt idx="5">
                    <c:v>Oils &amp; Fats</c:v>
                  </c:pt>
                  <c:pt idx="6">
                    <c:v>Sugar</c:v>
                  </c:pt>
                  <c:pt idx="7">
                    <c:v>Dairy</c:v>
                  </c:pt>
                </c:lvl>
              </c:multiLvlStrCache>
            </c:multiLvlStrRef>
          </c:cat>
          <c:val>
            <c:numRef>
              <c:f>Sheet1!$B$2:$B$9</c:f>
              <c:numCache>
                <c:formatCode>General</c:formatCode>
                <c:ptCount val="8"/>
                <c:pt idx="0">
                  <c:v>53.2</c:v>
                </c:pt>
                <c:pt idx="1">
                  <c:v>40.9</c:v>
                </c:pt>
                <c:pt idx="2">
                  <c:v>39.1</c:v>
                </c:pt>
                <c:pt idx="3">
                  <c:v>32.7</c:v>
                </c:pt>
                <c:pt idx="4">
                  <c:v>28.9</c:v>
                </c:pt>
                <c:pt idx="5">
                  <c:v>27.3</c:v>
                </c:pt>
                <c:pt idx="6">
                  <c:v>24.9</c:v>
                </c:pt>
                <c:pt idx="7">
                  <c:v>21.4</c:v>
                </c:pt>
              </c:numCache>
            </c:numRef>
          </c:val>
        </c:ser>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Price rise (%) by share of demand that cannot be served</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forecast demand (units per week)</a:t>
            </a:r>
          </a:p>
        </c:rich>
      </c:tx>
      <c:layout/>
      <c:overlay val="0"/>
    </c:title>
    <c:autoTitleDeleted val="0"/>
    <c:plotArea>
      <c:layout/>
      <c:lineChart>
        <c:varyColors val="0"/>
        <c:ser>
          <c:idx val="0"/>
          <c:order val="0"/>
          <c:tx>
            <c:strRef>
              <c:f>Sheet1!$B$1</c:f>
              <c:strCache>
                <c:ptCount val="1"/>
                <c:pt idx="0">
                  <c:v>Forecast demand</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2899</c:v>
                </c:pt>
                <c:pt idx="1">
                  <c:v>2984</c:v>
                </c:pt>
                <c:pt idx="2">
                  <c:v>3067</c:v>
                </c:pt>
                <c:pt idx="3">
                  <c:v>3147</c:v>
                </c:pt>
                <c:pt idx="4">
                  <c:v>3223</c:v>
                </c:pt>
                <c:pt idx="5">
                  <c:v>3294</c:v>
                </c:pt>
                <c:pt idx="6">
                  <c:v>3358</c:v>
                </c:pt>
                <c:pt idx="7">
                  <c:v>3416</c:v>
                </c:pt>
                <c:pt idx="8">
                  <c:v>3466</c:v>
                </c:pt>
                <c:pt idx="9">
                  <c:v>3506</c:v>
                </c:pt>
                <c:pt idx="10">
                  <c:v>3537</c:v>
                </c:pt>
                <c:pt idx="11">
                  <c:v>3557</c:v>
                </c:pt>
                <c:pt idx="12">
                  <c:v>3566</c:v>
                </c:pt>
                <c:pt idx="13">
                  <c:v>3563</c:v>
                </c:pt>
                <c:pt idx="14">
                  <c:v>3548</c:v>
                </c:pt>
                <c:pt idx="15">
                  <c:v>3521</c:v>
                </c:pt>
                <c:pt idx="16">
                  <c:v>3484</c:v>
                </c:pt>
                <c:pt idx="17">
                  <c:v>3437</c:v>
                </c:pt>
                <c:pt idx="18">
                  <c:v>3380</c:v>
                </c:pt>
                <c:pt idx="19">
                  <c:v>3317</c:v>
                </c:pt>
                <c:pt idx="20">
                  <c:v>3246</c:v>
                </c:pt>
                <c:pt idx="21">
                  <c:v>3171</c:v>
                </c:pt>
                <c:pt idx="22">
                  <c:v>3093</c:v>
                </c:pt>
                <c:pt idx="23">
                  <c:v>3012</c:v>
                </c:pt>
                <c:pt idx="24">
                  <c:v>2929</c:v>
                </c:pt>
                <c:pt idx="25">
                  <c:v>2847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4000"/>
          <c:min val="2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recommended price ($ per unit)</a:t>
            </a:r>
          </a:p>
        </c:rich>
      </c:tx>
      <c:layout/>
      <c:overlay val="0"/>
    </c:title>
    <c:autoTitleDeleted val="0"/>
    <c:plotArea>
      <c:layout/>
      <c:lineChart>
        <c:varyColors val="0"/>
        <c:ser>
          <c:idx val="0"/>
          <c:order val="0"/>
          <c:tx>
            <c:strRef>
              <c:f>Sheet1!$B$1</c:f>
              <c:strCache>
                <c:ptCount val="1"/>
                <c:pt idx="0">
                  <c:v>Recommended price</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7.67</c:v>
                </c:pt>
                <c:pt idx="1">
                  <c:v>7.857</c:v>
                </c:pt>
                <c:pt idx="2">
                  <c:v>7.894</c:v>
                </c:pt>
                <c:pt idx="3">
                  <c:v>8.006</c:v>
                </c:pt>
                <c:pt idx="4">
                  <c:v>8.043</c:v>
                </c:pt>
                <c:pt idx="5">
                  <c:v>8.043</c:v>
                </c:pt>
                <c:pt idx="6">
                  <c:v>8.043</c:v>
                </c:pt>
                <c:pt idx="7">
                  <c:v>8.043</c:v>
                </c:pt>
                <c:pt idx="8">
                  <c:v>8.043</c:v>
                </c:pt>
                <c:pt idx="9">
                  <c:v>8.043</c:v>
                </c:pt>
                <c:pt idx="10">
                  <c:v>8.043</c:v>
                </c:pt>
                <c:pt idx="11">
                  <c:v>8.043</c:v>
                </c:pt>
                <c:pt idx="12">
                  <c:v>8.043</c:v>
                </c:pt>
                <c:pt idx="13">
                  <c:v>8.043</c:v>
                </c:pt>
                <c:pt idx="14">
                  <c:v>8.043</c:v>
                </c:pt>
                <c:pt idx="15">
                  <c:v>8.043</c:v>
                </c:pt>
                <c:pt idx="16">
                  <c:v>8.043</c:v>
                </c:pt>
                <c:pt idx="17">
                  <c:v>8.043</c:v>
                </c:pt>
                <c:pt idx="18">
                  <c:v>8.043</c:v>
                </c:pt>
                <c:pt idx="19">
                  <c:v>8.043</c:v>
                </c:pt>
                <c:pt idx="20">
                  <c:v>8.043</c:v>
                </c:pt>
                <c:pt idx="21">
                  <c:v>8.043</c:v>
                </c:pt>
                <c:pt idx="22">
                  <c:v>7.894</c:v>
                </c:pt>
                <c:pt idx="23">
                  <c:v>7.875</c:v>
                </c:pt>
                <c:pt idx="24">
                  <c:v>7.819</c:v>
                </c:pt>
                <c:pt idx="25">
                  <c:v>7.745</c:v>
                </c:pt>
              </c:numCache>
            </c:numRef>
          </c:val>
          <c:smooth val="0"/>
        </c:ser>
        <c:ser>
          <c:idx val="1"/>
          <c:order val="1"/>
          <c:tx>
            <c:strRef>
              <c:f>Sheet1!$C$1</c:f>
              <c:strCache>
                <c:ptCount val="1"/>
                <c:pt idx="0">
                  <c:v>Today's price</c:v>
                </c:pt>
              </c:strCache>
            </c:strRef>
          </c:tx>
          <c:spPr>
            <a:solidFill>
              <a:srgbClr val="8A8F98"/>
            </a:solidFill>
            <a:ln w="3810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Sheet1!$C$2:$C$27</c:f>
              <c:numCache>
                <c:formatCode>General</c:formatCode>
                <c:ptCount val="26"/>
                <c:pt idx="0">
                  <c:v>7.447</c:v>
                </c:pt>
                <c:pt idx="1">
                  <c:v>7.447</c:v>
                </c:pt>
                <c:pt idx="2">
                  <c:v>7.447</c:v>
                </c:pt>
                <c:pt idx="3">
                  <c:v>7.447</c:v>
                </c:pt>
                <c:pt idx="4">
                  <c:v>7.447</c:v>
                </c:pt>
                <c:pt idx="5">
                  <c:v>7.447</c:v>
                </c:pt>
                <c:pt idx="6">
                  <c:v>7.447</c:v>
                </c:pt>
                <c:pt idx="7">
                  <c:v>7.447</c:v>
                </c:pt>
                <c:pt idx="8">
                  <c:v>7.447</c:v>
                </c:pt>
                <c:pt idx="9">
                  <c:v>7.447</c:v>
                </c:pt>
                <c:pt idx="10">
                  <c:v>7.447</c:v>
                </c:pt>
                <c:pt idx="11">
                  <c:v>7.447</c:v>
                </c:pt>
                <c:pt idx="12">
                  <c:v>7.447</c:v>
                </c:pt>
                <c:pt idx="13">
                  <c:v>7.447</c:v>
                </c:pt>
                <c:pt idx="14">
                  <c:v>7.447</c:v>
                </c:pt>
                <c:pt idx="15">
                  <c:v>7.447</c:v>
                </c:pt>
                <c:pt idx="16">
                  <c:v>7.447</c:v>
                </c:pt>
                <c:pt idx="17">
                  <c:v>7.447</c:v>
                </c:pt>
                <c:pt idx="18">
                  <c:v>7.447</c:v>
                </c:pt>
                <c:pt idx="19">
                  <c:v>7.447</c:v>
                </c:pt>
                <c:pt idx="20">
                  <c:v>7.447</c:v>
                </c:pt>
                <c:pt idx="21">
                  <c:v>7.447</c:v>
                </c:pt>
                <c:pt idx="22">
                  <c:v>7.447</c:v>
                </c:pt>
                <c:pt idx="23">
                  <c:v>7.447</c:v>
                </c:pt>
                <c:pt idx="24">
                  <c:v>7.447</c:v>
                </c:pt>
                <c:pt idx="25">
                  <c:v>7.447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8.5"/>
          <c:min val="7"/>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Test 2: 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about 30 seconds]
Good morning, and thank you for the opportunity. My name is Hamidreza Nademi, and this is my technical assessment for the Data Scientist position at Armani Middle East Trading.
Before I start, let me tell you how I would like you to listen to this presentation. The final numbers matter, but what I care about even more is how I got there: what I looked at first, what surprised me, which decisions I made, and why I believe each decision is right. So for every part I will follow the same pattern: the problem, what the data showed, what I built, how I proved it works, and which assumptions I had to make.
The solution has four parts: a clean database, a demand forecast, a KPI dashboard, and a dynamic pricing and risk strategy. They are not four separate pieces of work. They form one chain, and I will show you that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brief and my approach, about 2 minutes]
The assignment names three business problems: demand is volatile, prices are static, and credit and liquidity risk has to be balanced against growth. I treated them as one chain, because they depend on each other. You cannot forecast demand if you do not trust the data. You cannot set prices if you do not know the demand. And a dashboard is what makes the forecast and the prices usable.
So for each part I did not start from a technique. I started from a question. For the data: can I trust every number, and what does each column really measure? For the forecast: what exactly should I forecast, and how do I prove a model works? For the dashboard: what would a decision-maker do with this on Monday morning? For pricing: where does price really earn money, and what could go wrong?
Four habits guided every decision, and you will see them again and again. First, diagnose before modelling: understand what the data measures before choosing a method. Second, test on unseen data: every choice is judged on weeks the model has not seen. Third, simple unless proven otherwise: a complex model has to beat a plain rule to earn its place. Fourth, state and stress assumptions: where data is missing I assume openly and I show the range of outcomes instead of one optimistic number.
Keep these four habits in mind. They explain almost every decision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Part 1: the ETL pipeline, about 2 minutes]
Part 1 is data engineering. The design goal was simple: every number in the later parts must be trustworthy, and every correction must be traceable. The pipeline has five stages.
One, extract and check. The file and its schema are verified, and an untouched raw copy is stored in a staging table. Nothing is ever lost, so any later question can be answered by going back to the original.
Two, validate. Problems are typed exceptions. Fatal problems stop the load, and unusable rows go to a quarantine table together with the reason.
Three, clean. 39 exact duplicate rows were dropped, because a repeated week would double-count sales. Infinite growth values were set to NULL.
Four, recover and flag. 16 missing sales values were recovered as revenue divided by price. Unusual rows were flagged, not erased, because, as you will see, they turned out to contain information.
Five, load. A star schema is written in one transaction, with a run log, so the load is repeatable and auditable.
The chart shows the result: a data-quality index built from five dimensions rises from 79.7 to 99.7. The biggest gains are in derived fields, where only 37 percent of values were consistent, and in stock plausibility. And I did not just claim that the error handling works: I proved it with 15 tests on a deliberately corrupted copy of the file, and all 15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Data challenges, about 2.5 minutes]
This slide answers the question I expect you to ask: what data problems did you meet, and what did you do about them? There were nine, and for each one I chose a treatment with a reason. My rule was: fix what is provably wrong, flag what is merely unusual, and never delete information whose meaning I do not yet understand.
The first four are classic. 39 exact duplicates: dropped, because a repeat double-counts sales. 16 missing sales values: recovered as revenue divided by price, because revenue and price were intact. 606 missing legacy forecasts: kept empty and flagged, because filling them would invent a baseline. 897 infinite revenue-growth values, which come from dividing by a zero-revenue week: set to NULL and recomputed. Also, only 37 percent of the derived fields were consistent with their definitions, so revenue, profit, margin, growth and turnover were recomputed from clean inputs.
The next three are the interesting ones. 907 rows show zero stock but positive sales, which looks like corruption. It was not: sales in a week are limited by the previous row's inventory, so it was a misaligned column. Realigning it gave zero violations. Then 1,329 zero-sales weeks and large pile-ups at exactly 1,500 and 2,500 units. They look like errors, but they are stock caps. I flagged them and kept them, and as you will see on the next slide they became the key to the whole project. And 23 outliers were flagged, with a winsorised copy added, while the original stays untouched.
Finally, the file has no dates, no customers and no competitor prices. I used a synthetic calendar and labelled scenarios, and I say so everywhere they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What the data showed and how demand_est is computed, about 3 minutes]
This is the most important slide of the project, so let me go slowly. Start at the top: what the data showed. Sales in a week follow the previous row's stock, with a correlation of 0.85. All 1,329 stock-out weeks have zero sales. And in 2,813 more weeks the sales equal the stock exactly, with pile-ups at 1,500 and 2,500.
The conclusion: sales are not demand. Sales equal the minimum of demand and stock. In 53 percent of the weeks, stock limited what could be sold, so observed sales understate what customers wanted. If I forecast raw sales, I would be forecasting stock availability, and every later decision would be built on that mistake.
So the target I forecast is a reconstructed column called demand_est, computed differently for each week type, and here are real rows from the dataset, all for Barley. Left: an unconstrained week. Stock was enough, so sales are the demand: 2,201. Middle: a stock-limited week. Sales hit the stock level of 2,500, so demand is at least that. I take the larger of the sales and a blend of two estimates: 40 percent the company's legacy forecast, 60 percent my seasonal model. That gives 2,659, which is 6.4 percent above sales. Right: a stock-out week. Sales are zero because stock is zero, but the blend says customers wanted about 2,925 units.
Why 40 and 60? I measured it on weeks where the true demand is known: the blend is wrong by 5.0 percent, the legacy forecast by 7.9 and the model alone by 6.6, and the weight was fitted out-of-fold. The legacy forecast looked poor against raw sales, correlation 0.21, but on unconstrained weeks it is 0.97 correlated and unbiased. It was never a bad forecast; it was being compared with censored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Feature engineering, about 2.5 minutes]
Feature engineering is where much of the value of this project sits, and I built features in three layers, each with a purpose.
Layer A, in the ETL, answers the question: what does each sales number actually measure? The most important feature of the whole project is stock available for sales, which is the previous row's inventory. It turned an apparent data error into the explanation of the sales pattern. Together with the censoring status and the flags for stock-outs, caps, pile-ups and outliers, it tells every later step how much to trust a given row.
Layer B, in pre-processing, builds the target and the product descriptors: the reconstructed demand, the seasonal-model prediction, calendar fields from the synthetic dates, and the stock regime, found by k-means on stock-out rate, capped-week rate and stock cover.
Layer C, the model inputs. The winning structural model needs only three things: a product level, a trend and sine and cosine pairs of the week of the year. The machine-learning model gets a richer set: the horizon, the same week last year and its neighbours, 13, 26 and 52-week levels, and product codes, with the target expressed relative to the 52-week level.
How did I decide what to keep? By evidence. Week of year explains 78 to 86 percent of the demand variance, tested against a permutation null. Products share their yearly shape, with a correlation of 0.97. Price and cost have no calendar effect, and the price effect on demand is minus 0.017, not significant. And the importance chart shows the learner relies almost only on season and last year's pattern.
Two rules protect the features: only information known at the forecast origin is used, and the legacy forecast is never an input, only a helper in building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design, about 2.5 minutes]
Two questions here: what exactly is predicted, and why four tests instead of one train-test split.
The predicted column is demand_est, the units customers wanted, for 26 weeks ahead and 30 products, so 780 forecasts. The inputs are the past demand, the week of year and the product.
Now, why not a single split? Four reasons. First, one split gives one number, and with strong seasonality that number depends on which season happens to be in the test window. An easy season flatters a model, a hard one punishes it. Second, the origins I chose, weeks 156, 182, 208 and 234, make the test windows alternate between the first and the second half of the year, so every season is scored twice, peak and lull. Third, I do not use a random split, because shuffled weeks would leak neighbouring weeks and the seasonal pattern into training. Fourth, each test mimics the real task exactly: learn from the past, forecast the next 26 weeks. The final forecast works the same way.
The diagram shows it. Blue is training. Green is validation: inside every training window, the last 52 weeks are used to choose the model settings. Orange is the test, which never influences any setting.
This gives 4 times 26 times 30, so 3,120 test forecasts, and four error numbers, which also shows stability. The chart at the bottom shows the winner's error in each test: between 4.3 and 5.1 percent. A model that is good in one test and bad in another would show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Free parameters, about 2 minutes]
A free parameter is a setting that the model does not learn by itself and that somebody has to choose. How these are chosen is where many forecasting projects quietly cheat, so I want to be transparent.
The rule is in the box at the bottom: every setting was scored on validation windows inside the training weeks, never on the test weeks. Then the winner is refitted on all training weeks.
Row by row. For the demand reconstruction, the seasonal model's Fourier order and trend structure came from blocked five-fold cross-validation with the one-standard-error rule: order 2 with a shared trend. The blend weight, 0.40, comes from out-of-fold predictions.
For the winning structural model I searched Fourier orders 1 to 8 and a shared or per-product trend, 16 combinations, scoring two inner 26-week windows. The final fit selected order 3 with a shared trend.
Holt-Winters and SARIMAX were chosen by the AICc criterion, per product. LightGBM got 10 random configurations from a grid of leaves, learning rate, minimum leaf size, feature fraction and regularisation, with early stopping on a trailing validation block. Prophet got a grid over changepoint prior, Fourier order and mode, tuned on six sample products. And the walk-forward ensemble picks its top three only from earlier folds.
The point to remember: every competitor received the same careful tuning, so the comparison on the next slides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The winning model, about 3 minutes]
Here is the winner, and I want you to understand it, not just see its score. The idea is one line: the demand of a product in a week equals the product's level, times a growth trend, times a seasonal factor.
Each of the three parts was found in the data. The product level, because products differ five and a half times in size: from 555 units a week for Wheat to 3,054 for Tea. So every product needs its own size. The growth trend, because demand grew 2.8 percent a year, and a decomposition gives a trend strength of 0.92. The seasonal factor, because the week of the year explains 78 to 86 percent of the variance, and all 30 products follow the same curve with a correlation of 0.97. The peak is week 13, 25 percent above normal, and the quietest week is week 38, 25 percent below.
Technically the model works in logarithms, where the three parts simply add, and the season is written as sine and cosine pairs. With three pairs it has only 37 numbers to learn: 30 levels, one trend and 6 seasonal coefficients, from 7,800 observations. Because all products share the curve, there is very little room to over-fit. That is why it is hard to beat.
The example makes it tangible. Barley, first test week, week 235: level 2,579, times a trend of 1.057, times a season of 0.983 because week 27 is slightly quiet, times a tiny bias correction of 1.002, gives 2,687 units. The actual was 2,505. Over the 26 test weeks Barley is missed by 4.8 percent, all products by 4.6. The chart shows the forecast following the real demand closely, including the dip.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Model comparison, about 2.5 minutes]
Thirteen models competed in this tournament: simple rules of thumb, classic statistics, machine learning, ensembles, and my structural model. All used the same four tests and the same tuning discipline.
The chart shows each model's average miss, called WAPE, in blue for all test weeks, and in green for unconstrained weeks only. The unconstrained weeks are the ones where demand equals observed sales, so the score does not depend on my reconstruction at all. That is my protection against the criticism that I graded myself on my own target.
The winner has 4.57 percent on all weeks and 6.64 percent on unconstrained weeks. Compared with the best simple rule it is 13 percent better, and compared with last year's same week it is 34 percent better. A paired bootstrap confirms the gain is real.
Notice what does not happen. Machine learning does not win: LightGBM gets 4.78 and Prophet 4.76. And on unconstrained weeks the top models are practically tied, between 6.6 and 6.8 percent. This tells me that the structure of the problem matters, not the complexity of the model. A plain size-times-season-times-growth recipe is only 0.15 points behind the winner.
The honest number to quote is 6.6 percent, because it is measured where demand was observed directly. The 4.57 is lower because the reconstructed demand is smoother in the capped weeks. I would rather give you the conservative number myself than let you discover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The 26-week forecast, about 2.5 minutes]
This is the forecast for weeks 261 to 286. Total demand is about 2.0 million units, 2.8 percent above the same weeks a year earlier, with a likely range of 1.84 to 2.15 million. The range comes from the backtest errors, and I checked that it works: 80 percent of the actual outcomes fall inside it.
Now the dollar figures, because I want you to see exactly how they are built. First, the revenue potential of 64.6 million dollars. For every product-week I take the forecast demand and multiply by the product's last-13-week average price, then add all 780 product-weeks. That is the revenue if every unit demanded could be sold.
But future stock is unknown, so the next step is a simulation. For each product-week, the units sold are the minimum of demand and stock, where stock is drawn from that product's own last 104 weeks of stock history. The expected result is 1.09 million units, worth 35.8 million dollars. The difference, 28.7 million dollars or 44 percent, is demand that the historical stock levels would not serve.
Take Barley in week 1: 2,899 units times 7.447 dollars is 21,589 dollars of potential. The stock history lets about 1,397 units sell, worth 10,406 dollars. The remaining 1,494 units, 11,182 dollars, would be lost.
I want to be clear that this is a risk view, not a prediction of sales, because purchasing can change. But it points to the central message of the whole project: the constraint is availability, not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The KPI dashboard, about 1.5 minutes, then live demo]
Part 3 turns the data and the forecast into the KPIs that the assessment asks for. There are four groups. Financial: gross margin, revenue growth and operating profit. Operational: inventory turnover, days of stock, service level and lost revenue. Credit: days sales outstanding and a default-risk rating from A to E. And the forward view: the 26-week forecast with its range, the price plan from Part 4, and six rule-based alerts.
The numbers at the bottom tell the story. Revenue in the last 52 weeks is 65.4 million dollars, up 3.3 percent. Gross margin is 21.5 percent and flat, so margin is not the problem. The service level is 60 percent: only 60 percent of customer demand is served, and 43.2 million dollars of sales were lost. At default thresholds the dashboard raises 16 high-priority alerts, each with the money at stake and a recommended action.
Two design choices I want to point out. Credit has no data in the file, so the credit layer is a scenario with editable, clearly labelled assumptions, instead of numbers that pretend to be facts. And I did not trust my own dashboard blindly: 24 automatic tests reconcile every KPI with the database and recompute the alert rules independently.
At this point I will switch to the live dashboard and show you the overview, the stock and service tab, the credit tab and the alert list. Then I will come back to the credit rating, which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The credit-risk rating, about 2 minutes]
Let me explain the rating from A to E, because it appears in the dashboard and it drives the pricing rules in Part 4.
What is it? A single letter that summarises how risky it is to sell on credit in a product category: A is the lowest risk, E the highest. Why is it useful? Because managers cannot read four numbers for each category, and because it lets the system act: it raises alerts and it switches pricing rules.
How is it computed? From a risk score between 0 and 100, a weighted sum of four components. Default rate, weight 40 percent, where a 3 percent annual default is the maximum score. Lateness, 20 percent, where an average delay equal to half the payment terms is the maximum. Loss versus margin, 25 percent: the expected credit loss as a share of gross profit, with 15 percent as the maximum. And concentration, 15 percent: the category's share of revenue, with 25 percent as the maximum. The bands are A below 20, B below 35, C below 50, D below 65 and E above.
Example: Beverages and Cocoa scores 0.40 times 60, plus 0.20 times 40, plus 0.25 times 42, plus 0.15 times 71, which is 53, so the rating is D. It has long terms, many credit sales and a large share of revenue. Cereals and Spices are C, the rest are B.
I must be honest about the limits. There is no customer data, so the inputs are scenario assumptions, and the rating is illustrative. The structure is transparent and ready to be calibrated with real payment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Part 4: the pricing idea from the data insights, about 2.5 minutes]
Now Part 4. Before any formula, I want to give you the whole idea, and show that it comes from the data and not from my imagination.
Four insights. One: 78 percent of the forecast product-weeks are scarce, meaning the stock history cannot cover the forecast demand. Those products will sell out whatever the price is. Two: demand swings 25 percent above and below normal over the year, so scarcity is strongest in peak weeks. Three: five products hold between 64 and 370 weeks of stock, 10.8 million dollars of capital, so discounting is only interesting there, and only if it pays. Four: prices vary only 4 percent within a product, so the effect of price on demand cannot be measured. The estimated effect is minus 0.017, and the range includes zero.
These four facts lead to one idea, in the dark band: raise the price where stock sells out anyway, because then the units sold are set by the stock, and the extra price is pure profit. Do not rely on an unknown price sensitivity. Discount only if it provably pays. And keep strict limits.
The chart shows the rule: no rise when 5 percent or less of demand is unserved, then a rise that grows with scarcity up to 8 percent, scaled by the season. On the right, the three states. Scarce, 78 percent of the plan: raise the price up to 8 percent while units sold stay within 1 percent. Balanced, 5 percent: hold. Surplus, 17 percent: markdown only if profit rises, otherwise fix purchasing.
Notice the elegance of the logic: it does not need to know the price sensitivity, which is exactly the thing the data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The pricing engine, about 2 minutes]
This slide is the algorithm, as a flow you can follow from left to right.
The inputs for every product-week are the forecast demand with its range, the stock expected to be available, the season on the shared seasonal curve, and the credit rating of the category.
Step one, the scarcity premium. If part of the demand cannot be served, the product sells out anyway, so the price can rise, from 0 up to 8 percent. Step two, sell-out protection: the rise is capped so that expected units sold stay within 1 percent of today's, tested with 1,000 simulated demand draws and with customers assumed twice as price-sensitive as the planning case. This is my insurance against the unknown price sensitivity. Step three, the surplus markdown: where stock exceeds 26 weeks, a discount of up to 10 percent is allowed, only if the simulated profit rises. Step four, credit risk: ratings D and E get no markdown and pay a risk premium; rating C is capped at a 5 percent markdown. Step five, the guardrails: a cost floor, a competitive band and a weekly step limit, which I will detail shortly.
The output is a recommended price for each of the 780 product-weeks, together with the reason, including which limit was binding. At the bottom you see a real example: Barley, week 1, from 7.447 to 7.67 dollars, plus 3 percent, because it is scarce and the weekly step was the binding limit. Every price can be explained in one sentence, which is what makes the engine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Demand-based adjustments, about 2 minutes]
The brief asks: how do prices scale during forecast demand peaks and lulls? Here is the precise answer.
The price rise equals 8 percent, times the smaller of one and the unserved-demand share divided by 30 percent, times a season factor. The season factor is 1.0 in a peak, 0.75 in a normal season and 0.5 in an off-peak season, where peak and off-peak are defined by the shared seasonal curve at or above 1.10, or at or below 0.90.
The table makes it concrete. If 30 percent or more of the demand is unserved, the rise is the full 8 percent in a peak, 6 in a normal season and 4 in a lull. With 20 percent unserved it is 5.3, 4.0 and 2.7. With 10 percent unserved, 2.7, 2.0 and 1.3. With 5 percent or less, nothing.
The Barley charts show the rule in action. Above, the forecast demand rises from 2,900 to a peak of about 3,570 in week 13 and falls back. Below, the price follows. In weeks 1 to 3 the 3 percent weekly step limit slows the first rise. In the peak, weeks 5 to 22, the price sits at the plus 8 percent cap. As the season turns in weeks 23 to 26, the premium eases toward plus 4 percent.
So the answer is: the price moves up and down with forecast scarcity and season, smoothly, never by more than 3 percent a week, and never beyond the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Inventory and seasonality sensitivity, about 2.5 minutes]
The second question in the brief: what are the pricing rules for high-stock versus low-stock products, in peak and off-peak seasons? This grid is the answer.
Top row, lean products: stock below demand, 78 percent of the product-weeks. They are scarce, so the scarcity premium applies, scaled by the season: up to 8 percent in a peak, 6 in a normal season, 4 in an off-peak season. The reason is that stock, not price, limits their sales, so the premium is almost free money.
Bottom row, high-stock products: more than 26 weeks of cover, 17 percent of the product-weeks, five products. They never get a premium. In a peak the rule is to hold the price, because discounting while demand is high would give away margin. In a normal season a markdown of up to 5 percent, and in an off-peak season up to 10 percent, but only if the simulation shows that profit rises, counting the saving on carrying cost.
And here is an honest finding: in the tests, no markdown paid at the planning price sensitivity. Wheat, for example, would need customers to be 3.5 times as price-sensitive as assumed.
The chart explains why price is not the answer for these products. They tie up 10.8 million dollars. Clearing the stock within a year would need cuts of 17 to 49 percent, and carrying it costs about 1.3 million dollars a year, more than the whole pricing gain. So the recommended action is non-price: stop purchasing until stock is below 26 weeks, and offer bulk or export deals. I think it is important that a pricing engine knows when price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Guardrails, about 2.5 minutes]
The third question: how do I ensure competitive prices and respect credit risk? Two groups of guardrails.
On the left, the corridor, shown for Barley. The cost floor, 6.27 dollars, is the cost plus a 5 percent markup plus four weeks of carrying cost, divided by one minus the expected credit loss, so no sale is ever loss-making. The competitive band runs from 0.92 to 1.10 times today's price. I want to be transparent: there are no competitor prices in the data, so the 13-week average price is the proxy for the market, and the band is an adjustable parameter to be replaced with observed competitor prices. And the weekly step is at most 3 percent, so customers never see price shocks. The dots show Barley: today's price, the first recommended price of 7.67, and the peak price of 8.04, all inside the green corridor.
On the right, the credit-risk guardrails, driven by the rating. A and B follow the normal rules. C: the markdown is capped at 5 percent. D and E: no markdowns at all, a risk premium that covers default loss and funding cost, and payment terms 15 days shorter. The premium is the share of credit sales times the default rate, plus DSO over 365 times an 8 percent funding cost, which is 2.5 percent for Beverages and Cocoa. Shortening the terms by 15 days frees about 361 thousand dollars of cash.
All of this is tested: 19 automatic checks cover the band, the floor, the weekly step, the credit rules and hand-calculated arithmetic, and they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Validation and impact, about 3 minutes]
Now the question every manager asks: does it work, and how sure are you? The difficulty is that price sensitivity cannot be measured from this data. So instead of pretending to know it, I designed the engine so that its gain does not depend on it, and I tested that claim four ways.
One, simulation: 1,000 demand and stock draws for every product-week, comparing the engine with holding today's price, with the same draws on both sides so the difference is purely pricing. Two, I repeated it for price sensitivity from zero to minus three, so the result is a range. Three, a replay of the last 52 weeks, taking decisions at weeks 208 and 234 using only information available at the time, with a naive forecast. That gives a gain of 1.43 million dollars. Four, stress tests: 16 parameter variations, all positive, and a test where the real demand is only 60 percent of my estimate, which still gives 0.94 million dollars.
The chart is the main result. Over 26 weeks the profit gain is 1.26 million dollars in the planning case, 17 percent of the baseline profit. If customers are very price-sensitive it is 1.15; if they ignore price, 1.30. The gain barely moves, because the engine raises prices only where stock sells out anyway. Units sold change by only minus 0.4 percent.
The largest remaining risk is how many lost units I accept; at zero percent the gain halves. That is why the final box proposes two eight-week pilots: Pilot A checks that scarce products still sell out at plus 3 and plus 5 percent against matched controls, and Pilot B measures the real price sensitivity on high-stock products. I would not roll this out company-wide before those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Assumptions and closing, about 2.5 minutes]
I would like to finish with the assumptions, because a result is only as honest as its assumptions, and I tried to keep each one visible, reasoned and replaceable.
The synthetic calendar: the file has only week numbers, so I started week 1 on 6 January 2020. No result depends on the actual start date. Sales equal the minimum of demand and stock: verified in the database with zero violations. The legacy forecast as a demand signal: justified because it is unbiased on weeks where the truth is known. Future stock follows each product's own history, because future purchasing is unknown; the dashboard shows both the stock-limited and unconstrained views. Credit terms and default rates: there is no customer data, so they are editable and clearly labelled. Price sensitivity: the data cannot measure it, so results are shown from zero to minus three, and Pilot B will measure it. And the competitor band and the holding and funding costs are adjustable parameters.
Let me close with the story in one minute. The data hid its own problem: stock limits sales, so sales understate demand. Once demand was reconstructed, a simple structural model, level times growth times season, forecast it better than machine learning, and I can explain it with one example. The dashboard turned this into KPIs and alerts. The pricing engine uses the insight that scarce products sell out anyway, and protects itself against what the data cannot tell. The biggest value is in stock planning: 28.7 million dollars of demand at risk and 10.8 million dollars tied up in five products. Pricing adds about 1.3 million dollars on top, safely.
Everything is reproducible: five notebooks, one Excel workbook each, a README with the run order. Thank you. I am happy to take your questions, and to go deeper into any step.
[QUESTIONS YOU MAY BE ASKED - short answers. The full list of 45 questions with answers is in Armani_Presentation_Script_and_QA.docx]
1. Isn't reconstructing demand circular? No: models are also scored on unconstrained weeks, where demand equals observed sales and nothing is reconstructed (6.64 percent error). That is the figure I quote as honest.
2. Why did machine learning not win? LightGBM and Prophet were tuned as carefully (10 and 8 configurations, validated inside the training window) and are close (4.78 and 4.76 percent), but demand is one shared curve plus a level and a trend, which a structural model with 37 numbers estimates from all products at once.
3. Why four test windows and not one split? One split gives one number that depends on the season in the window; four windows 26 weeks apart test every season twice, give 3,120 forecasts and show stability (4.3 to 5.1 percent).
4. You have no price sensitivity. How can you price? I designed the engine so that its gain barely depends on it: prices rise only where stock sells out anyway, the premium is capped so expected units stay within 1 percent even if customers were twice as sensitive, results are shown for 0 to minus 3 (1.15 to 1.30 million dollars), and a pilot measures the real value.
5. Why was no markdown applied? Over-stocked products would need cuts of 17 to 49 percent even for very price-sensitive customers; 200 candidates were tested and none paid. The right actions are non-price: stop buying, bulk or export deals.
6. How credible is the credit rating without data? It is a labelled scenario with a transparent, calibratable structure: four weighted components, editable inputs, bands A to E.
7. What if the demand reconstruction is wrong? At 60 percent of the estimated demand the pricing gain is still 0.94 million dollars; at 50 percent, 0.82 million.
8. What is your single recommendation? Stop buying the five over-stocked products (10.8 million dollars tied up) and shift capacity to the lean products that sell out (28.7 million dollars of demand at risk); pricing adds about 1.3 million dollars safely.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What the data measures is understood before a method is chosen.</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CHALLENGES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Nine data problems, each treated with a reason</a:t>
            </a:r>
            <a:endParaRPr lang="en-US" sz="3000" dirty="0"/>
          </a:p>
        </p:txBody>
      </p:sp>
      <p:sp>
        <p:nvSpPr>
          <p:cNvPr id="5" name="Challenge tile"/>
          <p:cNvSpPr/>
          <p:nvPr/>
        </p:nvSpPr>
        <p:spPr>
          <a:xfrm>
            <a:off x="548640" y="1645920"/>
            <a:ext cx="3566160" cy="1463040"/>
          </a:xfrm>
          <a:prstGeom prst="roundRect">
            <a:avLst>
              <a:gd name="adj" fmla="val 5000"/>
            </a:avLst>
          </a:prstGeom>
          <a:solidFill>
            <a:srgbClr val="F2F6FB"/>
          </a:solidFill>
          <a:ln w="12700">
            <a:solidFill>
              <a:srgbClr val="F2F6FB"/>
            </a:solidFill>
            <a:prstDash val="solid"/>
          </a:ln>
        </p:spPr>
      </p:sp>
      <p:sp>
        <p:nvSpPr>
          <p:cNvPr id="6" name="Tile accent"/>
          <p:cNvSpPr/>
          <p:nvPr/>
        </p:nvSpPr>
        <p:spPr>
          <a:xfrm>
            <a:off x="548640" y="1645920"/>
            <a:ext cx="82296" cy="1463040"/>
          </a:xfrm>
          <a:prstGeom prst="rect">
            <a:avLst/>
          </a:prstGeom>
          <a:solidFill>
            <a:srgbClr val="8A8F98"/>
          </a:solidFill>
          <a:ln w="12700">
            <a:solidFill>
              <a:srgbClr val="8A8F98"/>
            </a:solidFill>
            <a:prstDash val="solid"/>
          </a:ln>
        </p:spPr>
      </p:sp>
      <p:sp>
        <p:nvSpPr>
          <p:cNvPr id="7" name="Text 4"/>
          <p:cNvSpPr txBox="1"/>
          <p:nvPr/>
        </p:nvSpPr>
        <p:spPr>
          <a:xfrm>
            <a:off x="77724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39</a:t>
            </a:r>
            <a:endParaRPr lang="en-US" sz="3000" dirty="0"/>
          </a:p>
        </p:txBody>
      </p:sp>
      <p:sp>
        <p:nvSpPr>
          <p:cNvPr id="8" name="Text 5"/>
          <p:cNvSpPr txBox="1"/>
          <p:nvPr/>
        </p:nvSpPr>
        <p:spPr>
          <a:xfrm>
            <a:off x="77724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exact duplicate rows</a:t>
            </a:r>
            <a:endParaRPr lang="en-US" sz="1300" dirty="0"/>
          </a:p>
        </p:txBody>
      </p:sp>
      <p:sp>
        <p:nvSpPr>
          <p:cNvPr id="9" name="Treatment chip"/>
          <p:cNvSpPr/>
          <p:nvPr/>
        </p:nvSpPr>
        <p:spPr>
          <a:xfrm>
            <a:off x="777240" y="2715768"/>
            <a:ext cx="1143000" cy="265176"/>
          </a:xfrm>
          <a:prstGeom prst="roundRect">
            <a:avLst>
              <a:gd name="adj" fmla="val 17241"/>
            </a:avLst>
          </a:prstGeom>
          <a:solidFill>
            <a:srgbClr val="8A8F98"/>
          </a:solidFill>
          <a:ln w="12700">
            <a:solidFill>
              <a:srgbClr val="8A8F98"/>
            </a:solidFill>
            <a:prstDash val="solid"/>
          </a:ln>
        </p:spPr>
      </p:sp>
      <p:sp>
        <p:nvSpPr>
          <p:cNvPr id="10" name="Text 7"/>
          <p:cNvSpPr txBox="1"/>
          <p:nvPr/>
        </p:nvSpPr>
        <p:spPr>
          <a:xfrm>
            <a:off x="77724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DROPPED</a:t>
            </a:r>
            <a:endParaRPr lang="en-US" sz="1000" dirty="0"/>
          </a:p>
        </p:txBody>
      </p:sp>
      <p:sp>
        <p:nvSpPr>
          <p:cNvPr id="11" name="Text 8"/>
          <p:cNvSpPr txBox="1"/>
          <p:nvPr/>
        </p:nvSpPr>
        <p:spPr>
          <a:xfrm>
            <a:off x="201168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a repeat double counts sales</a:t>
            </a:r>
            <a:endParaRPr lang="en-US" sz="1100" dirty="0"/>
          </a:p>
        </p:txBody>
      </p:sp>
      <p:sp>
        <p:nvSpPr>
          <p:cNvPr id="12" name="Challenge tile"/>
          <p:cNvSpPr/>
          <p:nvPr/>
        </p:nvSpPr>
        <p:spPr>
          <a:xfrm>
            <a:off x="4297680" y="1645920"/>
            <a:ext cx="3566160" cy="1463040"/>
          </a:xfrm>
          <a:prstGeom prst="roundRect">
            <a:avLst>
              <a:gd name="adj" fmla="val 5000"/>
            </a:avLst>
          </a:prstGeom>
          <a:solidFill>
            <a:srgbClr val="F2F6FB"/>
          </a:solidFill>
          <a:ln w="12700">
            <a:solidFill>
              <a:srgbClr val="F2F6FB"/>
            </a:solidFill>
            <a:prstDash val="solid"/>
          </a:ln>
        </p:spPr>
      </p:sp>
      <p:sp>
        <p:nvSpPr>
          <p:cNvPr id="13" name="Tile accent"/>
          <p:cNvSpPr/>
          <p:nvPr/>
        </p:nvSpPr>
        <p:spPr>
          <a:xfrm>
            <a:off x="4297680" y="1645920"/>
            <a:ext cx="82296" cy="1463040"/>
          </a:xfrm>
          <a:prstGeom prst="rect">
            <a:avLst/>
          </a:prstGeom>
          <a:solidFill>
            <a:srgbClr val="1BAF7A"/>
          </a:solidFill>
          <a:ln w="12700">
            <a:solidFill>
              <a:srgbClr val="1BAF7A"/>
            </a:solidFill>
            <a:prstDash val="solid"/>
          </a:ln>
        </p:spPr>
      </p:sp>
      <p:sp>
        <p:nvSpPr>
          <p:cNvPr id="14" name="Text 11"/>
          <p:cNvSpPr txBox="1"/>
          <p:nvPr/>
        </p:nvSpPr>
        <p:spPr>
          <a:xfrm>
            <a:off x="4526280" y="1737360"/>
            <a:ext cx="3200400" cy="502920"/>
          </a:xfrm>
          <a:prstGeom prst="rect">
            <a:avLst/>
          </a:prstGeom>
          <a:noFill/>
          <a:ln/>
        </p:spPr>
        <p:txBody>
          <a:bodyPr wrap="square" lIns="0" tIns="0" rIns="0" bIns="0" rtlCol="0" anchor="ctr"/>
          <a:lstStyle/>
          <a:p>
            <a:pPr indent="0" marL="0">
              <a:buNone/>
            </a:pPr>
            <a:r>
              <a:rPr lang="en-US" sz="3000" b="1" dirty="0">
                <a:solidFill>
                  <a:srgbClr val="1BAF7A"/>
                </a:solidFill>
                <a:latin typeface="Cambria" pitchFamily="34" charset="0"/>
                <a:ea typeface="Cambria" pitchFamily="34" charset="-122"/>
                <a:cs typeface="Cambria" pitchFamily="34" charset="-120"/>
              </a:rPr>
              <a:t>16</a:t>
            </a:r>
            <a:endParaRPr lang="en-US" sz="3000" dirty="0"/>
          </a:p>
        </p:txBody>
      </p:sp>
      <p:sp>
        <p:nvSpPr>
          <p:cNvPr id="15" name="Text 12"/>
          <p:cNvSpPr txBox="1"/>
          <p:nvPr/>
        </p:nvSpPr>
        <p:spPr>
          <a:xfrm>
            <a:off x="452628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sales values</a:t>
            </a:r>
            <a:endParaRPr lang="en-US" sz="1300" dirty="0"/>
          </a:p>
        </p:txBody>
      </p:sp>
      <p:sp>
        <p:nvSpPr>
          <p:cNvPr id="16" name="Treatment chip"/>
          <p:cNvSpPr/>
          <p:nvPr/>
        </p:nvSpPr>
        <p:spPr>
          <a:xfrm>
            <a:off x="4526280" y="2715768"/>
            <a:ext cx="1143000" cy="265176"/>
          </a:xfrm>
          <a:prstGeom prst="roundRect">
            <a:avLst>
              <a:gd name="adj" fmla="val 17241"/>
            </a:avLst>
          </a:prstGeom>
          <a:solidFill>
            <a:srgbClr val="1BAF7A"/>
          </a:solidFill>
          <a:ln w="12700">
            <a:solidFill>
              <a:srgbClr val="1BAF7A"/>
            </a:solidFill>
            <a:prstDash val="solid"/>
          </a:ln>
        </p:spPr>
      </p:sp>
      <p:sp>
        <p:nvSpPr>
          <p:cNvPr id="17" name="Text 14"/>
          <p:cNvSpPr txBox="1"/>
          <p:nvPr/>
        </p:nvSpPr>
        <p:spPr>
          <a:xfrm>
            <a:off x="452628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RECOVERED</a:t>
            </a:r>
            <a:endParaRPr lang="en-US" sz="1000" dirty="0"/>
          </a:p>
        </p:txBody>
      </p:sp>
      <p:sp>
        <p:nvSpPr>
          <p:cNvPr id="18" name="Text 15"/>
          <p:cNvSpPr txBox="1"/>
          <p:nvPr/>
        </p:nvSpPr>
        <p:spPr>
          <a:xfrm>
            <a:off x="576072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revenue / price</a:t>
            </a:r>
            <a:endParaRPr lang="en-US" sz="1100" dirty="0"/>
          </a:p>
        </p:txBody>
      </p:sp>
      <p:sp>
        <p:nvSpPr>
          <p:cNvPr id="19" name="Challenge tile"/>
          <p:cNvSpPr/>
          <p:nvPr/>
        </p:nvSpPr>
        <p:spPr>
          <a:xfrm>
            <a:off x="8046720" y="1645920"/>
            <a:ext cx="3566160" cy="1463040"/>
          </a:xfrm>
          <a:prstGeom prst="roundRect">
            <a:avLst>
              <a:gd name="adj" fmla="val 5000"/>
            </a:avLst>
          </a:prstGeom>
          <a:solidFill>
            <a:srgbClr val="F2F6FB"/>
          </a:solidFill>
          <a:ln w="12700">
            <a:solidFill>
              <a:srgbClr val="F2F6FB"/>
            </a:solidFill>
            <a:prstDash val="solid"/>
          </a:ln>
        </p:spPr>
      </p:sp>
      <p:sp>
        <p:nvSpPr>
          <p:cNvPr id="20" name="Tile accent"/>
          <p:cNvSpPr/>
          <p:nvPr/>
        </p:nvSpPr>
        <p:spPr>
          <a:xfrm>
            <a:off x="8046720" y="1645920"/>
            <a:ext cx="82296" cy="1463040"/>
          </a:xfrm>
          <a:prstGeom prst="rect">
            <a:avLst/>
          </a:prstGeom>
          <a:solidFill>
            <a:srgbClr val="8A8F98"/>
          </a:solidFill>
          <a:ln w="12700">
            <a:solidFill>
              <a:srgbClr val="8A8F98"/>
            </a:solidFill>
            <a:prstDash val="solid"/>
          </a:ln>
        </p:spPr>
      </p:sp>
      <p:sp>
        <p:nvSpPr>
          <p:cNvPr id="21" name="Text 18"/>
          <p:cNvSpPr txBox="1"/>
          <p:nvPr/>
        </p:nvSpPr>
        <p:spPr>
          <a:xfrm>
            <a:off x="827532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606</a:t>
            </a:r>
            <a:endParaRPr lang="en-US" sz="3000" dirty="0"/>
          </a:p>
        </p:txBody>
      </p:sp>
      <p:sp>
        <p:nvSpPr>
          <p:cNvPr id="22" name="Text 19"/>
          <p:cNvSpPr txBox="1"/>
          <p:nvPr/>
        </p:nvSpPr>
        <p:spPr>
          <a:xfrm>
            <a:off x="827532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legacy forecasts</a:t>
            </a:r>
            <a:endParaRPr lang="en-US" sz="1300" dirty="0"/>
          </a:p>
        </p:txBody>
      </p:sp>
      <p:sp>
        <p:nvSpPr>
          <p:cNvPr id="23" name="Treatment chip"/>
          <p:cNvSpPr/>
          <p:nvPr/>
        </p:nvSpPr>
        <p:spPr>
          <a:xfrm>
            <a:off x="8275320" y="2715768"/>
            <a:ext cx="1143000" cy="265176"/>
          </a:xfrm>
          <a:prstGeom prst="roundRect">
            <a:avLst>
              <a:gd name="adj" fmla="val 17241"/>
            </a:avLst>
          </a:prstGeom>
          <a:solidFill>
            <a:srgbClr val="8A8F98"/>
          </a:solidFill>
          <a:ln w="12700">
            <a:solidFill>
              <a:srgbClr val="8A8F98"/>
            </a:solidFill>
            <a:prstDash val="solid"/>
          </a:ln>
        </p:spPr>
      </p:sp>
      <p:sp>
        <p:nvSpPr>
          <p:cNvPr id="24" name="Text 21"/>
          <p:cNvSpPr txBox="1"/>
          <p:nvPr/>
        </p:nvSpPr>
        <p:spPr>
          <a:xfrm>
            <a:off x="827532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KEPT EMPTY</a:t>
            </a:r>
            <a:endParaRPr lang="en-US" sz="1000" dirty="0"/>
          </a:p>
        </p:txBody>
      </p:sp>
      <p:sp>
        <p:nvSpPr>
          <p:cNvPr id="25" name="Text 22"/>
          <p:cNvSpPr txBox="1"/>
          <p:nvPr/>
        </p:nvSpPr>
        <p:spPr>
          <a:xfrm>
            <a:off x="950976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imputing would invent a baseline</a:t>
            </a:r>
            <a:endParaRPr lang="en-US" sz="1100" dirty="0"/>
          </a:p>
        </p:txBody>
      </p:sp>
      <p:sp>
        <p:nvSpPr>
          <p:cNvPr id="26" name="Challenge tile"/>
          <p:cNvSpPr/>
          <p:nvPr/>
        </p:nvSpPr>
        <p:spPr>
          <a:xfrm>
            <a:off x="548640" y="3200400"/>
            <a:ext cx="3566160" cy="1463040"/>
          </a:xfrm>
          <a:prstGeom prst="roundRect">
            <a:avLst>
              <a:gd name="adj" fmla="val 5000"/>
            </a:avLst>
          </a:prstGeom>
          <a:solidFill>
            <a:srgbClr val="F2F6FB"/>
          </a:solidFill>
          <a:ln w="12700">
            <a:solidFill>
              <a:srgbClr val="F2F6FB"/>
            </a:solidFill>
            <a:prstDash val="solid"/>
          </a:ln>
        </p:spPr>
      </p:sp>
      <p:sp>
        <p:nvSpPr>
          <p:cNvPr id="27" name="Tile accent"/>
          <p:cNvSpPr/>
          <p:nvPr/>
        </p:nvSpPr>
        <p:spPr>
          <a:xfrm>
            <a:off x="548640" y="3200400"/>
            <a:ext cx="82296" cy="1463040"/>
          </a:xfrm>
          <a:prstGeom prst="rect">
            <a:avLst/>
          </a:prstGeom>
          <a:solidFill>
            <a:srgbClr val="2A78D6"/>
          </a:solidFill>
          <a:ln w="12700">
            <a:solidFill>
              <a:srgbClr val="2A78D6"/>
            </a:solidFill>
            <a:prstDash val="solid"/>
          </a:ln>
        </p:spPr>
      </p:sp>
      <p:sp>
        <p:nvSpPr>
          <p:cNvPr id="28" name="Text 25"/>
          <p:cNvSpPr txBox="1"/>
          <p:nvPr/>
        </p:nvSpPr>
        <p:spPr>
          <a:xfrm>
            <a:off x="77724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897</a:t>
            </a:r>
            <a:endParaRPr lang="en-US" sz="3000" dirty="0"/>
          </a:p>
        </p:txBody>
      </p:sp>
      <p:sp>
        <p:nvSpPr>
          <p:cNvPr id="29" name="Text 26"/>
          <p:cNvSpPr txBox="1"/>
          <p:nvPr/>
        </p:nvSpPr>
        <p:spPr>
          <a:xfrm>
            <a:off x="77724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infinite growth values</a:t>
            </a:r>
            <a:endParaRPr lang="en-US" sz="1300" dirty="0"/>
          </a:p>
        </p:txBody>
      </p:sp>
      <p:sp>
        <p:nvSpPr>
          <p:cNvPr id="30" name="Treatment chip"/>
          <p:cNvSpPr/>
          <p:nvPr/>
        </p:nvSpPr>
        <p:spPr>
          <a:xfrm>
            <a:off x="777240" y="4270248"/>
            <a:ext cx="1143000" cy="265176"/>
          </a:xfrm>
          <a:prstGeom prst="roundRect">
            <a:avLst>
              <a:gd name="adj" fmla="val 17241"/>
            </a:avLst>
          </a:prstGeom>
          <a:solidFill>
            <a:srgbClr val="2A78D6"/>
          </a:solidFill>
          <a:ln w="12700">
            <a:solidFill>
              <a:srgbClr val="2A78D6"/>
            </a:solidFill>
            <a:prstDash val="solid"/>
          </a:ln>
        </p:spPr>
      </p:sp>
      <p:sp>
        <p:nvSpPr>
          <p:cNvPr id="31" name="Text 28"/>
          <p:cNvSpPr txBox="1"/>
          <p:nvPr/>
        </p:nvSpPr>
        <p:spPr>
          <a:xfrm>
            <a:off x="77724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2" name="Text 29"/>
          <p:cNvSpPr txBox="1"/>
          <p:nvPr/>
        </p:nvSpPr>
        <p:spPr>
          <a:xfrm>
            <a:off x="201168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growth from zero is undefined</a:t>
            </a:r>
            <a:endParaRPr lang="en-US" sz="1100" dirty="0"/>
          </a:p>
        </p:txBody>
      </p:sp>
      <p:sp>
        <p:nvSpPr>
          <p:cNvPr id="33" name="Challenge tile"/>
          <p:cNvSpPr/>
          <p:nvPr/>
        </p:nvSpPr>
        <p:spPr>
          <a:xfrm>
            <a:off x="4297680" y="3200400"/>
            <a:ext cx="3566160" cy="1463040"/>
          </a:xfrm>
          <a:prstGeom prst="roundRect">
            <a:avLst>
              <a:gd name="adj" fmla="val 5000"/>
            </a:avLst>
          </a:prstGeom>
          <a:solidFill>
            <a:srgbClr val="F2F6FB"/>
          </a:solidFill>
          <a:ln w="12700">
            <a:solidFill>
              <a:srgbClr val="F2F6FB"/>
            </a:solidFill>
            <a:prstDash val="solid"/>
          </a:ln>
        </p:spPr>
      </p:sp>
      <p:sp>
        <p:nvSpPr>
          <p:cNvPr id="34" name="Tile accent"/>
          <p:cNvSpPr/>
          <p:nvPr/>
        </p:nvSpPr>
        <p:spPr>
          <a:xfrm>
            <a:off x="4297680" y="3200400"/>
            <a:ext cx="82296" cy="1463040"/>
          </a:xfrm>
          <a:prstGeom prst="rect">
            <a:avLst/>
          </a:prstGeom>
          <a:solidFill>
            <a:srgbClr val="2A78D6"/>
          </a:solidFill>
          <a:ln w="12700">
            <a:solidFill>
              <a:srgbClr val="2A78D6"/>
            </a:solidFill>
            <a:prstDash val="solid"/>
          </a:ln>
        </p:spPr>
      </p:sp>
      <p:sp>
        <p:nvSpPr>
          <p:cNvPr id="35" name="Text 32"/>
          <p:cNvSpPr txBox="1"/>
          <p:nvPr/>
        </p:nvSpPr>
        <p:spPr>
          <a:xfrm>
            <a:off x="452628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37%</a:t>
            </a:r>
            <a:endParaRPr lang="en-US" sz="3000" dirty="0"/>
          </a:p>
        </p:txBody>
      </p:sp>
      <p:sp>
        <p:nvSpPr>
          <p:cNvPr id="36" name="Text 33"/>
          <p:cNvSpPr txBox="1"/>
          <p:nvPr/>
        </p:nvSpPr>
        <p:spPr>
          <a:xfrm>
            <a:off x="452628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of derived fields consistent</a:t>
            </a:r>
            <a:endParaRPr lang="en-US" sz="1300" dirty="0"/>
          </a:p>
        </p:txBody>
      </p:sp>
      <p:sp>
        <p:nvSpPr>
          <p:cNvPr id="37" name="Treatment chip"/>
          <p:cNvSpPr/>
          <p:nvPr/>
        </p:nvSpPr>
        <p:spPr>
          <a:xfrm>
            <a:off x="4526280" y="4270248"/>
            <a:ext cx="1143000" cy="265176"/>
          </a:xfrm>
          <a:prstGeom prst="roundRect">
            <a:avLst>
              <a:gd name="adj" fmla="val 17241"/>
            </a:avLst>
          </a:prstGeom>
          <a:solidFill>
            <a:srgbClr val="2A78D6"/>
          </a:solidFill>
          <a:ln w="12700">
            <a:solidFill>
              <a:srgbClr val="2A78D6"/>
            </a:solidFill>
            <a:prstDash val="solid"/>
          </a:ln>
        </p:spPr>
      </p:sp>
      <p:sp>
        <p:nvSpPr>
          <p:cNvPr id="38" name="Text 35"/>
          <p:cNvSpPr txBox="1"/>
          <p:nvPr/>
        </p:nvSpPr>
        <p:spPr>
          <a:xfrm>
            <a:off x="452628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9" name="Text 36"/>
          <p:cNvSpPr txBox="1"/>
          <p:nvPr/>
        </p:nvSpPr>
        <p:spPr>
          <a:xfrm>
            <a:off x="576072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KPIs must reproduce 100%</a:t>
            </a:r>
            <a:endParaRPr lang="en-US" sz="1100" dirty="0"/>
          </a:p>
        </p:txBody>
      </p:sp>
      <p:sp>
        <p:nvSpPr>
          <p:cNvPr id="40" name="Challenge tile"/>
          <p:cNvSpPr/>
          <p:nvPr/>
        </p:nvSpPr>
        <p:spPr>
          <a:xfrm>
            <a:off x="8046720" y="3200400"/>
            <a:ext cx="3566160" cy="1463040"/>
          </a:xfrm>
          <a:prstGeom prst="roundRect">
            <a:avLst>
              <a:gd name="adj" fmla="val 5000"/>
            </a:avLst>
          </a:prstGeom>
          <a:solidFill>
            <a:srgbClr val="F2F6FB"/>
          </a:solidFill>
          <a:ln w="12700">
            <a:solidFill>
              <a:srgbClr val="F2F6FB"/>
            </a:solidFill>
            <a:prstDash val="solid"/>
          </a:ln>
        </p:spPr>
      </p:sp>
      <p:sp>
        <p:nvSpPr>
          <p:cNvPr id="41" name="Tile accent"/>
          <p:cNvSpPr/>
          <p:nvPr/>
        </p:nvSpPr>
        <p:spPr>
          <a:xfrm>
            <a:off x="8046720" y="3200400"/>
            <a:ext cx="82296" cy="1463040"/>
          </a:xfrm>
          <a:prstGeom prst="rect">
            <a:avLst/>
          </a:prstGeom>
          <a:solidFill>
            <a:srgbClr val="2A78D6"/>
          </a:solidFill>
          <a:ln w="12700">
            <a:solidFill>
              <a:srgbClr val="2A78D6"/>
            </a:solidFill>
            <a:prstDash val="solid"/>
          </a:ln>
        </p:spPr>
      </p:sp>
      <p:sp>
        <p:nvSpPr>
          <p:cNvPr id="42" name="Text 39"/>
          <p:cNvSpPr txBox="1"/>
          <p:nvPr/>
        </p:nvSpPr>
        <p:spPr>
          <a:xfrm>
            <a:off x="827532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907</a:t>
            </a:r>
            <a:endParaRPr lang="en-US" sz="3000" dirty="0"/>
          </a:p>
        </p:txBody>
      </p:sp>
      <p:sp>
        <p:nvSpPr>
          <p:cNvPr id="43" name="Text 40"/>
          <p:cNvSpPr txBox="1"/>
          <p:nvPr/>
        </p:nvSpPr>
        <p:spPr>
          <a:xfrm>
            <a:off x="827532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rows: zero stock but sales</a:t>
            </a:r>
            <a:endParaRPr lang="en-US" sz="1300" dirty="0"/>
          </a:p>
        </p:txBody>
      </p:sp>
      <p:sp>
        <p:nvSpPr>
          <p:cNvPr id="44" name="Treatment chip"/>
          <p:cNvSpPr/>
          <p:nvPr/>
        </p:nvSpPr>
        <p:spPr>
          <a:xfrm>
            <a:off x="8275320" y="4270248"/>
            <a:ext cx="1143000" cy="265176"/>
          </a:xfrm>
          <a:prstGeom prst="roundRect">
            <a:avLst>
              <a:gd name="adj" fmla="val 17241"/>
            </a:avLst>
          </a:prstGeom>
          <a:solidFill>
            <a:srgbClr val="2A78D6"/>
          </a:solidFill>
          <a:ln w="12700">
            <a:solidFill>
              <a:srgbClr val="2A78D6"/>
            </a:solidFill>
            <a:prstDash val="solid"/>
          </a:ln>
        </p:spPr>
      </p:sp>
      <p:sp>
        <p:nvSpPr>
          <p:cNvPr id="45" name="Text 42"/>
          <p:cNvSpPr txBox="1"/>
          <p:nvPr/>
        </p:nvSpPr>
        <p:spPr>
          <a:xfrm>
            <a:off x="827532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REALIGNED</a:t>
            </a:r>
            <a:endParaRPr lang="en-US" sz="1000" dirty="0"/>
          </a:p>
        </p:txBody>
      </p:sp>
      <p:sp>
        <p:nvSpPr>
          <p:cNvPr id="46" name="Text 43"/>
          <p:cNvSpPr txBox="1"/>
          <p:nvPr/>
        </p:nvSpPr>
        <p:spPr>
          <a:xfrm>
            <a:off x="950976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 previous row's inventory</a:t>
            </a:r>
            <a:endParaRPr lang="en-US" sz="1100" dirty="0"/>
          </a:p>
        </p:txBody>
      </p:sp>
      <p:sp>
        <p:nvSpPr>
          <p:cNvPr id="47" name="Challenge tile"/>
          <p:cNvSpPr/>
          <p:nvPr/>
        </p:nvSpPr>
        <p:spPr>
          <a:xfrm>
            <a:off x="548640" y="4754880"/>
            <a:ext cx="3566160" cy="1463040"/>
          </a:xfrm>
          <a:prstGeom prst="roundRect">
            <a:avLst>
              <a:gd name="adj" fmla="val 5000"/>
            </a:avLst>
          </a:prstGeom>
          <a:solidFill>
            <a:srgbClr val="F2F6FB"/>
          </a:solidFill>
          <a:ln w="12700">
            <a:solidFill>
              <a:srgbClr val="F2F6FB"/>
            </a:solidFill>
            <a:prstDash val="solid"/>
          </a:ln>
        </p:spPr>
      </p:sp>
      <p:sp>
        <p:nvSpPr>
          <p:cNvPr id="48" name="Tile accent"/>
          <p:cNvSpPr/>
          <p:nvPr/>
        </p:nvSpPr>
        <p:spPr>
          <a:xfrm>
            <a:off x="548640" y="4754880"/>
            <a:ext cx="82296" cy="1463040"/>
          </a:xfrm>
          <a:prstGeom prst="rect">
            <a:avLst/>
          </a:prstGeom>
          <a:solidFill>
            <a:srgbClr val="EB6834"/>
          </a:solidFill>
          <a:ln w="12700">
            <a:solidFill>
              <a:srgbClr val="EB6834"/>
            </a:solidFill>
            <a:prstDash val="solid"/>
          </a:ln>
        </p:spPr>
      </p:sp>
      <p:sp>
        <p:nvSpPr>
          <p:cNvPr id="49" name="Text 46"/>
          <p:cNvSpPr txBox="1"/>
          <p:nvPr/>
        </p:nvSpPr>
        <p:spPr>
          <a:xfrm>
            <a:off x="77724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1,329</a:t>
            </a:r>
            <a:endParaRPr lang="en-US" sz="3000" dirty="0"/>
          </a:p>
        </p:txBody>
      </p:sp>
      <p:sp>
        <p:nvSpPr>
          <p:cNvPr id="50" name="Text 47"/>
          <p:cNvSpPr txBox="1"/>
          <p:nvPr/>
        </p:nvSpPr>
        <p:spPr>
          <a:xfrm>
            <a:off x="77724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zero-sales weeks, pile-ups at 1,500 / 2,500</a:t>
            </a:r>
            <a:endParaRPr lang="en-US" sz="1300" dirty="0"/>
          </a:p>
        </p:txBody>
      </p:sp>
      <p:sp>
        <p:nvSpPr>
          <p:cNvPr id="51" name="Treatment chip"/>
          <p:cNvSpPr/>
          <p:nvPr/>
        </p:nvSpPr>
        <p:spPr>
          <a:xfrm>
            <a:off x="777240" y="5824728"/>
            <a:ext cx="1143000" cy="265176"/>
          </a:xfrm>
          <a:prstGeom prst="roundRect">
            <a:avLst>
              <a:gd name="adj" fmla="val 17241"/>
            </a:avLst>
          </a:prstGeom>
          <a:solidFill>
            <a:srgbClr val="EB6834"/>
          </a:solidFill>
          <a:ln w="12700">
            <a:solidFill>
              <a:srgbClr val="EB6834"/>
            </a:solidFill>
            <a:prstDash val="solid"/>
          </a:ln>
        </p:spPr>
      </p:sp>
      <p:sp>
        <p:nvSpPr>
          <p:cNvPr id="52" name="Text 49"/>
          <p:cNvSpPr txBox="1"/>
          <p:nvPr/>
        </p:nvSpPr>
        <p:spPr>
          <a:xfrm>
            <a:off x="77724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53" name="Text 50"/>
          <p:cNvSpPr txBox="1"/>
          <p:nvPr/>
        </p:nvSpPr>
        <p:spPr>
          <a:xfrm>
            <a:off x="201168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caps, not errors</a:t>
            </a:r>
            <a:endParaRPr lang="en-US" sz="1100" dirty="0"/>
          </a:p>
        </p:txBody>
      </p:sp>
      <p:sp>
        <p:nvSpPr>
          <p:cNvPr id="54" name="Challenge tile"/>
          <p:cNvSpPr/>
          <p:nvPr/>
        </p:nvSpPr>
        <p:spPr>
          <a:xfrm>
            <a:off x="4297680" y="4754880"/>
            <a:ext cx="3566160" cy="1463040"/>
          </a:xfrm>
          <a:prstGeom prst="roundRect">
            <a:avLst>
              <a:gd name="adj" fmla="val 5000"/>
            </a:avLst>
          </a:prstGeom>
          <a:solidFill>
            <a:srgbClr val="F2F6FB"/>
          </a:solidFill>
          <a:ln w="12700">
            <a:solidFill>
              <a:srgbClr val="F2F6FB"/>
            </a:solidFill>
            <a:prstDash val="solid"/>
          </a:ln>
        </p:spPr>
      </p:sp>
      <p:sp>
        <p:nvSpPr>
          <p:cNvPr id="55" name="Tile accent"/>
          <p:cNvSpPr/>
          <p:nvPr/>
        </p:nvSpPr>
        <p:spPr>
          <a:xfrm>
            <a:off x="4297680" y="4754880"/>
            <a:ext cx="82296" cy="1463040"/>
          </a:xfrm>
          <a:prstGeom prst="rect">
            <a:avLst/>
          </a:prstGeom>
          <a:solidFill>
            <a:srgbClr val="EB6834"/>
          </a:solidFill>
          <a:ln w="12700">
            <a:solidFill>
              <a:srgbClr val="EB6834"/>
            </a:solidFill>
            <a:prstDash val="solid"/>
          </a:ln>
        </p:spPr>
      </p:sp>
      <p:sp>
        <p:nvSpPr>
          <p:cNvPr id="56" name="Text 53"/>
          <p:cNvSpPr txBox="1"/>
          <p:nvPr/>
        </p:nvSpPr>
        <p:spPr>
          <a:xfrm>
            <a:off x="452628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23</a:t>
            </a:r>
            <a:endParaRPr lang="en-US" sz="3000" dirty="0"/>
          </a:p>
        </p:txBody>
      </p:sp>
      <p:sp>
        <p:nvSpPr>
          <p:cNvPr id="57" name="Text 54"/>
          <p:cNvSpPr txBox="1"/>
          <p:nvPr/>
        </p:nvSpPr>
        <p:spPr>
          <a:xfrm>
            <a:off x="452628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 outliers</a:t>
            </a:r>
            <a:endParaRPr lang="en-US" sz="1300" dirty="0"/>
          </a:p>
        </p:txBody>
      </p:sp>
      <p:sp>
        <p:nvSpPr>
          <p:cNvPr id="58" name="Treatment chip"/>
          <p:cNvSpPr/>
          <p:nvPr/>
        </p:nvSpPr>
        <p:spPr>
          <a:xfrm>
            <a:off x="4526280" y="5824728"/>
            <a:ext cx="1143000" cy="265176"/>
          </a:xfrm>
          <a:prstGeom prst="roundRect">
            <a:avLst>
              <a:gd name="adj" fmla="val 17241"/>
            </a:avLst>
          </a:prstGeom>
          <a:solidFill>
            <a:srgbClr val="EB6834"/>
          </a:solidFill>
          <a:ln w="12700">
            <a:solidFill>
              <a:srgbClr val="EB6834"/>
            </a:solidFill>
            <a:prstDash val="solid"/>
          </a:ln>
        </p:spPr>
      </p:sp>
      <p:sp>
        <p:nvSpPr>
          <p:cNvPr id="59" name="Text 56"/>
          <p:cNvSpPr txBox="1"/>
          <p:nvPr/>
        </p:nvSpPr>
        <p:spPr>
          <a:xfrm>
            <a:off x="452628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60" name="Text 57"/>
          <p:cNvSpPr txBox="1"/>
          <p:nvPr/>
        </p:nvSpPr>
        <p:spPr>
          <a:xfrm>
            <a:off x="576072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winsorised copy, original kept</a:t>
            </a:r>
            <a:endParaRPr lang="en-US" sz="1100" dirty="0"/>
          </a:p>
        </p:txBody>
      </p:sp>
      <p:sp>
        <p:nvSpPr>
          <p:cNvPr id="61" name="Challenge tile"/>
          <p:cNvSpPr/>
          <p:nvPr/>
        </p:nvSpPr>
        <p:spPr>
          <a:xfrm>
            <a:off x="8046720" y="4754880"/>
            <a:ext cx="3566160" cy="1463040"/>
          </a:xfrm>
          <a:prstGeom prst="roundRect">
            <a:avLst>
              <a:gd name="adj" fmla="val 5000"/>
            </a:avLst>
          </a:prstGeom>
          <a:solidFill>
            <a:srgbClr val="F2F6FB"/>
          </a:solidFill>
          <a:ln w="12700">
            <a:solidFill>
              <a:srgbClr val="F2F6FB"/>
            </a:solidFill>
            <a:prstDash val="solid"/>
          </a:ln>
        </p:spPr>
      </p:sp>
      <p:sp>
        <p:nvSpPr>
          <p:cNvPr id="62" name="Tile accent"/>
          <p:cNvSpPr/>
          <p:nvPr/>
        </p:nvSpPr>
        <p:spPr>
          <a:xfrm>
            <a:off x="8046720" y="4754880"/>
            <a:ext cx="82296" cy="1463040"/>
          </a:xfrm>
          <a:prstGeom prst="rect">
            <a:avLst/>
          </a:prstGeom>
          <a:solidFill>
            <a:srgbClr val="12263F"/>
          </a:solidFill>
          <a:ln w="12700">
            <a:solidFill>
              <a:srgbClr val="12263F"/>
            </a:solidFill>
            <a:prstDash val="solid"/>
          </a:ln>
        </p:spPr>
      </p:sp>
      <p:sp>
        <p:nvSpPr>
          <p:cNvPr id="63" name="Text 60"/>
          <p:cNvSpPr txBox="1"/>
          <p:nvPr/>
        </p:nvSpPr>
        <p:spPr>
          <a:xfrm>
            <a:off x="8275320" y="4846320"/>
            <a:ext cx="3200400" cy="502920"/>
          </a:xfrm>
          <a:prstGeom prst="rect">
            <a:avLst/>
          </a:prstGeom>
          <a:noFill/>
          <a:ln/>
        </p:spPr>
        <p:txBody>
          <a:bodyPr wrap="square" lIns="0" tIns="0" rIns="0" bIns="0" rtlCol="0" anchor="ctr"/>
          <a:lstStyle/>
          <a:p>
            <a:pPr indent="0" marL="0">
              <a:buNone/>
            </a:pPr>
            <a:r>
              <a:rPr lang="en-US" sz="3000" b="1" dirty="0">
                <a:solidFill>
                  <a:srgbClr val="12263F"/>
                </a:solidFill>
                <a:latin typeface="Cambria" pitchFamily="34" charset="0"/>
                <a:ea typeface="Cambria" pitchFamily="34" charset="-122"/>
                <a:cs typeface="Cambria" pitchFamily="34" charset="-120"/>
              </a:rPr>
              <a:t>3</a:t>
            </a:r>
            <a:endParaRPr lang="en-US" sz="3000" dirty="0"/>
          </a:p>
        </p:txBody>
      </p:sp>
      <p:sp>
        <p:nvSpPr>
          <p:cNvPr id="64" name="Text 61"/>
          <p:cNvSpPr txBox="1"/>
          <p:nvPr/>
        </p:nvSpPr>
        <p:spPr>
          <a:xfrm>
            <a:off x="827532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sources: dates, customers, competitors</a:t>
            </a:r>
            <a:endParaRPr lang="en-US" sz="1300" dirty="0"/>
          </a:p>
        </p:txBody>
      </p:sp>
      <p:sp>
        <p:nvSpPr>
          <p:cNvPr id="65" name="Treatment chip"/>
          <p:cNvSpPr/>
          <p:nvPr/>
        </p:nvSpPr>
        <p:spPr>
          <a:xfrm>
            <a:off x="8275320" y="5824728"/>
            <a:ext cx="1143000" cy="265176"/>
          </a:xfrm>
          <a:prstGeom prst="roundRect">
            <a:avLst>
              <a:gd name="adj" fmla="val 17241"/>
            </a:avLst>
          </a:prstGeom>
          <a:solidFill>
            <a:srgbClr val="12263F"/>
          </a:solidFill>
          <a:ln w="12700">
            <a:solidFill>
              <a:srgbClr val="12263F"/>
            </a:solidFill>
            <a:prstDash val="solid"/>
          </a:ln>
        </p:spPr>
      </p:sp>
      <p:sp>
        <p:nvSpPr>
          <p:cNvPr id="66" name="Text 63"/>
          <p:cNvSpPr txBox="1"/>
          <p:nvPr/>
        </p:nvSpPr>
        <p:spPr>
          <a:xfrm>
            <a:off x="827532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ASSUMED</a:t>
            </a:r>
            <a:endParaRPr lang="en-US" sz="1000" dirty="0"/>
          </a:p>
        </p:txBody>
      </p:sp>
      <p:sp>
        <p:nvSpPr>
          <p:cNvPr id="67" name="Text 64"/>
          <p:cNvSpPr txBox="1"/>
          <p:nvPr/>
        </p:nvSpPr>
        <p:spPr>
          <a:xfrm>
            <a:off x="950976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synthetic calendar, labelled scenarios</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PRE-PROCESSING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Data finding and the demand_est computation</a:t>
            </a:r>
            <a:endParaRPr lang="en-US" sz="3000" dirty="0"/>
          </a:p>
        </p:txBody>
      </p:sp>
      <p:sp>
        <p:nvSpPr>
          <p:cNvPr id="5" name="Stat card"/>
          <p:cNvSpPr/>
          <p:nvPr/>
        </p:nvSpPr>
        <p:spPr>
          <a:xfrm>
            <a:off x="548640" y="1600200"/>
            <a:ext cx="3566160" cy="1051560"/>
          </a:xfrm>
          <a:prstGeom prst="roundRect">
            <a:avLst>
              <a:gd name="adj" fmla="val 6957"/>
            </a:avLst>
          </a:prstGeom>
          <a:solidFill>
            <a:srgbClr val="F2F6FB"/>
          </a:solidFill>
          <a:ln w="12700">
            <a:solidFill>
              <a:srgbClr val="F2F6FB"/>
            </a:solidFill>
            <a:prstDash val="solid"/>
          </a:ln>
        </p:spPr>
      </p:sp>
      <p:sp>
        <p:nvSpPr>
          <p:cNvPr id="6" name="Text 3"/>
          <p:cNvSpPr txBox="1"/>
          <p:nvPr/>
        </p:nvSpPr>
        <p:spPr>
          <a:xfrm>
            <a:off x="685800" y="1673352"/>
            <a:ext cx="3291840" cy="473202"/>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7" name="Text 4"/>
          <p:cNvSpPr txBox="1"/>
          <p:nvPr/>
        </p:nvSpPr>
        <p:spPr>
          <a:xfrm>
            <a:off x="68580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correlation of sales with the PREVIOUS row's stock</a:t>
            </a:r>
            <a:endParaRPr lang="en-US" sz="1300" dirty="0"/>
          </a:p>
        </p:txBody>
      </p:sp>
      <p:sp>
        <p:nvSpPr>
          <p:cNvPr id="8" name="Stat card"/>
          <p:cNvSpPr/>
          <p:nvPr/>
        </p:nvSpPr>
        <p:spPr>
          <a:xfrm>
            <a:off x="4297680" y="1600200"/>
            <a:ext cx="3566160" cy="1051560"/>
          </a:xfrm>
          <a:prstGeom prst="roundRect">
            <a:avLst>
              <a:gd name="adj" fmla="val 6957"/>
            </a:avLst>
          </a:prstGeom>
          <a:solidFill>
            <a:srgbClr val="F2F6FB"/>
          </a:solidFill>
          <a:ln w="12700">
            <a:solidFill>
              <a:srgbClr val="F2F6FB"/>
            </a:solidFill>
            <a:prstDash val="solid"/>
          </a:ln>
        </p:spPr>
      </p:sp>
      <p:sp>
        <p:nvSpPr>
          <p:cNvPr id="9" name="Text 6"/>
          <p:cNvSpPr txBox="1"/>
          <p:nvPr/>
        </p:nvSpPr>
        <p:spPr>
          <a:xfrm>
            <a:off x="4434840" y="1673352"/>
            <a:ext cx="3291840" cy="473202"/>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0" name="Text 7"/>
          <p:cNvSpPr txBox="1"/>
          <p:nvPr/>
        </p:nvSpPr>
        <p:spPr>
          <a:xfrm>
            <a:off x="443484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stock-out weeks, every one with zero sales</a:t>
            </a:r>
            <a:endParaRPr lang="en-US" sz="1300" dirty="0"/>
          </a:p>
        </p:txBody>
      </p:sp>
      <p:sp>
        <p:nvSpPr>
          <p:cNvPr id="11" name="Stat card"/>
          <p:cNvSpPr/>
          <p:nvPr/>
        </p:nvSpPr>
        <p:spPr>
          <a:xfrm>
            <a:off x="8046720" y="1600200"/>
            <a:ext cx="3566160" cy="1051560"/>
          </a:xfrm>
          <a:prstGeom prst="roundRect">
            <a:avLst>
              <a:gd name="adj" fmla="val 6957"/>
            </a:avLst>
          </a:prstGeom>
          <a:solidFill>
            <a:srgbClr val="F2F6FB"/>
          </a:solidFill>
          <a:ln w="12700">
            <a:solidFill>
              <a:srgbClr val="F2F6FB"/>
            </a:solidFill>
            <a:prstDash val="solid"/>
          </a:ln>
        </p:spPr>
      </p:sp>
      <p:sp>
        <p:nvSpPr>
          <p:cNvPr id="12" name="Text 9"/>
          <p:cNvSpPr txBox="1"/>
          <p:nvPr/>
        </p:nvSpPr>
        <p:spPr>
          <a:xfrm>
            <a:off x="8183880" y="1673352"/>
            <a:ext cx="3291840" cy="473202"/>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2,813</a:t>
            </a:r>
            <a:endParaRPr lang="en-US" sz="2800" dirty="0"/>
          </a:p>
        </p:txBody>
      </p:sp>
      <p:sp>
        <p:nvSpPr>
          <p:cNvPr id="13" name="Text 10"/>
          <p:cNvSpPr txBox="1"/>
          <p:nvPr/>
        </p:nvSpPr>
        <p:spPr>
          <a:xfrm>
            <a:off x="818388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weeks where sales equal stock (pile-ups at 1,500 / 2,500)</a:t>
            </a:r>
            <a:endParaRPr lang="en-US" sz="1300" dirty="0"/>
          </a:p>
        </p:txBody>
      </p:sp>
      <p:sp>
        <p:nvSpPr>
          <p:cNvPr id="14" name="Conclusion band"/>
          <p:cNvSpPr/>
          <p:nvPr/>
        </p:nvSpPr>
        <p:spPr>
          <a:xfrm>
            <a:off x="548640" y="2761488"/>
            <a:ext cx="11064240" cy="384048"/>
          </a:xfrm>
          <a:prstGeom prst="rect">
            <a:avLst/>
          </a:prstGeom>
          <a:solidFill>
            <a:srgbClr val="12263F"/>
          </a:solidFill>
          <a:ln w="12700">
            <a:solidFill>
              <a:srgbClr val="12263F"/>
            </a:solidFill>
            <a:prstDash val="solid"/>
          </a:ln>
        </p:spPr>
      </p:sp>
      <p:sp>
        <p:nvSpPr>
          <p:cNvPr id="15" name="Text 12"/>
          <p:cNvSpPr txBox="1"/>
          <p:nvPr/>
        </p:nvSpPr>
        <p:spPr>
          <a:xfrm>
            <a:off x="731520" y="2761488"/>
            <a:ext cx="10698480" cy="384048"/>
          </a:xfrm>
          <a:prstGeom prst="rect">
            <a:avLst/>
          </a:prstGeom>
          <a:noFill/>
          <a:ln/>
        </p:spPr>
        <p:txBody>
          <a:bodyPr wrap="square" lIns="0" tIns="0" rIns="0" bIns="0" rtlCol="0" anchor="ctr"/>
          <a:lstStyle/>
          <a:p>
            <a:pPr indent="0" marL="0">
              <a:buNone/>
            </a:pPr>
            <a:r>
              <a:rPr lang="en-US" sz="1250" b="1" dirty="0">
                <a:solidFill>
                  <a:srgbClr val="FFFFFF"/>
                </a:solidFill>
              </a:rPr>
              <a:t>sales = min(demand, stock)  →  53% of weeks understate demand  →  demand_est is computed per week type</a:t>
            </a:r>
            <a:endParaRPr lang="en-US" sz="1250" dirty="0"/>
          </a:p>
        </p:txBody>
      </p:sp>
      <p:sp>
        <p:nvSpPr>
          <p:cNvPr id="16" name="Week type card"/>
          <p:cNvSpPr/>
          <p:nvPr/>
        </p:nvSpPr>
        <p:spPr>
          <a:xfrm>
            <a:off x="548640" y="3246120"/>
            <a:ext cx="3566160" cy="2514600"/>
          </a:xfrm>
          <a:prstGeom prst="roundRect">
            <a:avLst>
              <a:gd name="adj" fmla="val 2909"/>
            </a:avLst>
          </a:prstGeom>
          <a:solidFill>
            <a:srgbClr val="F2F6FB"/>
          </a:solidFill>
          <a:ln w="12700">
            <a:solidFill>
              <a:srgbClr val="F2F6FB"/>
            </a:solidFill>
            <a:prstDash val="solid"/>
          </a:ln>
        </p:spPr>
      </p:sp>
      <p:sp>
        <p:nvSpPr>
          <p:cNvPr id="17" name="Card accent"/>
          <p:cNvSpPr/>
          <p:nvPr/>
        </p:nvSpPr>
        <p:spPr>
          <a:xfrm>
            <a:off x="548640" y="3246120"/>
            <a:ext cx="3566160" cy="64008"/>
          </a:xfrm>
          <a:prstGeom prst="rect">
            <a:avLst/>
          </a:prstGeom>
          <a:solidFill>
            <a:srgbClr val="2A78D6"/>
          </a:solidFill>
          <a:ln w="12700">
            <a:solidFill>
              <a:srgbClr val="2A78D6"/>
            </a:solidFill>
            <a:prstDash val="solid"/>
          </a:ln>
        </p:spPr>
      </p:sp>
      <p:sp>
        <p:nvSpPr>
          <p:cNvPr id="18" name="Text 15"/>
          <p:cNvSpPr txBox="1"/>
          <p:nvPr/>
        </p:nvSpPr>
        <p:spPr>
          <a:xfrm>
            <a:off x="73152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Unconstrained  ·  46.5%</a:t>
            </a:r>
            <a:endParaRPr lang="en-US" sz="1400" dirty="0"/>
          </a:p>
        </p:txBody>
      </p:sp>
      <p:sp>
        <p:nvSpPr>
          <p:cNvPr id="19" name="Text 16"/>
          <p:cNvSpPr txBox="1"/>
          <p:nvPr/>
        </p:nvSpPr>
        <p:spPr>
          <a:xfrm>
            <a:off x="731520" y="3630168"/>
            <a:ext cx="3200400" cy="384048"/>
          </a:xfrm>
          <a:prstGeom prst="rect">
            <a:avLst/>
          </a:prstGeom>
          <a:noFill/>
          <a:ln/>
        </p:spPr>
        <p:txBody>
          <a:bodyPr wrap="square" lIns="0" tIns="0" rIns="0" bIns="0" rtlCol="0" anchor="t"/>
          <a:lstStyle/>
          <a:p>
            <a:pPr indent="0" marL="0">
              <a:buNone/>
            </a:pPr>
            <a:r>
              <a:rPr lang="en-US" sz="1050" b="1" dirty="0">
                <a:solidFill>
                  <a:srgbClr val="1F5FB0"/>
                </a:solidFill>
              </a:rPr>
              <a:t>demand_est = sales</a:t>
            </a:r>
            <a:endParaRPr lang="en-US" sz="1050" dirty="0"/>
          </a:p>
        </p:txBody>
      </p:sp>
      <p:sp>
        <p:nvSpPr>
          <p:cNvPr id="20" name="Text 17"/>
          <p:cNvSpPr txBox="1"/>
          <p:nvPr/>
        </p:nvSpPr>
        <p:spPr>
          <a:xfrm>
            <a:off x="73152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stock was enough, so sales are the demand</a:t>
            </a:r>
            <a:endParaRPr lang="en-US" sz="1000" dirty="0"/>
          </a:p>
        </p:txBody>
      </p:sp>
      <p:sp>
        <p:nvSpPr>
          <p:cNvPr id="21" name="Text 18"/>
          <p:cNvSpPr txBox="1"/>
          <p:nvPr/>
        </p:nvSpPr>
        <p:spPr>
          <a:xfrm>
            <a:off x="73152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28</a:t>
            </a:r>
            <a:endParaRPr lang="en-US" sz="1050" dirty="0"/>
          </a:p>
        </p:txBody>
      </p:sp>
      <p:sp>
        <p:nvSpPr>
          <p:cNvPr id="22" name="Text 19"/>
          <p:cNvSpPr txBox="1"/>
          <p:nvPr/>
        </p:nvSpPr>
        <p:spPr>
          <a:xfrm>
            <a:off x="237744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23" name="Text 20"/>
          <p:cNvSpPr txBox="1"/>
          <p:nvPr/>
        </p:nvSpPr>
        <p:spPr>
          <a:xfrm>
            <a:off x="73152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24" name="Text 21"/>
          <p:cNvSpPr txBox="1"/>
          <p:nvPr/>
        </p:nvSpPr>
        <p:spPr>
          <a:xfrm>
            <a:off x="237744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2,201</a:t>
            </a:r>
            <a:endParaRPr lang="en-US" sz="1050" dirty="0"/>
          </a:p>
        </p:txBody>
      </p:sp>
      <p:sp>
        <p:nvSpPr>
          <p:cNvPr id="25" name="Text 22"/>
          <p:cNvSpPr txBox="1"/>
          <p:nvPr/>
        </p:nvSpPr>
        <p:spPr>
          <a:xfrm>
            <a:off x="73152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Stock available</a:t>
            </a:r>
            <a:endParaRPr lang="en-US" sz="1050" dirty="0"/>
          </a:p>
        </p:txBody>
      </p:sp>
      <p:sp>
        <p:nvSpPr>
          <p:cNvPr id="26" name="Text 23"/>
          <p:cNvSpPr txBox="1"/>
          <p:nvPr/>
        </p:nvSpPr>
        <p:spPr>
          <a:xfrm>
            <a:off x="237744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a:t>
            </a:r>
            <a:endParaRPr lang="en-US" sz="1050" dirty="0"/>
          </a:p>
        </p:txBody>
      </p:sp>
      <p:sp>
        <p:nvSpPr>
          <p:cNvPr id="27" name="Text 24"/>
          <p:cNvSpPr txBox="1"/>
          <p:nvPr/>
        </p:nvSpPr>
        <p:spPr>
          <a:xfrm>
            <a:off x="73152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28" name="Text 25"/>
          <p:cNvSpPr txBox="1"/>
          <p:nvPr/>
        </p:nvSpPr>
        <p:spPr>
          <a:xfrm>
            <a:off x="237744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2,211</a:t>
            </a:r>
            <a:endParaRPr lang="en-US" sz="1050" dirty="0"/>
          </a:p>
        </p:txBody>
      </p:sp>
      <p:sp>
        <p:nvSpPr>
          <p:cNvPr id="29" name="Text 26"/>
          <p:cNvSpPr txBox="1"/>
          <p:nvPr/>
        </p:nvSpPr>
        <p:spPr>
          <a:xfrm>
            <a:off x="73152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30" name="Text 27"/>
          <p:cNvSpPr txBox="1"/>
          <p:nvPr/>
        </p:nvSpPr>
        <p:spPr>
          <a:xfrm>
            <a:off x="237744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2,343</a:t>
            </a:r>
            <a:endParaRPr lang="en-US" sz="1050" dirty="0"/>
          </a:p>
        </p:txBody>
      </p:sp>
      <p:sp>
        <p:nvSpPr>
          <p:cNvPr id="31" name="Text 28"/>
          <p:cNvSpPr txBox="1"/>
          <p:nvPr/>
        </p:nvSpPr>
        <p:spPr>
          <a:xfrm>
            <a:off x="731520" y="5413248"/>
            <a:ext cx="2377440" cy="292608"/>
          </a:xfrm>
          <a:prstGeom prst="rect">
            <a:avLst/>
          </a:prstGeom>
          <a:noFill/>
          <a:ln/>
        </p:spPr>
        <p:txBody>
          <a:bodyPr wrap="square" lIns="0" tIns="0" rIns="0" bIns="0" rtlCol="0" anchor="ctr"/>
          <a:lstStyle/>
          <a:p>
            <a:pPr indent="0" marL="0">
              <a:buNone/>
            </a:pPr>
            <a:r>
              <a:rPr lang="en-US" sz="1350" b="1" dirty="0">
                <a:solidFill>
                  <a:srgbClr val="1F5FB0"/>
                </a:solidFill>
                <a:latin typeface="Cambria" pitchFamily="34" charset="0"/>
                <a:ea typeface="Cambria" pitchFamily="34" charset="-122"/>
                <a:cs typeface="Cambria" pitchFamily="34" charset="-120"/>
              </a:rPr>
              <a:t>demand_est = 2,201</a:t>
            </a:r>
            <a:endParaRPr lang="en-US" sz="1350" dirty="0"/>
          </a:p>
        </p:txBody>
      </p:sp>
      <p:sp>
        <p:nvSpPr>
          <p:cNvPr id="32" name="Text 29"/>
          <p:cNvSpPr txBox="1"/>
          <p:nvPr/>
        </p:nvSpPr>
        <p:spPr>
          <a:xfrm>
            <a:off x="310896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observed</a:t>
            </a:r>
            <a:endParaRPr lang="en-US" sz="900" dirty="0"/>
          </a:p>
        </p:txBody>
      </p:sp>
      <p:sp>
        <p:nvSpPr>
          <p:cNvPr id="33" name="Week type card"/>
          <p:cNvSpPr/>
          <p:nvPr/>
        </p:nvSpPr>
        <p:spPr>
          <a:xfrm>
            <a:off x="4297680" y="3246120"/>
            <a:ext cx="3566160" cy="2514600"/>
          </a:xfrm>
          <a:prstGeom prst="roundRect">
            <a:avLst>
              <a:gd name="adj" fmla="val 2909"/>
            </a:avLst>
          </a:prstGeom>
          <a:solidFill>
            <a:srgbClr val="F2F6FB"/>
          </a:solidFill>
          <a:ln w="12700">
            <a:solidFill>
              <a:srgbClr val="F2F6FB"/>
            </a:solidFill>
            <a:prstDash val="solid"/>
          </a:ln>
        </p:spPr>
      </p:sp>
      <p:sp>
        <p:nvSpPr>
          <p:cNvPr id="34" name="Card accent"/>
          <p:cNvSpPr/>
          <p:nvPr/>
        </p:nvSpPr>
        <p:spPr>
          <a:xfrm>
            <a:off x="4297680" y="3246120"/>
            <a:ext cx="3566160" cy="64008"/>
          </a:xfrm>
          <a:prstGeom prst="rect">
            <a:avLst/>
          </a:prstGeom>
          <a:solidFill>
            <a:srgbClr val="EB6834"/>
          </a:solidFill>
          <a:ln w="12700">
            <a:solidFill>
              <a:srgbClr val="EB6834"/>
            </a:solidFill>
            <a:prstDash val="solid"/>
          </a:ln>
        </p:spPr>
      </p:sp>
      <p:sp>
        <p:nvSpPr>
          <p:cNvPr id="35" name="Text 32"/>
          <p:cNvSpPr txBox="1"/>
          <p:nvPr/>
        </p:nvSpPr>
        <p:spPr>
          <a:xfrm>
            <a:off x="448056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Stock-limited  ·  36.1%</a:t>
            </a:r>
            <a:endParaRPr lang="en-US" sz="1400" dirty="0"/>
          </a:p>
        </p:txBody>
      </p:sp>
      <p:sp>
        <p:nvSpPr>
          <p:cNvPr id="36" name="Text 33"/>
          <p:cNvSpPr txBox="1"/>
          <p:nvPr/>
        </p:nvSpPr>
        <p:spPr>
          <a:xfrm>
            <a:off x="4480560" y="3630168"/>
            <a:ext cx="3200400" cy="384048"/>
          </a:xfrm>
          <a:prstGeom prst="rect">
            <a:avLst/>
          </a:prstGeom>
          <a:noFill/>
          <a:ln/>
        </p:spPr>
        <p:txBody>
          <a:bodyPr wrap="square" lIns="0" tIns="0" rIns="0" bIns="0" rtlCol="0" anchor="t"/>
          <a:lstStyle/>
          <a:p>
            <a:pPr indent="0" marL="0">
              <a:buNone/>
            </a:pPr>
            <a:r>
              <a:rPr lang="en-US" sz="1050" b="1" dirty="0">
                <a:solidFill>
                  <a:srgbClr val="C24E1F"/>
                </a:solidFill>
              </a:rPr>
              <a:t>demand_est = max(sales, 0.40 × legacy + 0.60 × model)</a:t>
            </a:r>
            <a:endParaRPr lang="en-US" sz="1050" dirty="0"/>
          </a:p>
        </p:txBody>
      </p:sp>
      <p:sp>
        <p:nvSpPr>
          <p:cNvPr id="37" name="Text 34"/>
          <p:cNvSpPr txBox="1"/>
          <p:nvPr/>
        </p:nvSpPr>
        <p:spPr>
          <a:xfrm>
            <a:off x="448056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sales hit the stock level, so demand is at least that</a:t>
            </a:r>
            <a:endParaRPr lang="en-US" sz="1000" dirty="0"/>
          </a:p>
        </p:txBody>
      </p:sp>
      <p:sp>
        <p:nvSpPr>
          <p:cNvPr id="38" name="Text 35"/>
          <p:cNvSpPr txBox="1"/>
          <p:nvPr/>
        </p:nvSpPr>
        <p:spPr>
          <a:xfrm>
            <a:off x="448056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a:t>
            </a:r>
            <a:endParaRPr lang="en-US" sz="1050" dirty="0"/>
          </a:p>
        </p:txBody>
      </p:sp>
      <p:sp>
        <p:nvSpPr>
          <p:cNvPr id="39" name="Text 36"/>
          <p:cNvSpPr txBox="1"/>
          <p:nvPr/>
        </p:nvSpPr>
        <p:spPr>
          <a:xfrm>
            <a:off x="612648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40" name="Text 37"/>
          <p:cNvSpPr txBox="1"/>
          <p:nvPr/>
        </p:nvSpPr>
        <p:spPr>
          <a:xfrm>
            <a:off x="448056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41" name="Text 38"/>
          <p:cNvSpPr txBox="1"/>
          <p:nvPr/>
        </p:nvSpPr>
        <p:spPr>
          <a:xfrm>
            <a:off x="612648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 (= stock)</a:t>
            </a:r>
            <a:endParaRPr lang="en-US" sz="1050" dirty="0"/>
          </a:p>
        </p:txBody>
      </p:sp>
      <p:sp>
        <p:nvSpPr>
          <p:cNvPr id="42" name="Text 39"/>
          <p:cNvSpPr txBox="1"/>
          <p:nvPr/>
        </p:nvSpPr>
        <p:spPr>
          <a:xfrm>
            <a:off x="448056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43" name="Text 40"/>
          <p:cNvSpPr txBox="1"/>
          <p:nvPr/>
        </p:nvSpPr>
        <p:spPr>
          <a:xfrm>
            <a:off x="612648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2,733</a:t>
            </a:r>
            <a:endParaRPr lang="en-US" sz="1050" dirty="0"/>
          </a:p>
        </p:txBody>
      </p:sp>
      <p:sp>
        <p:nvSpPr>
          <p:cNvPr id="44" name="Text 41"/>
          <p:cNvSpPr txBox="1"/>
          <p:nvPr/>
        </p:nvSpPr>
        <p:spPr>
          <a:xfrm>
            <a:off x="448056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45" name="Text 42"/>
          <p:cNvSpPr txBox="1"/>
          <p:nvPr/>
        </p:nvSpPr>
        <p:spPr>
          <a:xfrm>
            <a:off x="612648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2,611</a:t>
            </a:r>
            <a:endParaRPr lang="en-US" sz="1050" dirty="0"/>
          </a:p>
        </p:txBody>
      </p:sp>
      <p:sp>
        <p:nvSpPr>
          <p:cNvPr id="46" name="Text 43"/>
          <p:cNvSpPr txBox="1"/>
          <p:nvPr/>
        </p:nvSpPr>
        <p:spPr>
          <a:xfrm>
            <a:off x="448056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47" name="Text 44"/>
          <p:cNvSpPr txBox="1"/>
          <p:nvPr/>
        </p:nvSpPr>
        <p:spPr>
          <a:xfrm>
            <a:off x="612648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2,659</a:t>
            </a:r>
            <a:endParaRPr lang="en-US" sz="1050" dirty="0"/>
          </a:p>
        </p:txBody>
      </p:sp>
      <p:sp>
        <p:nvSpPr>
          <p:cNvPr id="48" name="Text 45"/>
          <p:cNvSpPr txBox="1"/>
          <p:nvPr/>
        </p:nvSpPr>
        <p:spPr>
          <a:xfrm>
            <a:off x="4480560" y="5413248"/>
            <a:ext cx="2377440" cy="292608"/>
          </a:xfrm>
          <a:prstGeom prst="rect">
            <a:avLst/>
          </a:prstGeom>
          <a:noFill/>
          <a:ln/>
        </p:spPr>
        <p:txBody>
          <a:bodyPr wrap="square" lIns="0" tIns="0" rIns="0" bIns="0" rtlCol="0" anchor="ctr"/>
          <a:lstStyle/>
          <a:p>
            <a:pPr indent="0" marL="0">
              <a:buNone/>
            </a:pPr>
            <a:r>
              <a:rPr lang="en-US" sz="1350" b="1" dirty="0">
                <a:solidFill>
                  <a:srgbClr val="C24E1F"/>
                </a:solidFill>
                <a:latin typeface="Cambria" pitchFamily="34" charset="0"/>
                <a:ea typeface="Cambria" pitchFamily="34" charset="-122"/>
                <a:cs typeface="Cambria" pitchFamily="34" charset="-120"/>
              </a:rPr>
              <a:t>demand_est = 2,659</a:t>
            </a:r>
            <a:endParaRPr lang="en-US" sz="1350" dirty="0"/>
          </a:p>
        </p:txBody>
      </p:sp>
      <p:sp>
        <p:nvSpPr>
          <p:cNvPr id="49" name="Text 46"/>
          <p:cNvSpPr txBox="1"/>
          <p:nvPr/>
        </p:nvSpPr>
        <p:spPr>
          <a:xfrm>
            <a:off x="685800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+6.4% above sales</a:t>
            </a:r>
            <a:endParaRPr lang="en-US" sz="900" dirty="0"/>
          </a:p>
        </p:txBody>
      </p:sp>
      <p:sp>
        <p:nvSpPr>
          <p:cNvPr id="50" name="Week type card"/>
          <p:cNvSpPr/>
          <p:nvPr/>
        </p:nvSpPr>
        <p:spPr>
          <a:xfrm>
            <a:off x="8046720" y="3246120"/>
            <a:ext cx="3566160" cy="2514600"/>
          </a:xfrm>
          <a:prstGeom prst="roundRect">
            <a:avLst>
              <a:gd name="adj" fmla="val 2909"/>
            </a:avLst>
          </a:prstGeom>
          <a:solidFill>
            <a:srgbClr val="F2F6FB"/>
          </a:solidFill>
          <a:ln w="12700">
            <a:solidFill>
              <a:srgbClr val="F2F6FB"/>
            </a:solidFill>
            <a:prstDash val="solid"/>
          </a:ln>
        </p:spPr>
      </p:sp>
      <p:sp>
        <p:nvSpPr>
          <p:cNvPr id="51" name="Card accent"/>
          <p:cNvSpPr/>
          <p:nvPr/>
        </p:nvSpPr>
        <p:spPr>
          <a:xfrm>
            <a:off x="8046720" y="3246120"/>
            <a:ext cx="3566160" cy="64008"/>
          </a:xfrm>
          <a:prstGeom prst="rect">
            <a:avLst/>
          </a:prstGeom>
          <a:solidFill>
            <a:srgbClr val="D03B3B"/>
          </a:solidFill>
          <a:ln w="12700">
            <a:solidFill>
              <a:srgbClr val="D03B3B"/>
            </a:solidFill>
            <a:prstDash val="solid"/>
          </a:ln>
        </p:spPr>
      </p:sp>
      <p:sp>
        <p:nvSpPr>
          <p:cNvPr id="52" name="Text 49"/>
          <p:cNvSpPr txBox="1"/>
          <p:nvPr/>
        </p:nvSpPr>
        <p:spPr>
          <a:xfrm>
            <a:off x="822960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Stock-out  ·  17.0%</a:t>
            </a:r>
            <a:endParaRPr lang="en-US" sz="1400" dirty="0"/>
          </a:p>
        </p:txBody>
      </p:sp>
      <p:sp>
        <p:nvSpPr>
          <p:cNvPr id="53" name="Text 50"/>
          <p:cNvSpPr txBox="1"/>
          <p:nvPr/>
        </p:nvSpPr>
        <p:spPr>
          <a:xfrm>
            <a:off x="8229600" y="3630168"/>
            <a:ext cx="3200400" cy="384048"/>
          </a:xfrm>
          <a:prstGeom prst="rect">
            <a:avLst/>
          </a:prstGeom>
          <a:noFill/>
          <a:ln/>
        </p:spPr>
        <p:txBody>
          <a:bodyPr wrap="square" lIns="0" tIns="0" rIns="0" bIns="0" rtlCol="0" anchor="t"/>
          <a:lstStyle/>
          <a:p>
            <a:pPr indent="0" marL="0">
              <a:buNone/>
            </a:pPr>
            <a:r>
              <a:rPr lang="en-US" sz="1050" b="1" dirty="0">
                <a:solidFill>
                  <a:srgbClr val="B02F2F"/>
                </a:solidFill>
              </a:rPr>
              <a:t>demand_est = max(sales, 0.40 × legacy + 0.60 × model)</a:t>
            </a:r>
            <a:endParaRPr lang="en-US" sz="1050" dirty="0"/>
          </a:p>
        </p:txBody>
      </p:sp>
      <p:sp>
        <p:nvSpPr>
          <p:cNvPr id="54" name="Text 51"/>
          <p:cNvSpPr txBox="1"/>
          <p:nvPr/>
        </p:nvSpPr>
        <p:spPr>
          <a:xfrm>
            <a:off x="822960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no stock, so sales are 0 and demand is hidden</a:t>
            </a:r>
            <a:endParaRPr lang="en-US" sz="1000" dirty="0"/>
          </a:p>
        </p:txBody>
      </p:sp>
      <p:sp>
        <p:nvSpPr>
          <p:cNvPr id="55" name="Text 52"/>
          <p:cNvSpPr txBox="1"/>
          <p:nvPr/>
        </p:nvSpPr>
        <p:spPr>
          <a:xfrm>
            <a:off x="822960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4</a:t>
            </a:r>
            <a:endParaRPr lang="en-US" sz="1050" dirty="0"/>
          </a:p>
        </p:txBody>
      </p:sp>
      <p:sp>
        <p:nvSpPr>
          <p:cNvPr id="56" name="Text 53"/>
          <p:cNvSpPr txBox="1"/>
          <p:nvPr/>
        </p:nvSpPr>
        <p:spPr>
          <a:xfrm>
            <a:off x="987552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57" name="Text 54"/>
          <p:cNvSpPr txBox="1"/>
          <p:nvPr/>
        </p:nvSpPr>
        <p:spPr>
          <a:xfrm>
            <a:off x="822960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58" name="Text 55"/>
          <p:cNvSpPr txBox="1"/>
          <p:nvPr/>
        </p:nvSpPr>
        <p:spPr>
          <a:xfrm>
            <a:off x="987552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0 (stock = 0)</a:t>
            </a:r>
            <a:endParaRPr lang="en-US" sz="1050" dirty="0"/>
          </a:p>
        </p:txBody>
      </p:sp>
      <p:sp>
        <p:nvSpPr>
          <p:cNvPr id="59" name="Text 56"/>
          <p:cNvSpPr txBox="1"/>
          <p:nvPr/>
        </p:nvSpPr>
        <p:spPr>
          <a:xfrm>
            <a:off x="822960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60" name="Text 57"/>
          <p:cNvSpPr txBox="1"/>
          <p:nvPr/>
        </p:nvSpPr>
        <p:spPr>
          <a:xfrm>
            <a:off x="987552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3,195</a:t>
            </a:r>
            <a:endParaRPr lang="en-US" sz="1050" dirty="0"/>
          </a:p>
        </p:txBody>
      </p:sp>
      <p:sp>
        <p:nvSpPr>
          <p:cNvPr id="61" name="Text 58"/>
          <p:cNvSpPr txBox="1"/>
          <p:nvPr/>
        </p:nvSpPr>
        <p:spPr>
          <a:xfrm>
            <a:off x="822960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62" name="Text 59"/>
          <p:cNvSpPr txBox="1"/>
          <p:nvPr/>
        </p:nvSpPr>
        <p:spPr>
          <a:xfrm>
            <a:off x="987552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2,758</a:t>
            </a:r>
            <a:endParaRPr lang="en-US" sz="1050" dirty="0"/>
          </a:p>
        </p:txBody>
      </p:sp>
      <p:sp>
        <p:nvSpPr>
          <p:cNvPr id="63" name="Text 60"/>
          <p:cNvSpPr txBox="1"/>
          <p:nvPr/>
        </p:nvSpPr>
        <p:spPr>
          <a:xfrm>
            <a:off x="822960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64" name="Text 61"/>
          <p:cNvSpPr txBox="1"/>
          <p:nvPr/>
        </p:nvSpPr>
        <p:spPr>
          <a:xfrm>
            <a:off x="987552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2,925</a:t>
            </a:r>
            <a:endParaRPr lang="en-US" sz="1050" dirty="0"/>
          </a:p>
        </p:txBody>
      </p:sp>
      <p:sp>
        <p:nvSpPr>
          <p:cNvPr id="65" name="Text 62"/>
          <p:cNvSpPr txBox="1"/>
          <p:nvPr/>
        </p:nvSpPr>
        <p:spPr>
          <a:xfrm>
            <a:off x="8229600" y="5413248"/>
            <a:ext cx="2377440" cy="292608"/>
          </a:xfrm>
          <a:prstGeom prst="rect">
            <a:avLst/>
          </a:prstGeom>
          <a:noFill/>
          <a:ln/>
        </p:spPr>
        <p:txBody>
          <a:bodyPr wrap="square" lIns="0" tIns="0" rIns="0" bIns="0" rtlCol="0" anchor="ctr"/>
          <a:lstStyle/>
          <a:p>
            <a:pPr indent="0" marL="0">
              <a:buNone/>
            </a:pPr>
            <a:r>
              <a:rPr lang="en-US" sz="1350" b="1" dirty="0">
                <a:solidFill>
                  <a:srgbClr val="B02F2F"/>
                </a:solidFill>
                <a:latin typeface="Cambria" pitchFamily="34" charset="0"/>
                <a:ea typeface="Cambria" pitchFamily="34" charset="-122"/>
                <a:cs typeface="Cambria" pitchFamily="34" charset="-120"/>
              </a:rPr>
              <a:t>demand_est = 2,925</a:t>
            </a:r>
            <a:endParaRPr lang="en-US" sz="1350" dirty="0"/>
          </a:p>
        </p:txBody>
      </p:sp>
      <p:sp>
        <p:nvSpPr>
          <p:cNvPr id="66" name="Text 63"/>
          <p:cNvSpPr txBox="1"/>
          <p:nvPr/>
        </p:nvSpPr>
        <p:spPr>
          <a:xfrm>
            <a:off x="1060704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sales were 0</a:t>
            </a:r>
            <a:endParaRPr lang="en-US" sz="900" dirty="0"/>
          </a:p>
        </p:txBody>
      </p:sp>
      <p:sp>
        <p:nvSpPr>
          <p:cNvPr id="67" name="Text 64"/>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50" i="1" dirty="0">
                <a:solidFill>
                  <a:srgbClr val="5B6B80"/>
                </a:solidFill>
              </a:rPr>
              <a:t>Why 0.40 / 0.60: on weeks with known demand the blend errs by 5.0%, against 7.9% for the legacy forecast and 6.6% for the seasonal model alone; weights fitted out-of-fold. 606 missing legacy values use the model alone.</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FEATURE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Feature engineering in three layers</a:t>
            </a:r>
            <a:endParaRPr lang="en-US" sz="3000" dirty="0"/>
          </a:p>
        </p:txBody>
      </p:sp>
      <p:sp>
        <p:nvSpPr>
          <p:cNvPr id="5" name="Feature layer"/>
          <p:cNvSpPr/>
          <p:nvPr/>
        </p:nvSpPr>
        <p:spPr>
          <a:xfrm>
            <a:off x="548640" y="1645920"/>
            <a:ext cx="6309360" cy="1170432"/>
          </a:xfrm>
          <a:prstGeom prst="roundRect">
            <a:avLst>
              <a:gd name="adj" fmla="val 6250"/>
            </a:avLst>
          </a:prstGeom>
          <a:solidFill>
            <a:srgbClr val="F2F6FB"/>
          </a:solidFill>
          <a:ln w="12700">
            <a:solidFill>
              <a:srgbClr val="F2F6FB"/>
            </a:solidFill>
            <a:prstDash val="solid"/>
          </a:ln>
        </p:spPr>
      </p:sp>
      <p:sp>
        <p:nvSpPr>
          <p:cNvPr id="6" name="Layer accent"/>
          <p:cNvSpPr/>
          <p:nvPr/>
        </p:nvSpPr>
        <p:spPr>
          <a:xfrm>
            <a:off x="548640" y="1645920"/>
            <a:ext cx="82296" cy="1170432"/>
          </a:xfrm>
          <a:prstGeom prst="rect">
            <a:avLst/>
          </a:prstGeom>
          <a:solidFill>
            <a:srgbClr val="2A78D6"/>
          </a:solidFill>
          <a:ln w="12700">
            <a:solidFill>
              <a:srgbClr val="2A78D6"/>
            </a:solidFill>
            <a:prstDash val="solid"/>
          </a:ln>
        </p:spPr>
      </p:sp>
      <p:sp>
        <p:nvSpPr>
          <p:cNvPr id="7" name="Text 4"/>
          <p:cNvSpPr txBox="1"/>
          <p:nvPr/>
        </p:nvSpPr>
        <p:spPr>
          <a:xfrm>
            <a:off x="777240" y="1709928"/>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A  Data and stock features</a:t>
            </a:r>
            <a:pPr indent="0" marL="0">
              <a:buNone/>
            </a:pPr>
            <a:r>
              <a:rPr lang="en-US" sz="1100" i="1" dirty="0">
                <a:solidFill>
                  <a:srgbClr val="5B6B80"/>
                </a:solidFill>
              </a:rPr>
              <a:t>   built in ETL</a:t>
            </a:r>
            <a:endParaRPr lang="en-US" sz="1400" dirty="0"/>
          </a:p>
        </p:txBody>
      </p:sp>
      <p:sp>
        <p:nvSpPr>
          <p:cNvPr id="8" name="Text 5"/>
          <p:cNvSpPr txBox="1"/>
          <p:nvPr/>
        </p:nvSpPr>
        <p:spPr>
          <a:xfrm>
            <a:off x="777240" y="2039112"/>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stock available = previous row's inventory (lag 1)</a:t>
            </a:r>
            <a:endParaRPr lang="en-US" sz="1150" dirty="0"/>
          </a:p>
          <a:p>
            <a:pPr marL="203200" indent="-203200">
              <a:spcAft>
                <a:spcPts val="800"/>
              </a:spcAft>
              <a:buSzPct val="100000"/>
              <a:buChar char="•"/>
            </a:pPr>
            <a:r>
              <a:rPr lang="en-US" sz="1150" dirty="0">
                <a:solidFill>
                  <a:srgbClr val="1B2A41"/>
                </a:solidFill>
              </a:rPr>
              <a:t>censor status and flags: stock-out, capped, pile-up, outlier</a:t>
            </a:r>
            <a:endParaRPr lang="en-US" sz="1150" dirty="0"/>
          </a:p>
          <a:p>
            <a:pPr marL="203200" indent="-203200">
              <a:spcAft>
                <a:spcPts val="800"/>
              </a:spcAft>
              <a:buSzPct val="100000"/>
              <a:buChar char="•"/>
            </a:pPr>
            <a:r>
              <a:rPr lang="en-US" sz="1150" dirty="0">
                <a:solidFill>
                  <a:srgbClr val="1B2A41"/>
                </a:solidFill>
              </a:rPr>
              <a:t>recomputed margin, growth, turnover</a:t>
            </a:r>
            <a:endParaRPr lang="en-US" sz="1150" dirty="0"/>
          </a:p>
        </p:txBody>
      </p:sp>
      <p:sp>
        <p:nvSpPr>
          <p:cNvPr id="9" name="Feature layer"/>
          <p:cNvSpPr/>
          <p:nvPr/>
        </p:nvSpPr>
        <p:spPr>
          <a:xfrm>
            <a:off x="548640" y="2889504"/>
            <a:ext cx="6309360" cy="1170432"/>
          </a:xfrm>
          <a:prstGeom prst="roundRect">
            <a:avLst>
              <a:gd name="adj" fmla="val 6250"/>
            </a:avLst>
          </a:prstGeom>
          <a:solidFill>
            <a:srgbClr val="F2F6FB"/>
          </a:solidFill>
          <a:ln w="12700">
            <a:solidFill>
              <a:srgbClr val="F2F6FB"/>
            </a:solidFill>
            <a:prstDash val="solid"/>
          </a:ln>
        </p:spPr>
      </p:sp>
      <p:sp>
        <p:nvSpPr>
          <p:cNvPr id="10" name="Layer accent"/>
          <p:cNvSpPr/>
          <p:nvPr/>
        </p:nvSpPr>
        <p:spPr>
          <a:xfrm>
            <a:off x="548640" y="2889504"/>
            <a:ext cx="82296" cy="1170432"/>
          </a:xfrm>
          <a:prstGeom prst="rect">
            <a:avLst/>
          </a:prstGeom>
          <a:solidFill>
            <a:srgbClr val="1BAF7A"/>
          </a:solidFill>
          <a:ln w="12700">
            <a:solidFill>
              <a:srgbClr val="1BAF7A"/>
            </a:solidFill>
            <a:prstDash val="solid"/>
          </a:ln>
        </p:spPr>
      </p:sp>
      <p:sp>
        <p:nvSpPr>
          <p:cNvPr id="11" name="Text 8"/>
          <p:cNvSpPr txBox="1"/>
          <p:nvPr/>
        </p:nvSpPr>
        <p:spPr>
          <a:xfrm>
            <a:off x="777240" y="2953512"/>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B  Target and structure</a:t>
            </a:r>
            <a:pPr indent="0" marL="0">
              <a:buNone/>
            </a:pPr>
            <a:r>
              <a:rPr lang="en-US" sz="1100" i="1" dirty="0">
                <a:solidFill>
                  <a:srgbClr val="5B6B80"/>
                </a:solidFill>
              </a:rPr>
              <a:t>   built in pre-processing</a:t>
            </a:r>
            <a:endParaRPr lang="en-US" sz="1400" dirty="0"/>
          </a:p>
        </p:txBody>
      </p:sp>
      <p:sp>
        <p:nvSpPr>
          <p:cNvPr id="12" name="Text 9"/>
          <p:cNvSpPr txBox="1"/>
          <p:nvPr/>
        </p:nvSpPr>
        <p:spPr>
          <a:xfrm>
            <a:off x="777240" y="3282696"/>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demand_est: the reconstructed target</a:t>
            </a:r>
            <a:endParaRPr lang="en-US" sz="1150" dirty="0"/>
          </a:p>
          <a:p>
            <a:pPr marL="203200" indent="-203200">
              <a:spcAft>
                <a:spcPts val="800"/>
              </a:spcAft>
              <a:buSzPct val="100000"/>
              <a:buChar char="•"/>
            </a:pPr>
            <a:r>
              <a:rPr lang="en-US" sz="1150" dirty="0">
                <a:solidFill>
                  <a:srgbClr val="1B2A41"/>
                </a:solidFill>
              </a:rPr>
              <a:t>calendar: week of year, quarter, season, year index</a:t>
            </a:r>
            <a:endParaRPr lang="en-US" sz="1150" dirty="0"/>
          </a:p>
          <a:p>
            <a:pPr marL="203200" indent="-203200">
              <a:spcAft>
                <a:spcPts val="800"/>
              </a:spcAft>
              <a:buSzPct val="100000"/>
              <a:buChar char="•"/>
            </a:pPr>
            <a:r>
              <a:rPr lang="en-US" sz="1150" dirty="0">
                <a:solidFill>
                  <a:srgbClr val="1B2A41"/>
                </a:solidFill>
              </a:rPr>
              <a:t>stock regime (k-means) and high / normal stock profile</a:t>
            </a:r>
            <a:endParaRPr lang="en-US" sz="1150" dirty="0"/>
          </a:p>
        </p:txBody>
      </p:sp>
      <p:sp>
        <p:nvSpPr>
          <p:cNvPr id="13" name="Feature layer"/>
          <p:cNvSpPr/>
          <p:nvPr/>
        </p:nvSpPr>
        <p:spPr>
          <a:xfrm>
            <a:off x="548640" y="4133088"/>
            <a:ext cx="6309360" cy="1170432"/>
          </a:xfrm>
          <a:prstGeom prst="roundRect">
            <a:avLst>
              <a:gd name="adj" fmla="val 6250"/>
            </a:avLst>
          </a:prstGeom>
          <a:solidFill>
            <a:srgbClr val="F2F6FB"/>
          </a:solidFill>
          <a:ln w="12700">
            <a:solidFill>
              <a:srgbClr val="F2F6FB"/>
            </a:solidFill>
            <a:prstDash val="solid"/>
          </a:ln>
        </p:spPr>
      </p:sp>
      <p:sp>
        <p:nvSpPr>
          <p:cNvPr id="14" name="Layer accent"/>
          <p:cNvSpPr/>
          <p:nvPr/>
        </p:nvSpPr>
        <p:spPr>
          <a:xfrm>
            <a:off x="548640" y="4133088"/>
            <a:ext cx="82296" cy="1170432"/>
          </a:xfrm>
          <a:prstGeom prst="rect">
            <a:avLst/>
          </a:prstGeom>
          <a:solidFill>
            <a:srgbClr val="EB6834"/>
          </a:solidFill>
          <a:ln w="12700">
            <a:solidFill>
              <a:srgbClr val="EB6834"/>
            </a:solidFill>
            <a:prstDash val="solid"/>
          </a:ln>
        </p:spPr>
      </p:sp>
      <p:sp>
        <p:nvSpPr>
          <p:cNvPr id="15" name="Text 12"/>
          <p:cNvSpPr txBox="1"/>
          <p:nvPr/>
        </p:nvSpPr>
        <p:spPr>
          <a:xfrm>
            <a:off x="777240" y="4197096"/>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C  Model inputs</a:t>
            </a:r>
            <a:pPr indent="0" marL="0">
              <a:buNone/>
            </a:pPr>
            <a:r>
              <a:rPr lang="en-US" sz="1100" i="1" dirty="0">
                <a:solidFill>
                  <a:srgbClr val="5B6B80"/>
                </a:solidFill>
              </a:rPr>
              <a:t>   built in forecasting</a:t>
            </a:r>
            <a:endParaRPr lang="en-US" sz="1400" dirty="0"/>
          </a:p>
        </p:txBody>
      </p:sp>
      <p:sp>
        <p:nvSpPr>
          <p:cNvPr id="16" name="Text 13"/>
          <p:cNvSpPr txBox="1"/>
          <p:nvPr/>
        </p:nvSpPr>
        <p:spPr>
          <a:xfrm>
            <a:off x="777240" y="4526280"/>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Structural: product level, shared trend, sin / cos of week</a:t>
            </a:r>
            <a:endParaRPr lang="en-US" sz="1150" dirty="0"/>
          </a:p>
          <a:p>
            <a:pPr marL="203200" indent="-203200">
              <a:spcAft>
                <a:spcPts val="800"/>
              </a:spcAft>
              <a:buSzPct val="100000"/>
              <a:buChar char="•"/>
            </a:pPr>
            <a:r>
              <a:rPr lang="en-US" sz="1150" dirty="0">
                <a:solidFill>
                  <a:srgbClr val="1B2A41"/>
                </a:solidFill>
              </a:rPr>
              <a:t>LightGBM: horizon, same week last year (+/- 1), 13 / 26 / 52-week levels</a:t>
            </a:r>
            <a:endParaRPr lang="en-US" sz="1150" dirty="0"/>
          </a:p>
          <a:p>
            <a:pPr marL="203200" indent="-203200">
              <a:spcAft>
                <a:spcPts val="800"/>
              </a:spcAft>
              <a:buSzPct val="100000"/>
              <a:buChar char="•"/>
            </a:pPr>
            <a:r>
              <a:rPr lang="en-US" sz="1150" dirty="0">
                <a:solidFill>
                  <a:srgbClr val="1B2A41"/>
                </a:solidFill>
              </a:rPr>
              <a:t>target relative to the 52-week level</a:t>
            </a:r>
            <a:endParaRPr lang="en-US" sz="1150" dirty="0"/>
          </a:p>
        </p:txBody>
      </p:sp>
      <p:graphicFrame>
        <p:nvGraphicFramePr>
          <p:cNvPr id="17" name="Chart 0" descr=""/>
          <p:cNvGraphicFramePr/>
          <p:nvPr/>
        </p:nvGraphicFramePr>
        <p:xfrm>
          <a:off x="7086600" y="160020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18" name="Stat card"/>
          <p:cNvSpPr/>
          <p:nvPr/>
        </p:nvSpPr>
        <p:spPr>
          <a:xfrm>
            <a:off x="7086600" y="4206240"/>
            <a:ext cx="1417320" cy="1143000"/>
          </a:xfrm>
          <a:prstGeom prst="roundRect">
            <a:avLst>
              <a:gd name="adj" fmla="val 6400"/>
            </a:avLst>
          </a:prstGeom>
          <a:solidFill>
            <a:srgbClr val="F2F6FB"/>
          </a:solidFill>
          <a:ln w="12700">
            <a:solidFill>
              <a:srgbClr val="F2F6FB"/>
            </a:solidFill>
            <a:prstDash val="solid"/>
          </a:ln>
        </p:spPr>
      </p:sp>
      <p:sp>
        <p:nvSpPr>
          <p:cNvPr id="19" name="Text 15"/>
          <p:cNvSpPr txBox="1"/>
          <p:nvPr/>
        </p:nvSpPr>
        <p:spPr>
          <a:xfrm>
            <a:off x="7223760" y="4279392"/>
            <a:ext cx="1143000" cy="51435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78-86%</a:t>
            </a:r>
            <a:endParaRPr lang="en-US" sz="2000" dirty="0"/>
          </a:p>
        </p:txBody>
      </p:sp>
      <p:sp>
        <p:nvSpPr>
          <p:cNvPr id="20" name="Text 16"/>
          <p:cNvSpPr txBox="1"/>
          <p:nvPr/>
        </p:nvSpPr>
        <p:spPr>
          <a:xfrm>
            <a:off x="722376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variance by week of year</a:t>
            </a:r>
            <a:endParaRPr lang="en-US" sz="1300" dirty="0"/>
          </a:p>
        </p:txBody>
      </p:sp>
      <p:sp>
        <p:nvSpPr>
          <p:cNvPr id="21" name="Stat card"/>
          <p:cNvSpPr/>
          <p:nvPr/>
        </p:nvSpPr>
        <p:spPr>
          <a:xfrm>
            <a:off x="8595360" y="4206240"/>
            <a:ext cx="1417320" cy="1143000"/>
          </a:xfrm>
          <a:prstGeom prst="roundRect">
            <a:avLst>
              <a:gd name="adj" fmla="val 6400"/>
            </a:avLst>
          </a:prstGeom>
          <a:solidFill>
            <a:srgbClr val="F2F6FB"/>
          </a:solidFill>
          <a:ln w="12700">
            <a:solidFill>
              <a:srgbClr val="F2F6FB"/>
            </a:solidFill>
            <a:prstDash val="solid"/>
          </a:ln>
        </p:spPr>
      </p:sp>
      <p:sp>
        <p:nvSpPr>
          <p:cNvPr id="22" name="Text 18"/>
          <p:cNvSpPr txBox="1"/>
          <p:nvPr/>
        </p:nvSpPr>
        <p:spPr>
          <a:xfrm>
            <a:off x="8732520" y="4279392"/>
            <a:ext cx="1143000" cy="51435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0.97</a:t>
            </a:r>
            <a:endParaRPr lang="en-US" sz="2000" dirty="0"/>
          </a:p>
        </p:txBody>
      </p:sp>
      <p:sp>
        <p:nvSpPr>
          <p:cNvPr id="23" name="Text 19"/>
          <p:cNvSpPr txBox="1"/>
          <p:nvPr/>
        </p:nvSpPr>
        <p:spPr>
          <a:xfrm>
            <a:off x="873252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product profile correlation</a:t>
            </a:r>
            <a:endParaRPr lang="en-US" sz="1300" dirty="0"/>
          </a:p>
        </p:txBody>
      </p:sp>
      <p:sp>
        <p:nvSpPr>
          <p:cNvPr id="24" name="Stat card"/>
          <p:cNvSpPr/>
          <p:nvPr/>
        </p:nvSpPr>
        <p:spPr>
          <a:xfrm>
            <a:off x="10104120" y="4206240"/>
            <a:ext cx="1508760" cy="1143000"/>
          </a:xfrm>
          <a:prstGeom prst="roundRect">
            <a:avLst>
              <a:gd name="adj" fmla="val 6400"/>
            </a:avLst>
          </a:prstGeom>
          <a:solidFill>
            <a:srgbClr val="F2F6FB"/>
          </a:solidFill>
          <a:ln w="12700">
            <a:solidFill>
              <a:srgbClr val="F2F6FB"/>
            </a:solidFill>
            <a:prstDash val="solid"/>
          </a:ln>
        </p:spPr>
      </p:sp>
      <p:sp>
        <p:nvSpPr>
          <p:cNvPr id="25" name="Text 21"/>
          <p:cNvSpPr txBox="1"/>
          <p:nvPr/>
        </p:nvSpPr>
        <p:spPr>
          <a:xfrm>
            <a:off x="10241280" y="4279392"/>
            <a:ext cx="1234440" cy="514350"/>
          </a:xfrm>
          <a:prstGeom prst="rect">
            <a:avLst/>
          </a:prstGeom>
          <a:noFill/>
          <a:ln/>
        </p:spPr>
        <p:txBody>
          <a:bodyPr wrap="square" lIns="0" tIns="0" rIns="0" bIns="0" rtlCol="0" anchor="ctr"/>
          <a:lstStyle/>
          <a:p>
            <a:pPr indent="0" marL="0">
              <a:buNone/>
            </a:pPr>
            <a:r>
              <a:rPr lang="en-US" sz="2000" b="1" dirty="0">
                <a:solidFill>
                  <a:srgbClr val="EB6834"/>
                </a:solidFill>
                <a:latin typeface="Cambria" pitchFamily="34" charset="0"/>
                <a:ea typeface="Cambria" pitchFamily="34" charset="-122"/>
                <a:cs typeface="Cambria" pitchFamily="34" charset="-120"/>
              </a:rPr>
              <a:t>-0.017</a:t>
            </a:r>
            <a:endParaRPr lang="en-US" sz="2000" dirty="0"/>
          </a:p>
        </p:txBody>
      </p:sp>
      <p:sp>
        <p:nvSpPr>
          <p:cNvPr id="26" name="Text 22"/>
          <p:cNvSpPr txBox="1"/>
          <p:nvPr/>
        </p:nvSpPr>
        <p:spPr>
          <a:xfrm>
            <a:off x="10241280" y="4800600"/>
            <a:ext cx="1234440" cy="525780"/>
          </a:xfrm>
          <a:prstGeom prst="rect">
            <a:avLst/>
          </a:prstGeom>
          <a:noFill/>
          <a:ln/>
        </p:spPr>
        <p:txBody>
          <a:bodyPr wrap="square" lIns="0" tIns="0" rIns="0" bIns="0" rtlCol="0" anchor="t"/>
          <a:lstStyle/>
          <a:p>
            <a:pPr indent="0" marL="0">
              <a:buNone/>
            </a:pPr>
            <a:r>
              <a:rPr lang="en-US" sz="1300" dirty="0">
                <a:solidFill>
                  <a:srgbClr val="5B6B80"/>
                </a:solidFill>
              </a:rPr>
              <a:t>price effect (n.s.)</a:t>
            </a:r>
            <a:endParaRPr lang="en-US" sz="1300" dirty="0"/>
          </a:p>
        </p:txBody>
      </p:sp>
      <p:sp>
        <p:nvSpPr>
          <p:cNvPr id="27" name="Callout"/>
          <p:cNvSpPr/>
          <p:nvPr/>
        </p:nvSpPr>
        <p:spPr>
          <a:xfrm>
            <a:off x="548640" y="5468112"/>
            <a:ext cx="11064240" cy="868680"/>
          </a:xfrm>
          <a:prstGeom prst="roundRect">
            <a:avLst>
              <a:gd name="adj" fmla="val 8421"/>
            </a:avLst>
          </a:prstGeom>
          <a:solidFill>
            <a:srgbClr val="F2F6FB"/>
          </a:solidFill>
          <a:ln w="12700">
            <a:solidFill>
              <a:srgbClr val="D9E1EC"/>
            </a:solidFill>
            <a:prstDash val="solid"/>
          </a:ln>
        </p:spPr>
      </p:sp>
      <p:sp>
        <p:nvSpPr>
          <p:cNvPr id="28" name="Text 24"/>
          <p:cNvSpPr txBox="1"/>
          <p:nvPr/>
        </p:nvSpPr>
        <p:spPr>
          <a:xfrm>
            <a:off x="731520" y="5577840"/>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Rules and decisions</a:t>
            </a:r>
            <a:endParaRPr lang="en-US" sz="1400" dirty="0"/>
          </a:p>
        </p:txBody>
      </p:sp>
      <p:sp>
        <p:nvSpPr>
          <p:cNvPr id="29" name="Text 25"/>
          <p:cNvSpPr txBox="1"/>
          <p:nvPr/>
        </p:nvSpPr>
        <p:spPr>
          <a:xfrm>
            <a:off x="731520" y="5925312"/>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Only information known at the forecast origin is used; the legacy forecast builds the target but is never an input. One shared seasonal curve; price, cost and stock are not features.</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VALIDATION DESIGN</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Why four rolling tests instead of one train/test split</a:t>
            </a:r>
            <a:endParaRPr lang="en-US" sz="3000" dirty="0"/>
          </a:p>
        </p:txBody>
      </p:sp>
      <p:sp>
        <p:nvSpPr>
          <p:cNvPr id="5" name="Target band"/>
          <p:cNvSpPr/>
          <p:nvPr/>
        </p:nvSpPr>
        <p:spPr>
          <a:xfrm>
            <a:off x="548640" y="1600200"/>
            <a:ext cx="7498080" cy="457200"/>
          </a:xfrm>
          <a:prstGeom prst="roundRect">
            <a:avLst>
              <a:gd name="adj" fmla="val 12000"/>
            </a:avLst>
          </a:prstGeom>
          <a:solidFill>
            <a:srgbClr val="F2F6FB"/>
          </a:solidFill>
          <a:ln w="12700">
            <a:solidFill>
              <a:srgbClr val="F2F6FB"/>
            </a:solidFill>
            <a:prstDash val="solid"/>
          </a:ln>
        </p:spPr>
      </p:sp>
      <p:sp>
        <p:nvSpPr>
          <p:cNvPr id="6" name="Text 3"/>
          <p:cNvSpPr txBox="1"/>
          <p:nvPr/>
        </p:nvSpPr>
        <p:spPr>
          <a:xfrm>
            <a:off x="685800" y="1600200"/>
            <a:ext cx="7269480" cy="457200"/>
          </a:xfrm>
          <a:prstGeom prst="rect">
            <a:avLst/>
          </a:prstGeom>
          <a:noFill/>
          <a:ln/>
        </p:spPr>
        <p:txBody>
          <a:bodyPr wrap="square" lIns="0" tIns="0" rIns="0" bIns="0" rtlCol="0" anchor="ctr"/>
          <a:lstStyle/>
          <a:p>
            <a:pPr indent="0" marL="0">
              <a:buNone/>
            </a:pPr>
            <a:r>
              <a:rPr lang="en-US" sz="1100" dirty="0">
                <a:solidFill>
                  <a:srgbClr val="5B6B80"/>
                </a:solidFill>
              </a:rPr>
              <a:t>Predicts </a:t>
            </a:r>
            <a:pPr indent="0" marL="0">
              <a:buNone/>
            </a:pPr>
            <a:r>
              <a:rPr lang="en-US" sz="1100" b="1" dirty="0">
                <a:solidFill>
                  <a:srgbClr val="1B2A41"/>
                </a:solidFill>
              </a:rPr>
              <a:t>demand_est</a:t>
            </a:r>
            <a:pPr indent="0" marL="0">
              <a:buNone/>
            </a:pPr>
            <a:r>
              <a:rPr lang="en-US" sz="1100" dirty="0">
                <a:solidFill>
                  <a:srgbClr val="5B6B80"/>
                </a:solidFill>
              </a:rPr>
              <a:t> (units customers wanted)  ·  26 weeks × 30 products = 780 forecasts  ·  inputs: past demand, week of year, product</a:t>
            </a:r>
            <a:endParaRPr lang="en-US" sz="1100" dirty="0"/>
          </a:p>
        </p:txBody>
      </p:sp>
      <p:sp>
        <p:nvSpPr>
          <p:cNvPr id="7" name="Text 4"/>
          <p:cNvSpPr txBox="1"/>
          <p:nvPr/>
        </p:nvSpPr>
        <p:spPr>
          <a:xfrm>
            <a:off x="548640" y="2194560"/>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1</a:t>
            </a:r>
            <a:endParaRPr lang="en-US" sz="1150" dirty="0"/>
          </a:p>
        </p:txBody>
      </p:sp>
      <p:sp>
        <p:nvSpPr>
          <p:cNvPr id="8" name="Train"/>
          <p:cNvSpPr/>
          <p:nvPr/>
        </p:nvSpPr>
        <p:spPr>
          <a:xfrm>
            <a:off x="1417320" y="2194560"/>
            <a:ext cx="2394065" cy="310896"/>
          </a:xfrm>
          <a:prstGeom prst="rect">
            <a:avLst/>
          </a:prstGeom>
          <a:solidFill>
            <a:srgbClr val="2A78D6"/>
          </a:solidFill>
          <a:ln w="6350">
            <a:solidFill>
              <a:srgbClr val="FFFFFF"/>
            </a:solidFill>
            <a:prstDash val="solid"/>
          </a:ln>
        </p:spPr>
      </p:sp>
      <p:sp>
        <p:nvSpPr>
          <p:cNvPr id="9" name="Validation"/>
          <p:cNvSpPr/>
          <p:nvPr/>
        </p:nvSpPr>
        <p:spPr>
          <a:xfrm>
            <a:off x="3811385" y="2194560"/>
            <a:ext cx="1197033" cy="310896"/>
          </a:xfrm>
          <a:prstGeom prst="rect">
            <a:avLst/>
          </a:prstGeom>
          <a:solidFill>
            <a:srgbClr val="1BAF7A"/>
          </a:solidFill>
          <a:ln w="6350">
            <a:solidFill>
              <a:srgbClr val="FFFFFF"/>
            </a:solidFill>
            <a:prstDash val="solid"/>
          </a:ln>
        </p:spPr>
      </p:sp>
      <p:sp>
        <p:nvSpPr>
          <p:cNvPr id="10" name="Test"/>
          <p:cNvSpPr/>
          <p:nvPr/>
        </p:nvSpPr>
        <p:spPr>
          <a:xfrm>
            <a:off x="5008418" y="2194560"/>
            <a:ext cx="598516" cy="310896"/>
          </a:xfrm>
          <a:prstGeom prst="rect">
            <a:avLst/>
          </a:prstGeom>
          <a:solidFill>
            <a:srgbClr val="EB6834"/>
          </a:solidFill>
          <a:ln w="6350">
            <a:solidFill>
              <a:srgbClr val="FFFFFF"/>
            </a:solidFill>
            <a:prstDash val="solid"/>
          </a:ln>
        </p:spPr>
      </p:sp>
      <p:sp>
        <p:nvSpPr>
          <p:cNvPr id="11" name="Text 8"/>
          <p:cNvSpPr txBox="1"/>
          <p:nvPr/>
        </p:nvSpPr>
        <p:spPr>
          <a:xfrm>
            <a:off x="1417320" y="2194560"/>
            <a:ext cx="239406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1-104</a:t>
            </a:r>
            <a:endParaRPr lang="en-US" sz="1000" dirty="0"/>
          </a:p>
        </p:txBody>
      </p:sp>
      <p:sp>
        <p:nvSpPr>
          <p:cNvPr id="12" name="Text 9"/>
          <p:cNvSpPr txBox="1"/>
          <p:nvPr/>
        </p:nvSpPr>
        <p:spPr>
          <a:xfrm>
            <a:off x="3811385" y="2194560"/>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13" name="Text 10"/>
          <p:cNvSpPr txBox="1"/>
          <p:nvPr/>
        </p:nvSpPr>
        <p:spPr>
          <a:xfrm>
            <a:off x="4916978" y="2194560"/>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14" name="Text 11"/>
          <p:cNvSpPr txBox="1"/>
          <p:nvPr/>
        </p:nvSpPr>
        <p:spPr>
          <a:xfrm>
            <a:off x="548640" y="2596896"/>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2</a:t>
            </a:r>
            <a:endParaRPr lang="en-US" sz="1150" dirty="0"/>
          </a:p>
        </p:txBody>
      </p:sp>
      <p:sp>
        <p:nvSpPr>
          <p:cNvPr id="15" name="Train"/>
          <p:cNvSpPr/>
          <p:nvPr/>
        </p:nvSpPr>
        <p:spPr>
          <a:xfrm>
            <a:off x="1417320" y="2596896"/>
            <a:ext cx="2992582" cy="310896"/>
          </a:xfrm>
          <a:prstGeom prst="rect">
            <a:avLst/>
          </a:prstGeom>
          <a:solidFill>
            <a:srgbClr val="2A78D6"/>
          </a:solidFill>
          <a:ln w="6350">
            <a:solidFill>
              <a:srgbClr val="FFFFFF"/>
            </a:solidFill>
            <a:prstDash val="solid"/>
          </a:ln>
        </p:spPr>
      </p:sp>
      <p:sp>
        <p:nvSpPr>
          <p:cNvPr id="16" name="Validation"/>
          <p:cNvSpPr/>
          <p:nvPr/>
        </p:nvSpPr>
        <p:spPr>
          <a:xfrm>
            <a:off x="4409902" y="2596896"/>
            <a:ext cx="1197033" cy="310896"/>
          </a:xfrm>
          <a:prstGeom prst="rect">
            <a:avLst/>
          </a:prstGeom>
          <a:solidFill>
            <a:srgbClr val="1BAF7A"/>
          </a:solidFill>
          <a:ln w="6350">
            <a:solidFill>
              <a:srgbClr val="FFFFFF"/>
            </a:solidFill>
            <a:prstDash val="solid"/>
          </a:ln>
        </p:spPr>
      </p:sp>
      <p:sp>
        <p:nvSpPr>
          <p:cNvPr id="17" name="Test"/>
          <p:cNvSpPr/>
          <p:nvPr/>
        </p:nvSpPr>
        <p:spPr>
          <a:xfrm>
            <a:off x="5606935" y="2596896"/>
            <a:ext cx="598516" cy="310896"/>
          </a:xfrm>
          <a:prstGeom prst="rect">
            <a:avLst/>
          </a:prstGeom>
          <a:solidFill>
            <a:srgbClr val="EB6834"/>
          </a:solidFill>
          <a:ln w="6350">
            <a:solidFill>
              <a:srgbClr val="FFFFFF"/>
            </a:solidFill>
            <a:prstDash val="solid"/>
          </a:ln>
        </p:spPr>
      </p:sp>
      <p:sp>
        <p:nvSpPr>
          <p:cNvPr id="18" name="Text 15"/>
          <p:cNvSpPr txBox="1"/>
          <p:nvPr/>
        </p:nvSpPr>
        <p:spPr>
          <a:xfrm>
            <a:off x="1417320" y="2596896"/>
            <a:ext cx="2992582" cy="310896"/>
          </a:xfrm>
          <a:prstGeom prst="rect">
            <a:avLst/>
          </a:prstGeom>
          <a:noFill/>
          <a:ln/>
        </p:spPr>
        <p:txBody>
          <a:bodyPr wrap="square" lIns="0" tIns="0" rIns="0" bIns="0" rtlCol="0" anchor="ctr"/>
          <a:lstStyle/>
          <a:p>
            <a:pPr algn="ctr" indent="0" marL="0">
              <a:buNone/>
            </a:pPr>
            <a:r>
              <a:rPr lang="en-US" sz="1000" dirty="0">
                <a:solidFill>
                  <a:srgbClr val="FFFFFF"/>
                </a:solidFill>
              </a:rPr>
              <a:t>train  1-130</a:t>
            </a:r>
            <a:endParaRPr lang="en-US" sz="1000" dirty="0"/>
          </a:p>
        </p:txBody>
      </p:sp>
      <p:sp>
        <p:nvSpPr>
          <p:cNvPr id="19" name="Text 16"/>
          <p:cNvSpPr txBox="1"/>
          <p:nvPr/>
        </p:nvSpPr>
        <p:spPr>
          <a:xfrm>
            <a:off x="4409902" y="2596896"/>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0" name="Text 17"/>
          <p:cNvSpPr txBox="1"/>
          <p:nvPr/>
        </p:nvSpPr>
        <p:spPr>
          <a:xfrm>
            <a:off x="5515495" y="2596896"/>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1" name="Text 18"/>
          <p:cNvSpPr txBox="1"/>
          <p:nvPr/>
        </p:nvSpPr>
        <p:spPr>
          <a:xfrm>
            <a:off x="548640" y="2999232"/>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3</a:t>
            </a:r>
            <a:endParaRPr lang="en-US" sz="1150" dirty="0"/>
          </a:p>
        </p:txBody>
      </p:sp>
      <p:sp>
        <p:nvSpPr>
          <p:cNvPr id="22" name="Train"/>
          <p:cNvSpPr/>
          <p:nvPr/>
        </p:nvSpPr>
        <p:spPr>
          <a:xfrm>
            <a:off x="1417320" y="2999232"/>
            <a:ext cx="3591098" cy="310896"/>
          </a:xfrm>
          <a:prstGeom prst="rect">
            <a:avLst/>
          </a:prstGeom>
          <a:solidFill>
            <a:srgbClr val="2A78D6"/>
          </a:solidFill>
          <a:ln w="6350">
            <a:solidFill>
              <a:srgbClr val="FFFFFF"/>
            </a:solidFill>
            <a:prstDash val="solid"/>
          </a:ln>
        </p:spPr>
      </p:sp>
      <p:sp>
        <p:nvSpPr>
          <p:cNvPr id="23" name="Validation"/>
          <p:cNvSpPr/>
          <p:nvPr/>
        </p:nvSpPr>
        <p:spPr>
          <a:xfrm>
            <a:off x="5008418" y="2999232"/>
            <a:ext cx="1197033" cy="310896"/>
          </a:xfrm>
          <a:prstGeom prst="rect">
            <a:avLst/>
          </a:prstGeom>
          <a:solidFill>
            <a:srgbClr val="1BAF7A"/>
          </a:solidFill>
          <a:ln w="6350">
            <a:solidFill>
              <a:srgbClr val="FFFFFF"/>
            </a:solidFill>
            <a:prstDash val="solid"/>
          </a:ln>
        </p:spPr>
      </p:sp>
      <p:sp>
        <p:nvSpPr>
          <p:cNvPr id="24" name="Test"/>
          <p:cNvSpPr/>
          <p:nvPr/>
        </p:nvSpPr>
        <p:spPr>
          <a:xfrm>
            <a:off x="6205451" y="2999232"/>
            <a:ext cx="598516" cy="310896"/>
          </a:xfrm>
          <a:prstGeom prst="rect">
            <a:avLst/>
          </a:prstGeom>
          <a:solidFill>
            <a:srgbClr val="EB6834"/>
          </a:solidFill>
          <a:ln w="6350">
            <a:solidFill>
              <a:srgbClr val="FFFFFF"/>
            </a:solidFill>
            <a:prstDash val="solid"/>
          </a:ln>
        </p:spPr>
      </p:sp>
      <p:sp>
        <p:nvSpPr>
          <p:cNvPr id="25" name="Text 22"/>
          <p:cNvSpPr txBox="1"/>
          <p:nvPr/>
        </p:nvSpPr>
        <p:spPr>
          <a:xfrm>
            <a:off x="1417320" y="2999232"/>
            <a:ext cx="3591098" cy="310896"/>
          </a:xfrm>
          <a:prstGeom prst="rect">
            <a:avLst/>
          </a:prstGeom>
          <a:noFill/>
          <a:ln/>
        </p:spPr>
        <p:txBody>
          <a:bodyPr wrap="square" lIns="0" tIns="0" rIns="0" bIns="0" rtlCol="0" anchor="ctr"/>
          <a:lstStyle/>
          <a:p>
            <a:pPr algn="ctr" indent="0" marL="0">
              <a:buNone/>
            </a:pPr>
            <a:r>
              <a:rPr lang="en-US" sz="1000" dirty="0">
                <a:solidFill>
                  <a:srgbClr val="FFFFFF"/>
                </a:solidFill>
              </a:rPr>
              <a:t>train  1-156</a:t>
            </a:r>
            <a:endParaRPr lang="en-US" sz="1000" dirty="0"/>
          </a:p>
        </p:txBody>
      </p:sp>
      <p:sp>
        <p:nvSpPr>
          <p:cNvPr id="26" name="Text 23"/>
          <p:cNvSpPr txBox="1"/>
          <p:nvPr/>
        </p:nvSpPr>
        <p:spPr>
          <a:xfrm>
            <a:off x="5008418" y="2999232"/>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7" name="Text 24"/>
          <p:cNvSpPr txBox="1"/>
          <p:nvPr/>
        </p:nvSpPr>
        <p:spPr>
          <a:xfrm>
            <a:off x="6114011" y="2999232"/>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8" name="Text 25"/>
          <p:cNvSpPr txBox="1"/>
          <p:nvPr/>
        </p:nvSpPr>
        <p:spPr>
          <a:xfrm>
            <a:off x="548640" y="3401568"/>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4</a:t>
            </a:r>
            <a:endParaRPr lang="en-US" sz="1150" dirty="0"/>
          </a:p>
        </p:txBody>
      </p:sp>
      <p:sp>
        <p:nvSpPr>
          <p:cNvPr id="29" name="Train"/>
          <p:cNvSpPr/>
          <p:nvPr/>
        </p:nvSpPr>
        <p:spPr>
          <a:xfrm>
            <a:off x="1417320" y="3401568"/>
            <a:ext cx="4189615" cy="310896"/>
          </a:xfrm>
          <a:prstGeom prst="rect">
            <a:avLst/>
          </a:prstGeom>
          <a:solidFill>
            <a:srgbClr val="2A78D6"/>
          </a:solidFill>
          <a:ln w="6350">
            <a:solidFill>
              <a:srgbClr val="FFFFFF"/>
            </a:solidFill>
            <a:prstDash val="solid"/>
          </a:ln>
        </p:spPr>
      </p:sp>
      <p:sp>
        <p:nvSpPr>
          <p:cNvPr id="30" name="Validation"/>
          <p:cNvSpPr/>
          <p:nvPr/>
        </p:nvSpPr>
        <p:spPr>
          <a:xfrm>
            <a:off x="5606935" y="3401568"/>
            <a:ext cx="1197033" cy="310896"/>
          </a:xfrm>
          <a:prstGeom prst="rect">
            <a:avLst/>
          </a:prstGeom>
          <a:solidFill>
            <a:srgbClr val="1BAF7A"/>
          </a:solidFill>
          <a:ln w="6350">
            <a:solidFill>
              <a:srgbClr val="FFFFFF"/>
            </a:solidFill>
            <a:prstDash val="solid"/>
          </a:ln>
        </p:spPr>
      </p:sp>
      <p:sp>
        <p:nvSpPr>
          <p:cNvPr id="31" name="Test"/>
          <p:cNvSpPr/>
          <p:nvPr/>
        </p:nvSpPr>
        <p:spPr>
          <a:xfrm>
            <a:off x="6803967" y="3401568"/>
            <a:ext cx="598516" cy="310896"/>
          </a:xfrm>
          <a:prstGeom prst="rect">
            <a:avLst/>
          </a:prstGeom>
          <a:solidFill>
            <a:srgbClr val="EB6834"/>
          </a:solidFill>
          <a:ln w="6350">
            <a:solidFill>
              <a:srgbClr val="FFFFFF"/>
            </a:solidFill>
            <a:prstDash val="solid"/>
          </a:ln>
        </p:spPr>
      </p:sp>
      <p:sp>
        <p:nvSpPr>
          <p:cNvPr id="32" name="Text 29"/>
          <p:cNvSpPr txBox="1"/>
          <p:nvPr/>
        </p:nvSpPr>
        <p:spPr>
          <a:xfrm>
            <a:off x="1417320" y="3401568"/>
            <a:ext cx="418961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1-182</a:t>
            </a:r>
            <a:endParaRPr lang="en-US" sz="1000" dirty="0"/>
          </a:p>
        </p:txBody>
      </p:sp>
      <p:sp>
        <p:nvSpPr>
          <p:cNvPr id="33" name="Text 30"/>
          <p:cNvSpPr txBox="1"/>
          <p:nvPr/>
        </p:nvSpPr>
        <p:spPr>
          <a:xfrm>
            <a:off x="5606935" y="3401568"/>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4" name="Text 31"/>
          <p:cNvSpPr txBox="1"/>
          <p:nvPr/>
        </p:nvSpPr>
        <p:spPr>
          <a:xfrm>
            <a:off x="6712527" y="3401568"/>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5" name="Text 32"/>
          <p:cNvSpPr txBox="1"/>
          <p:nvPr/>
        </p:nvSpPr>
        <p:spPr>
          <a:xfrm>
            <a:off x="548640" y="3803904"/>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Final</a:t>
            </a:r>
            <a:endParaRPr lang="en-US" sz="1150" dirty="0"/>
          </a:p>
        </p:txBody>
      </p:sp>
      <p:sp>
        <p:nvSpPr>
          <p:cNvPr id="36" name="Train"/>
          <p:cNvSpPr/>
          <p:nvPr/>
        </p:nvSpPr>
        <p:spPr>
          <a:xfrm>
            <a:off x="1417320" y="3803904"/>
            <a:ext cx="4788131" cy="310896"/>
          </a:xfrm>
          <a:prstGeom prst="rect">
            <a:avLst/>
          </a:prstGeom>
          <a:solidFill>
            <a:srgbClr val="2A78D6"/>
          </a:solidFill>
          <a:ln w="6350">
            <a:solidFill>
              <a:srgbClr val="FFFFFF"/>
            </a:solidFill>
            <a:prstDash val="solid"/>
          </a:ln>
        </p:spPr>
      </p:sp>
      <p:sp>
        <p:nvSpPr>
          <p:cNvPr id="37" name="Validation"/>
          <p:cNvSpPr/>
          <p:nvPr/>
        </p:nvSpPr>
        <p:spPr>
          <a:xfrm>
            <a:off x="6205451" y="3803904"/>
            <a:ext cx="1197033" cy="310896"/>
          </a:xfrm>
          <a:prstGeom prst="rect">
            <a:avLst/>
          </a:prstGeom>
          <a:solidFill>
            <a:srgbClr val="1BAF7A"/>
          </a:solidFill>
          <a:ln w="6350">
            <a:solidFill>
              <a:srgbClr val="FFFFFF"/>
            </a:solidFill>
            <a:prstDash val="solid"/>
          </a:ln>
        </p:spPr>
      </p:sp>
      <p:sp>
        <p:nvSpPr>
          <p:cNvPr id="38" name="Test"/>
          <p:cNvSpPr/>
          <p:nvPr/>
        </p:nvSpPr>
        <p:spPr>
          <a:xfrm>
            <a:off x="7402484" y="3803904"/>
            <a:ext cx="598516" cy="310896"/>
          </a:xfrm>
          <a:prstGeom prst="rect">
            <a:avLst/>
          </a:prstGeom>
          <a:solidFill>
            <a:srgbClr val="8A8F98"/>
          </a:solidFill>
          <a:ln w="6350">
            <a:solidFill>
              <a:srgbClr val="FFFFFF"/>
            </a:solidFill>
            <a:prstDash val="solid"/>
          </a:ln>
        </p:spPr>
      </p:sp>
      <p:sp>
        <p:nvSpPr>
          <p:cNvPr id="39" name="Text 36"/>
          <p:cNvSpPr txBox="1"/>
          <p:nvPr/>
        </p:nvSpPr>
        <p:spPr>
          <a:xfrm>
            <a:off x="1417320" y="3803904"/>
            <a:ext cx="4788131" cy="310896"/>
          </a:xfrm>
          <a:prstGeom prst="rect">
            <a:avLst/>
          </a:prstGeom>
          <a:noFill/>
          <a:ln/>
        </p:spPr>
        <p:txBody>
          <a:bodyPr wrap="square" lIns="0" tIns="0" rIns="0" bIns="0" rtlCol="0" anchor="ctr"/>
          <a:lstStyle/>
          <a:p>
            <a:pPr algn="ctr" indent="0" marL="0">
              <a:buNone/>
            </a:pPr>
            <a:r>
              <a:rPr lang="en-US" sz="1000" dirty="0">
                <a:solidFill>
                  <a:srgbClr val="FFFFFF"/>
                </a:solidFill>
              </a:rPr>
              <a:t>train  1-208</a:t>
            </a:r>
            <a:endParaRPr lang="en-US" sz="1000" dirty="0"/>
          </a:p>
        </p:txBody>
      </p:sp>
      <p:sp>
        <p:nvSpPr>
          <p:cNvPr id="40" name="Text 37"/>
          <p:cNvSpPr txBox="1"/>
          <p:nvPr/>
        </p:nvSpPr>
        <p:spPr>
          <a:xfrm>
            <a:off x="6205451" y="3803904"/>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41" name="Text 38"/>
          <p:cNvSpPr txBox="1"/>
          <p:nvPr/>
        </p:nvSpPr>
        <p:spPr>
          <a:xfrm>
            <a:off x="7311044" y="3803904"/>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fcst</a:t>
            </a:r>
            <a:endParaRPr lang="en-US" sz="900" dirty="0"/>
          </a:p>
        </p:txBody>
      </p:sp>
      <p:sp>
        <p:nvSpPr>
          <p:cNvPr id="42" name="Text 39"/>
          <p:cNvSpPr txBox="1"/>
          <p:nvPr/>
        </p:nvSpPr>
        <p:spPr>
          <a:xfrm>
            <a:off x="548640" y="4224528"/>
            <a:ext cx="7498080" cy="274320"/>
          </a:xfrm>
          <a:prstGeom prst="rect">
            <a:avLst/>
          </a:prstGeom>
          <a:noFill/>
          <a:ln/>
        </p:spPr>
        <p:txBody>
          <a:bodyPr wrap="square" lIns="0" tIns="0" rIns="0" bIns="0" rtlCol="0" anchor="ctr"/>
          <a:lstStyle/>
          <a:p>
            <a:pPr indent="0" marL="0">
              <a:buNone/>
            </a:pPr>
            <a:r>
              <a:rPr lang="en-US" sz="1050" i="1" dirty="0">
                <a:solidFill>
                  <a:srgbClr val="5B6B80"/>
                </a:solidFill>
              </a:rPr>
              <a:t>train = learns · validation = chooses settings · test = scores (weeks 157-182, 183-208, 209-234, 235-260); Final: weeks 261-286</a:t>
            </a:r>
            <a:endParaRPr lang="en-US" sz="1050" dirty="0"/>
          </a:p>
        </p:txBody>
      </p:sp>
      <p:graphicFrame>
        <p:nvGraphicFramePr>
          <p:cNvPr id="43" name="Chart 0" descr=""/>
          <p:cNvGraphicFramePr/>
          <p:nvPr/>
        </p:nvGraphicFramePr>
        <p:xfrm>
          <a:off x="548640" y="4572000"/>
          <a:ext cx="7498080" cy="1737360"/>
        </p:xfrm>
        <a:graphic xmlns:a="http://schemas.openxmlformats.org/drawingml/2006/main">
          <a:graphicData uri="http://schemas.openxmlformats.org/drawingml/2006/chart">
            <c:chart xmlns:c="http://schemas.openxmlformats.org/drawingml/2006/chart" r:id="rId1"/>
          </a:graphicData>
        </a:graphic>
      </p:graphicFrame>
      <p:sp>
        <p:nvSpPr>
          <p:cNvPr id="44" name="Why card"/>
          <p:cNvSpPr/>
          <p:nvPr/>
        </p:nvSpPr>
        <p:spPr>
          <a:xfrm>
            <a:off x="8275320" y="1600200"/>
            <a:ext cx="3337560" cy="1097280"/>
          </a:xfrm>
          <a:prstGeom prst="roundRect">
            <a:avLst>
              <a:gd name="adj" fmla="val 6667"/>
            </a:avLst>
          </a:prstGeom>
          <a:solidFill>
            <a:srgbClr val="F2F6FB"/>
          </a:solidFill>
          <a:ln w="12700">
            <a:solidFill>
              <a:srgbClr val="F2F6FB"/>
            </a:solidFill>
            <a:prstDash val="solid"/>
          </a:ln>
        </p:spPr>
      </p:sp>
      <p:sp>
        <p:nvSpPr>
          <p:cNvPr id="45" name="Card accent"/>
          <p:cNvSpPr/>
          <p:nvPr/>
        </p:nvSpPr>
        <p:spPr>
          <a:xfrm>
            <a:off x="8275320" y="1600200"/>
            <a:ext cx="82296" cy="1097280"/>
          </a:xfrm>
          <a:prstGeom prst="rect">
            <a:avLst/>
          </a:prstGeom>
          <a:solidFill>
            <a:srgbClr val="D03B3B"/>
          </a:solidFill>
          <a:ln w="12700">
            <a:solidFill>
              <a:srgbClr val="D03B3B"/>
            </a:solidFill>
            <a:prstDash val="solid"/>
          </a:ln>
        </p:spPr>
      </p:sp>
      <p:sp>
        <p:nvSpPr>
          <p:cNvPr id="46" name="Text 42"/>
          <p:cNvSpPr txBox="1"/>
          <p:nvPr/>
        </p:nvSpPr>
        <p:spPr>
          <a:xfrm>
            <a:off x="8503920" y="166420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One split = one lucky number</a:t>
            </a:r>
            <a:endParaRPr lang="en-US" sz="1300" dirty="0"/>
          </a:p>
        </p:txBody>
      </p:sp>
      <p:sp>
        <p:nvSpPr>
          <p:cNvPr id="47" name="Text 43"/>
          <p:cNvSpPr txBox="1"/>
          <p:nvPr/>
        </p:nvSpPr>
        <p:spPr>
          <a:xfrm>
            <a:off x="8503920" y="1965960"/>
            <a:ext cx="3017520" cy="694944"/>
          </a:xfrm>
          <a:prstGeom prst="rect">
            <a:avLst/>
          </a:prstGeom>
          <a:noFill/>
          <a:ln/>
        </p:spPr>
        <p:txBody>
          <a:bodyPr wrap="square" lIns="0" tIns="0" rIns="0" bIns="0" rtlCol="0" anchor="t"/>
          <a:lstStyle/>
          <a:p>
            <a:pPr indent="0" marL="0">
              <a:buNone/>
            </a:pPr>
            <a:r>
              <a:rPr lang="en-US" sz="1150" dirty="0">
                <a:solidFill>
                  <a:srgbClr val="1B2A41"/>
                </a:solidFill>
              </a:rPr>
              <a:t>A single test window can fall in an easy or a hard season.</a:t>
            </a:r>
            <a:endParaRPr lang="en-US" sz="1150" dirty="0"/>
          </a:p>
        </p:txBody>
      </p:sp>
      <p:sp>
        <p:nvSpPr>
          <p:cNvPr id="48" name="Why card"/>
          <p:cNvSpPr/>
          <p:nvPr/>
        </p:nvSpPr>
        <p:spPr>
          <a:xfrm>
            <a:off x="8275320" y="2788920"/>
            <a:ext cx="3337560" cy="1097280"/>
          </a:xfrm>
          <a:prstGeom prst="roundRect">
            <a:avLst>
              <a:gd name="adj" fmla="val 6667"/>
            </a:avLst>
          </a:prstGeom>
          <a:solidFill>
            <a:srgbClr val="F2F6FB"/>
          </a:solidFill>
          <a:ln w="12700">
            <a:solidFill>
              <a:srgbClr val="F2F6FB"/>
            </a:solidFill>
            <a:prstDash val="solid"/>
          </a:ln>
        </p:spPr>
      </p:sp>
      <p:sp>
        <p:nvSpPr>
          <p:cNvPr id="49" name="Card accent"/>
          <p:cNvSpPr/>
          <p:nvPr/>
        </p:nvSpPr>
        <p:spPr>
          <a:xfrm>
            <a:off x="8275320" y="2788920"/>
            <a:ext cx="82296" cy="1097280"/>
          </a:xfrm>
          <a:prstGeom prst="rect">
            <a:avLst/>
          </a:prstGeom>
          <a:solidFill>
            <a:srgbClr val="2A78D6"/>
          </a:solidFill>
          <a:ln w="12700">
            <a:solidFill>
              <a:srgbClr val="2A78D6"/>
            </a:solidFill>
            <a:prstDash val="solid"/>
          </a:ln>
        </p:spPr>
      </p:sp>
      <p:sp>
        <p:nvSpPr>
          <p:cNvPr id="50" name="Text 46"/>
          <p:cNvSpPr txBox="1"/>
          <p:nvPr/>
        </p:nvSpPr>
        <p:spPr>
          <a:xfrm>
            <a:off x="8503920" y="285292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Seasons alternate</a:t>
            </a:r>
            <a:endParaRPr lang="en-US" sz="1300" dirty="0"/>
          </a:p>
        </p:txBody>
      </p:sp>
      <p:sp>
        <p:nvSpPr>
          <p:cNvPr id="51" name="Text 47"/>
          <p:cNvSpPr txBox="1"/>
          <p:nvPr/>
        </p:nvSpPr>
        <p:spPr>
          <a:xfrm>
            <a:off x="8503920" y="3154680"/>
            <a:ext cx="3017520" cy="694944"/>
          </a:xfrm>
          <a:prstGeom prst="rect">
            <a:avLst/>
          </a:prstGeom>
          <a:noFill/>
          <a:ln/>
        </p:spPr>
        <p:txBody>
          <a:bodyPr wrap="square" lIns="0" tIns="0" rIns="0" bIns="0" rtlCol="0" anchor="t"/>
          <a:lstStyle/>
          <a:p>
            <a:pPr indent="0" marL="0">
              <a:buNone/>
            </a:pPr>
            <a:r>
              <a:rPr lang="en-US" sz="1150" dirty="0">
                <a:solidFill>
                  <a:srgbClr val="1B2A41"/>
                </a:solidFill>
              </a:rPr>
              <a:t>Tests cover weeks 1-26 and 27-52 of the year, twice each: peak and lull both scored.</a:t>
            </a:r>
            <a:endParaRPr lang="en-US" sz="1150" dirty="0"/>
          </a:p>
        </p:txBody>
      </p:sp>
      <p:sp>
        <p:nvSpPr>
          <p:cNvPr id="52" name="Why card"/>
          <p:cNvSpPr/>
          <p:nvPr/>
        </p:nvSpPr>
        <p:spPr>
          <a:xfrm>
            <a:off x="8275320" y="3977640"/>
            <a:ext cx="3337560" cy="1097280"/>
          </a:xfrm>
          <a:prstGeom prst="roundRect">
            <a:avLst>
              <a:gd name="adj" fmla="val 6667"/>
            </a:avLst>
          </a:prstGeom>
          <a:solidFill>
            <a:srgbClr val="F2F6FB"/>
          </a:solidFill>
          <a:ln w="12700">
            <a:solidFill>
              <a:srgbClr val="F2F6FB"/>
            </a:solidFill>
            <a:prstDash val="solid"/>
          </a:ln>
        </p:spPr>
      </p:sp>
      <p:sp>
        <p:nvSpPr>
          <p:cNvPr id="53" name="Card accent"/>
          <p:cNvSpPr/>
          <p:nvPr/>
        </p:nvSpPr>
        <p:spPr>
          <a:xfrm>
            <a:off x="8275320" y="3977640"/>
            <a:ext cx="82296" cy="1097280"/>
          </a:xfrm>
          <a:prstGeom prst="rect">
            <a:avLst/>
          </a:prstGeom>
          <a:solidFill>
            <a:srgbClr val="EB6834"/>
          </a:solidFill>
          <a:ln w="12700">
            <a:solidFill>
              <a:srgbClr val="EB6834"/>
            </a:solidFill>
            <a:prstDash val="solid"/>
          </a:ln>
        </p:spPr>
      </p:sp>
      <p:sp>
        <p:nvSpPr>
          <p:cNvPr id="54" name="Text 50"/>
          <p:cNvSpPr txBox="1"/>
          <p:nvPr/>
        </p:nvSpPr>
        <p:spPr>
          <a:xfrm>
            <a:off x="8503920" y="404164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No random split</a:t>
            </a:r>
            <a:endParaRPr lang="en-US" sz="1300" dirty="0"/>
          </a:p>
        </p:txBody>
      </p:sp>
      <p:sp>
        <p:nvSpPr>
          <p:cNvPr id="55" name="Text 51"/>
          <p:cNvSpPr txBox="1"/>
          <p:nvPr/>
        </p:nvSpPr>
        <p:spPr>
          <a:xfrm>
            <a:off x="8503920" y="4343400"/>
            <a:ext cx="3017520" cy="694944"/>
          </a:xfrm>
          <a:prstGeom prst="rect">
            <a:avLst/>
          </a:prstGeom>
          <a:noFill/>
          <a:ln/>
        </p:spPr>
        <p:txBody>
          <a:bodyPr wrap="square" lIns="0" tIns="0" rIns="0" bIns="0" rtlCol="0" anchor="t"/>
          <a:lstStyle/>
          <a:p>
            <a:pPr indent="0" marL="0">
              <a:buNone/>
            </a:pPr>
            <a:r>
              <a:rPr lang="en-US" sz="1150" dirty="0">
                <a:solidFill>
                  <a:srgbClr val="1B2A41"/>
                </a:solidFill>
              </a:rPr>
              <a:t>Shuffled weeks leak neighbouring weeks and the seasonal pattern into training.</a:t>
            </a:r>
            <a:endParaRPr lang="en-US" sz="1150" dirty="0"/>
          </a:p>
        </p:txBody>
      </p:sp>
      <p:sp>
        <p:nvSpPr>
          <p:cNvPr id="56" name="Why card"/>
          <p:cNvSpPr/>
          <p:nvPr/>
        </p:nvSpPr>
        <p:spPr>
          <a:xfrm>
            <a:off x="8275320" y="5166360"/>
            <a:ext cx="3337560" cy="1097280"/>
          </a:xfrm>
          <a:prstGeom prst="roundRect">
            <a:avLst>
              <a:gd name="adj" fmla="val 6667"/>
            </a:avLst>
          </a:prstGeom>
          <a:solidFill>
            <a:srgbClr val="F2F6FB"/>
          </a:solidFill>
          <a:ln w="12700">
            <a:solidFill>
              <a:srgbClr val="F2F6FB"/>
            </a:solidFill>
            <a:prstDash val="solid"/>
          </a:ln>
        </p:spPr>
      </p:sp>
      <p:sp>
        <p:nvSpPr>
          <p:cNvPr id="57" name="Card accent"/>
          <p:cNvSpPr/>
          <p:nvPr/>
        </p:nvSpPr>
        <p:spPr>
          <a:xfrm>
            <a:off x="8275320" y="5166360"/>
            <a:ext cx="82296" cy="1097280"/>
          </a:xfrm>
          <a:prstGeom prst="rect">
            <a:avLst/>
          </a:prstGeom>
          <a:solidFill>
            <a:srgbClr val="1BAF7A"/>
          </a:solidFill>
          <a:ln w="12700">
            <a:solidFill>
              <a:srgbClr val="1BAF7A"/>
            </a:solidFill>
            <a:prstDash val="solid"/>
          </a:ln>
        </p:spPr>
      </p:sp>
      <p:sp>
        <p:nvSpPr>
          <p:cNvPr id="58" name="Text 54"/>
          <p:cNvSpPr txBox="1"/>
          <p:nvPr/>
        </p:nvSpPr>
        <p:spPr>
          <a:xfrm>
            <a:off x="8503920" y="523036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Mimics real use</a:t>
            </a:r>
            <a:endParaRPr lang="en-US" sz="1300" dirty="0"/>
          </a:p>
        </p:txBody>
      </p:sp>
      <p:sp>
        <p:nvSpPr>
          <p:cNvPr id="59" name="Text 55"/>
          <p:cNvSpPr txBox="1"/>
          <p:nvPr/>
        </p:nvSpPr>
        <p:spPr>
          <a:xfrm>
            <a:off x="8503920" y="5532120"/>
            <a:ext cx="3017520" cy="694944"/>
          </a:xfrm>
          <a:prstGeom prst="rect">
            <a:avLst/>
          </a:prstGeom>
          <a:noFill/>
          <a:ln/>
        </p:spPr>
        <p:txBody>
          <a:bodyPr wrap="square" lIns="0" tIns="0" rIns="0" bIns="0" rtlCol="0" anchor="t"/>
          <a:lstStyle/>
          <a:p>
            <a:pPr indent="0" marL="0">
              <a:buNone/>
            </a:pPr>
            <a:r>
              <a:rPr lang="en-US" sz="1150" dirty="0">
                <a:solidFill>
                  <a:srgbClr val="1B2A41"/>
                </a:solidFill>
              </a:rPr>
              <a:t>Always: learn from the past, forecast 26 weeks. The final forecast works the same way.</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FINE-TUNING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Free parameters: what was tuned and how</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011680"/>
                <a:gridCol w="4206240"/>
                <a:gridCol w="2743200"/>
                <a:gridCol w="2103120"/>
              </a:tblGrid>
              <a:tr h="329184">
                <a:tc>
                  <a:txBody>
                    <a:bodyPr/>
                    <a:lstStyle/>
                    <a:p>
                      <a:pPr indent="0" marL="0">
                        <a:buNone/>
                      </a:pPr>
                      <a:r>
                        <a:rPr lang="en-US" sz="1100" b="1" dirty="0">
                          <a:solidFill>
                            <a:srgbClr val="FFFFFF"/>
                          </a:solidFill>
                        </a:rPr>
                        <a:t>Model</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Free parameters searched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Chosen 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Selected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457200">
                <a:tc>
                  <a:txBody>
                    <a:bodyPr/>
                    <a:lstStyle/>
                    <a:p>
                      <a:pPr indent="0" marL="0">
                        <a:buNone/>
                      </a:pPr>
                      <a:r>
                        <a:rPr lang="en-US" sz="1100" b="1" dirty="0">
                          <a:solidFill>
                            <a:srgbClr val="1B2A41"/>
                          </a:solidFill>
                        </a:rPr>
                        <a:t>Demand reconstruction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1-10, trend shared / per product; blend weight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blocked 5-fold CV, 1-SE rule; out-of-fold fit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2, shared; weight 0.40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Structural (winner)</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1-8, trend shared / per product (16 combinations)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2 inner windows (T-52, T-26), WAPE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3, shared trend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Holt-Winters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trend none / damped, seasonality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K in {2, 3}, ARMA order (1,0,0) /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2-3,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B2A41"/>
                          </a:solidFill>
                        </a:rPr>
                        <a:t>LightGBM</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leaves, learning rate, min leaf, feature fraction, L2 (10 random configs)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trailing 26-week validation block, early stopping</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7 leaves, 0.03, min leaf 80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Prophet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changepoint prior 0.01 / 0.1, Fourier order 2 / 4,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inner CV on 6 sample products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prior 0.01, order 2</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Ensembles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members of the average; the top 3 of the walk-forward version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earlier folds only</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struct, struct-seg, 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Callout"/>
          <p:cNvSpPr/>
          <p:nvPr/>
        </p:nvSpPr>
        <p:spPr>
          <a:xfrm>
            <a:off x="548640" y="5440680"/>
            <a:ext cx="11064240" cy="868680"/>
          </a:xfrm>
          <a:prstGeom prst="roundRect">
            <a:avLst>
              <a:gd name="adj" fmla="val 8421"/>
            </a:avLst>
          </a:prstGeom>
          <a:solidFill>
            <a:srgbClr val="F2F6FB"/>
          </a:solidFill>
          <a:ln w="12700">
            <a:solidFill>
              <a:srgbClr val="D9E1EC"/>
            </a:solidFill>
            <a:prstDash val="solid"/>
          </a:ln>
        </p:spPr>
      </p:sp>
      <p:sp>
        <p:nvSpPr>
          <p:cNvPr id="7" name="Text 3"/>
          <p:cNvSpPr txBox="1"/>
          <p:nvPr/>
        </p:nvSpPr>
        <p:spPr>
          <a:xfrm>
            <a:off x="731520" y="555040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The rule behind every row</a:t>
            </a:r>
            <a:endParaRPr lang="en-US" sz="1400" dirty="0"/>
          </a:p>
        </p:txBody>
      </p:sp>
      <p:sp>
        <p:nvSpPr>
          <p:cNvPr id="8" name="Text 4"/>
          <p:cNvSpPr txBox="1"/>
          <p:nvPr/>
        </p:nvSpPr>
        <p:spPr>
          <a:xfrm>
            <a:off x="731520" y="5897880"/>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Settings are scored on validation windows inside the training weeks only; the winner is refitted on all training weeks before it faces the test weeks.</a:t>
            </a:r>
            <a:endParaRPr lang="en-US" sz="12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SELECTED MODEL</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winner: level × growth × season</a:t>
            </a:r>
            <a:endParaRPr lang="en-US" sz="3000" dirty="0"/>
          </a:p>
        </p:txBody>
      </p:sp>
      <p:sp>
        <p:nvSpPr>
          <p:cNvPr id="5" name="Formula band"/>
          <p:cNvSpPr/>
          <p:nvPr/>
        </p:nvSpPr>
        <p:spPr>
          <a:xfrm>
            <a:off x="548640" y="1600200"/>
            <a:ext cx="11064240" cy="640080"/>
          </a:xfrm>
          <a:prstGeom prst="roundRect">
            <a:avLst>
              <a:gd name="adj" fmla="val 11429"/>
            </a:avLst>
          </a:prstGeom>
          <a:solidFill>
            <a:srgbClr val="12263F"/>
          </a:solidFill>
          <a:ln w="12700">
            <a:solidFill>
              <a:srgbClr val="12263F"/>
            </a:solidFill>
            <a:prstDash val="solid"/>
          </a:ln>
        </p:spPr>
      </p:sp>
      <p:sp>
        <p:nvSpPr>
          <p:cNvPr id="6" name="Text 3"/>
          <p:cNvSpPr txBox="1"/>
          <p:nvPr/>
        </p:nvSpPr>
        <p:spPr>
          <a:xfrm>
            <a:off x="777240" y="1618488"/>
            <a:ext cx="10607040" cy="603504"/>
          </a:xfrm>
          <a:prstGeom prst="rect">
            <a:avLst/>
          </a:prstGeom>
          <a:noFill/>
          <a:ln/>
        </p:spPr>
        <p:txBody>
          <a:bodyPr wrap="square" lIns="0" tIns="0" rIns="0" bIns="0" rtlCol="0" anchor="ctr"/>
          <a:lstStyle/>
          <a:p>
            <a:pPr indent="0" marL="0">
              <a:buNone/>
            </a:pPr>
            <a:r>
              <a:rPr lang="en-US" sz="1800" b="1" dirty="0">
                <a:solidFill>
                  <a:srgbClr val="FFFFFF"/>
                </a:solidFill>
              </a:rPr>
              <a:t>demand(product, week)  =  product level  ×  growth trend  ×  seasonal factor</a:t>
            </a:r>
            <a:endParaRPr lang="en-US" sz="1800" dirty="0"/>
          </a:p>
          <a:p>
            <a:pPr indent="0" marL="0">
              <a:buNone/>
            </a:pPr>
            <a:r>
              <a:rPr lang="en-US" sz="1100" dirty="0">
                <a:solidFill>
                  <a:srgbClr val="CADCFC"/>
                </a:solidFill>
              </a:rPr>
              <a:t>fitted in log space: log demand = level + trend + sum over k of [ a_k sin(2πk·week/52) + b_k cos(2πk·week/52) ], K = 3</a:t>
            </a:r>
            <a:endParaRPr lang="en-US" sz="1800" dirty="0"/>
          </a:p>
        </p:txBody>
      </p:sp>
      <p:sp>
        <p:nvSpPr>
          <p:cNvPr id="7" name="Concept card"/>
          <p:cNvSpPr/>
          <p:nvPr/>
        </p:nvSpPr>
        <p:spPr>
          <a:xfrm>
            <a:off x="548640" y="2359152"/>
            <a:ext cx="5669280" cy="1115568"/>
          </a:xfrm>
          <a:prstGeom prst="roundRect">
            <a:avLst>
              <a:gd name="adj" fmla="val 6557"/>
            </a:avLst>
          </a:prstGeom>
          <a:solidFill>
            <a:srgbClr val="F2F6FB"/>
          </a:solidFill>
          <a:ln w="12700">
            <a:solidFill>
              <a:srgbClr val="F2F6FB"/>
            </a:solidFill>
            <a:prstDash val="solid"/>
          </a:ln>
        </p:spPr>
      </p:sp>
      <p:sp>
        <p:nvSpPr>
          <p:cNvPr id="8" name="Card accent"/>
          <p:cNvSpPr/>
          <p:nvPr/>
        </p:nvSpPr>
        <p:spPr>
          <a:xfrm>
            <a:off x="548640" y="2359152"/>
            <a:ext cx="82296" cy="1115568"/>
          </a:xfrm>
          <a:prstGeom prst="rect">
            <a:avLst/>
          </a:prstGeom>
          <a:solidFill>
            <a:srgbClr val="2A78D6"/>
          </a:solidFill>
          <a:ln w="12700">
            <a:solidFill>
              <a:srgbClr val="2A78D6"/>
            </a:solidFill>
            <a:prstDash val="solid"/>
          </a:ln>
        </p:spPr>
      </p:sp>
      <p:sp>
        <p:nvSpPr>
          <p:cNvPr id="9" name="Text 6"/>
          <p:cNvSpPr txBox="1"/>
          <p:nvPr/>
        </p:nvSpPr>
        <p:spPr>
          <a:xfrm>
            <a:off x="749808" y="240487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Product level</a:t>
            </a:r>
            <a:pPr indent="0" marL="0">
              <a:buNone/>
            </a:pPr>
            <a:r>
              <a:rPr lang="en-US" sz="1100" i="1" dirty="0">
                <a:solidFill>
                  <a:srgbClr val="5B6B80"/>
                </a:solidFill>
              </a:rPr>
              <a:t>   how big the product normally is</a:t>
            </a:r>
            <a:endParaRPr lang="en-US" sz="1350" dirty="0"/>
          </a:p>
        </p:txBody>
      </p:sp>
      <p:sp>
        <p:nvSpPr>
          <p:cNvPr id="10" name="Text 7"/>
          <p:cNvSpPr txBox="1"/>
          <p:nvPr/>
        </p:nvSpPr>
        <p:spPr>
          <a:xfrm>
            <a:off x="749808" y="268833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number per product: its average weekly demand (30 numbers).</a:t>
            </a:r>
            <a:endParaRPr lang="en-US" sz="1100" dirty="0"/>
          </a:p>
        </p:txBody>
      </p:sp>
      <p:sp>
        <p:nvSpPr>
          <p:cNvPr id="11" name="Text 8"/>
          <p:cNvSpPr txBox="1"/>
          <p:nvPr/>
        </p:nvSpPr>
        <p:spPr>
          <a:xfrm>
            <a:off x="749808" y="303580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products differ 5.5x in size: 555 units a week (Wheat) to 3,054 (Tea).</a:t>
            </a:r>
            <a:endParaRPr lang="en-US" sz="1050" dirty="0"/>
          </a:p>
        </p:txBody>
      </p:sp>
      <p:sp>
        <p:nvSpPr>
          <p:cNvPr id="12" name="Concept card"/>
          <p:cNvSpPr/>
          <p:nvPr/>
        </p:nvSpPr>
        <p:spPr>
          <a:xfrm>
            <a:off x="548640" y="3547872"/>
            <a:ext cx="5669280" cy="1115568"/>
          </a:xfrm>
          <a:prstGeom prst="roundRect">
            <a:avLst>
              <a:gd name="adj" fmla="val 6557"/>
            </a:avLst>
          </a:prstGeom>
          <a:solidFill>
            <a:srgbClr val="F2F6FB"/>
          </a:solidFill>
          <a:ln w="12700">
            <a:solidFill>
              <a:srgbClr val="F2F6FB"/>
            </a:solidFill>
            <a:prstDash val="solid"/>
          </a:ln>
        </p:spPr>
      </p:sp>
      <p:sp>
        <p:nvSpPr>
          <p:cNvPr id="13" name="Card accent"/>
          <p:cNvSpPr/>
          <p:nvPr/>
        </p:nvSpPr>
        <p:spPr>
          <a:xfrm>
            <a:off x="548640" y="3547872"/>
            <a:ext cx="82296" cy="1115568"/>
          </a:xfrm>
          <a:prstGeom prst="rect">
            <a:avLst/>
          </a:prstGeom>
          <a:solidFill>
            <a:srgbClr val="1BAF7A"/>
          </a:solidFill>
          <a:ln w="12700">
            <a:solidFill>
              <a:srgbClr val="1BAF7A"/>
            </a:solidFill>
            <a:prstDash val="solid"/>
          </a:ln>
        </p:spPr>
      </p:sp>
      <p:sp>
        <p:nvSpPr>
          <p:cNvPr id="14" name="Text 11"/>
          <p:cNvSpPr txBox="1"/>
          <p:nvPr/>
        </p:nvSpPr>
        <p:spPr>
          <a:xfrm>
            <a:off x="749808" y="359359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Growth trend</a:t>
            </a:r>
            <a:pPr indent="0" marL="0">
              <a:buNone/>
            </a:pPr>
            <a:r>
              <a:rPr lang="en-US" sz="1100" i="1" dirty="0">
                <a:solidFill>
                  <a:srgbClr val="5B6B80"/>
                </a:solidFill>
              </a:rPr>
              <a:t>   is the business slowly growing?</a:t>
            </a:r>
            <a:endParaRPr lang="en-US" sz="1350" dirty="0"/>
          </a:p>
        </p:txBody>
      </p:sp>
      <p:sp>
        <p:nvSpPr>
          <p:cNvPr id="15" name="Text 12"/>
          <p:cNvSpPr txBox="1"/>
          <p:nvPr/>
        </p:nvSpPr>
        <p:spPr>
          <a:xfrm>
            <a:off x="749808" y="387705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shared yearly slope for all products: about +2.8% a year.</a:t>
            </a:r>
            <a:endParaRPr lang="en-US" sz="1100" dirty="0"/>
          </a:p>
        </p:txBody>
      </p:sp>
      <p:sp>
        <p:nvSpPr>
          <p:cNvPr id="16" name="Text 13"/>
          <p:cNvSpPr txBox="1"/>
          <p:nvPr/>
        </p:nvSpPr>
        <p:spPr>
          <a:xfrm>
            <a:off x="749808" y="422452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demand grew 2.8% (last 52 vs previous 52 weeks); trend strength 0.92 in an STL decomposition.</a:t>
            </a:r>
            <a:endParaRPr lang="en-US" sz="1050" dirty="0"/>
          </a:p>
        </p:txBody>
      </p:sp>
      <p:sp>
        <p:nvSpPr>
          <p:cNvPr id="17" name="Concept card"/>
          <p:cNvSpPr/>
          <p:nvPr/>
        </p:nvSpPr>
        <p:spPr>
          <a:xfrm>
            <a:off x="548640" y="4736592"/>
            <a:ext cx="5669280" cy="1115568"/>
          </a:xfrm>
          <a:prstGeom prst="roundRect">
            <a:avLst>
              <a:gd name="adj" fmla="val 6557"/>
            </a:avLst>
          </a:prstGeom>
          <a:solidFill>
            <a:srgbClr val="F2F6FB"/>
          </a:solidFill>
          <a:ln w="12700">
            <a:solidFill>
              <a:srgbClr val="F2F6FB"/>
            </a:solidFill>
            <a:prstDash val="solid"/>
          </a:ln>
        </p:spPr>
      </p:sp>
      <p:sp>
        <p:nvSpPr>
          <p:cNvPr id="18" name="Card accent"/>
          <p:cNvSpPr/>
          <p:nvPr/>
        </p:nvSpPr>
        <p:spPr>
          <a:xfrm>
            <a:off x="548640" y="4736592"/>
            <a:ext cx="82296" cy="1115568"/>
          </a:xfrm>
          <a:prstGeom prst="rect">
            <a:avLst/>
          </a:prstGeom>
          <a:solidFill>
            <a:srgbClr val="EB6834"/>
          </a:solidFill>
          <a:ln w="12700">
            <a:solidFill>
              <a:srgbClr val="EB6834"/>
            </a:solidFill>
            <a:prstDash val="solid"/>
          </a:ln>
        </p:spPr>
      </p:sp>
      <p:sp>
        <p:nvSpPr>
          <p:cNvPr id="19" name="Text 16"/>
          <p:cNvSpPr txBox="1"/>
          <p:nvPr/>
        </p:nvSpPr>
        <p:spPr>
          <a:xfrm>
            <a:off x="749808" y="478231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Seasonal factor</a:t>
            </a:r>
            <a:pPr indent="0" marL="0">
              <a:buNone/>
            </a:pPr>
            <a:r>
              <a:rPr lang="en-US" sz="1100" i="1" dirty="0">
                <a:solidFill>
                  <a:srgbClr val="5B6B80"/>
                </a:solidFill>
              </a:rPr>
              <a:t>   is it a busy or quiet time of year?</a:t>
            </a:r>
            <a:endParaRPr lang="en-US" sz="1350" dirty="0"/>
          </a:p>
        </p:txBody>
      </p:sp>
      <p:sp>
        <p:nvSpPr>
          <p:cNvPr id="20" name="Text 17"/>
          <p:cNvSpPr txBox="1"/>
          <p:nvPr/>
        </p:nvSpPr>
        <p:spPr>
          <a:xfrm>
            <a:off x="749808" y="5065776"/>
            <a:ext cx="5394960" cy="347472"/>
          </a:xfrm>
          <a:prstGeom prst="rect">
            <a:avLst/>
          </a:prstGeom>
          <a:noFill/>
          <a:ln/>
        </p:spPr>
        <p:txBody>
          <a:bodyPr wrap="square" lIns="0" tIns="0" rIns="0" bIns="0" rtlCol="0" anchor="t"/>
          <a:lstStyle/>
          <a:p>
            <a:pPr indent="0" marL="0">
              <a:buNone/>
            </a:pPr>
            <a:r>
              <a:rPr lang="en-US" sz="1100" dirty="0">
                <a:solidFill>
                  <a:srgbClr val="1B2A41"/>
                </a:solidFill>
              </a:rPr>
              <a:t>A multiplier per week of the year: 1.00 normal, 1.25 = 25% busier. Same curve for all products.</a:t>
            </a:r>
            <a:endParaRPr lang="en-US" sz="1100" dirty="0"/>
          </a:p>
        </p:txBody>
      </p:sp>
      <p:sp>
        <p:nvSpPr>
          <p:cNvPr id="21" name="Text 18"/>
          <p:cNvSpPr txBox="1"/>
          <p:nvPr/>
        </p:nvSpPr>
        <p:spPr>
          <a:xfrm>
            <a:off x="749808" y="541324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week of year explains 78-86% of demand variance and 30 products correlate 0.97: peak week 13 (+25%), quiet week 38 (-25%).</a:t>
            </a:r>
            <a:endParaRPr lang="en-US" sz="1050" dirty="0"/>
          </a:p>
        </p:txBody>
      </p:sp>
      <p:sp>
        <p:nvSpPr>
          <p:cNvPr id="22" name="Text 19"/>
          <p:cNvSpPr txBox="1"/>
          <p:nvPr/>
        </p:nvSpPr>
        <p:spPr>
          <a:xfrm>
            <a:off x="6400800" y="2359152"/>
            <a:ext cx="5212080" cy="274320"/>
          </a:xfrm>
          <a:prstGeom prst="rect">
            <a:avLst/>
          </a:prstGeom>
          <a:noFill/>
          <a:ln/>
        </p:spPr>
        <p:txBody>
          <a:bodyPr wrap="square" lIns="0" tIns="0" rIns="0" bIns="0" rtlCol="0" anchor="ctr"/>
          <a:lstStyle/>
          <a:p>
            <a:pPr indent="0" marL="0">
              <a:buNone/>
            </a:pPr>
            <a:r>
              <a:rPr lang="en-US" sz="1300" b="1" dirty="0">
                <a:solidFill>
                  <a:srgbClr val="5B6B80"/>
                </a:solidFill>
              </a:rPr>
              <a:t>Worked example: Barley, week 235 (first test week)</a:t>
            </a:r>
            <a:endParaRPr lang="en-US" sz="1300" dirty="0"/>
          </a:p>
        </p:txBody>
      </p:sp>
      <p:sp>
        <p:nvSpPr>
          <p:cNvPr id="23" name="Equation chip"/>
          <p:cNvSpPr/>
          <p:nvPr/>
        </p:nvSpPr>
        <p:spPr>
          <a:xfrm>
            <a:off x="6400800" y="2679192"/>
            <a:ext cx="822960" cy="731520"/>
          </a:xfrm>
          <a:prstGeom prst="roundRect">
            <a:avLst>
              <a:gd name="adj" fmla="val 7500"/>
            </a:avLst>
          </a:prstGeom>
          <a:solidFill>
            <a:srgbClr val="F2F6FB"/>
          </a:solidFill>
          <a:ln w="9525">
            <a:solidFill>
              <a:srgbClr val="D9E1EC"/>
            </a:solidFill>
            <a:prstDash val="solid"/>
          </a:ln>
        </p:spPr>
      </p:sp>
      <p:sp>
        <p:nvSpPr>
          <p:cNvPr id="24" name="Text 21"/>
          <p:cNvSpPr txBox="1"/>
          <p:nvPr/>
        </p:nvSpPr>
        <p:spPr>
          <a:xfrm>
            <a:off x="6400800"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2,579</a:t>
            </a:r>
            <a:endParaRPr lang="en-US" sz="1300" dirty="0"/>
          </a:p>
        </p:txBody>
      </p:sp>
      <p:sp>
        <p:nvSpPr>
          <p:cNvPr id="25" name="Text 22"/>
          <p:cNvSpPr txBox="1"/>
          <p:nvPr/>
        </p:nvSpPr>
        <p:spPr>
          <a:xfrm>
            <a:off x="640080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level</a:t>
            </a:r>
            <a:endParaRPr lang="en-US" sz="950" dirty="0"/>
          </a:p>
        </p:txBody>
      </p:sp>
      <p:sp>
        <p:nvSpPr>
          <p:cNvPr id="26" name="Equation chip"/>
          <p:cNvSpPr/>
          <p:nvPr/>
        </p:nvSpPr>
        <p:spPr>
          <a:xfrm>
            <a:off x="7278624" y="2679192"/>
            <a:ext cx="822960" cy="731520"/>
          </a:xfrm>
          <a:prstGeom prst="roundRect">
            <a:avLst>
              <a:gd name="adj" fmla="val 7500"/>
            </a:avLst>
          </a:prstGeom>
          <a:solidFill>
            <a:srgbClr val="F2F6FB"/>
          </a:solidFill>
          <a:ln w="9525">
            <a:solidFill>
              <a:srgbClr val="D9E1EC"/>
            </a:solidFill>
            <a:prstDash val="solid"/>
          </a:ln>
        </p:spPr>
      </p:sp>
      <p:sp>
        <p:nvSpPr>
          <p:cNvPr id="27" name="Text 24"/>
          <p:cNvSpPr txBox="1"/>
          <p:nvPr/>
        </p:nvSpPr>
        <p:spPr>
          <a:xfrm>
            <a:off x="7278624"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1.057</a:t>
            </a:r>
            <a:endParaRPr lang="en-US" sz="1300" dirty="0"/>
          </a:p>
        </p:txBody>
      </p:sp>
      <p:sp>
        <p:nvSpPr>
          <p:cNvPr id="28" name="Text 25"/>
          <p:cNvSpPr txBox="1"/>
          <p:nvPr/>
        </p:nvSpPr>
        <p:spPr>
          <a:xfrm>
            <a:off x="7278624"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trend</a:t>
            </a:r>
            <a:endParaRPr lang="en-US" sz="950" dirty="0"/>
          </a:p>
        </p:txBody>
      </p:sp>
      <p:sp>
        <p:nvSpPr>
          <p:cNvPr id="29" name="Equation chip"/>
          <p:cNvSpPr/>
          <p:nvPr/>
        </p:nvSpPr>
        <p:spPr>
          <a:xfrm>
            <a:off x="8156448" y="2679192"/>
            <a:ext cx="822960" cy="731520"/>
          </a:xfrm>
          <a:prstGeom prst="roundRect">
            <a:avLst>
              <a:gd name="adj" fmla="val 7500"/>
            </a:avLst>
          </a:prstGeom>
          <a:solidFill>
            <a:srgbClr val="F2F6FB"/>
          </a:solidFill>
          <a:ln w="9525">
            <a:solidFill>
              <a:srgbClr val="D9E1EC"/>
            </a:solidFill>
            <a:prstDash val="solid"/>
          </a:ln>
        </p:spPr>
      </p:sp>
      <p:sp>
        <p:nvSpPr>
          <p:cNvPr id="30" name="Text 27"/>
          <p:cNvSpPr txBox="1"/>
          <p:nvPr/>
        </p:nvSpPr>
        <p:spPr>
          <a:xfrm>
            <a:off x="8156448"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0.983</a:t>
            </a:r>
            <a:endParaRPr lang="en-US" sz="1300" dirty="0"/>
          </a:p>
        </p:txBody>
      </p:sp>
      <p:sp>
        <p:nvSpPr>
          <p:cNvPr id="31" name="Text 28"/>
          <p:cNvSpPr txBox="1"/>
          <p:nvPr/>
        </p:nvSpPr>
        <p:spPr>
          <a:xfrm>
            <a:off x="8156448"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season</a:t>
            </a:r>
            <a:endParaRPr lang="en-US" sz="950" dirty="0"/>
          </a:p>
        </p:txBody>
      </p:sp>
      <p:sp>
        <p:nvSpPr>
          <p:cNvPr id="32" name="Equation chip"/>
          <p:cNvSpPr/>
          <p:nvPr/>
        </p:nvSpPr>
        <p:spPr>
          <a:xfrm>
            <a:off x="9034272" y="2679192"/>
            <a:ext cx="822960" cy="731520"/>
          </a:xfrm>
          <a:prstGeom prst="roundRect">
            <a:avLst>
              <a:gd name="adj" fmla="val 7500"/>
            </a:avLst>
          </a:prstGeom>
          <a:solidFill>
            <a:srgbClr val="F2F6FB"/>
          </a:solidFill>
          <a:ln w="9525">
            <a:solidFill>
              <a:srgbClr val="D9E1EC"/>
            </a:solidFill>
            <a:prstDash val="solid"/>
          </a:ln>
        </p:spPr>
      </p:sp>
      <p:sp>
        <p:nvSpPr>
          <p:cNvPr id="33" name="Text 30"/>
          <p:cNvSpPr txBox="1"/>
          <p:nvPr/>
        </p:nvSpPr>
        <p:spPr>
          <a:xfrm>
            <a:off x="9034272"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1.002</a:t>
            </a:r>
            <a:endParaRPr lang="en-US" sz="1300" dirty="0"/>
          </a:p>
        </p:txBody>
      </p:sp>
      <p:sp>
        <p:nvSpPr>
          <p:cNvPr id="34" name="Text 31"/>
          <p:cNvSpPr txBox="1"/>
          <p:nvPr/>
        </p:nvSpPr>
        <p:spPr>
          <a:xfrm>
            <a:off x="9034272"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bias fix</a:t>
            </a:r>
            <a:endParaRPr lang="en-US" sz="950" dirty="0"/>
          </a:p>
        </p:txBody>
      </p:sp>
      <p:sp>
        <p:nvSpPr>
          <p:cNvPr id="35" name="Equation chip"/>
          <p:cNvSpPr/>
          <p:nvPr/>
        </p:nvSpPr>
        <p:spPr>
          <a:xfrm>
            <a:off x="9912096" y="2679192"/>
            <a:ext cx="822960" cy="731520"/>
          </a:xfrm>
          <a:prstGeom prst="roundRect">
            <a:avLst>
              <a:gd name="adj" fmla="val 7500"/>
            </a:avLst>
          </a:prstGeom>
          <a:solidFill>
            <a:srgbClr val="E3F6EE"/>
          </a:solidFill>
          <a:ln w="9525">
            <a:solidFill>
              <a:srgbClr val="D9E1EC"/>
            </a:solidFill>
            <a:prstDash val="solid"/>
          </a:ln>
        </p:spPr>
      </p:sp>
      <p:sp>
        <p:nvSpPr>
          <p:cNvPr id="36" name="Text 33"/>
          <p:cNvSpPr txBox="1"/>
          <p:nvPr/>
        </p:nvSpPr>
        <p:spPr>
          <a:xfrm>
            <a:off x="9912096" y="2706624"/>
            <a:ext cx="822960" cy="384048"/>
          </a:xfrm>
          <a:prstGeom prst="rect">
            <a:avLst/>
          </a:prstGeom>
          <a:noFill/>
          <a:ln/>
        </p:spPr>
        <p:txBody>
          <a:bodyPr wrap="square" lIns="0" tIns="0" rIns="0" bIns="0" rtlCol="0" anchor="ctr"/>
          <a:lstStyle/>
          <a:p>
            <a:pPr algn="ctr" indent="0" marL="0">
              <a:buNone/>
            </a:pPr>
            <a:r>
              <a:rPr lang="en-US" sz="1300" b="1" dirty="0">
                <a:solidFill>
                  <a:srgbClr val="138A5F"/>
                </a:solidFill>
                <a:latin typeface="Cambria" pitchFamily="34" charset="0"/>
                <a:ea typeface="Cambria" pitchFamily="34" charset="-122"/>
                <a:cs typeface="Cambria" pitchFamily="34" charset="-120"/>
              </a:rPr>
              <a:t>= 2,687</a:t>
            </a:r>
            <a:endParaRPr lang="en-US" sz="1300" dirty="0"/>
          </a:p>
        </p:txBody>
      </p:sp>
      <p:sp>
        <p:nvSpPr>
          <p:cNvPr id="37" name="Text 34"/>
          <p:cNvSpPr txBox="1"/>
          <p:nvPr/>
        </p:nvSpPr>
        <p:spPr>
          <a:xfrm>
            <a:off x="9912096"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forecast</a:t>
            </a:r>
            <a:endParaRPr lang="en-US" sz="950" dirty="0"/>
          </a:p>
        </p:txBody>
      </p:sp>
      <p:sp>
        <p:nvSpPr>
          <p:cNvPr id="38" name="Equation chip"/>
          <p:cNvSpPr/>
          <p:nvPr/>
        </p:nvSpPr>
        <p:spPr>
          <a:xfrm>
            <a:off x="10789920" y="2679192"/>
            <a:ext cx="822960" cy="731520"/>
          </a:xfrm>
          <a:prstGeom prst="roundRect">
            <a:avLst>
              <a:gd name="adj" fmla="val 7500"/>
            </a:avLst>
          </a:prstGeom>
          <a:solidFill>
            <a:srgbClr val="FDEBE4"/>
          </a:solidFill>
          <a:ln w="9525">
            <a:solidFill>
              <a:srgbClr val="D9E1EC"/>
            </a:solidFill>
            <a:prstDash val="solid"/>
          </a:ln>
        </p:spPr>
      </p:sp>
      <p:sp>
        <p:nvSpPr>
          <p:cNvPr id="39" name="Text 36"/>
          <p:cNvSpPr txBox="1"/>
          <p:nvPr/>
        </p:nvSpPr>
        <p:spPr>
          <a:xfrm>
            <a:off x="10789920" y="2706624"/>
            <a:ext cx="822960" cy="384048"/>
          </a:xfrm>
          <a:prstGeom prst="rect">
            <a:avLst/>
          </a:prstGeom>
          <a:noFill/>
          <a:ln/>
        </p:spPr>
        <p:txBody>
          <a:bodyPr wrap="square" lIns="0" tIns="0" rIns="0" bIns="0" rtlCol="0" anchor="ctr"/>
          <a:lstStyle/>
          <a:p>
            <a:pPr algn="ctr" indent="0" marL="0">
              <a:buNone/>
            </a:pPr>
            <a:r>
              <a:rPr lang="en-US" sz="1300" b="1" dirty="0">
                <a:solidFill>
                  <a:srgbClr val="C24E1F"/>
                </a:solidFill>
                <a:latin typeface="Cambria" pitchFamily="34" charset="0"/>
                <a:ea typeface="Cambria" pitchFamily="34" charset="-122"/>
                <a:cs typeface="Cambria" pitchFamily="34" charset="-120"/>
              </a:rPr>
              <a:t>2,505</a:t>
            </a:r>
            <a:endParaRPr lang="en-US" sz="1300" dirty="0"/>
          </a:p>
        </p:txBody>
      </p:sp>
      <p:sp>
        <p:nvSpPr>
          <p:cNvPr id="40" name="Text 37"/>
          <p:cNvSpPr txBox="1"/>
          <p:nvPr/>
        </p:nvSpPr>
        <p:spPr>
          <a:xfrm>
            <a:off x="1078992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actual</a:t>
            </a:r>
            <a:endParaRPr lang="en-US" sz="950" dirty="0"/>
          </a:p>
        </p:txBody>
      </p:sp>
      <p:graphicFrame>
        <p:nvGraphicFramePr>
          <p:cNvPr id="41" name="Chart 0" descr=""/>
          <p:cNvGraphicFramePr/>
          <p:nvPr/>
        </p:nvGraphicFramePr>
        <p:xfrm>
          <a:off x="6309360" y="3520440"/>
          <a:ext cx="5303520" cy="233172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6400800" y="585216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Barley, 26 test weeks: average miss 4.8% (all products 4.6%). Price, cost and stock show no demand effect, so they are not in the model.</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RESULTS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models compared: the simple structure wins</a:t>
            </a:r>
            <a:endParaRPr lang="en-US" sz="3000" dirty="0"/>
          </a:p>
        </p:txBody>
      </p:sp>
      <p:graphicFrame>
        <p:nvGraphicFramePr>
          <p:cNvPr id="5" name="Chart 0" descr=""/>
          <p:cNvGraphicFramePr/>
          <p:nvPr/>
        </p:nvGraphicFramePr>
        <p:xfrm>
          <a:off x="54864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8046720" y="1645920"/>
            <a:ext cx="1737360" cy="1188720"/>
          </a:xfrm>
          <a:prstGeom prst="roundRect">
            <a:avLst>
              <a:gd name="adj" fmla="val 6154"/>
            </a:avLst>
          </a:prstGeom>
          <a:solidFill>
            <a:srgbClr val="F2F6FB"/>
          </a:solidFill>
          <a:ln w="12700">
            <a:solidFill>
              <a:srgbClr val="F2F6FB"/>
            </a:solidFill>
            <a:prstDash val="solid"/>
          </a:ln>
        </p:spPr>
      </p:sp>
      <p:sp>
        <p:nvSpPr>
          <p:cNvPr id="7" name="Text 3"/>
          <p:cNvSpPr txBox="1"/>
          <p:nvPr/>
        </p:nvSpPr>
        <p:spPr>
          <a:xfrm>
            <a:off x="8183880" y="1719072"/>
            <a:ext cx="146304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4.57%</a:t>
            </a:r>
            <a:endParaRPr lang="en-US" sz="2600" dirty="0"/>
          </a:p>
        </p:txBody>
      </p:sp>
      <p:sp>
        <p:nvSpPr>
          <p:cNvPr id="8" name="Text 4"/>
          <p:cNvSpPr txBox="1"/>
          <p:nvPr/>
        </p:nvSpPr>
        <p:spPr>
          <a:xfrm>
            <a:off x="81838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all test weeks</a:t>
            </a:r>
            <a:endParaRPr lang="en-US" sz="1300" dirty="0"/>
          </a:p>
        </p:txBody>
      </p:sp>
      <p:sp>
        <p:nvSpPr>
          <p:cNvPr id="9" name="Stat card"/>
          <p:cNvSpPr/>
          <p:nvPr/>
        </p:nvSpPr>
        <p:spPr>
          <a:xfrm>
            <a:off x="9875520" y="1645920"/>
            <a:ext cx="1737360" cy="1188720"/>
          </a:xfrm>
          <a:prstGeom prst="roundRect">
            <a:avLst>
              <a:gd name="adj" fmla="val 6154"/>
            </a:avLst>
          </a:prstGeom>
          <a:solidFill>
            <a:srgbClr val="F2F6FB"/>
          </a:solidFill>
          <a:ln w="12700">
            <a:solidFill>
              <a:srgbClr val="F2F6FB"/>
            </a:solidFill>
            <a:prstDash val="solid"/>
          </a:ln>
        </p:spPr>
      </p:sp>
      <p:sp>
        <p:nvSpPr>
          <p:cNvPr id="10" name="Text 6"/>
          <p:cNvSpPr txBox="1"/>
          <p:nvPr/>
        </p:nvSpPr>
        <p:spPr>
          <a:xfrm>
            <a:off x="10012680" y="1719072"/>
            <a:ext cx="146304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6.64%</a:t>
            </a:r>
            <a:endParaRPr lang="en-US" sz="2600" dirty="0"/>
          </a:p>
        </p:txBody>
      </p:sp>
      <p:sp>
        <p:nvSpPr>
          <p:cNvPr id="11" name="Text 7"/>
          <p:cNvSpPr txBox="1"/>
          <p:nvPr/>
        </p:nvSpPr>
        <p:spPr>
          <a:xfrm>
            <a:off x="100126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unconstrained weeks</a:t>
            </a:r>
            <a:endParaRPr lang="en-US" sz="1300" dirty="0"/>
          </a:p>
        </p:txBody>
      </p:sp>
      <p:sp>
        <p:nvSpPr>
          <p:cNvPr id="12" name="Text 8"/>
          <p:cNvSpPr txBox="1"/>
          <p:nvPr/>
        </p:nvSpPr>
        <p:spPr>
          <a:xfrm>
            <a:off x="8046720" y="3017520"/>
            <a:ext cx="3566160" cy="32004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Honest figure: </a:t>
            </a:r>
            <a:pPr indent="0" marL="0">
              <a:spcAft>
                <a:spcPts val="800"/>
              </a:spcAft>
              <a:buNone/>
            </a:pPr>
            <a:r>
              <a:rPr lang="en-US" sz="1300" dirty="0">
                <a:solidFill>
                  <a:srgbClr val="1B2A41"/>
                </a:solidFill>
              </a:rPr>
              <a:t>6.6% where demand was observed directly.</a:t>
            </a:r>
            <a:endParaRPr lang="en-US" sz="1300" dirty="0"/>
          </a:p>
          <a:p>
            <a:pPr marL="203200" indent="-203200">
              <a:spcAft>
                <a:spcPts val="800"/>
              </a:spcAft>
              <a:buSzPct val="100000"/>
              <a:buChar char="•"/>
            </a:pPr>
            <a:r>
              <a:rPr lang="en-US" sz="1300" b="1" dirty="0">
                <a:solidFill>
                  <a:srgbClr val="1B2A41"/>
                </a:solidFill>
              </a:rPr>
              <a:t>Top models tie there: </a:t>
            </a:r>
            <a:pPr indent="0" marL="0">
              <a:spcAft>
                <a:spcPts val="800"/>
              </a:spcAft>
              <a:buNone/>
            </a:pPr>
            <a:r>
              <a:rPr lang="en-US" sz="1300" dirty="0">
                <a:solidFill>
                  <a:srgbClr val="1B2A41"/>
                </a:solidFill>
              </a:rPr>
              <a:t>6.6 to 6.8%. The structure matters, not complexity.</a:t>
            </a:r>
            <a:endParaRPr lang="en-US" sz="1300" dirty="0"/>
          </a:p>
          <a:p>
            <a:pPr marL="203200" indent="-203200">
              <a:spcAft>
                <a:spcPts val="800"/>
              </a:spcAft>
              <a:buSzPct val="100000"/>
              <a:buChar char="•"/>
            </a:pPr>
            <a:r>
              <a:rPr lang="en-US" sz="1300" b="1" dirty="0">
                <a:solidFill>
                  <a:srgbClr val="1B2A41"/>
                </a:solidFill>
              </a:rPr>
              <a:t>ML does not win: </a:t>
            </a:r>
            <a:pPr indent="0" marL="0">
              <a:spcAft>
                <a:spcPts val="800"/>
              </a:spcAft>
              <a:buNone/>
            </a:pPr>
            <a:r>
              <a:rPr lang="en-US" sz="1300" dirty="0">
                <a:solidFill>
                  <a:srgbClr val="1B2A41"/>
                </a:solidFill>
              </a:rPr>
              <a:t>LightGBM 4.78%, Prophet 4.76%.</a:t>
            </a:r>
            <a:endParaRPr lang="en-US" sz="1300" dirty="0"/>
          </a:p>
          <a:p>
            <a:pPr marL="203200" indent="-203200">
              <a:spcAft>
                <a:spcPts val="800"/>
              </a:spcAft>
              <a:buSzPct val="100000"/>
              <a:buChar char="•"/>
            </a:pPr>
            <a:r>
              <a:rPr lang="en-US" sz="1300" b="1" dirty="0">
                <a:solidFill>
                  <a:srgbClr val="1B2A41"/>
                </a:solidFill>
              </a:rPr>
              <a:t>13% better </a:t>
            </a:r>
            <a:pPr indent="0" marL="0">
              <a:spcAft>
                <a:spcPts val="800"/>
              </a:spcAft>
              <a:buNone/>
            </a:pPr>
            <a:r>
              <a:rPr lang="en-US" sz="1300" dirty="0">
                <a:solidFill>
                  <a:srgbClr val="1B2A41"/>
                </a:solidFill>
              </a:rPr>
              <a:t>than the best simple rule, 34% than last year's week.</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26-WEEK FORECAST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$64.6M potential, $28.7M unserved</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00200"/>
            <a:ext cx="6583680" cy="2103120"/>
          </a:xfrm>
          <a:prstGeom prst="rect">
            <a:avLst/>
          </a:prstGeom>
        </p:spPr>
      </p:pic>
      <p:sp>
        <p:nvSpPr>
          <p:cNvPr id="6" name="Stat card"/>
          <p:cNvSpPr/>
          <p:nvPr/>
        </p:nvSpPr>
        <p:spPr>
          <a:xfrm>
            <a:off x="7315200" y="1600200"/>
            <a:ext cx="1325880" cy="1005840"/>
          </a:xfrm>
          <a:prstGeom prst="roundRect">
            <a:avLst>
              <a:gd name="adj" fmla="val 7273"/>
            </a:avLst>
          </a:prstGeom>
          <a:solidFill>
            <a:srgbClr val="F2F6FB"/>
          </a:solidFill>
          <a:ln w="12700">
            <a:solidFill>
              <a:srgbClr val="F2F6FB"/>
            </a:solidFill>
            <a:prstDash val="solid"/>
          </a:ln>
        </p:spPr>
      </p:sp>
      <p:sp>
        <p:nvSpPr>
          <p:cNvPr id="7" name="Text 3"/>
          <p:cNvSpPr txBox="1"/>
          <p:nvPr/>
        </p:nvSpPr>
        <p:spPr>
          <a:xfrm>
            <a:off x="7452360" y="1673352"/>
            <a:ext cx="105156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2.0M</a:t>
            </a:r>
            <a:endParaRPr lang="en-US" sz="2200" dirty="0"/>
          </a:p>
        </p:txBody>
      </p:sp>
      <p:sp>
        <p:nvSpPr>
          <p:cNvPr id="8" name="Text 4"/>
          <p:cNvSpPr txBox="1"/>
          <p:nvPr/>
        </p:nvSpPr>
        <p:spPr>
          <a:xfrm>
            <a:off x="7452360" y="2123237"/>
            <a:ext cx="1051560" cy="462686"/>
          </a:xfrm>
          <a:prstGeom prst="rect">
            <a:avLst/>
          </a:prstGeom>
          <a:noFill/>
          <a:ln/>
        </p:spPr>
        <p:txBody>
          <a:bodyPr wrap="square" lIns="0" tIns="0" rIns="0" bIns="0" rtlCol="0" anchor="t"/>
          <a:lstStyle/>
          <a:p>
            <a:pPr indent="0" marL="0">
              <a:buNone/>
            </a:pPr>
            <a:r>
              <a:rPr lang="en-US" sz="1300" dirty="0">
                <a:solidFill>
                  <a:srgbClr val="5B6B80"/>
                </a:solidFill>
              </a:rPr>
              <a:t>units forecast</a:t>
            </a:r>
            <a:endParaRPr lang="en-US" sz="1300" dirty="0"/>
          </a:p>
        </p:txBody>
      </p:sp>
      <p:sp>
        <p:nvSpPr>
          <p:cNvPr id="9" name="Stat card"/>
          <p:cNvSpPr/>
          <p:nvPr/>
        </p:nvSpPr>
        <p:spPr>
          <a:xfrm>
            <a:off x="8732520" y="1600200"/>
            <a:ext cx="1371600" cy="1005840"/>
          </a:xfrm>
          <a:prstGeom prst="roundRect">
            <a:avLst>
              <a:gd name="adj" fmla="val 7273"/>
            </a:avLst>
          </a:prstGeom>
          <a:solidFill>
            <a:srgbClr val="F2F6FB"/>
          </a:solidFill>
          <a:ln w="12700">
            <a:solidFill>
              <a:srgbClr val="F2F6FB"/>
            </a:solidFill>
            <a:prstDash val="solid"/>
          </a:ln>
        </p:spPr>
      </p:sp>
      <p:sp>
        <p:nvSpPr>
          <p:cNvPr id="10" name="Text 6"/>
          <p:cNvSpPr txBox="1"/>
          <p:nvPr/>
        </p:nvSpPr>
        <p:spPr>
          <a:xfrm>
            <a:off x="8869680" y="1673352"/>
            <a:ext cx="1097280" cy="452628"/>
          </a:xfrm>
          <a:prstGeom prst="rect">
            <a:avLst/>
          </a:prstGeom>
          <a:noFill/>
          <a:ln/>
        </p:spPr>
        <p:txBody>
          <a:bodyPr wrap="square" lIns="0" tIns="0" rIns="0" bIns="0" rtlCol="0" anchor="ctr"/>
          <a:lstStyle/>
          <a:p>
            <a:pPr indent="0" marL="0">
              <a:buNone/>
            </a:pPr>
            <a:r>
              <a:rPr lang="en-US" sz="2200" b="1" dirty="0">
                <a:solidFill>
                  <a:srgbClr val="1BAF7A"/>
                </a:solidFill>
                <a:latin typeface="Cambria" pitchFamily="34" charset="0"/>
                <a:ea typeface="Cambria" pitchFamily="34" charset="-122"/>
                <a:cs typeface="Cambria" pitchFamily="34" charset="-120"/>
              </a:rPr>
              <a:t>+2.8%</a:t>
            </a:r>
            <a:endParaRPr lang="en-US" sz="2200" dirty="0"/>
          </a:p>
        </p:txBody>
      </p:sp>
      <p:sp>
        <p:nvSpPr>
          <p:cNvPr id="11" name="Text 7"/>
          <p:cNvSpPr txBox="1"/>
          <p:nvPr/>
        </p:nvSpPr>
        <p:spPr>
          <a:xfrm>
            <a:off x="8869680" y="2123237"/>
            <a:ext cx="1097280" cy="462686"/>
          </a:xfrm>
          <a:prstGeom prst="rect">
            <a:avLst/>
          </a:prstGeom>
          <a:noFill/>
          <a:ln/>
        </p:spPr>
        <p:txBody>
          <a:bodyPr wrap="square" lIns="0" tIns="0" rIns="0" bIns="0" rtlCol="0" anchor="t"/>
          <a:lstStyle/>
          <a:p>
            <a:pPr indent="0" marL="0">
              <a:buNone/>
            </a:pPr>
            <a:r>
              <a:rPr lang="en-US" sz="1300" dirty="0">
                <a:solidFill>
                  <a:srgbClr val="5B6B80"/>
                </a:solidFill>
              </a:rPr>
              <a:t>vs last year</a:t>
            </a:r>
            <a:endParaRPr lang="en-US" sz="1300" dirty="0"/>
          </a:p>
        </p:txBody>
      </p:sp>
      <p:sp>
        <p:nvSpPr>
          <p:cNvPr id="12" name="Stat card"/>
          <p:cNvSpPr/>
          <p:nvPr/>
        </p:nvSpPr>
        <p:spPr>
          <a:xfrm>
            <a:off x="10195560" y="1600200"/>
            <a:ext cx="1417320" cy="1005840"/>
          </a:xfrm>
          <a:prstGeom prst="roundRect">
            <a:avLst>
              <a:gd name="adj" fmla="val 7273"/>
            </a:avLst>
          </a:prstGeom>
          <a:solidFill>
            <a:srgbClr val="F2F6FB"/>
          </a:solidFill>
          <a:ln w="12700">
            <a:solidFill>
              <a:srgbClr val="F2F6FB"/>
            </a:solidFill>
            <a:prstDash val="solid"/>
          </a:ln>
        </p:spPr>
      </p:sp>
      <p:sp>
        <p:nvSpPr>
          <p:cNvPr id="13" name="Text 9"/>
          <p:cNvSpPr txBox="1"/>
          <p:nvPr/>
        </p:nvSpPr>
        <p:spPr>
          <a:xfrm>
            <a:off x="10332720" y="1673352"/>
            <a:ext cx="114300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80%</a:t>
            </a:r>
            <a:endParaRPr lang="en-US" sz="2200" dirty="0"/>
          </a:p>
        </p:txBody>
      </p:sp>
      <p:sp>
        <p:nvSpPr>
          <p:cNvPr id="14" name="Text 10"/>
          <p:cNvSpPr txBox="1"/>
          <p:nvPr/>
        </p:nvSpPr>
        <p:spPr>
          <a:xfrm>
            <a:off x="10332720" y="2123237"/>
            <a:ext cx="1143000" cy="462686"/>
          </a:xfrm>
          <a:prstGeom prst="rect">
            <a:avLst/>
          </a:prstGeom>
          <a:noFill/>
          <a:ln/>
        </p:spPr>
        <p:txBody>
          <a:bodyPr wrap="square" lIns="0" tIns="0" rIns="0" bIns="0" rtlCol="0" anchor="t"/>
          <a:lstStyle/>
          <a:p>
            <a:pPr indent="0" marL="0">
              <a:buNone/>
            </a:pPr>
            <a:r>
              <a:rPr lang="en-US" sz="1300" dirty="0">
                <a:solidFill>
                  <a:srgbClr val="5B6B80"/>
                </a:solidFill>
              </a:rPr>
              <a:t>inside P10-P90</a:t>
            </a:r>
            <a:endParaRPr lang="en-US" sz="1300" dirty="0"/>
          </a:p>
        </p:txBody>
      </p:sp>
      <p:sp>
        <p:nvSpPr>
          <p:cNvPr id="15" name="Text 11"/>
          <p:cNvSpPr txBox="1"/>
          <p:nvPr/>
        </p:nvSpPr>
        <p:spPr>
          <a:xfrm>
            <a:off x="7315200" y="2697480"/>
            <a:ext cx="4297680" cy="457200"/>
          </a:xfrm>
          <a:prstGeom prst="rect">
            <a:avLst/>
          </a:prstGeom>
          <a:noFill/>
          <a:ln/>
        </p:spPr>
        <p:txBody>
          <a:bodyPr wrap="square" lIns="0" tIns="0" rIns="0" bIns="0" rtlCol="0" anchor="t"/>
          <a:lstStyle/>
          <a:p>
            <a:pPr indent="0" marL="0">
              <a:buNone/>
            </a:pPr>
            <a:r>
              <a:rPr lang="en-US" sz="1100" i="1" dirty="0">
                <a:solidFill>
                  <a:srgbClr val="5B6B80"/>
                </a:solidFill>
              </a:rPr>
              <a:t>Range P10-P90 from backtest errors: 1.84M to 2.15M units</a:t>
            </a:r>
            <a:endParaRPr lang="en-US" sz="1100" dirty="0"/>
          </a:p>
        </p:txBody>
      </p:sp>
      <p:sp>
        <p:nvSpPr>
          <p:cNvPr id="16" name="Bridge step"/>
          <p:cNvSpPr/>
          <p:nvPr/>
        </p:nvSpPr>
        <p:spPr>
          <a:xfrm>
            <a:off x="548640" y="3886200"/>
            <a:ext cx="3566160" cy="749808"/>
          </a:xfrm>
          <a:prstGeom prst="roundRect">
            <a:avLst>
              <a:gd name="adj" fmla="val 7317"/>
            </a:avLst>
          </a:prstGeom>
          <a:solidFill>
            <a:srgbClr val="F2F6FB"/>
          </a:solidFill>
          <a:ln w="12700">
            <a:solidFill>
              <a:srgbClr val="F2F6FB"/>
            </a:solidFill>
            <a:prstDash val="solid"/>
          </a:ln>
        </p:spPr>
      </p:sp>
      <p:sp>
        <p:nvSpPr>
          <p:cNvPr id="17" name="Text 13"/>
          <p:cNvSpPr txBox="1"/>
          <p:nvPr/>
        </p:nvSpPr>
        <p:spPr>
          <a:xfrm>
            <a:off x="68580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1,998k units</a:t>
            </a:r>
            <a:endParaRPr lang="en-US" sz="1300" dirty="0"/>
          </a:p>
        </p:txBody>
      </p:sp>
      <p:sp>
        <p:nvSpPr>
          <p:cNvPr id="18" name="Text 14"/>
          <p:cNvSpPr txBox="1"/>
          <p:nvPr/>
        </p:nvSpPr>
        <p:spPr>
          <a:xfrm>
            <a:off x="68580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forecast demand (P50), summed over 780 product-weeks</a:t>
            </a:r>
            <a:endParaRPr lang="en-US" sz="1050" dirty="0"/>
          </a:p>
        </p:txBody>
      </p:sp>
      <p:sp>
        <p:nvSpPr>
          <p:cNvPr id="19" name="Bridge step"/>
          <p:cNvSpPr/>
          <p:nvPr/>
        </p:nvSpPr>
        <p:spPr>
          <a:xfrm>
            <a:off x="4297680" y="3886200"/>
            <a:ext cx="3566160" cy="749808"/>
          </a:xfrm>
          <a:prstGeom prst="roundRect">
            <a:avLst>
              <a:gd name="adj" fmla="val 7317"/>
            </a:avLst>
          </a:prstGeom>
          <a:solidFill>
            <a:srgbClr val="F2F6FB"/>
          </a:solidFill>
          <a:ln w="12700">
            <a:solidFill>
              <a:srgbClr val="F2F6FB"/>
            </a:solidFill>
            <a:prstDash val="solid"/>
          </a:ln>
        </p:spPr>
      </p:sp>
      <p:sp>
        <p:nvSpPr>
          <p:cNvPr id="20" name="Text 16"/>
          <p:cNvSpPr txBox="1"/>
          <p:nvPr/>
        </p:nvSpPr>
        <p:spPr>
          <a:xfrm>
            <a:off x="443484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 last-13-week price</a:t>
            </a:r>
            <a:endParaRPr lang="en-US" sz="1300" dirty="0"/>
          </a:p>
        </p:txBody>
      </p:sp>
      <p:sp>
        <p:nvSpPr>
          <p:cNvPr id="21" name="Text 17"/>
          <p:cNvSpPr txBox="1"/>
          <p:nvPr/>
        </p:nvSpPr>
        <p:spPr>
          <a:xfrm>
            <a:off x="443484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each product's own average price</a:t>
            </a:r>
            <a:endParaRPr lang="en-US" sz="1050" dirty="0"/>
          </a:p>
        </p:txBody>
      </p:sp>
      <p:sp>
        <p:nvSpPr>
          <p:cNvPr id="22" name="Bridge step"/>
          <p:cNvSpPr/>
          <p:nvPr/>
        </p:nvSpPr>
        <p:spPr>
          <a:xfrm>
            <a:off x="8046720" y="3886200"/>
            <a:ext cx="3566160" cy="749808"/>
          </a:xfrm>
          <a:prstGeom prst="roundRect">
            <a:avLst>
              <a:gd name="adj" fmla="val 7317"/>
            </a:avLst>
          </a:prstGeom>
          <a:solidFill>
            <a:srgbClr val="FFFFFF"/>
          </a:solidFill>
          <a:ln w="25400">
            <a:solidFill>
              <a:srgbClr val="2A78D6"/>
            </a:solidFill>
            <a:prstDash val="solid"/>
          </a:ln>
        </p:spPr>
      </p:sp>
      <p:sp>
        <p:nvSpPr>
          <p:cNvPr id="23" name="Text 19"/>
          <p:cNvSpPr txBox="1"/>
          <p:nvPr/>
        </p:nvSpPr>
        <p:spPr>
          <a:xfrm>
            <a:off x="8183880" y="3922776"/>
            <a:ext cx="3291840" cy="320040"/>
          </a:xfrm>
          <a:prstGeom prst="rect">
            <a:avLst/>
          </a:prstGeom>
          <a:noFill/>
          <a:ln/>
        </p:spPr>
        <p:txBody>
          <a:bodyPr wrap="square" lIns="0" tIns="0" rIns="0" bIns="0" rtlCol="0" anchor="ctr"/>
          <a:lstStyle/>
          <a:p>
            <a:pPr indent="0" marL="0">
              <a:buNone/>
            </a:pPr>
            <a:r>
              <a:rPr lang="en-US" sz="1500" b="1" dirty="0">
                <a:solidFill>
                  <a:srgbClr val="1F5FB0"/>
                </a:solidFill>
                <a:latin typeface="Cambria" pitchFamily="34" charset="0"/>
                <a:ea typeface="Cambria" pitchFamily="34" charset="-122"/>
                <a:cs typeface="Cambria" pitchFamily="34" charset="-120"/>
              </a:rPr>
              <a:t>= $64.6M</a:t>
            </a:r>
            <a:endParaRPr lang="en-US" sz="1500" dirty="0"/>
          </a:p>
        </p:txBody>
      </p:sp>
      <p:sp>
        <p:nvSpPr>
          <p:cNvPr id="24" name="Text 20"/>
          <p:cNvSpPr txBox="1"/>
          <p:nvPr/>
        </p:nvSpPr>
        <p:spPr>
          <a:xfrm>
            <a:off x="818388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revenue potential if every unit could be sold</a:t>
            </a:r>
            <a:endParaRPr lang="en-US" sz="1050" dirty="0"/>
          </a:p>
        </p:txBody>
      </p:sp>
      <p:sp>
        <p:nvSpPr>
          <p:cNvPr id="25" name="Bridge step"/>
          <p:cNvSpPr/>
          <p:nvPr/>
        </p:nvSpPr>
        <p:spPr>
          <a:xfrm>
            <a:off x="548640" y="4727448"/>
            <a:ext cx="3566160" cy="749808"/>
          </a:xfrm>
          <a:prstGeom prst="roundRect">
            <a:avLst>
              <a:gd name="adj" fmla="val 7317"/>
            </a:avLst>
          </a:prstGeom>
          <a:solidFill>
            <a:srgbClr val="F2F6FB"/>
          </a:solidFill>
          <a:ln w="12700">
            <a:solidFill>
              <a:srgbClr val="F2F6FB"/>
            </a:solidFill>
            <a:prstDash val="solid"/>
          </a:ln>
        </p:spPr>
      </p:sp>
      <p:sp>
        <p:nvSpPr>
          <p:cNvPr id="26" name="Text 22"/>
          <p:cNvSpPr txBox="1"/>
          <p:nvPr/>
        </p:nvSpPr>
        <p:spPr>
          <a:xfrm>
            <a:off x="685800" y="4764024"/>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stock simulation</a:t>
            </a:r>
            <a:endParaRPr lang="en-US" sz="1300" dirty="0"/>
          </a:p>
        </p:txBody>
      </p:sp>
      <p:sp>
        <p:nvSpPr>
          <p:cNvPr id="27" name="Text 23"/>
          <p:cNvSpPr txBox="1"/>
          <p:nvPr/>
        </p:nvSpPr>
        <p:spPr>
          <a:xfrm>
            <a:off x="68580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sold = min(demand, stock drawn from the last 104 weeks): 1,093k units</a:t>
            </a:r>
            <a:endParaRPr lang="en-US" sz="1050" dirty="0"/>
          </a:p>
        </p:txBody>
      </p:sp>
      <p:sp>
        <p:nvSpPr>
          <p:cNvPr id="28" name="Bridge step"/>
          <p:cNvSpPr/>
          <p:nvPr/>
        </p:nvSpPr>
        <p:spPr>
          <a:xfrm>
            <a:off x="4297680" y="4727448"/>
            <a:ext cx="3566160" cy="749808"/>
          </a:xfrm>
          <a:prstGeom prst="roundRect">
            <a:avLst>
              <a:gd name="adj" fmla="val 7317"/>
            </a:avLst>
          </a:prstGeom>
          <a:solidFill>
            <a:srgbClr val="FFFFFF"/>
          </a:solidFill>
          <a:ln w="25400">
            <a:solidFill>
              <a:srgbClr val="1BAF7A"/>
            </a:solidFill>
            <a:prstDash val="solid"/>
          </a:ln>
        </p:spPr>
      </p:sp>
      <p:sp>
        <p:nvSpPr>
          <p:cNvPr id="29" name="Text 25"/>
          <p:cNvSpPr txBox="1"/>
          <p:nvPr/>
        </p:nvSpPr>
        <p:spPr>
          <a:xfrm>
            <a:off x="4434840" y="4764024"/>
            <a:ext cx="3291840" cy="320040"/>
          </a:xfrm>
          <a:prstGeom prst="rect">
            <a:avLst/>
          </a:prstGeom>
          <a:noFill/>
          <a:ln/>
        </p:spPr>
        <p:txBody>
          <a:bodyPr wrap="square" lIns="0" tIns="0" rIns="0" bIns="0" rtlCol="0" anchor="ctr"/>
          <a:lstStyle/>
          <a:p>
            <a:pPr indent="0" marL="0">
              <a:buNone/>
            </a:pPr>
            <a:r>
              <a:rPr lang="en-US" sz="1500" b="1" dirty="0">
                <a:solidFill>
                  <a:srgbClr val="138A5F"/>
                </a:solidFill>
                <a:latin typeface="Cambria" pitchFamily="34" charset="0"/>
                <a:ea typeface="Cambria" pitchFamily="34" charset="-122"/>
                <a:cs typeface="Cambria" pitchFamily="34" charset="-120"/>
              </a:rPr>
              <a:t>= $35.8M</a:t>
            </a:r>
            <a:endParaRPr lang="en-US" sz="1500" dirty="0"/>
          </a:p>
        </p:txBody>
      </p:sp>
      <p:sp>
        <p:nvSpPr>
          <p:cNvPr id="30" name="Text 26"/>
          <p:cNvSpPr txBox="1"/>
          <p:nvPr/>
        </p:nvSpPr>
        <p:spPr>
          <a:xfrm>
            <a:off x="443484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expected sales at historical stock levels</a:t>
            </a:r>
            <a:endParaRPr lang="en-US" sz="1050" dirty="0"/>
          </a:p>
        </p:txBody>
      </p:sp>
      <p:sp>
        <p:nvSpPr>
          <p:cNvPr id="31" name="Bridge step"/>
          <p:cNvSpPr/>
          <p:nvPr/>
        </p:nvSpPr>
        <p:spPr>
          <a:xfrm>
            <a:off x="8046720" y="4727448"/>
            <a:ext cx="3566160" cy="749808"/>
          </a:xfrm>
          <a:prstGeom prst="roundRect">
            <a:avLst>
              <a:gd name="adj" fmla="val 7317"/>
            </a:avLst>
          </a:prstGeom>
          <a:solidFill>
            <a:srgbClr val="FFFFFF"/>
          </a:solidFill>
          <a:ln w="25400">
            <a:solidFill>
              <a:srgbClr val="EB6834"/>
            </a:solidFill>
            <a:prstDash val="solid"/>
          </a:ln>
        </p:spPr>
      </p:sp>
      <p:sp>
        <p:nvSpPr>
          <p:cNvPr id="32" name="Text 28"/>
          <p:cNvSpPr txBox="1"/>
          <p:nvPr/>
        </p:nvSpPr>
        <p:spPr>
          <a:xfrm>
            <a:off x="8183880" y="4764024"/>
            <a:ext cx="3291840" cy="320040"/>
          </a:xfrm>
          <a:prstGeom prst="rect">
            <a:avLst/>
          </a:prstGeom>
          <a:noFill/>
          <a:ln/>
        </p:spPr>
        <p:txBody>
          <a:bodyPr wrap="square" lIns="0" tIns="0" rIns="0" bIns="0" rtlCol="0" anchor="ctr"/>
          <a:lstStyle/>
          <a:p>
            <a:pPr indent="0" marL="0">
              <a:buNone/>
            </a:pPr>
            <a:r>
              <a:rPr lang="en-US" sz="1500" b="1" dirty="0">
                <a:solidFill>
                  <a:srgbClr val="C24E1F"/>
                </a:solidFill>
                <a:latin typeface="Cambria" pitchFamily="34" charset="0"/>
                <a:ea typeface="Cambria" pitchFamily="34" charset="-122"/>
                <a:cs typeface="Cambria" pitchFamily="34" charset="-120"/>
              </a:rPr>
              <a:t>$64.6M - $35.8M = $28.7M</a:t>
            </a:r>
            <a:endParaRPr lang="en-US" sz="1500" dirty="0"/>
          </a:p>
        </p:txBody>
      </p:sp>
      <p:sp>
        <p:nvSpPr>
          <p:cNvPr id="33" name="Text 29"/>
          <p:cNvSpPr txBox="1"/>
          <p:nvPr/>
        </p:nvSpPr>
        <p:spPr>
          <a:xfrm>
            <a:off x="818388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unserved demand (44%)</a:t>
            </a:r>
            <a:endParaRPr lang="en-US" sz="1050" dirty="0"/>
          </a:p>
        </p:txBody>
      </p:sp>
      <p:sp>
        <p:nvSpPr>
          <p:cNvPr id="34" name="Text 3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200" i="1" dirty="0">
                <a:solidFill>
                  <a:srgbClr val="5B6B80"/>
                </a:solidFill>
              </a:rPr>
              <a:t>Example, Barley week 1: 2,899 units × $7.447 = $21,589 potential; history lets 1,397 units sell ($10,406); 1,494 units ($11,182) unserved.   Assumptions: stock follows each product's history; prices stay at the last 13-week average.</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KPI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KPI dashboard: financial, operational, credit</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a:t>
            </a:r>
            <a:endParaRPr lang="en-US" sz="1200" dirty="0"/>
          </a:p>
        </p:txBody>
      </p:sp>
      <p:sp>
        <p:nvSpPr>
          <p:cNvPr id="7" name="KPI group"/>
          <p:cNvSpPr/>
          <p:nvPr/>
        </p:nvSpPr>
        <p:spPr>
          <a:xfrm>
            <a:off x="6309360" y="1645920"/>
            <a:ext cx="5303520" cy="731520"/>
          </a:xfrm>
          <a:prstGeom prst="roundRect">
            <a:avLst>
              <a:gd name="adj" fmla="val 10000"/>
            </a:avLst>
          </a:prstGeom>
          <a:solidFill>
            <a:srgbClr val="F2F6FB"/>
          </a:solidFill>
          <a:ln w="12700">
            <a:solidFill>
              <a:srgbClr val="F2F6FB"/>
            </a:solidFill>
            <a:prstDash val="solid"/>
          </a:ln>
        </p:spPr>
      </p:sp>
      <p:sp>
        <p:nvSpPr>
          <p:cNvPr id="8" name="Group accent"/>
          <p:cNvSpPr/>
          <p:nvPr/>
        </p:nvSpPr>
        <p:spPr>
          <a:xfrm>
            <a:off x="6309360" y="1645920"/>
            <a:ext cx="82296" cy="731520"/>
          </a:xfrm>
          <a:prstGeom prst="rect">
            <a:avLst/>
          </a:prstGeom>
          <a:solidFill>
            <a:srgbClr val="2A78D6"/>
          </a:solidFill>
          <a:ln w="12700">
            <a:solidFill>
              <a:srgbClr val="2A78D6"/>
            </a:solidFill>
            <a:prstDash val="solid"/>
          </a:ln>
        </p:spPr>
      </p:sp>
      <p:sp>
        <p:nvSpPr>
          <p:cNvPr id="9" name="Text 5"/>
          <p:cNvSpPr txBox="1"/>
          <p:nvPr/>
        </p:nvSpPr>
        <p:spPr>
          <a:xfrm>
            <a:off x="6537960" y="170078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Financial</a:t>
            </a:r>
            <a:endParaRPr lang="en-US" sz="1400" dirty="0"/>
          </a:p>
        </p:txBody>
      </p:sp>
      <p:sp>
        <p:nvSpPr>
          <p:cNvPr id="10" name="Text 6"/>
          <p:cNvSpPr txBox="1"/>
          <p:nvPr/>
        </p:nvSpPr>
        <p:spPr>
          <a:xfrm>
            <a:off x="6537960" y="1993392"/>
            <a:ext cx="4937760" cy="347472"/>
          </a:xfrm>
          <a:prstGeom prst="rect">
            <a:avLst/>
          </a:prstGeom>
          <a:noFill/>
          <a:ln/>
        </p:spPr>
        <p:txBody>
          <a:bodyPr wrap="square" lIns="0" tIns="0" rIns="0" bIns="0" rtlCol="0" anchor="t"/>
          <a:lstStyle/>
          <a:p>
            <a:pPr indent="0" marL="0">
              <a:buNone/>
            </a:pPr>
            <a:r>
              <a:rPr lang="en-US" sz="1150" dirty="0">
                <a:solidFill>
                  <a:srgbClr val="1B2A41"/>
                </a:solidFill>
              </a:rPr>
              <a:t>gross margin · revenue growth · operating profit</a:t>
            </a:r>
            <a:endParaRPr lang="en-US" sz="1150" dirty="0"/>
          </a:p>
        </p:txBody>
      </p:sp>
      <p:sp>
        <p:nvSpPr>
          <p:cNvPr id="11" name="KPI group"/>
          <p:cNvSpPr/>
          <p:nvPr/>
        </p:nvSpPr>
        <p:spPr>
          <a:xfrm>
            <a:off x="6309360" y="2468880"/>
            <a:ext cx="5303520" cy="731520"/>
          </a:xfrm>
          <a:prstGeom prst="roundRect">
            <a:avLst>
              <a:gd name="adj" fmla="val 10000"/>
            </a:avLst>
          </a:prstGeom>
          <a:solidFill>
            <a:srgbClr val="F2F6FB"/>
          </a:solidFill>
          <a:ln w="12700">
            <a:solidFill>
              <a:srgbClr val="F2F6FB"/>
            </a:solidFill>
            <a:prstDash val="solid"/>
          </a:ln>
        </p:spPr>
      </p:sp>
      <p:sp>
        <p:nvSpPr>
          <p:cNvPr id="12" name="Group accent"/>
          <p:cNvSpPr/>
          <p:nvPr/>
        </p:nvSpPr>
        <p:spPr>
          <a:xfrm>
            <a:off x="6309360" y="2468880"/>
            <a:ext cx="82296" cy="731520"/>
          </a:xfrm>
          <a:prstGeom prst="rect">
            <a:avLst/>
          </a:prstGeom>
          <a:solidFill>
            <a:srgbClr val="EB6834"/>
          </a:solidFill>
          <a:ln w="12700">
            <a:solidFill>
              <a:srgbClr val="EB6834"/>
            </a:solidFill>
            <a:prstDash val="solid"/>
          </a:ln>
        </p:spPr>
      </p:sp>
      <p:sp>
        <p:nvSpPr>
          <p:cNvPr id="13" name="Text 9"/>
          <p:cNvSpPr txBox="1"/>
          <p:nvPr/>
        </p:nvSpPr>
        <p:spPr>
          <a:xfrm>
            <a:off x="6537960" y="252374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Operational</a:t>
            </a:r>
            <a:endParaRPr lang="en-US" sz="1400" dirty="0"/>
          </a:p>
        </p:txBody>
      </p:sp>
      <p:sp>
        <p:nvSpPr>
          <p:cNvPr id="14" name="Text 10"/>
          <p:cNvSpPr txBox="1"/>
          <p:nvPr/>
        </p:nvSpPr>
        <p:spPr>
          <a:xfrm>
            <a:off x="6537960" y="2816352"/>
            <a:ext cx="4937760" cy="347472"/>
          </a:xfrm>
          <a:prstGeom prst="rect">
            <a:avLst/>
          </a:prstGeom>
          <a:noFill/>
          <a:ln/>
        </p:spPr>
        <p:txBody>
          <a:bodyPr wrap="square" lIns="0" tIns="0" rIns="0" bIns="0" rtlCol="0" anchor="t"/>
          <a:lstStyle/>
          <a:p>
            <a:pPr indent="0" marL="0">
              <a:buNone/>
            </a:pPr>
            <a:r>
              <a:rPr lang="en-US" sz="1150" dirty="0">
                <a:solidFill>
                  <a:srgbClr val="1B2A41"/>
                </a:solidFill>
              </a:rPr>
              <a:t>inventory turnover · days of stock (DSI) · service level · lost revenue</a:t>
            </a:r>
            <a:endParaRPr lang="en-US" sz="1150" dirty="0"/>
          </a:p>
        </p:txBody>
      </p:sp>
      <p:sp>
        <p:nvSpPr>
          <p:cNvPr id="15" name="KPI group"/>
          <p:cNvSpPr/>
          <p:nvPr/>
        </p:nvSpPr>
        <p:spPr>
          <a:xfrm>
            <a:off x="6309360" y="3291840"/>
            <a:ext cx="5303520" cy="731520"/>
          </a:xfrm>
          <a:prstGeom prst="roundRect">
            <a:avLst>
              <a:gd name="adj" fmla="val 10000"/>
            </a:avLst>
          </a:prstGeom>
          <a:solidFill>
            <a:srgbClr val="F2F6FB"/>
          </a:solidFill>
          <a:ln w="12700">
            <a:solidFill>
              <a:srgbClr val="F2F6FB"/>
            </a:solidFill>
            <a:prstDash val="solid"/>
          </a:ln>
        </p:spPr>
      </p:sp>
      <p:sp>
        <p:nvSpPr>
          <p:cNvPr id="16" name="Group accent"/>
          <p:cNvSpPr/>
          <p:nvPr/>
        </p:nvSpPr>
        <p:spPr>
          <a:xfrm>
            <a:off x="6309360" y="3291840"/>
            <a:ext cx="82296" cy="731520"/>
          </a:xfrm>
          <a:prstGeom prst="rect">
            <a:avLst/>
          </a:prstGeom>
          <a:solidFill>
            <a:srgbClr val="D03B3B"/>
          </a:solidFill>
          <a:ln w="12700">
            <a:solidFill>
              <a:srgbClr val="D03B3B"/>
            </a:solidFill>
            <a:prstDash val="solid"/>
          </a:ln>
        </p:spPr>
      </p:sp>
      <p:sp>
        <p:nvSpPr>
          <p:cNvPr id="17" name="Text 13"/>
          <p:cNvSpPr txBox="1"/>
          <p:nvPr/>
        </p:nvSpPr>
        <p:spPr>
          <a:xfrm>
            <a:off x="6537960" y="334670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Credit</a:t>
            </a:r>
            <a:endParaRPr lang="en-US" sz="1400" dirty="0"/>
          </a:p>
        </p:txBody>
      </p:sp>
      <p:sp>
        <p:nvSpPr>
          <p:cNvPr id="18" name="Text 14"/>
          <p:cNvSpPr txBox="1"/>
          <p:nvPr/>
        </p:nvSpPr>
        <p:spPr>
          <a:xfrm>
            <a:off x="6537960" y="3639312"/>
            <a:ext cx="4937760" cy="347472"/>
          </a:xfrm>
          <a:prstGeom prst="rect">
            <a:avLst/>
          </a:prstGeom>
          <a:noFill/>
          <a:ln/>
        </p:spPr>
        <p:txBody>
          <a:bodyPr wrap="square" lIns="0" tIns="0" rIns="0" bIns="0" rtlCol="0" anchor="t"/>
          <a:lstStyle/>
          <a:p>
            <a:pPr indent="0" marL="0">
              <a:buNone/>
            </a:pPr>
            <a:r>
              <a:rPr lang="en-US" sz="1150" dirty="0">
                <a:solidFill>
                  <a:srgbClr val="1B2A41"/>
                </a:solidFill>
              </a:rPr>
              <a:t>days sales outstanding (DSO) · default-risk rating A-E (scenario)</a:t>
            </a:r>
            <a:endParaRPr lang="en-US" sz="1150" dirty="0"/>
          </a:p>
        </p:txBody>
      </p:sp>
      <p:sp>
        <p:nvSpPr>
          <p:cNvPr id="19" name="KPI group"/>
          <p:cNvSpPr/>
          <p:nvPr/>
        </p:nvSpPr>
        <p:spPr>
          <a:xfrm>
            <a:off x="6309360" y="4114800"/>
            <a:ext cx="5303520" cy="731520"/>
          </a:xfrm>
          <a:prstGeom prst="roundRect">
            <a:avLst>
              <a:gd name="adj" fmla="val 10000"/>
            </a:avLst>
          </a:prstGeom>
          <a:solidFill>
            <a:srgbClr val="F2F6FB"/>
          </a:solidFill>
          <a:ln w="12700">
            <a:solidFill>
              <a:srgbClr val="F2F6FB"/>
            </a:solidFill>
            <a:prstDash val="solid"/>
          </a:ln>
        </p:spPr>
      </p:sp>
      <p:sp>
        <p:nvSpPr>
          <p:cNvPr id="20" name="Group accent"/>
          <p:cNvSpPr/>
          <p:nvPr/>
        </p:nvSpPr>
        <p:spPr>
          <a:xfrm>
            <a:off x="6309360" y="4114800"/>
            <a:ext cx="82296" cy="731520"/>
          </a:xfrm>
          <a:prstGeom prst="rect">
            <a:avLst/>
          </a:prstGeom>
          <a:solidFill>
            <a:srgbClr val="1BAF7A"/>
          </a:solidFill>
          <a:ln w="12700">
            <a:solidFill>
              <a:srgbClr val="1BAF7A"/>
            </a:solidFill>
            <a:prstDash val="solid"/>
          </a:ln>
        </p:spPr>
      </p:sp>
      <p:sp>
        <p:nvSpPr>
          <p:cNvPr id="21" name="Text 17"/>
          <p:cNvSpPr txBox="1"/>
          <p:nvPr/>
        </p:nvSpPr>
        <p:spPr>
          <a:xfrm>
            <a:off x="6537960" y="416966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Forward view and actions</a:t>
            </a:r>
            <a:endParaRPr lang="en-US" sz="1400" dirty="0"/>
          </a:p>
        </p:txBody>
      </p:sp>
      <p:sp>
        <p:nvSpPr>
          <p:cNvPr id="22" name="Text 18"/>
          <p:cNvSpPr txBox="1"/>
          <p:nvPr/>
        </p:nvSpPr>
        <p:spPr>
          <a:xfrm>
            <a:off x="6537960" y="4462272"/>
            <a:ext cx="4937760" cy="347472"/>
          </a:xfrm>
          <a:prstGeom prst="rect">
            <a:avLst/>
          </a:prstGeom>
          <a:noFill/>
          <a:ln/>
        </p:spPr>
        <p:txBody>
          <a:bodyPr wrap="square" lIns="0" tIns="0" rIns="0" bIns="0" rtlCol="0" anchor="t"/>
          <a:lstStyle/>
          <a:p>
            <a:pPr indent="0" marL="0">
              <a:buNone/>
            </a:pPr>
            <a:r>
              <a:rPr lang="en-US" sz="1150" dirty="0">
                <a:solidFill>
                  <a:srgbClr val="1B2A41"/>
                </a:solidFill>
              </a:rPr>
              <a:t>26-week forecast with P10-P90 range · price plan · six rule-based alerts</a:t>
            </a:r>
            <a:endParaRPr lang="en-US" sz="1150" dirty="0"/>
          </a:p>
        </p:txBody>
      </p:sp>
      <p:sp>
        <p:nvSpPr>
          <p:cNvPr id="23"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24" name="Text 20"/>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25" name="Text 21"/>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26"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27" name="Text 23"/>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28" name="Text 24"/>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29"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30" name="Text 26"/>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31" name="Text 27"/>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32"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33" name="Text 29"/>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34" name="Text 30"/>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CREDIT-RISK RATING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Credit-risk rating A to E: what, how, and why</a:t>
            </a:r>
            <a:endParaRPr lang="en-US" sz="3000" dirty="0"/>
          </a:p>
        </p:txBody>
      </p:sp>
      <p:sp>
        <p:nvSpPr>
          <p:cNvPr id="5" name="Text 2"/>
          <p:cNvSpPr txBox="1"/>
          <p:nvPr/>
        </p:nvSpPr>
        <p:spPr>
          <a:xfrm>
            <a:off x="548640" y="1600200"/>
            <a:ext cx="5669280" cy="292608"/>
          </a:xfrm>
          <a:prstGeom prst="rect">
            <a:avLst/>
          </a:prstGeom>
          <a:noFill/>
          <a:ln/>
        </p:spPr>
        <p:txBody>
          <a:bodyPr wrap="square" lIns="0" tIns="0" rIns="0" bIns="0" rtlCol="0" anchor="ctr"/>
          <a:lstStyle/>
          <a:p>
            <a:pPr indent="0" marL="0">
              <a:buNone/>
            </a:pPr>
            <a:r>
              <a:rPr lang="en-US" sz="1300" b="1" dirty="0">
                <a:solidFill>
                  <a:srgbClr val="5B6B80"/>
                </a:solidFill>
              </a:rPr>
              <a:t>Risk score (0-100) = weighted sum of four components</a:t>
            </a:r>
            <a:endParaRPr lang="en-US" sz="1300" dirty="0"/>
          </a:p>
        </p:txBody>
      </p:sp>
      <p:sp>
        <p:nvSpPr>
          <p:cNvPr id="6" name="Component card"/>
          <p:cNvSpPr/>
          <p:nvPr/>
        </p:nvSpPr>
        <p:spPr>
          <a:xfrm>
            <a:off x="548640" y="1938528"/>
            <a:ext cx="5669280" cy="713232"/>
          </a:xfrm>
          <a:prstGeom prst="roundRect">
            <a:avLst>
              <a:gd name="adj" fmla="val 10256"/>
            </a:avLst>
          </a:prstGeom>
          <a:solidFill>
            <a:srgbClr val="F2F6FB"/>
          </a:solidFill>
          <a:ln w="12700">
            <a:solidFill>
              <a:srgbClr val="F2F6FB"/>
            </a:solidFill>
            <a:prstDash val="solid"/>
          </a:ln>
        </p:spPr>
      </p:sp>
      <p:sp>
        <p:nvSpPr>
          <p:cNvPr id="7" name="Text 4"/>
          <p:cNvSpPr txBox="1"/>
          <p:nvPr/>
        </p:nvSpPr>
        <p:spPr>
          <a:xfrm>
            <a:off x="685800" y="1938528"/>
            <a:ext cx="1005840" cy="713232"/>
          </a:xfrm>
          <a:prstGeom prst="rect">
            <a:avLst/>
          </a:prstGeom>
          <a:noFill/>
          <a:ln/>
        </p:spPr>
        <p:txBody>
          <a:bodyPr wrap="square" lIns="0" tIns="0" rIns="0" bIns="0" rtlCol="0" anchor="ctr"/>
          <a:lstStyle/>
          <a:p>
            <a:pPr indent="0" marL="0">
              <a:buNone/>
            </a:pPr>
            <a:r>
              <a:rPr lang="en-US" sz="2400" b="1" dirty="0">
                <a:solidFill>
                  <a:srgbClr val="B02F2F"/>
                </a:solidFill>
                <a:latin typeface="Cambria" pitchFamily="34" charset="0"/>
                <a:ea typeface="Cambria" pitchFamily="34" charset="-122"/>
                <a:cs typeface="Cambria" pitchFamily="34" charset="-120"/>
              </a:rPr>
              <a:t>40%</a:t>
            </a:r>
            <a:endParaRPr lang="en-US" sz="2400" dirty="0"/>
          </a:p>
        </p:txBody>
      </p:sp>
      <p:sp>
        <p:nvSpPr>
          <p:cNvPr id="8" name="Text 5"/>
          <p:cNvSpPr txBox="1"/>
          <p:nvPr/>
        </p:nvSpPr>
        <p:spPr>
          <a:xfrm>
            <a:off x="1737360" y="2002536"/>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Default rate</a:t>
            </a:r>
            <a:endParaRPr lang="en-US" sz="1350" dirty="0"/>
          </a:p>
        </p:txBody>
      </p:sp>
      <p:sp>
        <p:nvSpPr>
          <p:cNvPr id="9" name="Text 6"/>
          <p:cNvSpPr txBox="1"/>
          <p:nvPr/>
        </p:nvSpPr>
        <p:spPr>
          <a:xfrm>
            <a:off x="1737360" y="2286000"/>
            <a:ext cx="4389120" cy="329184"/>
          </a:xfrm>
          <a:prstGeom prst="rect">
            <a:avLst/>
          </a:prstGeom>
          <a:noFill/>
          <a:ln/>
        </p:spPr>
        <p:txBody>
          <a:bodyPr wrap="square" lIns="0" tIns="0" rIns="0" bIns="0" rtlCol="0" anchor="t"/>
          <a:lstStyle/>
          <a:p>
            <a:pPr indent="0" marL="0">
              <a:buNone/>
            </a:pPr>
            <a:r>
              <a:rPr lang="en-US" sz="1100" dirty="0">
                <a:solidFill>
                  <a:srgbClr val="5B6B80"/>
                </a:solidFill>
              </a:rPr>
              <a:t>annual default of credit sales; 3% = score 100</a:t>
            </a:r>
            <a:endParaRPr lang="en-US" sz="1100" dirty="0"/>
          </a:p>
        </p:txBody>
      </p:sp>
      <p:sp>
        <p:nvSpPr>
          <p:cNvPr id="10" name="Component card"/>
          <p:cNvSpPr/>
          <p:nvPr/>
        </p:nvSpPr>
        <p:spPr>
          <a:xfrm>
            <a:off x="548640" y="2724912"/>
            <a:ext cx="5669280" cy="713232"/>
          </a:xfrm>
          <a:prstGeom prst="roundRect">
            <a:avLst>
              <a:gd name="adj" fmla="val 10256"/>
            </a:avLst>
          </a:prstGeom>
          <a:solidFill>
            <a:srgbClr val="F2F6FB"/>
          </a:solidFill>
          <a:ln w="12700">
            <a:solidFill>
              <a:srgbClr val="F2F6FB"/>
            </a:solidFill>
            <a:prstDash val="solid"/>
          </a:ln>
        </p:spPr>
      </p:sp>
      <p:sp>
        <p:nvSpPr>
          <p:cNvPr id="11" name="Text 8"/>
          <p:cNvSpPr txBox="1"/>
          <p:nvPr/>
        </p:nvSpPr>
        <p:spPr>
          <a:xfrm>
            <a:off x="685800" y="2724912"/>
            <a:ext cx="1005840" cy="713232"/>
          </a:xfrm>
          <a:prstGeom prst="rect">
            <a:avLst/>
          </a:prstGeom>
          <a:noFill/>
          <a:ln/>
        </p:spPr>
        <p:txBody>
          <a:bodyPr wrap="square" lIns="0" tIns="0" rIns="0" bIns="0" rtlCol="0" anchor="ctr"/>
          <a:lstStyle/>
          <a:p>
            <a:pPr indent="0" marL="0">
              <a:buNone/>
            </a:pPr>
            <a:r>
              <a:rPr lang="en-US" sz="2400" b="1" dirty="0">
                <a:solidFill>
                  <a:srgbClr val="C24E1F"/>
                </a:solidFill>
                <a:latin typeface="Cambria" pitchFamily="34" charset="0"/>
                <a:ea typeface="Cambria" pitchFamily="34" charset="-122"/>
                <a:cs typeface="Cambria" pitchFamily="34" charset="-120"/>
              </a:rPr>
              <a:t>20%</a:t>
            </a:r>
            <a:endParaRPr lang="en-US" sz="2400" dirty="0"/>
          </a:p>
        </p:txBody>
      </p:sp>
      <p:sp>
        <p:nvSpPr>
          <p:cNvPr id="12" name="Text 9"/>
          <p:cNvSpPr txBox="1"/>
          <p:nvPr/>
        </p:nvSpPr>
        <p:spPr>
          <a:xfrm>
            <a:off x="1737360" y="2788920"/>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Lateness</a:t>
            </a:r>
            <a:endParaRPr lang="en-US" sz="1350" dirty="0"/>
          </a:p>
        </p:txBody>
      </p:sp>
      <p:sp>
        <p:nvSpPr>
          <p:cNvPr id="13" name="Text 10"/>
          <p:cNvSpPr txBox="1"/>
          <p:nvPr/>
        </p:nvSpPr>
        <p:spPr>
          <a:xfrm>
            <a:off x="1737360" y="3072384"/>
            <a:ext cx="4389120" cy="329184"/>
          </a:xfrm>
          <a:prstGeom prst="rect">
            <a:avLst/>
          </a:prstGeom>
          <a:noFill/>
          <a:ln/>
        </p:spPr>
        <p:txBody>
          <a:bodyPr wrap="square" lIns="0" tIns="0" rIns="0" bIns="0" rtlCol="0" anchor="t"/>
          <a:lstStyle/>
          <a:p>
            <a:pPr indent="0" marL="0">
              <a:buNone/>
            </a:pPr>
            <a:r>
              <a:rPr lang="en-US" sz="1100" dirty="0">
                <a:solidFill>
                  <a:srgbClr val="5B6B80"/>
                </a:solidFill>
              </a:rPr>
              <a:t>average delay vs terms; delay = half the terms = 100</a:t>
            </a:r>
            <a:endParaRPr lang="en-US" sz="1100" dirty="0"/>
          </a:p>
        </p:txBody>
      </p:sp>
      <p:sp>
        <p:nvSpPr>
          <p:cNvPr id="14" name="Component card"/>
          <p:cNvSpPr/>
          <p:nvPr/>
        </p:nvSpPr>
        <p:spPr>
          <a:xfrm>
            <a:off x="548640" y="3511296"/>
            <a:ext cx="5669280" cy="713232"/>
          </a:xfrm>
          <a:prstGeom prst="roundRect">
            <a:avLst>
              <a:gd name="adj" fmla="val 10256"/>
            </a:avLst>
          </a:prstGeom>
          <a:solidFill>
            <a:srgbClr val="F2F6FB"/>
          </a:solidFill>
          <a:ln w="12700">
            <a:solidFill>
              <a:srgbClr val="F2F6FB"/>
            </a:solidFill>
            <a:prstDash val="solid"/>
          </a:ln>
        </p:spPr>
      </p:sp>
      <p:sp>
        <p:nvSpPr>
          <p:cNvPr id="15" name="Text 12"/>
          <p:cNvSpPr txBox="1"/>
          <p:nvPr/>
        </p:nvSpPr>
        <p:spPr>
          <a:xfrm>
            <a:off x="685800" y="3511296"/>
            <a:ext cx="1005840" cy="713232"/>
          </a:xfrm>
          <a:prstGeom prst="rect">
            <a:avLst/>
          </a:prstGeom>
          <a:noFill/>
          <a:ln/>
        </p:spPr>
        <p:txBody>
          <a:bodyPr wrap="square" lIns="0" tIns="0" rIns="0" bIns="0" rtlCol="0" anchor="ctr"/>
          <a:lstStyle/>
          <a:p>
            <a:pPr indent="0" marL="0">
              <a:buNone/>
            </a:pPr>
            <a:r>
              <a:rPr lang="en-US" sz="2400" b="1" dirty="0">
                <a:solidFill>
                  <a:srgbClr val="1F5FB0"/>
                </a:solidFill>
                <a:latin typeface="Cambria" pitchFamily="34" charset="0"/>
                <a:ea typeface="Cambria" pitchFamily="34" charset="-122"/>
                <a:cs typeface="Cambria" pitchFamily="34" charset="-120"/>
              </a:rPr>
              <a:t>25%</a:t>
            </a:r>
            <a:endParaRPr lang="en-US" sz="2400" dirty="0"/>
          </a:p>
        </p:txBody>
      </p:sp>
      <p:sp>
        <p:nvSpPr>
          <p:cNvPr id="16" name="Text 13"/>
          <p:cNvSpPr txBox="1"/>
          <p:nvPr/>
        </p:nvSpPr>
        <p:spPr>
          <a:xfrm>
            <a:off x="1737360" y="3575304"/>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Loss vs margin</a:t>
            </a:r>
            <a:endParaRPr lang="en-US" sz="1350" dirty="0"/>
          </a:p>
        </p:txBody>
      </p:sp>
      <p:sp>
        <p:nvSpPr>
          <p:cNvPr id="17" name="Text 14"/>
          <p:cNvSpPr txBox="1"/>
          <p:nvPr/>
        </p:nvSpPr>
        <p:spPr>
          <a:xfrm>
            <a:off x="1737360" y="3858768"/>
            <a:ext cx="4389120" cy="329184"/>
          </a:xfrm>
          <a:prstGeom prst="rect">
            <a:avLst/>
          </a:prstGeom>
          <a:noFill/>
          <a:ln/>
        </p:spPr>
        <p:txBody>
          <a:bodyPr wrap="square" lIns="0" tIns="0" rIns="0" bIns="0" rtlCol="0" anchor="t"/>
          <a:lstStyle/>
          <a:p>
            <a:pPr indent="0" marL="0">
              <a:buNone/>
            </a:pPr>
            <a:r>
              <a:rPr lang="en-US" sz="1100" dirty="0">
                <a:solidFill>
                  <a:srgbClr val="5B6B80"/>
                </a:solidFill>
              </a:rPr>
              <a:t>expected credit loss as share of gross profit; 15% = 100</a:t>
            </a:r>
            <a:endParaRPr lang="en-US" sz="1100" dirty="0"/>
          </a:p>
        </p:txBody>
      </p:sp>
      <p:sp>
        <p:nvSpPr>
          <p:cNvPr id="18" name="Component card"/>
          <p:cNvSpPr/>
          <p:nvPr/>
        </p:nvSpPr>
        <p:spPr>
          <a:xfrm>
            <a:off x="548640" y="4297680"/>
            <a:ext cx="5669280" cy="713232"/>
          </a:xfrm>
          <a:prstGeom prst="roundRect">
            <a:avLst>
              <a:gd name="adj" fmla="val 10256"/>
            </a:avLst>
          </a:prstGeom>
          <a:solidFill>
            <a:srgbClr val="F2F6FB"/>
          </a:solidFill>
          <a:ln w="12700">
            <a:solidFill>
              <a:srgbClr val="F2F6FB"/>
            </a:solidFill>
            <a:prstDash val="solid"/>
          </a:ln>
        </p:spPr>
      </p:sp>
      <p:sp>
        <p:nvSpPr>
          <p:cNvPr id="19" name="Text 16"/>
          <p:cNvSpPr txBox="1"/>
          <p:nvPr/>
        </p:nvSpPr>
        <p:spPr>
          <a:xfrm>
            <a:off x="685800" y="4297680"/>
            <a:ext cx="1005840" cy="713232"/>
          </a:xfrm>
          <a:prstGeom prst="rect">
            <a:avLst/>
          </a:prstGeom>
          <a:noFill/>
          <a:ln/>
        </p:spPr>
        <p:txBody>
          <a:bodyPr wrap="square" lIns="0" tIns="0" rIns="0" bIns="0" rtlCol="0" anchor="ctr"/>
          <a:lstStyle/>
          <a:p>
            <a:pPr indent="0" marL="0">
              <a:buNone/>
            </a:pPr>
            <a:r>
              <a:rPr lang="en-US" sz="2400" b="1" dirty="0">
                <a:solidFill>
                  <a:srgbClr val="138A5F"/>
                </a:solidFill>
                <a:latin typeface="Cambria" pitchFamily="34" charset="0"/>
                <a:ea typeface="Cambria" pitchFamily="34" charset="-122"/>
                <a:cs typeface="Cambria" pitchFamily="34" charset="-120"/>
              </a:rPr>
              <a:t>15%</a:t>
            </a:r>
            <a:endParaRPr lang="en-US" sz="2400" dirty="0"/>
          </a:p>
        </p:txBody>
      </p:sp>
      <p:sp>
        <p:nvSpPr>
          <p:cNvPr id="20" name="Text 17"/>
          <p:cNvSpPr txBox="1"/>
          <p:nvPr/>
        </p:nvSpPr>
        <p:spPr>
          <a:xfrm>
            <a:off x="1737360" y="4361688"/>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Concentration</a:t>
            </a:r>
            <a:endParaRPr lang="en-US" sz="1350" dirty="0"/>
          </a:p>
        </p:txBody>
      </p:sp>
      <p:sp>
        <p:nvSpPr>
          <p:cNvPr id="21" name="Text 18"/>
          <p:cNvSpPr txBox="1"/>
          <p:nvPr/>
        </p:nvSpPr>
        <p:spPr>
          <a:xfrm>
            <a:off x="1737360" y="4645152"/>
            <a:ext cx="4389120" cy="329184"/>
          </a:xfrm>
          <a:prstGeom prst="rect">
            <a:avLst/>
          </a:prstGeom>
          <a:noFill/>
          <a:ln/>
        </p:spPr>
        <p:txBody>
          <a:bodyPr wrap="square" lIns="0" tIns="0" rIns="0" bIns="0" rtlCol="0" anchor="t"/>
          <a:lstStyle/>
          <a:p>
            <a:pPr indent="0" marL="0">
              <a:buNone/>
            </a:pPr>
            <a:r>
              <a:rPr lang="en-US" sz="1100" dirty="0">
                <a:solidFill>
                  <a:srgbClr val="5B6B80"/>
                </a:solidFill>
              </a:rPr>
              <a:t>category share of revenue; 25% = 100</a:t>
            </a:r>
            <a:endParaRPr lang="en-US" sz="1100" dirty="0"/>
          </a:p>
        </p:txBody>
      </p:sp>
      <p:graphicFrame>
        <p:nvGraphicFramePr>
          <p:cNvPr id="22" name="Chart 0" descr=""/>
          <p:cNvGraphicFramePr/>
          <p:nvPr/>
        </p:nvGraphicFramePr>
        <p:xfrm>
          <a:off x="6400800" y="1554480"/>
          <a:ext cx="5212080" cy="2743200"/>
        </p:xfrm>
        <a:graphic xmlns:a="http://schemas.openxmlformats.org/drawingml/2006/main">
          <a:graphicData uri="http://schemas.openxmlformats.org/drawingml/2006/chart">
            <c:chart xmlns:c="http://schemas.openxmlformats.org/drawingml/2006/chart" r:id="rId1"/>
          </a:graphicData>
        </a:graphic>
      </p:graphicFrame>
      <p:sp>
        <p:nvSpPr>
          <p:cNvPr id="23" name="Rating chip"/>
          <p:cNvSpPr/>
          <p:nvPr/>
        </p:nvSpPr>
        <p:spPr>
          <a:xfrm>
            <a:off x="6400800" y="4389120"/>
            <a:ext cx="978408" cy="640080"/>
          </a:xfrm>
          <a:prstGeom prst="roundRect">
            <a:avLst>
              <a:gd name="adj" fmla="val 8571"/>
            </a:avLst>
          </a:prstGeom>
          <a:solidFill>
            <a:srgbClr val="0CA30C"/>
          </a:solidFill>
          <a:ln w="12700">
            <a:solidFill>
              <a:srgbClr val="0CA30C"/>
            </a:solidFill>
            <a:prstDash val="solid"/>
          </a:ln>
        </p:spPr>
      </p:sp>
      <p:sp>
        <p:nvSpPr>
          <p:cNvPr id="24" name="Text 20"/>
          <p:cNvSpPr txBox="1"/>
          <p:nvPr/>
        </p:nvSpPr>
        <p:spPr>
          <a:xfrm>
            <a:off x="640080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a:p>
            <a:pPr algn="ctr" indent="0" marL="0">
              <a:buNone/>
            </a:pPr>
            <a:r>
              <a:rPr lang="en-US" sz="1000" dirty="0">
                <a:solidFill>
                  <a:srgbClr val="FFFFFF"/>
                </a:solidFill>
              </a:rPr>
              <a:t>&lt; 20</a:t>
            </a:r>
            <a:endParaRPr lang="en-US" sz="2000" dirty="0"/>
          </a:p>
        </p:txBody>
      </p:sp>
      <p:sp>
        <p:nvSpPr>
          <p:cNvPr id="25" name="Rating chip"/>
          <p:cNvSpPr/>
          <p:nvPr/>
        </p:nvSpPr>
        <p:spPr>
          <a:xfrm>
            <a:off x="7452360" y="4389120"/>
            <a:ext cx="978408" cy="640080"/>
          </a:xfrm>
          <a:prstGeom prst="roundRect">
            <a:avLst>
              <a:gd name="adj" fmla="val 8571"/>
            </a:avLst>
          </a:prstGeom>
          <a:solidFill>
            <a:srgbClr val="7FB800"/>
          </a:solidFill>
          <a:ln w="12700">
            <a:solidFill>
              <a:srgbClr val="7FB800"/>
            </a:solidFill>
            <a:prstDash val="solid"/>
          </a:ln>
        </p:spPr>
      </p:sp>
      <p:sp>
        <p:nvSpPr>
          <p:cNvPr id="26" name="Text 22"/>
          <p:cNvSpPr txBox="1"/>
          <p:nvPr/>
        </p:nvSpPr>
        <p:spPr>
          <a:xfrm>
            <a:off x="745236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a:p>
            <a:pPr algn="ctr" indent="0" marL="0">
              <a:buNone/>
            </a:pPr>
            <a:r>
              <a:rPr lang="en-US" sz="1000" dirty="0">
                <a:solidFill>
                  <a:srgbClr val="FFFFFF"/>
                </a:solidFill>
              </a:rPr>
              <a:t>&lt; 35</a:t>
            </a:r>
            <a:endParaRPr lang="en-US" sz="2000" dirty="0"/>
          </a:p>
        </p:txBody>
      </p:sp>
      <p:sp>
        <p:nvSpPr>
          <p:cNvPr id="27" name="Rating chip"/>
          <p:cNvSpPr/>
          <p:nvPr/>
        </p:nvSpPr>
        <p:spPr>
          <a:xfrm>
            <a:off x="8503920" y="4389120"/>
            <a:ext cx="978408" cy="640080"/>
          </a:xfrm>
          <a:prstGeom prst="roundRect">
            <a:avLst>
              <a:gd name="adj" fmla="val 8571"/>
            </a:avLst>
          </a:prstGeom>
          <a:solidFill>
            <a:srgbClr val="FAB219"/>
          </a:solidFill>
          <a:ln w="12700">
            <a:solidFill>
              <a:srgbClr val="FAB219"/>
            </a:solidFill>
            <a:prstDash val="solid"/>
          </a:ln>
        </p:spPr>
      </p:sp>
      <p:sp>
        <p:nvSpPr>
          <p:cNvPr id="28" name="Text 24"/>
          <p:cNvSpPr txBox="1"/>
          <p:nvPr/>
        </p:nvSpPr>
        <p:spPr>
          <a:xfrm>
            <a:off x="8503920" y="4389120"/>
            <a:ext cx="978408" cy="640080"/>
          </a:xfrm>
          <a:prstGeom prst="rect">
            <a:avLst/>
          </a:prstGeom>
          <a:noFill/>
          <a:ln/>
        </p:spPr>
        <p:txBody>
          <a:bodyPr wrap="square" lIns="0" tIns="0" rIns="0" bIns="0" rtlCol="0" anchor="ctr"/>
          <a:lstStyle/>
          <a:p>
            <a:pPr algn="ctr" indent="0" marL="0">
              <a:buNone/>
            </a:pPr>
            <a:r>
              <a:rPr lang="en-US" sz="2000" b="1" dirty="0">
                <a:solidFill>
                  <a:srgbClr val="3A2A00"/>
                </a:solidFill>
                <a:latin typeface="Cambria" pitchFamily="34" charset="0"/>
                <a:ea typeface="Cambria" pitchFamily="34" charset="-122"/>
                <a:cs typeface="Cambria" pitchFamily="34" charset="-120"/>
              </a:rPr>
              <a:t>C</a:t>
            </a:r>
            <a:endParaRPr lang="en-US" sz="2000" dirty="0"/>
          </a:p>
          <a:p>
            <a:pPr algn="ctr" indent="0" marL="0">
              <a:buNone/>
            </a:pPr>
            <a:r>
              <a:rPr lang="en-US" sz="1000" dirty="0">
                <a:solidFill>
                  <a:srgbClr val="3A2A00"/>
                </a:solidFill>
              </a:rPr>
              <a:t>&lt; 50</a:t>
            </a:r>
            <a:endParaRPr lang="en-US" sz="2000" dirty="0"/>
          </a:p>
        </p:txBody>
      </p:sp>
      <p:sp>
        <p:nvSpPr>
          <p:cNvPr id="29" name="Rating chip"/>
          <p:cNvSpPr/>
          <p:nvPr/>
        </p:nvSpPr>
        <p:spPr>
          <a:xfrm>
            <a:off x="9555480" y="4389120"/>
            <a:ext cx="978408" cy="640080"/>
          </a:xfrm>
          <a:prstGeom prst="roundRect">
            <a:avLst>
              <a:gd name="adj" fmla="val 8571"/>
            </a:avLst>
          </a:prstGeom>
          <a:solidFill>
            <a:srgbClr val="EC835A"/>
          </a:solidFill>
          <a:ln w="12700">
            <a:solidFill>
              <a:srgbClr val="EC835A"/>
            </a:solidFill>
            <a:prstDash val="solid"/>
          </a:ln>
        </p:spPr>
      </p:sp>
      <p:sp>
        <p:nvSpPr>
          <p:cNvPr id="30" name="Text 26"/>
          <p:cNvSpPr txBox="1"/>
          <p:nvPr/>
        </p:nvSpPr>
        <p:spPr>
          <a:xfrm>
            <a:off x="955548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a:t>
            </a:r>
            <a:endParaRPr lang="en-US" sz="2000" dirty="0"/>
          </a:p>
          <a:p>
            <a:pPr algn="ctr" indent="0" marL="0">
              <a:buNone/>
            </a:pPr>
            <a:r>
              <a:rPr lang="en-US" sz="1000" dirty="0">
                <a:solidFill>
                  <a:srgbClr val="FFFFFF"/>
                </a:solidFill>
              </a:rPr>
              <a:t>&lt; 65</a:t>
            </a:r>
            <a:endParaRPr lang="en-US" sz="2000" dirty="0"/>
          </a:p>
        </p:txBody>
      </p:sp>
      <p:sp>
        <p:nvSpPr>
          <p:cNvPr id="31" name="Rating chip"/>
          <p:cNvSpPr/>
          <p:nvPr/>
        </p:nvSpPr>
        <p:spPr>
          <a:xfrm>
            <a:off x="10607040" y="4389120"/>
            <a:ext cx="978408" cy="640080"/>
          </a:xfrm>
          <a:prstGeom prst="roundRect">
            <a:avLst>
              <a:gd name="adj" fmla="val 8571"/>
            </a:avLst>
          </a:prstGeom>
          <a:solidFill>
            <a:srgbClr val="D03B3B"/>
          </a:solidFill>
          <a:ln w="12700">
            <a:solidFill>
              <a:srgbClr val="D03B3B"/>
            </a:solidFill>
            <a:prstDash val="solid"/>
          </a:ln>
        </p:spPr>
      </p:sp>
      <p:sp>
        <p:nvSpPr>
          <p:cNvPr id="32" name="Text 28"/>
          <p:cNvSpPr txBox="1"/>
          <p:nvPr/>
        </p:nvSpPr>
        <p:spPr>
          <a:xfrm>
            <a:off x="1060704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a:t>
            </a:r>
            <a:endParaRPr lang="en-US" sz="2000" dirty="0"/>
          </a:p>
          <a:p>
            <a:pPr algn="ctr" indent="0" marL="0">
              <a:buNone/>
            </a:pPr>
            <a:r>
              <a:rPr lang="en-US" sz="1000" dirty="0">
                <a:solidFill>
                  <a:srgbClr val="FFFFFF"/>
                </a:solidFill>
              </a:rPr>
              <a:t>&gt;= 65</a:t>
            </a:r>
            <a:endParaRPr lang="en-US" sz="2000" dirty="0"/>
          </a:p>
        </p:txBody>
      </p:sp>
      <p:sp>
        <p:nvSpPr>
          <p:cNvPr id="33" name="Text 29"/>
          <p:cNvSpPr txBox="1"/>
          <p:nvPr/>
        </p:nvSpPr>
        <p:spPr>
          <a:xfrm>
            <a:off x="6400800" y="5102352"/>
            <a:ext cx="5212080" cy="274320"/>
          </a:xfrm>
          <a:prstGeom prst="rect">
            <a:avLst/>
          </a:prstGeom>
          <a:noFill/>
          <a:ln/>
        </p:spPr>
        <p:txBody>
          <a:bodyPr wrap="square" lIns="0" tIns="0" rIns="0" bIns="0" rtlCol="0" anchor="ctr"/>
          <a:lstStyle/>
          <a:p>
            <a:pPr indent="0" marL="0">
              <a:buNone/>
            </a:pPr>
            <a:r>
              <a:rPr lang="en-US" sz="1150" b="1" dirty="0">
                <a:solidFill>
                  <a:srgbClr val="1B2A41"/>
                </a:solidFill>
              </a:rPr>
              <a:t>Beverages &amp; Cocoa: 0.40×60 + 0.20×40 + 0.25×42 + 0.15×71 = 53  →  D</a:t>
            </a:r>
            <a:endParaRPr lang="en-US" sz="1150" dirty="0"/>
          </a:p>
        </p:txBody>
      </p:sp>
      <p:sp>
        <p:nvSpPr>
          <p:cNvPr id="34" name="Callout"/>
          <p:cNvSpPr/>
          <p:nvPr/>
        </p:nvSpPr>
        <p:spPr>
          <a:xfrm>
            <a:off x="548640" y="5120640"/>
            <a:ext cx="5669280" cy="1188720"/>
          </a:xfrm>
          <a:prstGeom prst="roundRect">
            <a:avLst>
              <a:gd name="adj" fmla="val 6154"/>
            </a:avLst>
          </a:prstGeom>
          <a:solidFill>
            <a:srgbClr val="F2F6FB"/>
          </a:solidFill>
          <a:ln w="12700">
            <a:solidFill>
              <a:srgbClr val="D9E1EC"/>
            </a:solidFill>
            <a:prstDash val="solid"/>
          </a:ln>
        </p:spPr>
      </p:sp>
      <p:sp>
        <p:nvSpPr>
          <p:cNvPr id="35" name="Text 31"/>
          <p:cNvSpPr txBox="1"/>
          <p:nvPr/>
        </p:nvSpPr>
        <p:spPr>
          <a:xfrm>
            <a:off x="731520" y="5230368"/>
            <a:ext cx="5303520" cy="292608"/>
          </a:xfrm>
          <a:prstGeom prst="rect">
            <a:avLst/>
          </a:prstGeom>
          <a:noFill/>
          <a:ln/>
        </p:spPr>
        <p:txBody>
          <a:bodyPr wrap="square" lIns="0" tIns="0" rIns="0" bIns="0" rtlCol="0" anchor="ctr"/>
          <a:lstStyle/>
          <a:p>
            <a:pPr indent="0" marL="0">
              <a:buNone/>
            </a:pPr>
            <a:r>
              <a:rPr lang="en-US" sz="1400" b="1" dirty="0">
                <a:solidFill>
                  <a:schemeClr val="accent1"/>
                </a:solidFill>
              </a:rPr>
              <a:t>Why it matters</a:t>
            </a:r>
            <a:endParaRPr lang="en-US" sz="1400" dirty="0"/>
          </a:p>
        </p:txBody>
      </p:sp>
      <p:sp>
        <p:nvSpPr>
          <p:cNvPr id="36" name="Text 32"/>
          <p:cNvSpPr txBox="1"/>
          <p:nvPr/>
        </p:nvSpPr>
        <p:spPr>
          <a:xfrm>
            <a:off x="731520" y="5577840"/>
            <a:ext cx="5303520" cy="6400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Raises credit alerts in the dashboard.</a:t>
            </a:r>
            <a:endParaRPr lang="en-US" sz="1150" dirty="0"/>
          </a:p>
          <a:p>
            <a:pPr marL="177800" indent="-177800">
              <a:spcAft>
                <a:spcPts val="500"/>
              </a:spcAft>
              <a:buSzPct val="100000"/>
              <a:buChar char="•"/>
            </a:pPr>
            <a:r>
              <a:rPr lang="en-US" sz="1150" dirty="0">
                <a:solidFill>
                  <a:srgbClr val="1B2A41"/>
                </a:solidFill>
              </a:rPr>
              <a:t>Sets pricing rules: C markdown ≤ 5%; D/E no markdown, risk premium, 15 days shorter terms.</a:t>
            </a:r>
            <a:endParaRPr lang="en-US" sz="1150" dirty="0"/>
          </a:p>
        </p:txBody>
      </p:sp>
      <p:sp>
        <p:nvSpPr>
          <p:cNvPr id="37" name="Text 33"/>
          <p:cNvSpPr txBox="1"/>
          <p:nvPr/>
        </p:nvSpPr>
        <p:spPr>
          <a:xfrm>
            <a:off x="6400800" y="548640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Inputs are scenario assumptions (no customer data): terms, share on credit, delay, default rate per category.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 THE IDEA</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data insights point to one pricing idea</a:t>
            </a:r>
            <a:endParaRPr lang="en-US" sz="3000" dirty="0"/>
          </a:p>
        </p:txBody>
      </p:sp>
      <p:sp>
        <p:nvSpPr>
          <p:cNvPr id="5" name="Insight card"/>
          <p:cNvSpPr/>
          <p:nvPr/>
        </p:nvSpPr>
        <p:spPr>
          <a:xfrm>
            <a:off x="548640" y="1600200"/>
            <a:ext cx="2651760" cy="1325880"/>
          </a:xfrm>
          <a:prstGeom prst="roundRect">
            <a:avLst>
              <a:gd name="adj" fmla="val 5517"/>
            </a:avLst>
          </a:prstGeom>
          <a:solidFill>
            <a:srgbClr val="F2F6FB"/>
          </a:solidFill>
          <a:ln w="12700">
            <a:solidFill>
              <a:srgbClr val="F2F6FB"/>
            </a:solidFill>
            <a:prstDash val="solid"/>
          </a:ln>
        </p:spPr>
      </p:sp>
      <p:sp>
        <p:nvSpPr>
          <p:cNvPr id="6" name="Text 3"/>
          <p:cNvSpPr txBox="1"/>
          <p:nvPr/>
        </p:nvSpPr>
        <p:spPr>
          <a:xfrm>
            <a:off x="73152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1</a:t>
            </a:r>
            <a:endParaRPr lang="en-US" sz="950" dirty="0"/>
          </a:p>
        </p:txBody>
      </p:sp>
      <p:sp>
        <p:nvSpPr>
          <p:cNvPr id="7" name="Text 4"/>
          <p:cNvSpPr txBox="1"/>
          <p:nvPr/>
        </p:nvSpPr>
        <p:spPr>
          <a:xfrm>
            <a:off x="731520" y="1828800"/>
            <a:ext cx="2286000" cy="45720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78%</a:t>
            </a:r>
            <a:endParaRPr lang="en-US" sz="2800" dirty="0"/>
          </a:p>
        </p:txBody>
      </p:sp>
      <p:sp>
        <p:nvSpPr>
          <p:cNvPr id="8" name="Text 5"/>
          <p:cNvSpPr txBox="1"/>
          <p:nvPr/>
        </p:nvSpPr>
        <p:spPr>
          <a:xfrm>
            <a:off x="73152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of forecast product-weeks are scarce: stock cannot cover demand</a:t>
            </a:r>
            <a:endParaRPr lang="en-US" sz="1150" dirty="0"/>
          </a:p>
        </p:txBody>
      </p:sp>
      <p:sp>
        <p:nvSpPr>
          <p:cNvPr id="9" name="Insight card"/>
          <p:cNvSpPr/>
          <p:nvPr/>
        </p:nvSpPr>
        <p:spPr>
          <a:xfrm>
            <a:off x="3337560" y="1600200"/>
            <a:ext cx="2651760" cy="1325880"/>
          </a:xfrm>
          <a:prstGeom prst="roundRect">
            <a:avLst>
              <a:gd name="adj" fmla="val 5517"/>
            </a:avLst>
          </a:prstGeom>
          <a:solidFill>
            <a:srgbClr val="F2F6FB"/>
          </a:solidFill>
          <a:ln w="12700">
            <a:solidFill>
              <a:srgbClr val="F2F6FB"/>
            </a:solidFill>
            <a:prstDash val="solid"/>
          </a:ln>
        </p:spPr>
      </p:sp>
      <p:sp>
        <p:nvSpPr>
          <p:cNvPr id="10" name="Text 7"/>
          <p:cNvSpPr txBox="1"/>
          <p:nvPr/>
        </p:nvSpPr>
        <p:spPr>
          <a:xfrm>
            <a:off x="352044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2</a:t>
            </a:r>
            <a:endParaRPr lang="en-US" sz="950" dirty="0"/>
          </a:p>
        </p:txBody>
      </p:sp>
      <p:sp>
        <p:nvSpPr>
          <p:cNvPr id="11" name="Text 8"/>
          <p:cNvSpPr txBox="1"/>
          <p:nvPr/>
        </p:nvSpPr>
        <p:spPr>
          <a:xfrm>
            <a:off x="3520440" y="1828800"/>
            <a:ext cx="2286000" cy="45720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±25%</a:t>
            </a:r>
            <a:endParaRPr lang="en-US" sz="2800" dirty="0"/>
          </a:p>
        </p:txBody>
      </p:sp>
      <p:sp>
        <p:nvSpPr>
          <p:cNvPr id="12" name="Text 9"/>
          <p:cNvSpPr txBox="1"/>
          <p:nvPr/>
        </p:nvSpPr>
        <p:spPr>
          <a:xfrm>
            <a:off x="352044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yearly demand swing: peak week 13, quiet week 38</a:t>
            </a:r>
            <a:endParaRPr lang="en-US" sz="1150" dirty="0"/>
          </a:p>
        </p:txBody>
      </p:sp>
      <p:sp>
        <p:nvSpPr>
          <p:cNvPr id="13" name="Insight card"/>
          <p:cNvSpPr/>
          <p:nvPr/>
        </p:nvSpPr>
        <p:spPr>
          <a:xfrm>
            <a:off x="6126480" y="1600200"/>
            <a:ext cx="2651760" cy="1325880"/>
          </a:xfrm>
          <a:prstGeom prst="roundRect">
            <a:avLst>
              <a:gd name="adj" fmla="val 5517"/>
            </a:avLst>
          </a:prstGeom>
          <a:solidFill>
            <a:srgbClr val="F2F6FB"/>
          </a:solidFill>
          <a:ln w="12700">
            <a:solidFill>
              <a:srgbClr val="F2F6FB"/>
            </a:solidFill>
            <a:prstDash val="solid"/>
          </a:ln>
        </p:spPr>
      </p:sp>
      <p:sp>
        <p:nvSpPr>
          <p:cNvPr id="14" name="Text 11"/>
          <p:cNvSpPr txBox="1"/>
          <p:nvPr/>
        </p:nvSpPr>
        <p:spPr>
          <a:xfrm>
            <a:off x="630936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3</a:t>
            </a:r>
            <a:endParaRPr lang="en-US" sz="950" dirty="0"/>
          </a:p>
        </p:txBody>
      </p:sp>
      <p:sp>
        <p:nvSpPr>
          <p:cNvPr id="15" name="Text 12"/>
          <p:cNvSpPr txBox="1"/>
          <p:nvPr/>
        </p:nvSpPr>
        <p:spPr>
          <a:xfrm>
            <a:off x="6309360" y="1828800"/>
            <a:ext cx="2286000" cy="45720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$10.8M</a:t>
            </a:r>
            <a:endParaRPr lang="en-US" sz="2800" dirty="0"/>
          </a:p>
        </p:txBody>
      </p:sp>
      <p:sp>
        <p:nvSpPr>
          <p:cNvPr id="16" name="Text 13"/>
          <p:cNvSpPr txBox="1"/>
          <p:nvPr/>
        </p:nvSpPr>
        <p:spPr>
          <a:xfrm>
            <a:off x="630936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tied up in 5 over-stocked products (64 to 370 weeks of stock)</a:t>
            </a:r>
            <a:endParaRPr lang="en-US" sz="1150" dirty="0"/>
          </a:p>
        </p:txBody>
      </p:sp>
      <p:sp>
        <p:nvSpPr>
          <p:cNvPr id="17" name="Insight card"/>
          <p:cNvSpPr/>
          <p:nvPr/>
        </p:nvSpPr>
        <p:spPr>
          <a:xfrm>
            <a:off x="8915400" y="1600200"/>
            <a:ext cx="2651760" cy="1325880"/>
          </a:xfrm>
          <a:prstGeom prst="roundRect">
            <a:avLst>
              <a:gd name="adj" fmla="val 5517"/>
            </a:avLst>
          </a:prstGeom>
          <a:solidFill>
            <a:srgbClr val="F2F6FB"/>
          </a:solidFill>
          <a:ln w="12700">
            <a:solidFill>
              <a:srgbClr val="F2F6FB"/>
            </a:solidFill>
            <a:prstDash val="solid"/>
          </a:ln>
        </p:spPr>
      </p:sp>
      <p:sp>
        <p:nvSpPr>
          <p:cNvPr id="18" name="Text 15"/>
          <p:cNvSpPr txBox="1"/>
          <p:nvPr/>
        </p:nvSpPr>
        <p:spPr>
          <a:xfrm>
            <a:off x="909828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4</a:t>
            </a:r>
            <a:endParaRPr lang="en-US" sz="950" dirty="0"/>
          </a:p>
        </p:txBody>
      </p:sp>
      <p:sp>
        <p:nvSpPr>
          <p:cNvPr id="19" name="Text 16"/>
          <p:cNvSpPr txBox="1"/>
          <p:nvPr/>
        </p:nvSpPr>
        <p:spPr>
          <a:xfrm>
            <a:off x="9098280" y="1828800"/>
            <a:ext cx="2286000" cy="457200"/>
          </a:xfrm>
          <a:prstGeom prst="rect">
            <a:avLst/>
          </a:prstGeom>
          <a:noFill/>
          <a:ln/>
        </p:spPr>
        <p:txBody>
          <a:bodyPr wrap="square" lIns="0" tIns="0" rIns="0" bIns="0" rtlCol="0" anchor="ctr"/>
          <a:lstStyle/>
          <a:p>
            <a:pPr indent="0" marL="0">
              <a:buNone/>
            </a:pPr>
            <a:r>
              <a:rPr lang="en-US" sz="2800" b="1" dirty="0">
                <a:solidFill>
                  <a:srgbClr val="5B6B80"/>
                </a:solidFill>
                <a:latin typeface="Cambria" pitchFamily="34" charset="0"/>
                <a:ea typeface="Cambria" pitchFamily="34" charset="-122"/>
                <a:cs typeface="Cambria" pitchFamily="34" charset="-120"/>
              </a:rPr>
              <a:t>≈ 0</a:t>
            </a:r>
            <a:endParaRPr lang="en-US" sz="2800" dirty="0"/>
          </a:p>
        </p:txBody>
      </p:sp>
      <p:sp>
        <p:nvSpPr>
          <p:cNvPr id="20" name="Text 17"/>
          <p:cNvSpPr txBox="1"/>
          <p:nvPr/>
        </p:nvSpPr>
        <p:spPr>
          <a:xfrm>
            <a:off x="909828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measurable price effect: -0.017 (range -0.056 to +0.021)</a:t>
            </a:r>
            <a:endParaRPr lang="en-US" sz="1150" dirty="0"/>
          </a:p>
        </p:txBody>
      </p:sp>
      <p:sp>
        <p:nvSpPr>
          <p:cNvPr id="21" name="Idea band"/>
          <p:cNvSpPr/>
          <p:nvPr/>
        </p:nvSpPr>
        <p:spPr>
          <a:xfrm>
            <a:off x="548640" y="3035808"/>
            <a:ext cx="11064240" cy="402336"/>
          </a:xfrm>
          <a:prstGeom prst="rect">
            <a:avLst/>
          </a:prstGeom>
          <a:solidFill>
            <a:srgbClr val="12263F"/>
          </a:solidFill>
          <a:ln w="12700">
            <a:solidFill>
              <a:srgbClr val="12263F"/>
            </a:solidFill>
            <a:prstDash val="solid"/>
          </a:ln>
        </p:spPr>
      </p:sp>
      <p:sp>
        <p:nvSpPr>
          <p:cNvPr id="22" name="Text 19"/>
          <p:cNvSpPr txBox="1"/>
          <p:nvPr/>
        </p:nvSpPr>
        <p:spPr>
          <a:xfrm>
            <a:off x="731520" y="3035808"/>
            <a:ext cx="10698480" cy="402336"/>
          </a:xfrm>
          <a:prstGeom prst="rect">
            <a:avLst/>
          </a:prstGeom>
          <a:noFill/>
          <a:ln/>
        </p:spPr>
        <p:txBody>
          <a:bodyPr wrap="square" lIns="0" tIns="0" rIns="0" bIns="0" rtlCol="0" anchor="ctr"/>
          <a:lstStyle/>
          <a:p>
            <a:pPr indent="0" marL="0">
              <a:buNone/>
            </a:pPr>
            <a:r>
              <a:rPr lang="en-US" sz="1250" b="1" dirty="0">
                <a:solidFill>
                  <a:srgbClr val="FFFFFF"/>
                </a:solidFill>
              </a:rPr>
              <a:t>So the idea:  raise price where stock sells out anyway  ·  ignore unknown price sensitivity  ·  discount only if it pays</a:t>
            </a:r>
            <a:endParaRPr lang="en-US" sz="1250" dirty="0"/>
          </a:p>
        </p:txBody>
      </p:sp>
      <p:graphicFrame>
        <p:nvGraphicFramePr>
          <p:cNvPr id="23" name="Chart 0" descr=""/>
          <p:cNvGraphicFramePr/>
          <p:nvPr/>
        </p:nvGraphicFramePr>
        <p:xfrm>
          <a:off x="548640" y="356616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24" name="State card"/>
          <p:cNvSpPr/>
          <p:nvPr/>
        </p:nvSpPr>
        <p:spPr>
          <a:xfrm>
            <a:off x="6492240" y="3611880"/>
            <a:ext cx="5120640" cy="822960"/>
          </a:xfrm>
          <a:prstGeom prst="roundRect">
            <a:avLst>
              <a:gd name="adj" fmla="val 8889"/>
            </a:avLst>
          </a:prstGeom>
          <a:solidFill>
            <a:srgbClr val="F2F6FB"/>
          </a:solidFill>
          <a:ln w="12700">
            <a:solidFill>
              <a:srgbClr val="F2F6FB"/>
            </a:solidFill>
            <a:prstDash val="solid"/>
          </a:ln>
        </p:spPr>
      </p:sp>
      <p:sp>
        <p:nvSpPr>
          <p:cNvPr id="25" name="State accent"/>
          <p:cNvSpPr/>
          <p:nvPr/>
        </p:nvSpPr>
        <p:spPr>
          <a:xfrm>
            <a:off x="6492240" y="3611880"/>
            <a:ext cx="82296" cy="822960"/>
          </a:xfrm>
          <a:prstGeom prst="rect">
            <a:avLst/>
          </a:prstGeom>
          <a:solidFill>
            <a:srgbClr val="EB6834"/>
          </a:solidFill>
          <a:ln w="12700">
            <a:solidFill>
              <a:srgbClr val="EB6834"/>
            </a:solidFill>
            <a:prstDash val="solid"/>
          </a:ln>
        </p:spPr>
      </p:sp>
      <p:sp>
        <p:nvSpPr>
          <p:cNvPr id="26" name="Text 22"/>
          <p:cNvSpPr txBox="1"/>
          <p:nvPr/>
        </p:nvSpPr>
        <p:spPr>
          <a:xfrm>
            <a:off x="6720840" y="36667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Scarce  78%</a:t>
            </a:r>
            <a:endParaRPr lang="en-US" sz="1400" dirty="0"/>
          </a:p>
        </p:txBody>
      </p:sp>
      <p:sp>
        <p:nvSpPr>
          <p:cNvPr id="27" name="Text 23"/>
          <p:cNvSpPr txBox="1"/>
          <p:nvPr/>
        </p:nvSpPr>
        <p:spPr>
          <a:xfrm>
            <a:off x="6720840" y="3977640"/>
            <a:ext cx="1920240" cy="411480"/>
          </a:xfrm>
          <a:prstGeom prst="rect">
            <a:avLst/>
          </a:prstGeom>
          <a:noFill/>
          <a:ln/>
        </p:spPr>
        <p:txBody>
          <a:bodyPr wrap="square" lIns="0" tIns="0" rIns="0" bIns="0" rtlCol="0" anchor="t"/>
          <a:lstStyle/>
          <a:p>
            <a:pPr indent="0" marL="0">
              <a:buNone/>
            </a:pPr>
            <a:r>
              <a:rPr lang="en-US" sz="1100" dirty="0">
                <a:solidFill>
                  <a:srgbClr val="5B6B80"/>
                </a:solidFill>
              </a:rPr>
              <a:t>demand exceeds stock</a:t>
            </a:r>
            <a:endParaRPr lang="en-US" sz="1100" dirty="0"/>
          </a:p>
        </p:txBody>
      </p:sp>
      <p:sp>
        <p:nvSpPr>
          <p:cNvPr id="28" name="Text 24"/>
          <p:cNvSpPr txBox="1"/>
          <p:nvPr/>
        </p:nvSpPr>
        <p:spPr>
          <a:xfrm>
            <a:off x="8686800" y="36850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raise price up to +8%, only while units sold stay within 1%</a:t>
            </a:r>
            <a:endParaRPr lang="en-US" sz="1200" dirty="0"/>
          </a:p>
        </p:txBody>
      </p:sp>
      <p:sp>
        <p:nvSpPr>
          <p:cNvPr id="29" name="State card"/>
          <p:cNvSpPr/>
          <p:nvPr/>
        </p:nvSpPr>
        <p:spPr>
          <a:xfrm>
            <a:off x="6492240" y="4526280"/>
            <a:ext cx="5120640" cy="822960"/>
          </a:xfrm>
          <a:prstGeom prst="roundRect">
            <a:avLst>
              <a:gd name="adj" fmla="val 8889"/>
            </a:avLst>
          </a:prstGeom>
          <a:solidFill>
            <a:srgbClr val="F2F6FB"/>
          </a:solidFill>
          <a:ln w="12700">
            <a:solidFill>
              <a:srgbClr val="F2F6FB"/>
            </a:solidFill>
            <a:prstDash val="solid"/>
          </a:ln>
        </p:spPr>
      </p:sp>
      <p:sp>
        <p:nvSpPr>
          <p:cNvPr id="30" name="State accent"/>
          <p:cNvSpPr/>
          <p:nvPr/>
        </p:nvSpPr>
        <p:spPr>
          <a:xfrm>
            <a:off x="6492240" y="4526280"/>
            <a:ext cx="82296" cy="822960"/>
          </a:xfrm>
          <a:prstGeom prst="rect">
            <a:avLst/>
          </a:prstGeom>
          <a:solidFill>
            <a:srgbClr val="1BAF7A"/>
          </a:solidFill>
          <a:ln w="12700">
            <a:solidFill>
              <a:srgbClr val="1BAF7A"/>
            </a:solidFill>
            <a:prstDash val="solid"/>
          </a:ln>
        </p:spPr>
      </p:sp>
      <p:sp>
        <p:nvSpPr>
          <p:cNvPr id="31" name="Text 27"/>
          <p:cNvSpPr txBox="1"/>
          <p:nvPr/>
        </p:nvSpPr>
        <p:spPr>
          <a:xfrm>
            <a:off x="6720840" y="45811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Balanced  5%</a:t>
            </a:r>
            <a:endParaRPr lang="en-US" sz="1400" dirty="0"/>
          </a:p>
        </p:txBody>
      </p:sp>
      <p:sp>
        <p:nvSpPr>
          <p:cNvPr id="32" name="Text 28"/>
          <p:cNvSpPr txBox="1"/>
          <p:nvPr/>
        </p:nvSpPr>
        <p:spPr>
          <a:xfrm>
            <a:off x="6720840" y="4892040"/>
            <a:ext cx="1920240" cy="411480"/>
          </a:xfrm>
          <a:prstGeom prst="rect">
            <a:avLst/>
          </a:prstGeom>
          <a:noFill/>
          <a:ln/>
        </p:spPr>
        <p:txBody>
          <a:bodyPr wrap="square" lIns="0" tIns="0" rIns="0" bIns="0" rtlCol="0" anchor="t"/>
          <a:lstStyle/>
          <a:p>
            <a:pPr indent="0" marL="0">
              <a:buNone/>
            </a:pPr>
            <a:r>
              <a:rPr lang="en-US" sz="1100" dirty="0">
                <a:solidFill>
                  <a:srgbClr val="5B6B80"/>
                </a:solidFill>
              </a:rPr>
              <a:t>stock covers demand</a:t>
            </a:r>
            <a:endParaRPr lang="en-US" sz="1100" dirty="0"/>
          </a:p>
        </p:txBody>
      </p:sp>
      <p:sp>
        <p:nvSpPr>
          <p:cNvPr id="33" name="Text 29"/>
          <p:cNvSpPr txBox="1"/>
          <p:nvPr/>
        </p:nvSpPr>
        <p:spPr>
          <a:xfrm>
            <a:off x="8686800" y="45994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hold the price</a:t>
            </a:r>
            <a:endParaRPr lang="en-US" sz="1200" dirty="0"/>
          </a:p>
        </p:txBody>
      </p:sp>
      <p:sp>
        <p:nvSpPr>
          <p:cNvPr id="34" name="State card"/>
          <p:cNvSpPr/>
          <p:nvPr/>
        </p:nvSpPr>
        <p:spPr>
          <a:xfrm>
            <a:off x="6492240" y="5440680"/>
            <a:ext cx="5120640" cy="822960"/>
          </a:xfrm>
          <a:prstGeom prst="roundRect">
            <a:avLst>
              <a:gd name="adj" fmla="val 8889"/>
            </a:avLst>
          </a:prstGeom>
          <a:solidFill>
            <a:srgbClr val="F2F6FB"/>
          </a:solidFill>
          <a:ln w="12700">
            <a:solidFill>
              <a:srgbClr val="F2F6FB"/>
            </a:solidFill>
            <a:prstDash val="solid"/>
          </a:ln>
        </p:spPr>
      </p:sp>
      <p:sp>
        <p:nvSpPr>
          <p:cNvPr id="35" name="State accent"/>
          <p:cNvSpPr/>
          <p:nvPr/>
        </p:nvSpPr>
        <p:spPr>
          <a:xfrm>
            <a:off x="6492240" y="5440680"/>
            <a:ext cx="82296" cy="822960"/>
          </a:xfrm>
          <a:prstGeom prst="rect">
            <a:avLst/>
          </a:prstGeom>
          <a:solidFill>
            <a:srgbClr val="2A78D6"/>
          </a:solidFill>
          <a:ln w="12700">
            <a:solidFill>
              <a:srgbClr val="2A78D6"/>
            </a:solidFill>
            <a:prstDash val="solid"/>
          </a:ln>
        </p:spPr>
      </p:sp>
      <p:sp>
        <p:nvSpPr>
          <p:cNvPr id="36" name="Text 32"/>
          <p:cNvSpPr txBox="1"/>
          <p:nvPr/>
        </p:nvSpPr>
        <p:spPr>
          <a:xfrm>
            <a:off x="6720840" y="54955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Surplus  17%</a:t>
            </a:r>
            <a:endParaRPr lang="en-US" sz="1400" dirty="0"/>
          </a:p>
        </p:txBody>
      </p:sp>
      <p:sp>
        <p:nvSpPr>
          <p:cNvPr id="37" name="Text 33"/>
          <p:cNvSpPr txBox="1"/>
          <p:nvPr/>
        </p:nvSpPr>
        <p:spPr>
          <a:xfrm>
            <a:off x="6720840" y="5806440"/>
            <a:ext cx="1920240" cy="411480"/>
          </a:xfrm>
          <a:prstGeom prst="rect">
            <a:avLst/>
          </a:prstGeom>
          <a:noFill/>
          <a:ln/>
        </p:spPr>
        <p:txBody>
          <a:bodyPr wrap="square" lIns="0" tIns="0" rIns="0" bIns="0" rtlCol="0" anchor="t"/>
          <a:lstStyle/>
          <a:p>
            <a:pPr indent="0" marL="0">
              <a:buNone/>
            </a:pPr>
            <a:r>
              <a:rPr lang="en-US" sz="1100" dirty="0">
                <a:solidFill>
                  <a:srgbClr val="5B6B80"/>
                </a:solidFill>
              </a:rPr>
              <a:t>over 26 weeks of stock</a:t>
            </a:r>
            <a:endParaRPr lang="en-US" sz="1100" dirty="0"/>
          </a:p>
        </p:txBody>
      </p:sp>
      <p:sp>
        <p:nvSpPr>
          <p:cNvPr id="38" name="Text 34"/>
          <p:cNvSpPr txBox="1"/>
          <p:nvPr/>
        </p:nvSpPr>
        <p:spPr>
          <a:xfrm>
            <a:off x="8686800" y="55138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markdown only if profit rises; otherwise fix purchasing</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From forecast to price in five steps</a:t>
            </a:r>
            <a:endParaRPr lang="en-US" sz="3000" dirty="0"/>
          </a:p>
        </p:txBody>
      </p:sp>
      <p:sp>
        <p:nvSpPr>
          <p:cNvPr id="5" name="Text 2"/>
          <p:cNvSpPr txBox="1"/>
          <p:nvPr/>
        </p:nvSpPr>
        <p:spPr>
          <a:xfrm>
            <a:off x="548640" y="1572768"/>
            <a:ext cx="1828800" cy="228600"/>
          </a:xfrm>
          <a:prstGeom prst="rect">
            <a:avLst/>
          </a:prstGeom>
          <a:noFill/>
          <a:ln/>
        </p:spPr>
        <p:txBody>
          <a:bodyPr wrap="square" lIns="0" tIns="0" rIns="0" bIns="0" rtlCol="0" anchor="ctr"/>
          <a:lstStyle/>
          <a:p>
            <a:pPr indent="0" marL="0">
              <a:buNone/>
            </a:pPr>
            <a:r>
              <a:rPr lang="en-US" sz="1050" b="1" spc="200" kern="0" dirty="0">
                <a:solidFill>
                  <a:srgbClr val="5B6B80"/>
                </a:solidFill>
              </a:rPr>
              <a:t>INPUTS</a:t>
            </a:r>
            <a:endParaRPr lang="en-US" sz="1050" dirty="0"/>
          </a:p>
        </p:txBody>
      </p:sp>
      <p:sp>
        <p:nvSpPr>
          <p:cNvPr id="6" name="Input chip"/>
          <p:cNvSpPr/>
          <p:nvPr/>
        </p:nvSpPr>
        <p:spPr>
          <a:xfrm>
            <a:off x="548640" y="1828800"/>
            <a:ext cx="2651760" cy="594360"/>
          </a:xfrm>
          <a:prstGeom prst="roundRect">
            <a:avLst>
              <a:gd name="adj" fmla="val 9231"/>
            </a:avLst>
          </a:prstGeom>
          <a:solidFill>
            <a:srgbClr val="F2F6FB"/>
          </a:solidFill>
          <a:ln w="12700">
            <a:solidFill>
              <a:srgbClr val="D9E1EC"/>
            </a:solidFill>
            <a:prstDash val="solid"/>
          </a:ln>
        </p:spPr>
      </p:sp>
      <p:sp>
        <p:nvSpPr>
          <p:cNvPr id="7" name="Text 4"/>
          <p:cNvSpPr txBox="1"/>
          <p:nvPr/>
        </p:nvSpPr>
        <p:spPr>
          <a:xfrm>
            <a:off x="68580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Forecast demand</a:t>
            </a:r>
            <a:endParaRPr lang="en-US" sz="1250" dirty="0"/>
          </a:p>
          <a:p>
            <a:pPr indent="0" marL="0">
              <a:buNone/>
            </a:pPr>
            <a:r>
              <a:rPr lang="en-US" sz="1050" dirty="0">
                <a:solidFill>
                  <a:srgbClr val="5B6B80"/>
                </a:solidFill>
              </a:rPr>
              <a:t>26 weeks, with P10-P90</a:t>
            </a:r>
            <a:endParaRPr lang="en-US" sz="1250" dirty="0"/>
          </a:p>
        </p:txBody>
      </p:sp>
      <p:sp>
        <p:nvSpPr>
          <p:cNvPr id="8" name="Input chip"/>
          <p:cNvSpPr/>
          <p:nvPr/>
        </p:nvSpPr>
        <p:spPr>
          <a:xfrm>
            <a:off x="3337560" y="1828800"/>
            <a:ext cx="2651760" cy="594360"/>
          </a:xfrm>
          <a:prstGeom prst="roundRect">
            <a:avLst>
              <a:gd name="adj" fmla="val 9231"/>
            </a:avLst>
          </a:prstGeom>
          <a:solidFill>
            <a:srgbClr val="F2F6FB"/>
          </a:solidFill>
          <a:ln w="12700">
            <a:solidFill>
              <a:srgbClr val="D9E1EC"/>
            </a:solidFill>
            <a:prstDash val="solid"/>
          </a:ln>
        </p:spPr>
      </p:sp>
      <p:sp>
        <p:nvSpPr>
          <p:cNvPr id="9" name="Text 6"/>
          <p:cNvSpPr txBox="1"/>
          <p:nvPr/>
        </p:nvSpPr>
        <p:spPr>
          <a:xfrm>
            <a:off x="347472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Stock available</a:t>
            </a:r>
            <a:endParaRPr lang="en-US" sz="1250" dirty="0"/>
          </a:p>
          <a:p>
            <a:pPr indent="0" marL="0">
              <a:buNone/>
            </a:pPr>
            <a:r>
              <a:rPr lang="en-US" sz="1050" dirty="0">
                <a:solidFill>
                  <a:srgbClr val="5B6B80"/>
                </a:solidFill>
              </a:rPr>
              <a:t>from each product's history</a:t>
            </a:r>
            <a:endParaRPr lang="en-US" sz="1250" dirty="0"/>
          </a:p>
        </p:txBody>
      </p:sp>
      <p:sp>
        <p:nvSpPr>
          <p:cNvPr id="10" name="Input chip"/>
          <p:cNvSpPr/>
          <p:nvPr/>
        </p:nvSpPr>
        <p:spPr>
          <a:xfrm>
            <a:off x="6126480" y="1828800"/>
            <a:ext cx="2651760" cy="594360"/>
          </a:xfrm>
          <a:prstGeom prst="roundRect">
            <a:avLst>
              <a:gd name="adj" fmla="val 9231"/>
            </a:avLst>
          </a:prstGeom>
          <a:solidFill>
            <a:srgbClr val="F2F6FB"/>
          </a:solidFill>
          <a:ln w="12700">
            <a:solidFill>
              <a:srgbClr val="D9E1EC"/>
            </a:solidFill>
            <a:prstDash val="solid"/>
          </a:ln>
        </p:spPr>
      </p:sp>
      <p:sp>
        <p:nvSpPr>
          <p:cNvPr id="11" name="Text 8"/>
          <p:cNvSpPr txBox="1"/>
          <p:nvPr/>
        </p:nvSpPr>
        <p:spPr>
          <a:xfrm>
            <a:off x="626364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Season</a:t>
            </a:r>
            <a:endParaRPr lang="en-US" sz="1250" dirty="0"/>
          </a:p>
          <a:p>
            <a:pPr indent="0" marL="0">
              <a:buNone/>
            </a:pPr>
            <a:r>
              <a:rPr lang="en-US" sz="1050" dirty="0">
                <a:solidFill>
                  <a:srgbClr val="5B6B80"/>
                </a:solidFill>
              </a:rPr>
              <a:t>peak / normal / off-peak</a:t>
            </a:r>
            <a:endParaRPr lang="en-US" sz="1250" dirty="0"/>
          </a:p>
        </p:txBody>
      </p:sp>
      <p:sp>
        <p:nvSpPr>
          <p:cNvPr id="12" name="Input chip"/>
          <p:cNvSpPr/>
          <p:nvPr/>
        </p:nvSpPr>
        <p:spPr>
          <a:xfrm>
            <a:off x="8915400" y="1828800"/>
            <a:ext cx="2651760" cy="594360"/>
          </a:xfrm>
          <a:prstGeom prst="roundRect">
            <a:avLst>
              <a:gd name="adj" fmla="val 9231"/>
            </a:avLst>
          </a:prstGeom>
          <a:solidFill>
            <a:srgbClr val="F2F6FB"/>
          </a:solidFill>
          <a:ln w="12700">
            <a:solidFill>
              <a:srgbClr val="D9E1EC"/>
            </a:solidFill>
            <a:prstDash val="solid"/>
          </a:ln>
        </p:spPr>
      </p:sp>
      <p:sp>
        <p:nvSpPr>
          <p:cNvPr id="13" name="Text 10"/>
          <p:cNvSpPr txBox="1"/>
          <p:nvPr/>
        </p:nvSpPr>
        <p:spPr>
          <a:xfrm>
            <a:off x="905256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Credit rating</a:t>
            </a:r>
            <a:endParaRPr lang="en-US" sz="1250" dirty="0"/>
          </a:p>
          <a:p>
            <a:pPr indent="0" marL="0">
              <a:buNone/>
            </a:pPr>
            <a:r>
              <a:rPr lang="en-US" sz="1050" dirty="0">
                <a:solidFill>
                  <a:srgbClr val="5B6B80"/>
                </a:solidFill>
              </a:rPr>
              <a:t>A to E per category</a:t>
            </a:r>
            <a:endParaRPr lang="en-US" sz="1250" dirty="0"/>
          </a:p>
        </p:txBody>
      </p:sp>
      <p:sp>
        <p:nvSpPr>
          <p:cNvPr id="14" name="Flow arrow"/>
          <p:cNvSpPr/>
          <p:nvPr/>
        </p:nvSpPr>
        <p:spPr>
          <a:xfrm>
            <a:off x="6080760" y="2468880"/>
            <a:ext cx="0" cy="274320"/>
          </a:xfrm>
          <a:prstGeom prst="line">
            <a:avLst/>
          </a:prstGeom>
          <a:noFill/>
          <a:ln w="19050">
            <a:solidFill>
              <a:srgbClr val="8A8F98"/>
            </a:solidFill>
            <a:prstDash val="solid"/>
            <a:tailEnd type="triangle"/>
          </a:ln>
        </p:spPr>
      </p:sp>
      <p:sp>
        <p:nvSpPr>
          <p:cNvPr id="15" name="Step card"/>
          <p:cNvSpPr/>
          <p:nvPr/>
        </p:nvSpPr>
        <p:spPr>
          <a:xfrm>
            <a:off x="548640" y="2788920"/>
            <a:ext cx="2103120" cy="2103120"/>
          </a:xfrm>
          <a:prstGeom prst="roundRect">
            <a:avLst>
              <a:gd name="adj" fmla="val 3478"/>
            </a:avLst>
          </a:prstGeom>
          <a:solidFill>
            <a:srgbClr val="F2F6FB"/>
          </a:solidFill>
          <a:ln w="12700">
            <a:solidFill>
              <a:srgbClr val="F2F6FB"/>
            </a:solidFill>
            <a:prstDash val="solid"/>
          </a:ln>
        </p:spPr>
      </p:sp>
      <p:sp>
        <p:nvSpPr>
          <p:cNvPr id="16" name="Step number"/>
          <p:cNvSpPr/>
          <p:nvPr/>
        </p:nvSpPr>
        <p:spPr>
          <a:xfrm>
            <a:off x="685800" y="2898648"/>
            <a:ext cx="384048" cy="384048"/>
          </a:xfrm>
          <a:prstGeom prst="ellipse">
            <a:avLst/>
          </a:prstGeom>
          <a:solidFill>
            <a:srgbClr val="2A78D6"/>
          </a:solidFill>
          <a:ln w="12700">
            <a:solidFill>
              <a:srgbClr val="FFFFFF"/>
            </a:solidFill>
            <a:prstDash val="solid"/>
          </a:ln>
        </p:spPr>
      </p:sp>
      <p:sp>
        <p:nvSpPr>
          <p:cNvPr id="17" name="Text 14"/>
          <p:cNvSpPr txBox="1"/>
          <p:nvPr/>
        </p:nvSpPr>
        <p:spPr>
          <a:xfrm>
            <a:off x="68580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8" name="Text 15"/>
          <p:cNvSpPr txBox="1"/>
          <p:nvPr/>
        </p:nvSpPr>
        <p:spPr>
          <a:xfrm>
            <a:off x="114300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Scarcity premium</a:t>
            </a:r>
            <a:endParaRPr lang="en-US" sz="1300" dirty="0"/>
          </a:p>
        </p:txBody>
      </p:sp>
      <p:sp>
        <p:nvSpPr>
          <p:cNvPr id="19" name="Text 16"/>
          <p:cNvSpPr txBox="1"/>
          <p:nvPr/>
        </p:nvSpPr>
        <p:spPr>
          <a:xfrm>
            <a:off x="68580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Demand above stock? The product sells out anyway, so raise the price.</a:t>
            </a:r>
            <a:endParaRPr lang="en-US" sz="1150" dirty="0"/>
          </a:p>
        </p:txBody>
      </p:sp>
      <p:sp>
        <p:nvSpPr>
          <p:cNvPr id="20" name="Effect chip"/>
          <p:cNvSpPr/>
          <p:nvPr/>
        </p:nvSpPr>
        <p:spPr>
          <a:xfrm>
            <a:off x="685800" y="4434840"/>
            <a:ext cx="1828800" cy="310896"/>
          </a:xfrm>
          <a:prstGeom prst="roundRect">
            <a:avLst>
              <a:gd name="adj" fmla="val 14706"/>
            </a:avLst>
          </a:prstGeom>
          <a:solidFill>
            <a:srgbClr val="2A78D6"/>
          </a:solidFill>
          <a:ln w="12700">
            <a:solidFill>
              <a:srgbClr val="2A78D6"/>
            </a:solidFill>
            <a:prstDash val="solid"/>
          </a:ln>
        </p:spPr>
      </p:sp>
      <p:sp>
        <p:nvSpPr>
          <p:cNvPr id="21" name="Text 18"/>
          <p:cNvSpPr txBox="1"/>
          <p:nvPr/>
        </p:nvSpPr>
        <p:spPr>
          <a:xfrm>
            <a:off x="68580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+8%</a:t>
            </a:r>
            <a:endParaRPr lang="en-US" sz="1100" dirty="0"/>
          </a:p>
        </p:txBody>
      </p:sp>
      <p:sp>
        <p:nvSpPr>
          <p:cNvPr id="22" name="Flow arrow"/>
          <p:cNvSpPr/>
          <p:nvPr/>
        </p:nvSpPr>
        <p:spPr>
          <a:xfrm>
            <a:off x="2651760" y="3840480"/>
            <a:ext cx="137160" cy="0"/>
          </a:xfrm>
          <a:prstGeom prst="line">
            <a:avLst/>
          </a:prstGeom>
          <a:noFill/>
          <a:ln w="19050">
            <a:solidFill>
              <a:srgbClr val="8A8F98"/>
            </a:solidFill>
            <a:prstDash val="solid"/>
            <a:tailEnd type="triangle"/>
          </a:ln>
        </p:spPr>
      </p:sp>
      <p:sp>
        <p:nvSpPr>
          <p:cNvPr id="23" name="Step card"/>
          <p:cNvSpPr/>
          <p:nvPr/>
        </p:nvSpPr>
        <p:spPr>
          <a:xfrm>
            <a:off x="2788920" y="2788920"/>
            <a:ext cx="2103120" cy="2103120"/>
          </a:xfrm>
          <a:prstGeom prst="roundRect">
            <a:avLst>
              <a:gd name="adj" fmla="val 3478"/>
            </a:avLst>
          </a:prstGeom>
          <a:solidFill>
            <a:srgbClr val="F2F6FB"/>
          </a:solidFill>
          <a:ln w="12700">
            <a:solidFill>
              <a:srgbClr val="F2F6FB"/>
            </a:solidFill>
            <a:prstDash val="solid"/>
          </a:ln>
        </p:spPr>
      </p:sp>
      <p:sp>
        <p:nvSpPr>
          <p:cNvPr id="24" name="Step number"/>
          <p:cNvSpPr/>
          <p:nvPr/>
        </p:nvSpPr>
        <p:spPr>
          <a:xfrm>
            <a:off x="2926080" y="2898648"/>
            <a:ext cx="384048" cy="384048"/>
          </a:xfrm>
          <a:prstGeom prst="ellipse">
            <a:avLst/>
          </a:prstGeom>
          <a:solidFill>
            <a:srgbClr val="1BAF7A"/>
          </a:solidFill>
          <a:ln w="12700">
            <a:solidFill>
              <a:srgbClr val="FFFFFF"/>
            </a:solidFill>
            <a:prstDash val="solid"/>
          </a:ln>
        </p:spPr>
      </p:sp>
      <p:sp>
        <p:nvSpPr>
          <p:cNvPr id="25" name="Text 22"/>
          <p:cNvSpPr txBox="1"/>
          <p:nvPr/>
        </p:nvSpPr>
        <p:spPr>
          <a:xfrm>
            <a:off x="292608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6" name="Text 23"/>
          <p:cNvSpPr txBox="1"/>
          <p:nvPr/>
        </p:nvSpPr>
        <p:spPr>
          <a:xfrm>
            <a:off x="338328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Sell-out protection</a:t>
            </a:r>
            <a:endParaRPr lang="en-US" sz="1300" dirty="0"/>
          </a:p>
        </p:txBody>
      </p:sp>
      <p:sp>
        <p:nvSpPr>
          <p:cNvPr id="27" name="Text 24"/>
          <p:cNvSpPr txBox="1"/>
          <p:nvPr/>
        </p:nvSpPr>
        <p:spPr>
          <a:xfrm>
            <a:off x="292608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Cap the rise so that units sold stay within 1% of today's.</a:t>
            </a:r>
            <a:endParaRPr lang="en-US" sz="1150" dirty="0"/>
          </a:p>
        </p:txBody>
      </p:sp>
      <p:sp>
        <p:nvSpPr>
          <p:cNvPr id="28" name="Effect chip"/>
          <p:cNvSpPr/>
          <p:nvPr/>
        </p:nvSpPr>
        <p:spPr>
          <a:xfrm>
            <a:off x="2926080" y="4434840"/>
            <a:ext cx="1828800" cy="310896"/>
          </a:xfrm>
          <a:prstGeom prst="roundRect">
            <a:avLst>
              <a:gd name="adj" fmla="val 14706"/>
            </a:avLst>
          </a:prstGeom>
          <a:solidFill>
            <a:srgbClr val="1BAF7A"/>
          </a:solidFill>
          <a:ln w="12700">
            <a:solidFill>
              <a:srgbClr val="1BAF7A"/>
            </a:solidFill>
            <a:prstDash val="solid"/>
          </a:ln>
        </p:spPr>
      </p:sp>
      <p:sp>
        <p:nvSpPr>
          <p:cNvPr id="29" name="Text 26"/>
          <p:cNvSpPr txBox="1"/>
          <p:nvPr/>
        </p:nvSpPr>
        <p:spPr>
          <a:xfrm>
            <a:off x="292608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limits step 1</a:t>
            </a:r>
            <a:endParaRPr lang="en-US" sz="1100" dirty="0"/>
          </a:p>
        </p:txBody>
      </p:sp>
      <p:sp>
        <p:nvSpPr>
          <p:cNvPr id="30" name="Flow arrow"/>
          <p:cNvSpPr/>
          <p:nvPr/>
        </p:nvSpPr>
        <p:spPr>
          <a:xfrm>
            <a:off x="4892040" y="3840480"/>
            <a:ext cx="137160" cy="0"/>
          </a:xfrm>
          <a:prstGeom prst="line">
            <a:avLst/>
          </a:prstGeom>
          <a:noFill/>
          <a:ln w="19050">
            <a:solidFill>
              <a:srgbClr val="8A8F98"/>
            </a:solidFill>
            <a:prstDash val="solid"/>
            <a:tailEnd type="triangle"/>
          </a:ln>
        </p:spPr>
      </p:sp>
      <p:sp>
        <p:nvSpPr>
          <p:cNvPr id="31" name="Step card"/>
          <p:cNvSpPr/>
          <p:nvPr/>
        </p:nvSpPr>
        <p:spPr>
          <a:xfrm>
            <a:off x="5029200" y="2788920"/>
            <a:ext cx="2103120" cy="2103120"/>
          </a:xfrm>
          <a:prstGeom prst="roundRect">
            <a:avLst>
              <a:gd name="adj" fmla="val 3478"/>
            </a:avLst>
          </a:prstGeom>
          <a:solidFill>
            <a:srgbClr val="F2F6FB"/>
          </a:solidFill>
          <a:ln w="12700">
            <a:solidFill>
              <a:srgbClr val="F2F6FB"/>
            </a:solidFill>
            <a:prstDash val="solid"/>
          </a:ln>
        </p:spPr>
      </p:sp>
      <p:sp>
        <p:nvSpPr>
          <p:cNvPr id="32" name="Step number"/>
          <p:cNvSpPr/>
          <p:nvPr/>
        </p:nvSpPr>
        <p:spPr>
          <a:xfrm>
            <a:off x="5166360" y="2898648"/>
            <a:ext cx="384048" cy="384048"/>
          </a:xfrm>
          <a:prstGeom prst="ellipse">
            <a:avLst/>
          </a:prstGeom>
          <a:solidFill>
            <a:srgbClr val="EB6834"/>
          </a:solidFill>
          <a:ln w="12700">
            <a:solidFill>
              <a:srgbClr val="FFFFFF"/>
            </a:solidFill>
            <a:prstDash val="solid"/>
          </a:ln>
        </p:spPr>
      </p:sp>
      <p:sp>
        <p:nvSpPr>
          <p:cNvPr id="33" name="Text 30"/>
          <p:cNvSpPr txBox="1"/>
          <p:nvPr/>
        </p:nvSpPr>
        <p:spPr>
          <a:xfrm>
            <a:off x="516636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4" name="Text 31"/>
          <p:cNvSpPr txBox="1"/>
          <p:nvPr/>
        </p:nvSpPr>
        <p:spPr>
          <a:xfrm>
            <a:off x="562356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Surplus markdown</a:t>
            </a:r>
            <a:endParaRPr lang="en-US" sz="1300" dirty="0"/>
          </a:p>
        </p:txBody>
      </p:sp>
      <p:sp>
        <p:nvSpPr>
          <p:cNvPr id="35" name="Text 32"/>
          <p:cNvSpPr txBox="1"/>
          <p:nvPr/>
        </p:nvSpPr>
        <p:spPr>
          <a:xfrm>
            <a:off x="516636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Over 26 weeks of stock? Discount, but only if profit rises.</a:t>
            </a:r>
            <a:endParaRPr lang="en-US" sz="1150" dirty="0"/>
          </a:p>
        </p:txBody>
      </p:sp>
      <p:sp>
        <p:nvSpPr>
          <p:cNvPr id="36" name="Effect chip"/>
          <p:cNvSpPr/>
          <p:nvPr/>
        </p:nvSpPr>
        <p:spPr>
          <a:xfrm>
            <a:off x="5166360" y="4434840"/>
            <a:ext cx="1828800" cy="310896"/>
          </a:xfrm>
          <a:prstGeom prst="roundRect">
            <a:avLst>
              <a:gd name="adj" fmla="val 14706"/>
            </a:avLst>
          </a:prstGeom>
          <a:solidFill>
            <a:srgbClr val="EB6834"/>
          </a:solidFill>
          <a:ln w="12700">
            <a:solidFill>
              <a:srgbClr val="EB6834"/>
            </a:solidFill>
            <a:prstDash val="solid"/>
          </a:ln>
        </p:spPr>
      </p:sp>
      <p:sp>
        <p:nvSpPr>
          <p:cNvPr id="37" name="Text 34"/>
          <p:cNvSpPr txBox="1"/>
          <p:nvPr/>
        </p:nvSpPr>
        <p:spPr>
          <a:xfrm>
            <a:off x="516636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-10%</a:t>
            </a:r>
            <a:endParaRPr lang="en-US" sz="1100" dirty="0"/>
          </a:p>
        </p:txBody>
      </p:sp>
      <p:sp>
        <p:nvSpPr>
          <p:cNvPr id="38" name="Flow arrow"/>
          <p:cNvSpPr/>
          <p:nvPr/>
        </p:nvSpPr>
        <p:spPr>
          <a:xfrm>
            <a:off x="7132320" y="3840480"/>
            <a:ext cx="137160" cy="0"/>
          </a:xfrm>
          <a:prstGeom prst="line">
            <a:avLst/>
          </a:prstGeom>
          <a:noFill/>
          <a:ln w="19050">
            <a:solidFill>
              <a:srgbClr val="8A8F98"/>
            </a:solidFill>
            <a:prstDash val="solid"/>
            <a:tailEnd type="triangle"/>
          </a:ln>
        </p:spPr>
      </p:sp>
      <p:sp>
        <p:nvSpPr>
          <p:cNvPr id="39" name="Step card"/>
          <p:cNvSpPr/>
          <p:nvPr/>
        </p:nvSpPr>
        <p:spPr>
          <a:xfrm>
            <a:off x="7269480" y="2788920"/>
            <a:ext cx="2103120" cy="2103120"/>
          </a:xfrm>
          <a:prstGeom prst="roundRect">
            <a:avLst>
              <a:gd name="adj" fmla="val 3478"/>
            </a:avLst>
          </a:prstGeom>
          <a:solidFill>
            <a:srgbClr val="F2F6FB"/>
          </a:solidFill>
          <a:ln w="12700">
            <a:solidFill>
              <a:srgbClr val="F2F6FB"/>
            </a:solidFill>
            <a:prstDash val="solid"/>
          </a:ln>
        </p:spPr>
      </p:sp>
      <p:sp>
        <p:nvSpPr>
          <p:cNvPr id="40" name="Step number"/>
          <p:cNvSpPr/>
          <p:nvPr/>
        </p:nvSpPr>
        <p:spPr>
          <a:xfrm>
            <a:off x="7406640" y="2898648"/>
            <a:ext cx="384048" cy="384048"/>
          </a:xfrm>
          <a:prstGeom prst="ellipse">
            <a:avLst/>
          </a:prstGeom>
          <a:solidFill>
            <a:srgbClr val="D03B3B"/>
          </a:solidFill>
          <a:ln w="12700">
            <a:solidFill>
              <a:srgbClr val="FFFFFF"/>
            </a:solidFill>
            <a:prstDash val="solid"/>
          </a:ln>
        </p:spPr>
      </p:sp>
      <p:sp>
        <p:nvSpPr>
          <p:cNvPr id="41" name="Text 38"/>
          <p:cNvSpPr txBox="1"/>
          <p:nvPr/>
        </p:nvSpPr>
        <p:spPr>
          <a:xfrm>
            <a:off x="740664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42" name="Text 39"/>
          <p:cNvSpPr txBox="1"/>
          <p:nvPr/>
        </p:nvSpPr>
        <p:spPr>
          <a:xfrm>
            <a:off x="786384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Credit risk</a:t>
            </a:r>
            <a:endParaRPr lang="en-US" sz="1300" dirty="0"/>
          </a:p>
        </p:txBody>
      </p:sp>
      <p:sp>
        <p:nvSpPr>
          <p:cNvPr id="43" name="Text 40"/>
          <p:cNvSpPr txBox="1"/>
          <p:nvPr/>
        </p:nvSpPr>
        <p:spPr>
          <a:xfrm>
            <a:off x="740664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Risky payers (D/E): no discount, pay a risk premium.</a:t>
            </a:r>
            <a:endParaRPr lang="en-US" sz="1150" dirty="0"/>
          </a:p>
        </p:txBody>
      </p:sp>
      <p:sp>
        <p:nvSpPr>
          <p:cNvPr id="44" name="Effect chip"/>
          <p:cNvSpPr/>
          <p:nvPr/>
        </p:nvSpPr>
        <p:spPr>
          <a:xfrm>
            <a:off x="7406640" y="4434840"/>
            <a:ext cx="1828800" cy="310896"/>
          </a:xfrm>
          <a:prstGeom prst="roundRect">
            <a:avLst>
              <a:gd name="adj" fmla="val 14706"/>
            </a:avLst>
          </a:prstGeom>
          <a:solidFill>
            <a:srgbClr val="D03B3B"/>
          </a:solidFill>
          <a:ln w="12700">
            <a:solidFill>
              <a:srgbClr val="D03B3B"/>
            </a:solidFill>
            <a:prstDash val="solid"/>
          </a:ln>
        </p:spPr>
      </p:sp>
      <p:sp>
        <p:nvSpPr>
          <p:cNvPr id="45" name="Text 42"/>
          <p:cNvSpPr txBox="1"/>
          <p:nvPr/>
        </p:nvSpPr>
        <p:spPr>
          <a:xfrm>
            <a:off x="740664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+2.5% for D</a:t>
            </a:r>
            <a:endParaRPr lang="en-US" sz="1100" dirty="0"/>
          </a:p>
        </p:txBody>
      </p:sp>
      <p:sp>
        <p:nvSpPr>
          <p:cNvPr id="46" name="Flow arrow"/>
          <p:cNvSpPr/>
          <p:nvPr/>
        </p:nvSpPr>
        <p:spPr>
          <a:xfrm>
            <a:off x="9372600" y="3840480"/>
            <a:ext cx="137160" cy="0"/>
          </a:xfrm>
          <a:prstGeom prst="line">
            <a:avLst/>
          </a:prstGeom>
          <a:noFill/>
          <a:ln w="19050">
            <a:solidFill>
              <a:srgbClr val="8A8F98"/>
            </a:solidFill>
            <a:prstDash val="solid"/>
            <a:tailEnd type="triangle"/>
          </a:ln>
        </p:spPr>
      </p:sp>
      <p:sp>
        <p:nvSpPr>
          <p:cNvPr id="47" name="Step card"/>
          <p:cNvSpPr/>
          <p:nvPr/>
        </p:nvSpPr>
        <p:spPr>
          <a:xfrm>
            <a:off x="9509760" y="2788920"/>
            <a:ext cx="2103120" cy="2103120"/>
          </a:xfrm>
          <a:prstGeom prst="roundRect">
            <a:avLst>
              <a:gd name="adj" fmla="val 3478"/>
            </a:avLst>
          </a:prstGeom>
          <a:solidFill>
            <a:srgbClr val="F2F6FB"/>
          </a:solidFill>
          <a:ln w="12700">
            <a:solidFill>
              <a:srgbClr val="F2F6FB"/>
            </a:solidFill>
            <a:prstDash val="solid"/>
          </a:ln>
        </p:spPr>
      </p:sp>
      <p:sp>
        <p:nvSpPr>
          <p:cNvPr id="48" name="Step number"/>
          <p:cNvSpPr/>
          <p:nvPr/>
        </p:nvSpPr>
        <p:spPr>
          <a:xfrm>
            <a:off x="9646920" y="2898648"/>
            <a:ext cx="384048" cy="384048"/>
          </a:xfrm>
          <a:prstGeom prst="ellipse">
            <a:avLst/>
          </a:prstGeom>
          <a:solidFill>
            <a:srgbClr val="8A8F98"/>
          </a:solidFill>
          <a:ln w="12700">
            <a:solidFill>
              <a:srgbClr val="FFFFFF"/>
            </a:solidFill>
            <a:prstDash val="solid"/>
          </a:ln>
        </p:spPr>
      </p:sp>
      <p:sp>
        <p:nvSpPr>
          <p:cNvPr id="49" name="Text 46"/>
          <p:cNvSpPr txBox="1"/>
          <p:nvPr/>
        </p:nvSpPr>
        <p:spPr>
          <a:xfrm>
            <a:off x="9646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50" name="Text 47"/>
          <p:cNvSpPr txBox="1"/>
          <p:nvPr/>
        </p:nvSpPr>
        <p:spPr>
          <a:xfrm>
            <a:off x="1010412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Guardrails</a:t>
            </a:r>
            <a:endParaRPr lang="en-US" sz="1300" dirty="0"/>
          </a:p>
        </p:txBody>
      </p:sp>
      <p:sp>
        <p:nvSpPr>
          <p:cNvPr id="51" name="Text 48"/>
          <p:cNvSpPr txBox="1"/>
          <p:nvPr/>
        </p:nvSpPr>
        <p:spPr>
          <a:xfrm>
            <a:off x="964692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Cost floor, market band, at most 3% change a week.</a:t>
            </a:r>
            <a:endParaRPr lang="en-US" sz="1150" dirty="0"/>
          </a:p>
        </p:txBody>
      </p:sp>
      <p:sp>
        <p:nvSpPr>
          <p:cNvPr id="52" name="Effect chip"/>
          <p:cNvSpPr/>
          <p:nvPr/>
        </p:nvSpPr>
        <p:spPr>
          <a:xfrm>
            <a:off x="9646920" y="4434840"/>
            <a:ext cx="1828800" cy="310896"/>
          </a:xfrm>
          <a:prstGeom prst="roundRect">
            <a:avLst>
              <a:gd name="adj" fmla="val 14706"/>
            </a:avLst>
          </a:prstGeom>
          <a:solidFill>
            <a:srgbClr val="8A8F98"/>
          </a:solidFill>
          <a:ln w="12700">
            <a:solidFill>
              <a:srgbClr val="8A8F98"/>
            </a:solidFill>
            <a:prstDash val="solid"/>
          </a:ln>
        </p:spPr>
      </p:sp>
      <p:sp>
        <p:nvSpPr>
          <p:cNvPr id="53" name="Text 50"/>
          <p:cNvSpPr txBox="1"/>
          <p:nvPr/>
        </p:nvSpPr>
        <p:spPr>
          <a:xfrm>
            <a:off x="964692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final clip</a:t>
            </a:r>
            <a:endParaRPr lang="en-US" sz="1100" dirty="0"/>
          </a:p>
        </p:txBody>
      </p:sp>
      <p:sp>
        <p:nvSpPr>
          <p:cNvPr id="54" name="Flow arrow"/>
          <p:cNvSpPr/>
          <p:nvPr/>
        </p:nvSpPr>
        <p:spPr>
          <a:xfrm>
            <a:off x="6080760" y="4937760"/>
            <a:ext cx="0" cy="274320"/>
          </a:xfrm>
          <a:prstGeom prst="line">
            <a:avLst/>
          </a:prstGeom>
          <a:noFill/>
          <a:ln w="19050">
            <a:solidFill>
              <a:srgbClr val="8A8F98"/>
            </a:solidFill>
            <a:prstDash val="solid"/>
            <a:tailEnd type="triangle"/>
          </a:ln>
        </p:spPr>
      </p:sp>
      <p:sp>
        <p:nvSpPr>
          <p:cNvPr id="55" name="Output band"/>
          <p:cNvSpPr/>
          <p:nvPr/>
        </p:nvSpPr>
        <p:spPr>
          <a:xfrm>
            <a:off x="548640" y="5257800"/>
            <a:ext cx="11064240" cy="1005840"/>
          </a:xfrm>
          <a:prstGeom prst="roundRect">
            <a:avLst>
              <a:gd name="adj" fmla="val 7273"/>
            </a:avLst>
          </a:prstGeom>
          <a:solidFill>
            <a:srgbClr val="12263F"/>
          </a:solidFill>
          <a:ln w="12700">
            <a:solidFill>
              <a:srgbClr val="12263F"/>
            </a:solidFill>
            <a:prstDash val="solid"/>
          </a:ln>
        </p:spPr>
      </p:sp>
      <p:sp>
        <p:nvSpPr>
          <p:cNvPr id="56" name="Text 53"/>
          <p:cNvSpPr txBox="1"/>
          <p:nvPr/>
        </p:nvSpPr>
        <p:spPr>
          <a:xfrm>
            <a:off x="822960" y="5285232"/>
            <a:ext cx="10515600" cy="950976"/>
          </a:xfrm>
          <a:prstGeom prst="rect">
            <a:avLst/>
          </a:prstGeom>
          <a:noFill/>
          <a:ln/>
        </p:spPr>
        <p:txBody>
          <a:bodyPr wrap="square" lIns="0" tIns="0" rIns="0" bIns="0" rtlCol="0" anchor="ctr"/>
          <a:lstStyle/>
          <a:p>
            <a:pPr indent="0" marL="0">
              <a:buNone/>
            </a:pPr>
            <a:r>
              <a:rPr lang="en-US" sz="1500" b="1" dirty="0">
                <a:solidFill>
                  <a:srgbClr val="FFFFFF"/>
                </a:solidFill>
              </a:rPr>
              <a:t>OUTPUT   recommended price for every product-week, with the reason</a:t>
            </a:r>
            <a:endParaRPr lang="en-US" sz="1500" dirty="0"/>
          </a:p>
          <a:p>
            <a:pPr indent="0" marL="0">
              <a:buNone/>
            </a:pPr>
            <a:r>
              <a:rPr lang="en-US" sz="1250" dirty="0">
                <a:solidFill>
                  <a:srgbClr val="CADCFC"/>
                </a:solidFill>
              </a:rPr>
              <a:t>Example, Barley week 1:  $7.447  →  $7.67 (+3.0%)  ·  scarce, only 48% of demand can be served  ·  limited by the weekly step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DEMAND-BASED ADJUSTMENTS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the forecast peaks and lulls</a:t>
            </a:r>
            <a:endParaRPr lang="en-US" sz="3000" dirty="0"/>
          </a:p>
        </p:txBody>
      </p:sp>
      <p:graphicFrame>
        <p:nvGraphicFramePr>
          <p:cNvPr id="5" name="Chart 0" descr=""/>
          <p:cNvGraphicFramePr/>
          <p:nvPr/>
        </p:nvGraphicFramePr>
        <p:xfrm>
          <a:off x="548640" y="1554480"/>
          <a:ext cx="60350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548640" y="3931920"/>
          <a:ext cx="6035040" cy="237744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6766560" y="1554480"/>
            <a:ext cx="4846320" cy="292608"/>
          </a:xfrm>
          <a:prstGeom prst="rect">
            <a:avLst/>
          </a:prstGeom>
          <a:noFill/>
          <a:ln/>
        </p:spPr>
        <p:txBody>
          <a:bodyPr wrap="square" lIns="0" tIns="0" rIns="0" bIns="0" rtlCol="0" anchor="ctr"/>
          <a:lstStyle/>
          <a:p>
            <a:pPr indent="0" marL="0">
              <a:buNone/>
            </a:pPr>
            <a:r>
              <a:rPr lang="en-US" sz="1300" b="1" dirty="0">
                <a:solidFill>
                  <a:schemeClr val="accent1"/>
                </a:solidFill>
              </a:rPr>
              <a:t>Rise = 8% × min(1, g / 30%) × season factor</a:t>
            </a:r>
            <a:endParaRPr lang="en-US" sz="1300" dirty="0"/>
          </a:p>
        </p:txBody>
      </p:sp>
      <p:sp>
        <p:nvSpPr>
          <p:cNvPr id="8" name="Text 3"/>
          <p:cNvSpPr txBox="1"/>
          <p:nvPr/>
        </p:nvSpPr>
        <p:spPr>
          <a:xfrm>
            <a:off x="6766560" y="1828800"/>
            <a:ext cx="4846320" cy="256032"/>
          </a:xfrm>
          <a:prstGeom prst="rect">
            <a:avLst/>
          </a:prstGeom>
          <a:noFill/>
          <a:ln/>
        </p:spPr>
        <p:txBody>
          <a:bodyPr wrap="square" lIns="0" tIns="0" rIns="0" bIns="0" rtlCol="0" anchor="ctr"/>
          <a:lstStyle/>
          <a:p>
            <a:pPr indent="0" marL="0">
              <a:buNone/>
            </a:pPr>
            <a:r>
              <a:rPr lang="en-US" sz="1100" i="1" dirty="0">
                <a:solidFill>
                  <a:srgbClr val="5B6B80"/>
                </a:solidFill>
              </a:rPr>
              <a:t>g = share of expected demand that cannot be served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66560" y="2148840"/>
          <a:ext cx="4846320" cy="914400"/>
        </p:xfrm>
        <a:graphic>
          <a:graphicData uri="http://schemas.openxmlformats.org/drawingml/2006/table">
            <a:tbl>
              <a:tblPr/>
              <a:tblGrid>
                <a:gridCol w="1463040"/>
                <a:gridCol w="1097280"/>
                <a:gridCol w="1188720"/>
                <a:gridCol w="1097280"/>
              </a:tblGrid>
              <a:tr h="365760">
                <a:tc>
                  <a:txBody>
                    <a:bodyPr/>
                    <a:lstStyle/>
                    <a:p>
                      <a:pPr indent="0" marL="0">
                        <a:buNone/>
                      </a:pPr>
                      <a:r>
                        <a:rPr lang="en-US" sz="1200" b="1" dirty="0">
                          <a:solidFill>
                            <a:srgbClr val="FFFFFF"/>
                          </a:solidFill>
                        </a:rPr>
                        <a:t>Unserved demand g</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Peak ×1.0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Normal ×0.75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Off-peak ×0.5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384048">
                <a:tc>
                  <a:txBody>
                    <a:bodyPr/>
                    <a:lstStyle/>
                    <a:p>
                      <a:pPr indent="0" marL="0">
                        <a:buNone/>
                      </a:pPr>
                      <a:r>
                        <a:rPr lang="en-US" sz="1200" b="1" dirty="0">
                          <a:solidFill>
                            <a:srgbClr val="1B2A41"/>
                          </a:solidFill>
                        </a:rPr>
                        <a:t>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+1.3%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r h="384048">
                <a:tc>
                  <a:txBody>
                    <a:bodyPr/>
                    <a:lstStyle/>
                    <a:p>
                      <a:pP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+5.3%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r>
              <a:tr h="384048">
                <a:tc>
                  <a:txBody>
                    <a:bodyPr/>
                    <a:lstStyle/>
                    <a:p>
                      <a:pPr indent="0" marL="0">
                        <a:buNone/>
                      </a:pPr>
                      <a:r>
                        <a:rPr lang="en-US" sz="1200" b="1" dirty="0">
                          <a:solidFill>
                            <a:srgbClr val="1B2A41"/>
                          </a:solidFill>
                        </a:rPr>
                        <a:t>30% or more</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+8.0%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+6.0%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r>
              <a:tr h="384048">
                <a:tc>
                  <a:txBody>
                    <a:bodyPr/>
                    <a:lstStyle/>
                    <a:p>
                      <a:pPr indent="0" marL="0">
                        <a:buNone/>
                      </a:pPr>
                      <a:r>
                        <a:rPr lang="en-US" sz="1200" b="1" dirty="0">
                          <a:solidFill>
                            <a:srgbClr val="1B2A41"/>
                          </a:solidFill>
                        </a:rPr>
                        <a:t>5% or less</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bl>
          </a:graphicData>
        </a:graphic>
      </p:graphicFrame>
      <p:sp>
        <p:nvSpPr>
          <p:cNvPr id="10" name="Callout"/>
          <p:cNvSpPr/>
          <p:nvPr/>
        </p:nvSpPr>
        <p:spPr>
          <a:xfrm>
            <a:off x="6766560" y="4251960"/>
            <a:ext cx="4846320" cy="2057400"/>
          </a:xfrm>
          <a:prstGeom prst="roundRect">
            <a:avLst>
              <a:gd name="adj" fmla="val 3556"/>
            </a:avLst>
          </a:prstGeom>
          <a:solidFill>
            <a:srgbClr val="F2F6FB"/>
          </a:solidFill>
          <a:ln w="12700">
            <a:solidFill>
              <a:srgbClr val="D9E1EC"/>
            </a:solidFill>
            <a:prstDash val="solid"/>
          </a:ln>
        </p:spPr>
      </p:sp>
      <p:sp>
        <p:nvSpPr>
          <p:cNvPr id="11" name="Text 5"/>
          <p:cNvSpPr txBox="1"/>
          <p:nvPr/>
        </p:nvSpPr>
        <p:spPr>
          <a:xfrm>
            <a:off x="6949440" y="4361688"/>
            <a:ext cx="4480560" cy="292608"/>
          </a:xfrm>
          <a:prstGeom prst="rect">
            <a:avLst/>
          </a:prstGeom>
          <a:noFill/>
          <a:ln/>
        </p:spPr>
        <p:txBody>
          <a:bodyPr wrap="square" lIns="0" tIns="0" rIns="0" bIns="0" rtlCol="0" anchor="ctr"/>
          <a:lstStyle/>
          <a:p>
            <a:pPr indent="0" marL="0">
              <a:buNone/>
            </a:pPr>
            <a:r>
              <a:rPr lang="en-US" sz="1400" b="1" dirty="0">
                <a:solidFill>
                  <a:schemeClr val="accent1"/>
                </a:solidFill>
              </a:rPr>
              <a:t>How to read the Barley paths</a:t>
            </a:r>
            <a:endParaRPr lang="en-US" sz="1400" dirty="0"/>
          </a:p>
        </p:txBody>
      </p:sp>
      <p:sp>
        <p:nvSpPr>
          <p:cNvPr id="12" name="Text 6"/>
          <p:cNvSpPr txBox="1"/>
          <p:nvPr/>
        </p:nvSpPr>
        <p:spPr>
          <a:xfrm>
            <a:off x="6949440" y="4709160"/>
            <a:ext cx="4480560" cy="15087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Peak = shared seasonal curve at or above 1.10; off-peak at or below 0.90.</a:t>
            </a:r>
            <a:endParaRPr lang="en-US" sz="1150" dirty="0"/>
          </a:p>
          <a:p>
            <a:pPr marL="177800" indent="-177800">
              <a:spcAft>
                <a:spcPts val="500"/>
              </a:spcAft>
              <a:buSzPct val="100000"/>
              <a:buChar char="•"/>
            </a:pPr>
            <a:r>
              <a:rPr lang="en-US" sz="1150" dirty="0">
                <a:solidFill>
                  <a:srgbClr val="1B2A41"/>
                </a:solidFill>
              </a:rPr>
              <a:t>Weeks 1-3: normal season, the 3% weekly step limit slows the first rise.</a:t>
            </a:r>
            <a:endParaRPr lang="en-US" sz="1150" dirty="0"/>
          </a:p>
          <a:p>
            <a:pPr marL="177800" indent="-177800">
              <a:spcAft>
                <a:spcPts val="500"/>
              </a:spcAft>
              <a:buSzPct val="100000"/>
              <a:buChar char="•"/>
            </a:pPr>
            <a:r>
              <a:rPr lang="en-US" sz="1150" dirty="0">
                <a:solidFill>
                  <a:srgbClr val="1B2A41"/>
                </a:solidFill>
              </a:rPr>
              <a:t>Weeks 5-22: peak, price sits at the +8% cap.</a:t>
            </a:r>
            <a:endParaRPr lang="en-US" sz="1150" dirty="0"/>
          </a:p>
          <a:p>
            <a:pPr marL="177800" indent="-177800">
              <a:spcAft>
                <a:spcPts val="500"/>
              </a:spcAft>
              <a:buSzPct val="100000"/>
              <a:buChar char="•"/>
            </a:pPr>
            <a:r>
              <a:rPr lang="en-US" sz="1150" dirty="0">
                <a:solidFill>
                  <a:srgbClr val="1B2A41"/>
                </a:solidFill>
              </a:rPr>
              <a:t>Weeks 23-26: season turns, the premium eases toward +4%.</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INVENTORY AND SEASONALITY SENSITIVITY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Pricing rules: lean vs high-stock, by season</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108960"/>
                <a:gridCol w="2651760"/>
                <a:gridCol w="2651760"/>
                <a:gridCol w="2651760"/>
              </a:tblGrid>
              <a:tr h="384048">
                <a:tc>
                  <a:txBody>
                    <a:bodyPr/>
                    <a:lstStyle/>
                    <a:p>
                      <a:pPr indent="0" marL="0">
                        <a:buNone/>
                      </a:pP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Normal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Off-peak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r>
              <a:tr h="1097280">
                <a:tc>
                  <a:txBody>
                    <a:bodyPr/>
                    <a:lstStyle/>
                    <a:p>
                      <a:pPr indent="0" marL="0">
                        <a:buNone/>
                      </a:pPr>
                      <a:r>
                        <a:rPr lang="en-US" sz="1400" b="1" dirty="0">
                          <a:solidFill>
                            <a:srgbClr val="1B2A41"/>
                          </a:solidFill>
                        </a:rPr>
                        <a:t>Lean products</a:t>
                      </a:r>
                      <a:endParaRPr lang="en-US" sz="1200" dirty="0"/>
                    </a:p>
                    <a:p>
                      <a:pPr indent="0" marL="0">
                        <a:buNone/>
                      </a:pPr>
                      <a:r>
                        <a:rPr lang="en-US" sz="1050" dirty="0">
                          <a:solidFill>
                            <a:srgbClr val="5B6B80"/>
                          </a:solidFill>
                        </a:rPr>
                        <a:t>stock below demand · 78% of product-weeks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+8%</a:t>
                      </a:r>
                      <a:endParaRPr lang="en-US" sz="1200" dirty="0"/>
                    </a:p>
                    <a:p>
                      <a:pPr algn="ctr" indent="0" marL="0">
                        <a:buNone/>
                      </a:pPr>
                      <a:r>
                        <a:rPr lang="en-US" sz="1050" dirty="0">
                          <a:solidFill>
                            <a:srgbClr val="5B6B80"/>
                          </a:solidFill>
                        </a:rPr>
                        <a:t>full scarcity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3D8"/>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+6%</a:t>
                      </a:r>
                      <a:endParaRPr lang="en-US" sz="1200" dirty="0"/>
                    </a:p>
                    <a:p>
                      <a:pPr algn="ctr" indent="0" marL="0">
                        <a:buNone/>
                      </a:pPr>
                      <a:r>
                        <a:rPr lang="en-US" sz="1050" dirty="0">
                          <a:solidFill>
                            <a:srgbClr val="5B6B80"/>
                          </a:solidFill>
                        </a:rPr>
                        <a:t>75%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DE6"/>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+4%</a:t>
                      </a:r>
                      <a:endParaRPr lang="en-US" sz="1200" dirty="0"/>
                    </a:p>
                    <a:p>
                      <a:pPr algn="ctr" indent="0" marL="0">
                        <a:buNone/>
                      </a:pPr>
                      <a:r>
                        <a:rPr lang="en-US" sz="1050" dirty="0">
                          <a:solidFill>
                            <a:srgbClr val="5B6B80"/>
                          </a:solidFill>
                        </a:rPr>
                        <a:t>50%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EF6F2"/>
                    </a:solidFill>
                  </a:tcPr>
                </a:tc>
              </a:tr>
              <a:tr h="1097280">
                <a:tc>
                  <a:txBody>
                    <a:bodyPr/>
                    <a:lstStyle/>
                    <a:p>
                      <a:pPr indent="0" marL="0">
                        <a:buNone/>
                      </a:pPr>
                      <a:r>
                        <a:rPr lang="en-US" sz="1400" b="1" dirty="0">
                          <a:solidFill>
                            <a:srgbClr val="1B2A41"/>
                          </a:solidFill>
                        </a:rPr>
                        <a:t>High-stock products</a:t>
                      </a:r>
                      <a:endParaRPr lang="en-US" sz="1200" dirty="0"/>
                    </a:p>
                    <a:p>
                      <a:pPr indent="0" marL="0">
                        <a:buNone/>
                      </a:pPr>
                      <a:r>
                        <a:rPr lang="en-US" sz="1050" dirty="0">
                          <a:solidFill>
                            <a:srgbClr val="5B6B80"/>
                          </a:solidFill>
                        </a:rPr>
                        <a:t>over 26 weeks of cover · 17% · 5 products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hold the price</a:t>
                      </a:r>
                      <a:endParaRPr lang="en-US" sz="1200" dirty="0"/>
                    </a:p>
                    <a:p>
                      <a:pPr algn="ctr" indent="0" marL="0">
                        <a:buNone/>
                      </a:pPr>
                      <a:r>
                        <a:rPr lang="en-US" sz="1050" dirty="0">
                          <a:solidFill>
                            <a:srgbClr val="5B6B80"/>
                          </a:solidFill>
                        </a:rPr>
                        <a:t>no markdown in a peak</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8F1FC"/>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5%</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10%</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FE2F9"/>
                    </a:solidFill>
                  </a:tcPr>
                </a:tc>
              </a:tr>
            </a:tbl>
          </a:graphicData>
        </a:graphic>
      </p:graphicFrame>
      <p:graphicFrame>
        <p:nvGraphicFramePr>
          <p:cNvPr id="6" name="Chart 0" descr=""/>
          <p:cNvGraphicFramePr/>
          <p:nvPr/>
        </p:nvGraphicFramePr>
        <p:xfrm>
          <a:off x="6400800" y="4297680"/>
          <a:ext cx="5212080" cy="2011680"/>
        </p:xfrm>
        <a:graphic xmlns:a="http://schemas.openxmlformats.org/drawingml/2006/main">
          <a:graphicData uri="http://schemas.openxmlformats.org/drawingml/2006/chart">
            <c:chart xmlns:c="http://schemas.openxmlformats.org/drawingml/2006/chart" r:id="rId1"/>
          </a:graphicData>
        </a:graphic>
      </p:graphicFrame>
      <p:sp>
        <p:nvSpPr>
          <p:cNvPr id="7" name="Why card"/>
          <p:cNvSpPr/>
          <p:nvPr/>
        </p:nvSpPr>
        <p:spPr>
          <a:xfrm>
            <a:off x="548640" y="4297680"/>
            <a:ext cx="5669280" cy="950976"/>
          </a:xfrm>
          <a:prstGeom prst="roundRect">
            <a:avLst>
              <a:gd name="adj" fmla="val 7692"/>
            </a:avLst>
          </a:prstGeom>
          <a:solidFill>
            <a:srgbClr val="F2F6FB"/>
          </a:solidFill>
          <a:ln w="12700">
            <a:solidFill>
              <a:srgbClr val="F2F6FB"/>
            </a:solidFill>
            <a:prstDash val="solid"/>
          </a:ln>
        </p:spPr>
      </p:sp>
      <p:sp>
        <p:nvSpPr>
          <p:cNvPr id="8" name="Card accent"/>
          <p:cNvSpPr/>
          <p:nvPr/>
        </p:nvSpPr>
        <p:spPr>
          <a:xfrm>
            <a:off x="548640" y="4297680"/>
            <a:ext cx="82296" cy="950976"/>
          </a:xfrm>
          <a:prstGeom prst="rect">
            <a:avLst/>
          </a:prstGeom>
          <a:solidFill>
            <a:srgbClr val="EB6834"/>
          </a:solidFill>
          <a:ln w="12700">
            <a:solidFill>
              <a:srgbClr val="EB6834"/>
            </a:solidFill>
            <a:prstDash val="solid"/>
          </a:ln>
        </p:spPr>
      </p:sp>
      <p:sp>
        <p:nvSpPr>
          <p:cNvPr id="9" name="Text 4"/>
          <p:cNvSpPr txBox="1"/>
          <p:nvPr/>
        </p:nvSpPr>
        <p:spPr>
          <a:xfrm>
            <a:off x="777240" y="4334256"/>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Lean products</a:t>
            </a:r>
            <a:endParaRPr lang="en-US" sz="1250" dirty="0"/>
          </a:p>
        </p:txBody>
      </p:sp>
      <p:sp>
        <p:nvSpPr>
          <p:cNvPr id="10" name="Text 5"/>
          <p:cNvSpPr txBox="1"/>
          <p:nvPr/>
        </p:nvSpPr>
        <p:spPr>
          <a:xfrm>
            <a:off x="777240" y="4590288"/>
            <a:ext cx="5303520" cy="640080"/>
          </a:xfrm>
          <a:prstGeom prst="rect">
            <a:avLst/>
          </a:prstGeom>
          <a:noFill/>
          <a:ln/>
        </p:spPr>
        <p:txBody>
          <a:bodyPr wrap="square" lIns="0" tIns="0" rIns="0" bIns="0" rtlCol="0" anchor="t"/>
          <a:lstStyle/>
          <a:p>
            <a:pPr indent="0" marL="0">
              <a:buNone/>
            </a:pPr>
            <a:r>
              <a:rPr lang="en-US" sz="1050" dirty="0">
                <a:solidFill>
                  <a:srgbClr val="1B2A41"/>
                </a:solidFill>
              </a:rPr>
              <a:t>Stock, not price, limits sales, so the premium is free money. It is largest in a peak and smallest in a lull.</a:t>
            </a:r>
            <a:endParaRPr lang="en-US" sz="1050" dirty="0"/>
          </a:p>
        </p:txBody>
      </p:sp>
      <p:sp>
        <p:nvSpPr>
          <p:cNvPr id="11" name="Why card"/>
          <p:cNvSpPr/>
          <p:nvPr/>
        </p:nvSpPr>
        <p:spPr>
          <a:xfrm>
            <a:off x="548640" y="5321808"/>
            <a:ext cx="5669280" cy="950976"/>
          </a:xfrm>
          <a:prstGeom prst="roundRect">
            <a:avLst>
              <a:gd name="adj" fmla="val 7692"/>
            </a:avLst>
          </a:prstGeom>
          <a:solidFill>
            <a:srgbClr val="F2F6FB"/>
          </a:solidFill>
          <a:ln w="12700">
            <a:solidFill>
              <a:srgbClr val="F2F6FB"/>
            </a:solidFill>
            <a:prstDash val="solid"/>
          </a:ln>
        </p:spPr>
      </p:sp>
      <p:sp>
        <p:nvSpPr>
          <p:cNvPr id="12" name="Card accent"/>
          <p:cNvSpPr/>
          <p:nvPr/>
        </p:nvSpPr>
        <p:spPr>
          <a:xfrm>
            <a:off x="548640" y="5321808"/>
            <a:ext cx="82296" cy="950976"/>
          </a:xfrm>
          <a:prstGeom prst="rect">
            <a:avLst/>
          </a:prstGeom>
          <a:solidFill>
            <a:srgbClr val="2A78D6"/>
          </a:solidFill>
          <a:ln w="12700">
            <a:solidFill>
              <a:srgbClr val="2A78D6"/>
            </a:solidFill>
            <a:prstDash val="solid"/>
          </a:ln>
        </p:spPr>
      </p:sp>
      <p:sp>
        <p:nvSpPr>
          <p:cNvPr id="13" name="Text 8"/>
          <p:cNvSpPr txBox="1"/>
          <p:nvPr/>
        </p:nvSpPr>
        <p:spPr>
          <a:xfrm>
            <a:off x="777240" y="5358384"/>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High-stock products</a:t>
            </a:r>
            <a:endParaRPr lang="en-US" sz="1250" dirty="0"/>
          </a:p>
        </p:txBody>
      </p:sp>
      <p:sp>
        <p:nvSpPr>
          <p:cNvPr id="14" name="Text 9"/>
          <p:cNvSpPr txBox="1"/>
          <p:nvPr/>
        </p:nvSpPr>
        <p:spPr>
          <a:xfrm>
            <a:off x="777240" y="5614416"/>
            <a:ext cx="5303520" cy="640080"/>
          </a:xfrm>
          <a:prstGeom prst="rect">
            <a:avLst/>
          </a:prstGeom>
          <a:noFill/>
          <a:ln/>
        </p:spPr>
        <p:txBody>
          <a:bodyPr wrap="square" lIns="0" tIns="0" rIns="0" bIns="0" rtlCol="0" anchor="t"/>
          <a:lstStyle/>
          <a:p>
            <a:pPr indent="0" marL="0">
              <a:buNone/>
            </a:pPr>
            <a:r>
              <a:rPr lang="en-US" sz="1050" dirty="0">
                <a:solidFill>
                  <a:srgbClr val="1B2A41"/>
                </a:solidFill>
              </a:rPr>
              <a:t>Price cannot fix 64-370 weeks of stock: clearing it in a year needs cuts of 17-49%. Stop buying; offer bulk or export deals. Carrying cost $1.3M a year exceeds the whole pricing gain.</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Guardrails: competitive, safe and credit-aware</a:t>
            </a:r>
            <a:endParaRPr lang="en-US" sz="3000" dirty="0"/>
          </a:p>
        </p:txBody>
      </p:sp>
      <p:sp>
        <p:nvSpPr>
          <p:cNvPr id="5" name="Text 2"/>
          <p:cNvSpPr txBox="1"/>
          <p:nvPr/>
        </p:nvSpPr>
        <p:spPr>
          <a:xfrm>
            <a:off x="548640" y="1572768"/>
            <a:ext cx="5852160" cy="274320"/>
          </a:xfrm>
          <a:prstGeom prst="rect">
            <a:avLst/>
          </a:prstGeom>
          <a:noFill/>
          <a:ln/>
        </p:spPr>
        <p:txBody>
          <a:bodyPr wrap="square" lIns="0" tIns="0" rIns="0" bIns="0" rtlCol="0" anchor="ctr"/>
          <a:lstStyle/>
          <a:p>
            <a:pPr indent="0" marL="0">
              <a:buNone/>
            </a:pPr>
            <a:r>
              <a:rPr lang="en-US" sz="1300" b="1" dirty="0">
                <a:solidFill>
                  <a:srgbClr val="5B6B80"/>
                </a:solidFill>
              </a:rPr>
              <a:t>Competitive and cost corridor (Barley, $ per unit)</a:t>
            </a:r>
            <a:endParaRPr lang="en-US" sz="1300" dirty="0"/>
          </a:p>
        </p:txBody>
      </p:sp>
      <p:sp>
        <p:nvSpPr>
          <p:cNvPr id="6" name="Corridor zone"/>
          <p:cNvSpPr/>
          <p:nvPr/>
        </p:nvSpPr>
        <p:spPr>
          <a:xfrm>
            <a:off x="640080" y="2514600"/>
            <a:ext cx="582656" cy="502920"/>
          </a:xfrm>
          <a:prstGeom prst="rect">
            <a:avLst/>
          </a:prstGeom>
          <a:solidFill>
            <a:srgbClr val="D03B3B"/>
          </a:solidFill>
          <a:ln w="12700">
            <a:solidFill>
              <a:srgbClr val="FFFFFF"/>
            </a:solidFill>
            <a:prstDash val="solid"/>
          </a:ln>
        </p:spPr>
      </p:sp>
      <p:sp>
        <p:nvSpPr>
          <p:cNvPr id="7" name="Corridor zone"/>
          <p:cNvSpPr/>
          <p:nvPr/>
        </p:nvSpPr>
        <p:spPr>
          <a:xfrm>
            <a:off x="1222736" y="2514600"/>
            <a:ext cx="1251631" cy="502920"/>
          </a:xfrm>
          <a:prstGeom prst="rect">
            <a:avLst/>
          </a:prstGeom>
          <a:solidFill>
            <a:srgbClr val="F2D9A6"/>
          </a:solidFill>
          <a:ln w="12700">
            <a:solidFill>
              <a:srgbClr val="FFFFFF"/>
            </a:solidFill>
            <a:prstDash val="solid"/>
          </a:ln>
        </p:spPr>
      </p:sp>
      <p:sp>
        <p:nvSpPr>
          <p:cNvPr id="8" name="Corridor zone"/>
          <p:cNvSpPr/>
          <p:nvPr/>
        </p:nvSpPr>
        <p:spPr>
          <a:xfrm>
            <a:off x="2474366" y="2514600"/>
            <a:ext cx="2891699" cy="502920"/>
          </a:xfrm>
          <a:prstGeom prst="rect">
            <a:avLst/>
          </a:prstGeom>
          <a:solidFill>
            <a:srgbClr val="BFE9D9"/>
          </a:solidFill>
          <a:ln w="12700">
            <a:solidFill>
              <a:srgbClr val="FFFFFF"/>
            </a:solidFill>
            <a:prstDash val="solid"/>
          </a:ln>
        </p:spPr>
      </p:sp>
      <p:sp>
        <p:nvSpPr>
          <p:cNvPr id="9" name="Corridor zone"/>
          <p:cNvSpPr/>
          <p:nvPr/>
        </p:nvSpPr>
        <p:spPr>
          <a:xfrm>
            <a:off x="5366065" y="2514600"/>
            <a:ext cx="668975" cy="502920"/>
          </a:xfrm>
          <a:prstGeom prst="rect">
            <a:avLst/>
          </a:prstGeom>
          <a:solidFill>
            <a:srgbClr val="F2D9A6"/>
          </a:solidFill>
          <a:ln w="12700">
            <a:solidFill>
              <a:srgbClr val="FFFFFF"/>
            </a:solidFill>
            <a:prstDash val="solid"/>
          </a:ln>
        </p:spPr>
      </p:sp>
      <p:sp>
        <p:nvSpPr>
          <p:cNvPr id="10" name="Text 7"/>
          <p:cNvSpPr txBox="1"/>
          <p:nvPr/>
        </p:nvSpPr>
        <p:spPr>
          <a:xfrm>
            <a:off x="2520086" y="2514600"/>
            <a:ext cx="1188720" cy="502920"/>
          </a:xfrm>
          <a:prstGeom prst="rect">
            <a:avLst/>
          </a:prstGeom>
          <a:noFill/>
          <a:ln/>
        </p:spPr>
        <p:txBody>
          <a:bodyPr wrap="square" lIns="0" tIns="0" rIns="0" bIns="0" rtlCol="0" anchor="ctr"/>
          <a:lstStyle/>
          <a:p>
            <a:pPr algn="l" indent="0" marL="0">
              <a:buNone/>
            </a:pPr>
            <a:r>
              <a:rPr lang="en-US" sz="1100" b="1" dirty="0">
                <a:solidFill>
                  <a:srgbClr val="138A5F"/>
                </a:solidFill>
              </a:rPr>
              <a:t>allowed corridor</a:t>
            </a:r>
            <a:endParaRPr lang="en-US" sz="1100" dirty="0"/>
          </a:p>
        </p:txBody>
      </p:sp>
      <p:sp>
        <p:nvSpPr>
          <p:cNvPr id="11" name="Text 8"/>
          <p:cNvSpPr txBox="1"/>
          <p:nvPr/>
        </p:nvSpPr>
        <p:spPr>
          <a:xfrm>
            <a:off x="674096" y="3081528"/>
            <a:ext cx="1097280" cy="237744"/>
          </a:xfrm>
          <a:prstGeom prst="rect">
            <a:avLst/>
          </a:prstGeom>
          <a:noFill/>
          <a:ln/>
        </p:spPr>
        <p:txBody>
          <a:bodyPr wrap="square" lIns="0" tIns="0" rIns="0" bIns="0" rtlCol="0" anchor="ctr"/>
          <a:lstStyle/>
          <a:p>
            <a:pPr algn="ctr" indent="0" marL="0">
              <a:buNone/>
            </a:pPr>
            <a:r>
              <a:rPr lang="en-US" sz="950" b="1" dirty="0">
                <a:solidFill>
                  <a:srgbClr val="C24E1F"/>
                </a:solidFill>
              </a:rPr>
              <a:t>cost floor $6.27</a:t>
            </a:r>
            <a:endParaRPr lang="en-US" sz="950" dirty="0"/>
          </a:p>
        </p:txBody>
      </p:sp>
      <p:sp>
        <p:nvSpPr>
          <p:cNvPr id="12" name="Text 9"/>
          <p:cNvSpPr txBox="1"/>
          <p:nvPr/>
        </p:nvSpPr>
        <p:spPr>
          <a:xfrm>
            <a:off x="1925726"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low $6.85</a:t>
            </a:r>
            <a:endParaRPr lang="en-US" sz="950" dirty="0"/>
          </a:p>
        </p:txBody>
      </p:sp>
      <p:sp>
        <p:nvSpPr>
          <p:cNvPr id="13" name="Text 10"/>
          <p:cNvSpPr txBox="1"/>
          <p:nvPr/>
        </p:nvSpPr>
        <p:spPr>
          <a:xfrm>
            <a:off x="3695273" y="3081528"/>
            <a:ext cx="1097280" cy="237744"/>
          </a:xfrm>
          <a:prstGeom prst="rect">
            <a:avLst/>
          </a:prstGeom>
          <a:noFill/>
          <a:ln/>
        </p:spPr>
        <p:txBody>
          <a:bodyPr wrap="square" lIns="0" tIns="0" rIns="0" bIns="0" rtlCol="0" anchor="ctr"/>
          <a:lstStyle/>
          <a:p>
            <a:pPr algn="ctr" indent="0" marL="0">
              <a:buNone/>
            </a:pPr>
            <a:r>
              <a:rPr lang="en-US" sz="950" b="1" dirty="0">
                <a:solidFill>
                  <a:srgbClr val="2A78D6"/>
                </a:solidFill>
              </a:rPr>
              <a:t>week 1: $7.67</a:t>
            </a:r>
            <a:endParaRPr lang="en-US" sz="950" dirty="0"/>
          </a:p>
        </p:txBody>
      </p:sp>
      <p:sp>
        <p:nvSpPr>
          <p:cNvPr id="14" name="Text 11"/>
          <p:cNvSpPr txBox="1"/>
          <p:nvPr/>
        </p:nvSpPr>
        <p:spPr>
          <a:xfrm>
            <a:off x="4817425"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high $8.19</a:t>
            </a:r>
            <a:endParaRPr lang="en-US" sz="950" dirty="0"/>
          </a:p>
        </p:txBody>
      </p:sp>
      <p:sp>
        <p:nvSpPr>
          <p:cNvPr id="15" name="Price marker"/>
          <p:cNvSpPr/>
          <p:nvPr/>
        </p:nvSpPr>
        <p:spPr>
          <a:xfrm>
            <a:off x="3680387" y="2679192"/>
            <a:ext cx="164592" cy="164592"/>
          </a:xfrm>
          <a:prstGeom prst="ellipse">
            <a:avLst/>
          </a:prstGeom>
          <a:solidFill>
            <a:srgbClr val="1B2A41"/>
          </a:solidFill>
          <a:ln w="19050">
            <a:solidFill>
              <a:srgbClr val="FFFFFF"/>
            </a:solidFill>
            <a:prstDash val="solid"/>
          </a:ln>
        </p:spPr>
      </p:sp>
      <p:sp>
        <p:nvSpPr>
          <p:cNvPr id="16" name="Text 13"/>
          <p:cNvSpPr txBox="1"/>
          <p:nvPr/>
        </p:nvSpPr>
        <p:spPr>
          <a:xfrm>
            <a:off x="3168323" y="2221992"/>
            <a:ext cx="1188720" cy="237744"/>
          </a:xfrm>
          <a:prstGeom prst="rect">
            <a:avLst/>
          </a:prstGeom>
          <a:noFill/>
          <a:ln/>
        </p:spPr>
        <p:txBody>
          <a:bodyPr wrap="square" lIns="0" tIns="0" rIns="0" bIns="0" rtlCol="0" anchor="ctr"/>
          <a:lstStyle/>
          <a:p>
            <a:pPr algn="ctr" indent="0" marL="0">
              <a:buNone/>
            </a:pPr>
            <a:r>
              <a:rPr lang="en-US" sz="1000" b="1" dirty="0">
                <a:solidFill>
                  <a:srgbClr val="1B2A41"/>
                </a:solidFill>
              </a:rPr>
              <a:t>today $7.447</a:t>
            </a:r>
            <a:endParaRPr lang="en-US" sz="1000" dirty="0"/>
          </a:p>
        </p:txBody>
      </p:sp>
      <p:sp>
        <p:nvSpPr>
          <p:cNvPr id="17" name="Price marker"/>
          <p:cNvSpPr/>
          <p:nvPr/>
        </p:nvSpPr>
        <p:spPr>
          <a:xfrm>
            <a:off x="4161617" y="2679192"/>
            <a:ext cx="164592" cy="164592"/>
          </a:xfrm>
          <a:prstGeom prst="ellipse">
            <a:avLst/>
          </a:prstGeom>
          <a:solidFill>
            <a:srgbClr val="2A78D6"/>
          </a:solidFill>
          <a:ln w="19050">
            <a:solidFill>
              <a:srgbClr val="FFFFFF"/>
            </a:solidFill>
            <a:prstDash val="solid"/>
          </a:ln>
        </p:spPr>
      </p:sp>
      <p:sp>
        <p:nvSpPr>
          <p:cNvPr id="18" name="Price marker"/>
          <p:cNvSpPr/>
          <p:nvPr/>
        </p:nvSpPr>
        <p:spPr>
          <a:xfrm>
            <a:off x="4966545" y="2679192"/>
            <a:ext cx="164592" cy="164592"/>
          </a:xfrm>
          <a:prstGeom prst="ellipse">
            <a:avLst/>
          </a:prstGeom>
          <a:solidFill>
            <a:srgbClr val="EB6834"/>
          </a:solidFill>
          <a:ln w="19050">
            <a:solidFill>
              <a:srgbClr val="FFFFFF"/>
            </a:solidFill>
            <a:prstDash val="solid"/>
          </a:ln>
        </p:spPr>
      </p:sp>
      <p:sp>
        <p:nvSpPr>
          <p:cNvPr id="19" name="Text 16"/>
          <p:cNvSpPr txBox="1"/>
          <p:nvPr/>
        </p:nvSpPr>
        <p:spPr>
          <a:xfrm>
            <a:off x="4454481" y="2221992"/>
            <a:ext cx="1188720" cy="237744"/>
          </a:xfrm>
          <a:prstGeom prst="rect">
            <a:avLst/>
          </a:prstGeom>
          <a:noFill/>
          <a:ln/>
        </p:spPr>
        <p:txBody>
          <a:bodyPr wrap="square" lIns="0" tIns="0" rIns="0" bIns="0" rtlCol="0" anchor="ctr"/>
          <a:lstStyle/>
          <a:p>
            <a:pPr algn="ctr" indent="0" marL="0">
              <a:buNone/>
            </a:pPr>
            <a:r>
              <a:rPr lang="en-US" sz="1000" b="1" dirty="0">
                <a:solidFill>
                  <a:srgbClr val="EB6834"/>
                </a:solidFill>
              </a:rPr>
              <a:t>peak $8.04</a:t>
            </a:r>
            <a:endParaRPr lang="en-US" sz="1000" dirty="0"/>
          </a:p>
        </p:txBody>
      </p:sp>
      <p:sp>
        <p:nvSpPr>
          <p:cNvPr id="20" name="Guardrail card"/>
          <p:cNvSpPr/>
          <p:nvPr/>
        </p:nvSpPr>
        <p:spPr>
          <a:xfrm>
            <a:off x="548640" y="3657600"/>
            <a:ext cx="5852160" cy="777240"/>
          </a:xfrm>
          <a:prstGeom prst="roundRect">
            <a:avLst>
              <a:gd name="adj" fmla="val 9412"/>
            </a:avLst>
          </a:prstGeom>
          <a:solidFill>
            <a:srgbClr val="F2F6FB"/>
          </a:solidFill>
          <a:ln w="12700">
            <a:solidFill>
              <a:srgbClr val="F2F6FB"/>
            </a:solidFill>
            <a:prstDash val="solid"/>
          </a:ln>
        </p:spPr>
      </p:sp>
      <p:sp>
        <p:nvSpPr>
          <p:cNvPr id="21" name="Card accent"/>
          <p:cNvSpPr/>
          <p:nvPr/>
        </p:nvSpPr>
        <p:spPr>
          <a:xfrm>
            <a:off x="548640" y="3657600"/>
            <a:ext cx="82296" cy="777240"/>
          </a:xfrm>
          <a:prstGeom prst="rect">
            <a:avLst/>
          </a:prstGeom>
          <a:solidFill>
            <a:srgbClr val="D03B3B"/>
          </a:solidFill>
          <a:ln w="12700">
            <a:solidFill>
              <a:srgbClr val="D03B3B"/>
            </a:solidFill>
            <a:prstDash val="solid"/>
          </a:ln>
        </p:spPr>
      </p:sp>
      <p:sp>
        <p:nvSpPr>
          <p:cNvPr id="22" name="Text 19"/>
          <p:cNvSpPr txBox="1"/>
          <p:nvPr/>
        </p:nvSpPr>
        <p:spPr>
          <a:xfrm>
            <a:off x="777240" y="370332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Cost floor</a:t>
            </a:r>
            <a:endParaRPr lang="en-US" sz="1300" dirty="0"/>
          </a:p>
        </p:txBody>
      </p:sp>
      <p:sp>
        <p:nvSpPr>
          <p:cNvPr id="23" name="Text 20"/>
          <p:cNvSpPr txBox="1"/>
          <p:nvPr/>
        </p:nvSpPr>
        <p:spPr>
          <a:xfrm>
            <a:off x="777240" y="3986784"/>
            <a:ext cx="5486400" cy="420624"/>
          </a:xfrm>
          <a:prstGeom prst="rect">
            <a:avLst/>
          </a:prstGeom>
          <a:noFill/>
          <a:ln/>
        </p:spPr>
        <p:txBody>
          <a:bodyPr wrap="square" lIns="0" tIns="0" rIns="0" bIns="0" rtlCol="0" anchor="t"/>
          <a:lstStyle/>
          <a:p>
            <a:pPr indent="0" marL="0">
              <a:buNone/>
            </a:pPr>
            <a:r>
              <a:rPr lang="en-US" sz="1100" dirty="0">
                <a:solidFill>
                  <a:srgbClr val="1B2A41"/>
                </a:solidFill>
              </a:rPr>
              <a:t>cost + 5% markup + carrying cost, ÷ (1 - expected credit loss): no loss-making sale</a:t>
            </a:r>
            <a:endParaRPr lang="en-US" sz="1100" dirty="0"/>
          </a:p>
        </p:txBody>
      </p:sp>
      <p:sp>
        <p:nvSpPr>
          <p:cNvPr id="24" name="Guardrail card"/>
          <p:cNvSpPr/>
          <p:nvPr/>
        </p:nvSpPr>
        <p:spPr>
          <a:xfrm>
            <a:off x="548640" y="4526280"/>
            <a:ext cx="5852160" cy="777240"/>
          </a:xfrm>
          <a:prstGeom prst="roundRect">
            <a:avLst>
              <a:gd name="adj" fmla="val 9412"/>
            </a:avLst>
          </a:prstGeom>
          <a:solidFill>
            <a:srgbClr val="F2F6FB"/>
          </a:solidFill>
          <a:ln w="12700">
            <a:solidFill>
              <a:srgbClr val="F2F6FB"/>
            </a:solidFill>
            <a:prstDash val="solid"/>
          </a:ln>
        </p:spPr>
      </p:sp>
      <p:sp>
        <p:nvSpPr>
          <p:cNvPr id="25" name="Card accent"/>
          <p:cNvSpPr/>
          <p:nvPr/>
        </p:nvSpPr>
        <p:spPr>
          <a:xfrm>
            <a:off x="548640" y="4526280"/>
            <a:ext cx="82296" cy="777240"/>
          </a:xfrm>
          <a:prstGeom prst="rect">
            <a:avLst/>
          </a:prstGeom>
          <a:solidFill>
            <a:srgbClr val="1BAF7A"/>
          </a:solidFill>
          <a:ln w="12700">
            <a:solidFill>
              <a:srgbClr val="1BAF7A"/>
            </a:solidFill>
            <a:prstDash val="solid"/>
          </a:ln>
        </p:spPr>
      </p:sp>
      <p:sp>
        <p:nvSpPr>
          <p:cNvPr id="26" name="Text 23"/>
          <p:cNvSpPr txBox="1"/>
          <p:nvPr/>
        </p:nvSpPr>
        <p:spPr>
          <a:xfrm>
            <a:off x="777240" y="457200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Competitive band</a:t>
            </a:r>
            <a:endParaRPr lang="en-US" sz="1300" dirty="0"/>
          </a:p>
        </p:txBody>
      </p:sp>
      <p:sp>
        <p:nvSpPr>
          <p:cNvPr id="27" name="Text 24"/>
          <p:cNvSpPr txBox="1"/>
          <p:nvPr/>
        </p:nvSpPr>
        <p:spPr>
          <a:xfrm>
            <a:off x="777240" y="4855464"/>
            <a:ext cx="5486400" cy="420624"/>
          </a:xfrm>
          <a:prstGeom prst="rect">
            <a:avLst/>
          </a:prstGeom>
          <a:noFill/>
          <a:ln/>
        </p:spPr>
        <p:txBody>
          <a:bodyPr wrap="square" lIns="0" tIns="0" rIns="0" bIns="0" rtlCol="0" anchor="t"/>
          <a:lstStyle/>
          <a:p>
            <a:pPr indent="0" marL="0">
              <a:buNone/>
            </a:pPr>
            <a:r>
              <a:rPr lang="en-US" sz="1100" dirty="0">
                <a:solidFill>
                  <a:srgbClr val="1B2A41"/>
                </a:solidFill>
              </a:rPr>
              <a:t>0.92 to 1.10 × today's price; the 13-week average is the market proxy (no competitor data)</a:t>
            </a:r>
            <a:endParaRPr lang="en-US" sz="1100" dirty="0"/>
          </a:p>
        </p:txBody>
      </p:sp>
      <p:sp>
        <p:nvSpPr>
          <p:cNvPr id="28" name="Guardrail card"/>
          <p:cNvSpPr/>
          <p:nvPr/>
        </p:nvSpPr>
        <p:spPr>
          <a:xfrm>
            <a:off x="548640" y="5394960"/>
            <a:ext cx="5852160" cy="777240"/>
          </a:xfrm>
          <a:prstGeom prst="roundRect">
            <a:avLst>
              <a:gd name="adj" fmla="val 9412"/>
            </a:avLst>
          </a:prstGeom>
          <a:solidFill>
            <a:srgbClr val="F2F6FB"/>
          </a:solidFill>
          <a:ln w="12700">
            <a:solidFill>
              <a:srgbClr val="F2F6FB"/>
            </a:solidFill>
            <a:prstDash val="solid"/>
          </a:ln>
        </p:spPr>
      </p:sp>
      <p:sp>
        <p:nvSpPr>
          <p:cNvPr id="29" name="Card accent"/>
          <p:cNvSpPr/>
          <p:nvPr/>
        </p:nvSpPr>
        <p:spPr>
          <a:xfrm>
            <a:off x="548640" y="5394960"/>
            <a:ext cx="82296" cy="777240"/>
          </a:xfrm>
          <a:prstGeom prst="rect">
            <a:avLst/>
          </a:prstGeom>
          <a:solidFill>
            <a:srgbClr val="EB6834"/>
          </a:solidFill>
          <a:ln w="12700">
            <a:solidFill>
              <a:srgbClr val="EB6834"/>
            </a:solidFill>
            <a:prstDash val="solid"/>
          </a:ln>
        </p:spPr>
      </p:sp>
      <p:sp>
        <p:nvSpPr>
          <p:cNvPr id="30" name="Text 27"/>
          <p:cNvSpPr txBox="1"/>
          <p:nvPr/>
        </p:nvSpPr>
        <p:spPr>
          <a:xfrm>
            <a:off x="777240" y="544068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Weekly step</a:t>
            </a:r>
            <a:endParaRPr lang="en-US" sz="1300" dirty="0"/>
          </a:p>
        </p:txBody>
      </p:sp>
      <p:sp>
        <p:nvSpPr>
          <p:cNvPr id="31" name="Text 28"/>
          <p:cNvSpPr txBox="1"/>
          <p:nvPr/>
        </p:nvSpPr>
        <p:spPr>
          <a:xfrm>
            <a:off x="777240" y="5724144"/>
            <a:ext cx="5486400" cy="420624"/>
          </a:xfrm>
          <a:prstGeom prst="rect">
            <a:avLst/>
          </a:prstGeom>
          <a:noFill/>
          <a:ln/>
        </p:spPr>
        <p:txBody>
          <a:bodyPr wrap="square" lIns="0" tIns="0" rIns="0" bIns="0" rtlCol="0" anchor="t"/>
          <a:lstStyle/>
          <a:p>
            <a:pPr indent="0" marL="0">
              <a:buNone/>
            </a:pPr>
            <a:r>
              <a:rPr lang="en-US" sz="1100" dirty="0">
                <a:solidFill>
                  <a:srgbClr val="1B2A41"/>
                </a:solidFill>
              </a:rPr>
              <a:t>at most ±3% from one week to the next: no price shocks</a:t>
            </a:r>
            <a:endParaRPr lang="en-US" sz="1100" dirty="0"/>
          </a:p>
        </p:txBody>
      </p:sp>
      <p:sp>
        <p:nvSpPr>
          <p:cNvPr id="32" name="Text 29"/>
          <p:cNvSpPr txBox="1"/>
          <p:nvPr/>
        </p:nvSpPr>
        <p:spPr>
          <a:xfrm>
            <a:off x="6675120" y="1572768"/>
            <a:ext cx="4937760" cy="274320"/>
          </a:xfrm>
          <a:prstGeom prst="rect">
            <a:avLst/>
          </a:prstGeom>
          <a:noFill/>
          <a:ln/>
        </p:spPr>
        <p:txBody>
          <a:bodyPr wrap="square" lIns="0" tIns="0" rIns="0" bIns="0" rtlCol="0" anchor="ctr"/>
          <a:lstStyle/>
          <a:p>
            <a:pPr indent="0" marL="0">
              <a:buNone/>
            </a:pPr>
            <a:r>
              <a:rPr lang="en-US" sz="1300" b="1" dirty="0">
                <a:solidFill>
                  <a:srgbClr val="5B6B80"/>
                </a:solidFill>
              </a:rPr>
              <a:t>Credit-risk guardrails by rating</a:t>
            </a:r>
            <a:endParaRPr lang="en-US" sz="1300" dirty="0"/>
          </a:p>
        </p:txBody>
      </p:sp>
      <p:sp>
        <p:nvSpPr>
          <p:cNvPr id="33" name="Credit rule card"/>
          <p:cNvSpPr/>
          <p:nvPr/>
        </p:nvSpPr>
        <p:spPr>
          <a:xfrm>
            <a:off x="6675120" y="1920240"/>
            <a:ext cx="4937760" cy="1097280"/>
          </a:xfrm>
          <a:prstGeom prst="roundRect">
            <a:avLst>
              <a:gd name="adj" fmla="val 6667"/>
            </a:avLst>
          </a:prstGeom>
          <a:solidFill>
            <a:srgbClr val="F2F6FB"/>
          </a:solidFill>
          <a:ln w="12700">
            <a:solidFill>
              <a:srgbClr val="F2F6FB"/>
            </a:solidFill>
            <a:prstDash val="solid"/>
          </a:ln>
        </p:spPr>
      </p:sp>
      <p:sp>
        <p:nvSpPr>
          <p:cNvPr id="34" name="Rating chip"/>
          <p:cNvSpPr/>
          <p:nvPr/>
        </p:nvSpPr>
        <p:spPr>
          <a:xfrm>
            <a:off x="6812280" y="2057400"/>
            <a:ext cx="868680" cy="731520"/>
          </a:xfrm>
          <a:prstGeom prst="roundRect">
            <a:avLst>
              <a:gd name="adj" fmla="val 7500"/>
            </a:avLst>
          </a:prstGeom>
          <a:solidFill>
            <a:srgbClr val="0CA30C"/>
          </a:solidFill>
          <a:ln w="12700">
            <a:solidFill>
              <a:srgbClr val="0CA30C"/>
            </a:solidFill>
            <a:prstDash val="solid"/>
          </a:ln>
        </p:spPr>
      </p:sp>
      <p:sp>
        <p:nvSpPr>
          <p:cNvPr id="35" name="Text 32"/>
          <p:cNvSpPr txBox="1"/>
          <p:nvPr/>
        </p:nvSpPr>
        <p:spPr>
          <a:xfrm>
            <a:off x="6812280" y="205740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  B</a:t>
            </a:r>
            <a:endParaRPr lang="en-US" sz="1800" dirty="0"/>
          </a:p>
        </p:txBody>
      </p:sp>
      <p:sp>
        <p:nvSpPr>
          <p:cNvPr id="36" name="Text 33"/>
          <p:cNvSpPr txBox="1"/>
          <p:nvPr/>
        </p:nvSpPr>
        <p:spPr>
          <a:xfrm>
            <a:off x="7818120" y="201168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Normal rules</a:t>
            </a:r>
            <a:endParaRPr lang="en-US" sz="1250" dirty="0"/>
          </a:p>
        </p:txBody>
      </p:sp>
      <p:sp>
        <p:nvSpPr>
          <p:cNvPr id="37" name="Text 34"/>
          <p:cNvSpPr txBox="1"/>
          <p:nvPr/>
        </p:nvSpPr>
        <p:spPr>
          <a:xfrm>
            <a:off x="7818120" y="2487168"/>
            <a:ext cx="3703320" cy="457200"/>
          </a:xfrm>
          <a:prstGeom prst="rect">
            <a:avLst/>
          </a:prstGeom>
          <a:noFill/>
          <a:ln/>
        </p:spPr>
        <p:txBody>
          <a:bodyPr wrap="square" lIns="0" tIns="0" rIns="0" bIns="0" rtlCol="0" anchor="t"/>
          <a:lstStyle/>
          <a:p>
            <a:pPr indent="0" marL="0">
              <a:buNone/>
            </a:pPr>
            <a:r>
              <a:rPr lang="en-US" sz="1050" dirty="0">
                <a:solidFill>
                  <a:srgbClr val="5B6B80"/>
                </a:solidFill>
              </a:rPr>
              <a:t>no extra restriction</a:t>
            </a:r>
            <a:endParaRPr lang="en-US" sz="1050" dirty="0"/>
          </a:p>
        </p:txBody>
      </p:sp>
      <p:sp>
        <p:nvSpPr>
          <p:cNvPr id="38" name="Credit rule card"/>
          <p:cNvSpPr/>
          <p:nvPr/>
        </p:nvSpPr>
        <p:spPr>
          <a:xfrm>
            <a:off x="6675120" y="3154680"/>
            <a:ext cx="4937760" cy="1097280"/>
          </a:xfrm>
          <a:prstGeom prst="roundRect">
            <a:avLst>
              <a:gd name="adj" fmla="val 6667"/>
            </a:avLst>
          </a:prstGeom>
          <a:solidFill>
            <a:srgbClr val="F2F6FB"/>
          </a:solidFill>
          <a:ln w="12700">
            <a:solidFill>
              <a:srgbClr val="F2F6FB"/>
            </a:solidFill>
            <a:prstDash val="solid"/>
          </a:ln>
        </p:spPr>
      </p:sp>
      <p:sp>
        <p:nvSpPr>
          <p:cNvPr id="39" name="Rating chip"/>
          <p:cNvSpPr/>
          <p:nvPr/>
        </p:nvSpPr>
        <p:spPr>
          <a:xfrm>
            <a:off x="6812280" y="3291840"/>
            <a:ext cx="868680" cy="731520"/>
          </a:xfrm>
          <a:prstGeom prst="roundRect">
            <a:avLst>
              <a:gd name="adj" fmla="val 7500"/>
            </a:avLst>
          </a:prstGeom>
          <a:solidFill>
            <a:srgbClr val="FAB219"/>
          </a:solidFill>
          <a:ln w="12700">
            <a:solidFill>
              <a:srgbClr val="FAB219"/>
            </a:solidFill>
            <a:prstDash val="solid"/>
          </a:ln>
        </p:spPr>
      </p:sp>
      <p:sp>
        <p:nvSpPr>
          <p:cNvPr id="40" name="Text 37"/>
          <p:cNvSpPr txBox="1"/>
          <p:nvPr/>
        </p:nvSpPr>
        <p:spPr>
          <a:xfrm>
            <a:off x="6812280" y="3291840"/>
            <a:ext cx="868680" cy="731520"/>
          </a:xfrm>
          <a:prstGeom prst="rect">
            <a:avLst/>
          </a:prstGeom>
          <a:noFill/>
          <a:ln/>
        </p:spPr>
        <p:txBody>
          <a:bodyPr wrap="square" lIns="0" tIns="0" rIns="0" bIns="0" rtlCol="0" anchor="ctr"/>
          <a:lstStyle/>
          <a:p>
            <a:pPr algn="ctr" indent="0" marL="0">
              <a:buNone/>
            </a:pPr>
            <a:r>
              <a:rPr lang="en-US" sz="1800" b="1" dirty="0">
                <a:solidFill>
                  <a:srgbClr val="3A2A00"/>
                </a:solidFill>
                <a:latin typeface="Cambria" pitchFamily="34" charset="0"/>
                <a:ea typeface="Cambria" pitchFamily="34" charset="-122"/>
                <a:cs typeface="Cambria" pitchFamily="34" charset="-120"/>
              </a:rPr>
              <a:t>C</a:t>
            </a:r>
            <a:endParaRPr lang="en-US" sz="1800" dirty="0"/>
          </a:p>
        </p:txBody>
      </p:sp>
      <p:sp>
        <p:nvSpPr>
          <p:cNvPr id="41" name="Text 38"/>
          <p:cNvSpPr txBox="1"/>
          <p:nvPr/>
        </p:nvSpPr>
        <p:spPr>
          <a:xfrm>
            <a:off x="7818120" y="3246120"/>
            <a:ext cx="3703320" cy="457200"/>
          </a:xfrm>
          <a:prstGeom prst="rect">
            <a:avLst/>
          </a:prstGeom>
          <a:noFill/>
          <a:ln/>
        </p:spPr>
        <p:txBody>
          <a:bodyPr wrap="square" lIns="0" tIns="0" rIns="0" bIns="0" rtlCol="0" anchor="t"/>
          <a:lstStyle/>
          <a:p>
            <a:pPr indent="0" marL="0">
              <a:buNone/>
            </a:pPr>
            <a:r>
              <a:rPr lang="en-US" sz="1250" b="1" dirty="0">
                <a:solidFill>
                  <a:schemeClr val="tx1"/>
                </a:solidFill>
              </a:rPr>
              <a:t>Markdown capped at 5%</a:t>
            </a:r>
            <a:endParaRPr lang="en-US" sz="1250" dirty="0"/>
          </a:p>
        </p:txBody>
      </p:sp>
      <p:sp>
        <p:nvSpPr>
          <p:cNvPr id="42" name="Text 39"/>
          <p:cNvSpPr txBox="1"/>
          <p:nvPr/>
        </p:nvSpPr>
        <p:spPr>
          <a:xfrm>
            <a:off x="7818120" y="3721608"/>
            <a:ext cx="3703320" cy="457200"/>
          </a:xfrm>
          <a:prstGeom prst="rect">
            <a:avLst/>
          </a:prstGeom>
          <a:noFill/>
          <a:ln/>
        </p:spPr>
        <p:txBody>
          <a:bodyPr wrap="square" lIns="0" tIns="0" rIns="0" bIns="0" rtlCol="0" anchor="t"/>
          <a:lstStyle/>
          <a:p>
            <a:pPr indent="0" marL="0">
              <a:buNone/>
            </a:pPr>
            <a:r>
              <a:rPr lang="en-US" sz="1050" dirty="0">
                <a:solidFill>
                  <a:srgbClr val="5B6B80"/>
                </a:solidFill>
              </a:rPr>
              <a:t>moderate credit risk</a:t>
            </a:r>
            <a:endParaRPr lang="en-US" sz="1050" dirty="0"/>
          </a:p>
        </p:txBody>
      </p:sp>
      <p:sp>
        <p:nvSpPr>
          <p:cNvPr id="43" name="Credit rule card"/>
          <p:cNvSpPr/>
          <p:nvPr/>
        </p:nvSpPr>
        <p:spPr>
          <a:xfrm>
            <a:off x="6675120" y="4389120"/>
            <a:ext cx="4937760" cy="1463040"/>
          </a:xfrm>
          <a:prstGeom prst="roundRect">
            <a:avLst>
              <a:gd name="adj" fmla="val 5000"/>
            </a:avLst>
          </a:prstGeom>
          <a:solidFill>
            <a:srgbClr val="F2F6FB"/>
          </a:solidFill>
          <a:ln w="12700">
            <a:solidFill>
              <a:srgbClr val="F2F6FB"/>
            </a:solidFill>
            <a:prstDash val="solid"/>
          </a:ln>
        </p:spPr>
      </p:sp>
      <p:sp>
        <p:nvSpPr>
          <p:cNvPr id="44" name="Rating chip"/>
          <p:cNvSpPr/>
          <p:nvPr/>
        </p:nvSpPr>
        <p:spPr>
          <a:xfrm>
            <a:off x="6812280" y="4526280"/>
            <a:ext cx="868680" cy="731520"/>
          </a:xfrm>
          <a:prstGeom prst="roundRect">
            <a:avLst>
              <a:gd name="adj" fmla="val 7500"/>
            </a:avLst>
          </a:prstGeom>
          <a:solidFill>
            <a:srgbClr val="EC835A"/>
          </a:solidFill>
          <a:ln w="12700">
            <a:solidFill>
              <a:srgbClr val="EC835A"/>
            </a:solidFill>
            <a:prstDash val="solid"/>
          </a:ln>
        </p:spPr>
      </p:sp>
      <p:sp>
        <p:nvSpPr>
          <p:cNvPr id="45" name="Text 42"/>
          <p:cNvSpPr txBox="1"/>
          <p:nvPr/>
        </p:nvSpPr>
        <p:spPr>
          <a:xfrm>
            <a:off x="6812280" y="452628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D  E</a:t>
            </a:r>
            <a:endParaRPr lang="en-US" sz="1800" dirty="0"/>
          </a:p>
        </p:txBody>
      </p:sp>
      <p:sp>
        <p:nvSpPr>
          <p:cNvPr id="46" name="Text 43"/>
          <p:cNvSpPr txBox="1"/>
          <p:nvPr/>
        </p:nvSpPr>
        <p:spPr>
          <a:xfrm>
            <a:off x="7818120" y="448056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 markdowns · risk premium · terms 15 days shorter</a:t>
            </a:r>
            <a:endParaRPr lang="en-US" sz="1250" dirty="0"/>
          </a:p>
        </p:txBody>
      </p:sp>
      <p:sp>
        <p:nvSpPr>
          <p:cNvPr id="47" name="Text 44"/>
          <p:cNvSpPr txBox="1"/>
          <p:nvPr/>
        </p:nvSpPr>
        <p:spPr>
          <a:xfrm>
            <a:off x="7818120" y="4956048"/>
            <a:ext cx="3703320" cy="822960"/>
          </a:xfrm>
          <a:prstGeom prst="rect">
            <a:avLst/>
          </a:prstGeom>
          <a:noFill/>
          <a:ln/>
        </p:spPr>
        <p:txBody>
          <a:bodyPr wrap="square" lIns="0" tIns="0" rIns="0" bIns="0" rtlCol="0" anchor="t"/>
          <a:lstStyle/>
          <a:p>
            <a:pPr indent="0" marL="0">
              <a:buNone/>
            </a:pPr>
            <a:r>
              <a:rPr lang="en-US" sz="1050" dirty="0">
                <a:solidFill>
                  <a:srgbClr val="5B6B80"/>
                </a:solidFill>
              </a:rPr>
              <a:t>premium = share on credit × default + DSO/365 × 8% funding; +2.5% for Beverages &amp; Cocoa; frees about $361K of cash</a:t>
            </a:r>
            <a:endParaRPr lang="en-US" sz="1050" dirty="0"/>
          </a:p>
        </p:txBody>
      </p:sp>
      <p:sp>
        <p:nvSpPr>
          <p:cNvPr id="48" name="Text 45"/>
          <p:cNvSpPr txBox="1"/>
          <p:nvPr/>
        </p:nvSpPr>
        <p:spPr>
          <a:xfrm>
            <a:off x="6675120" y="5806440"/>
            <a:ext cx="4937760" cy="457200"/>
          </a:xfrm>
          <a:prstGeom prst="rect">
            <a:avLst/>
          </a:prstGeom>
          <a:noFill/>
          <a:ln/>
        </p:spPr>
        <p:txBody>
          <a:bodyPr wrap="square" lIns="0" tIns="0" rIns="0" bIns="0" rtlCol="0" anchor="t"/>
          <a:lstStyle/>
          <a:p>
            <a:pPr indent="0" marL="0">
              <a:buNone/>
            </a:pPr>
            <a:r>
              <a:rPr lang="en-US" sz="1050" i="1" dirty="0">
                <a:solidFill>
                  <a:srgbClr val="5B6B80"/>
                </a:solidFill>
              </a:rPr>
              <a:t>All 19 automatic checks pass: band, floor, weekly step, credit rules and hand-calculated arithmetic.</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 AND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Tested four ways: gain stays near +$1.3M</a:t>
            </a:r>
            <a:endParaRPr lang="en-US" sz="3000" dirty="0"/>
          </a:p>
        </p:txBody>
      </p:sp>
      <p:graphicFrame>
        <p:nvGraphicFramePr>
          <p:cNvPr id="5" name="Chart 0" descr=""/>
          <p:cNvGraphicFramePr/>
          <p:nvPr/>
        </p:nvGraphicFramePr>
        <p:xfrm>
          <a:off x="548640" y="16002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st card"/>
          <p:cNvSpPr/>
          <p:nvPr/>
        </p:nvSpPr>
        <p:spPr>
          <a:xfrm>
            <a:off x="6492240" y="1600200"/>
            <a:ext cx="2514600" cy="1874520"/>
          </a:xfrm>
          <a:prstGeom prst="roundRect">
            <a:avLst>
              <a:gd name="adj" fmla="val 3902"/>
            </a:avLst>
          </a:prstGeom>
          <a:solidFill>
            <a:srgbClr val="F2F6FB"/>
          </a:solidFill>
          <a:ln w="12700">
            <a:solidFill>
              <a:srgbClr val="F2F6FB"/>
            </a:solidFill>
            <a:prstDash val="solid"/>
          </a:ln>
        </p:spPr>
      </p:sp>
      <p:sp>
        <p:nvSpPr>
          <p:cNvPr id="7" name="Step number"/>
          <p:cNvSpPr/>
          <p:nvPr/>
        </p:nvSpPr>
        <p:spPr>
          <a:xfrm>
            <a:off x="6629400" y="1709928"/>
            <a:ext cx="411480" cy="411480"/>
          </a:xfrm>
          <a:prstGeom prst="ellipse">
            <a:avLst/>
          </a:prstGeom>
          <a:solidFill>
            <a:srgbClr val="2A78D6"/>
          </a:solidFill>
          <a:ln w="12700">
            <a:solidFill>
              <a:srgbClr val="FFFFFF"/>
            </a:solidFill>
            <a:prstDash val="solid"/>
          </a:ln>
        </p:spPr>
      </p:sp>
      <p:sp>
        <p:nvSpPr>
          <p:cNvPr id="8" name="Text 4"/>
          <p:cNvSpPr txBox="1"/>
          <p:nvPr/>
        </p:nvSpPr>
        <p:spPr>
          <a:xfrm>
            <a:off x="662940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713232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Simulate</a:t>
            </a:r>
            <a:endParaRPr lang="en-US" sz="1300" dirty="0"/>
          </a:p>
        </p:txBody>
      </p:sp>
      <p:sp>
        <p:nvSpPr>
          <p:cNvPr id="10" name="Text 6"/>
          <p:cNvSpPr txBox="1"/>
          <p:nvPr/>
        </p:nvSpPr>
        <p:spPr>
          <a:xfrm>
            <a:off x="662940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1,000 demand and stock draws per product-week; same draws with and without the engine</a:t>
            </a:r>
            <a:endParaRPr lang="en-US" sz="1150" dirty="0"/>
          </a:p>
        </p:txBody>
      </p:sp>
      <p:sp>
        <p:nvSpPr>
          <p:cNvPr id="11" name="Test card"/>
          <p:cNvSpPr/>
          <p:nvPr/>
        </p:nvSpPr>
        <p:spPr>
          <a:xfrm>
            <a:off x="9098280" y="1600200"/>
            <a:ext cx="2514600" cy="1874520"/>
          </a:xfrm>
          <a:prstGeom prst="roundRect">
            <a:avLst>
              <a:gd name="adj" fmla="val 3902"/>
            </a:avLst>
          </a:prstGeom>
          <a:solidFill>
            <a:srgbClr val="F2F6FB"/>
          </a:solidFill>
          <a:ln w="12700">
            <a:solidFill>
              <a:srgbClr val="F2F6FB"/>
            </a:solidFill>
            <a:prstDash val="solid"/>
          </a:ln>
        </p:spPr>
      </p:sp>
      <p:sp>
        <p:nvSpPr>
          <p:cNvPr id="12" name="Step number"/>
          <p:cNvSpPr/>
          <p:nvPr/>
        </p:nvSpPr>
        <p:spPr>
          <a:xfrm>
            <a:off x="9235440" y="1709928"/>
            <a:ext cx="411480" cy="411480"/>
          </a:xfrm>
          <a:prstGeom prst="ellipse">
            <a:avLst/>
          </a:prstGeom>
          <a:solidFill>
            <a:srgbClr val="1BAF7A"/>
          </a:solidFill>
          <a:ln w="12700">
            <a:solidFill>
              <a:srgbClr val="FFFFFF"/>
            </a:solidFill>
            <a:prstDash val="solid"/>
          </a:ln>
        </p:spPr>
      </p:sp>
      <p:sp>
        <p:nvSpPr>
          <p:cNvPr id="13" name="Text 9"/>
          <p:cNvSpPr txBox="1"/>
          <p:nvPr/>
        </p:nvSpPr>
        <p:spPr>
          <a:xfrm>
            <a:off x="923544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4" name="Text 10"/>
          <p:cNvSpPr txBox="1"/>
          <p:nvPr/>
        </p:nvSpPr>
        <p:spPr>
          <a:xfrm>
            <a:off x="973836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sensitivity</a:t>
            </a:r>
            <a:endParaRPr lang="en-US" sz="1300" dirty="0"/>
          </a:p>
        </p:txBody>
      </p:sp>
      <p:sp>
        <p:nvSpPr>
          <p:cNvPr id="15" name="Text 11"/>
          <p:cNvSpPr txBox="1"/>
          <p:nvPr/>
        </p:nvSpPr>
        <p:spPr>
          <a:xfrm>
            <a:off x="923544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price sensitivity 0 to -3: result is a range</a:t>
            </a:r>
            <a:endParaRPr lang="en-US" sz="1150" dirty="0"/>
          </a:p>
        </p:txBody>
      </p:sp>
      <p:sp>
        <p:nvSpPr>
          <p:cNvPr id="16" name="Test card"/>
          <p:cNvSpPr/>
          <p:nvPr/>
        </p:nvSpPr>
        <p:spPr>
          <a:xfrm>
            <a:off x="6492240" y="3566160"/>
            <a:ext cx="2514600" cy="1874520"/>
          </a:xfrm>
          <a:prstGeom prst="roundRect">
            <a:avLst>
              <a:gd name="adj" fmla="val 3902"/>
            </a:avLst>
          </a:prstGeom>
          <a:solidFill>
            <a:srgbClr val="F2F6FB"/>
          </a:solidFill>
          <a:ln w="12700">
            <a:solidFill>
              <a:srgbClr val="F2F6FB"/>
            </a:solidFill>
            <a:prstDash val="solid"/>
          </a:ln>
        </p:spPr>
      </p:sp>
      <p:sp>
        <p:nvSpPr>
          <p:cNvPr id="17" name="Step number"/>
          <p:cNvSpPr/>
          <p:nvPr/>
        </p:nvSpPr>
        <p:spPr>
          <a:xfrm>
            <a:off x="6629400" y="3675888"/>
            <a:ext cx="411480" cy="411480"/>
          </a:xfrm>
          <a:prstGeom prst="ellipse">
            <a:avLst/>
          </a:prstGeom>
          <a:solidFill>
            <a:srgbClr val="EB6834"/>
          </a:solidFill>
          <a:ln w="12700">
            <a:solidFill>
              <a:srgbClr val="FFFFFF"/>
            </a:solidFill>
            <a:prstDash val="solid"/>
          </a:ln>
        </p:spPr>
      </p:sp>
      <p:sp>
        <p:nvSpPr>
          <p:cNvPr id="18" name="Text 14"/>
          <p:cNvSpPr txBox="1"/>
          <p:nvPr/>
        </p:nvSpPr>
        <p:spPr>
          <a:xfrm>
            <a:off x="662940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5"/>
          <p:cNvSpPr txBox="1"/>
          <p:nvPr/>
        </p:nvSpPr>
        <p:spPr>
          <a:xfrm>
            <a:off x="713232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Replay the past</a:t>
            </a:r>
            <a:endParaRPr lang="en-US" sz="1300" dirty="0"/>
          </a:p>
        </p:txBody>
      </p:sp>
      <p:sp>
        <p:nvSpPr>
          <p:cNvPr id="20" name="Text 16"/>
          <p:cNvSpPr txBox="1"/>
          <p:nvPr/>
        </p:nvSpPr>
        <p:spPr>
          <a:xfrm>
            <a:off x="662940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last 52 weeks, only past information: +$1.43M</a:t>
            </a:r>
            <a:endParaRPr lang="en-US" sz="1150" dirty="0"/>
          </a:p>
        </p:txBody>
      </p:sp>
      <p:sp>
        <p:nvSpPr>
          <p:cNvPr id="21" name="Test card"/>
          <p:cNvSpPr/>
          <p:nvPr/>
        </p:nvSpPr>
        <p:spPr>
          <a:xfrm>
            <a:off x="9098280" y="3566160"/>
            <a:ext cx="2514600" cy="1874520"/>
          </a:xfrm>
          <a:prstGeom prst="roundRect">
            <a:avLst>
              <a:gd name="adj" fmla="val 3902"/>
            </a:avLst>
          </a:prstGeom>
          <a:solidFill>
            <a:srgbClr val="F2F6FB"/>
          </a:solidFill>
          <a:ln w="12700">
            <a:solidFill>
              <a:srgbClr val="F2F6FB"/>
            </a:solidFill>
            <a:prstDash val="solid"/>
          </a:ln>
        </p:spPr>
      </p:sp>
      <p:sp>
        <p:nvSpPr>
          <p:cNvPr id="22" name="Step number"/>
          <p:cNvSpPr/>
          <p:nvPr/>
        </p:nvSpPr>
        <p:spPr>
          <a:xfrm>
            <a:off x="9235440" y="3675888"/>
            <a:ext cx="411480" cy="411480"/>
          </a:xfrm>
          <a:prstGeom prst="ellipse">
            <a:avLst/>
          </a:prstGeom>
          <a:solidFill>
            <a:srgbClr val="D03B3B"/>
          </a:solidFill>
          <a:ln w="12700">
            <a:solidFill>
              <a:srgbClr val="FFFFFF"/>
            </a:solidFill>
            <a:prstDash val="solid"/>
          </a:ln>
        </p:spPr>
      </p:sp>
      <p:sp>
        <p:nvSpPr>
          <p:cNvPr id="23" name="Text 19"/>
          <p:cNvSpPr txBox="1"/>
          <p:nvPr/>
        </p:nvSpPr>
        <p:spPr>
          <a:xfrm>
            <a:off x="923544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0"/>
          <p:cNvSpPr txBox="1"/>
          <p:nvPr/>
        </p:nvSpPr>
        <p:spPr>
          <a:xfrm>
            <a:off x="973836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the inputs</a:t>
            </a:r>
            <a:endParaRPr lang="en-US" sz="1300" dirty="0"/>
          </a:p>
        </p:txBody>
      </p:sp>
      <p:sp>
        <p:nvSpPr>
          <p:cNvPr id="25" name="Text 21"/>
          <p:cNvSpPr txBox="1"/>
          <p:nvPr/>
        </p:nvSpPr>
        <p:spPr>
          <a:xfrm>
            <a:off x="923544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16 settings all positive; demand at 60% of estimate: still +$0.94M</a:t>
            </a:r>
            <a:endParaRPr lang="en-US" sz="1150" dirty="0"/>
          </a:p>
        </p:txBody>
      </p:sp>
      <p:sp>
        <p:nvSpPr>
          <p:cNvPr id="26" name="Stat card"/>
          <p:cNvSpPr/>
          <p:nvPr/>
        </p:nvSpPr>
        <p:spPr>
          <a:xfrm>
            <a:off x="548640" y="5532120"/>
            <a:ext cx="2606040" cy="777240"/>
          </a:xfrm>
          <a:prstGeom prst="roundRect">
            <a:avLst>
              <a:gd name="adj" fmla="val 9412"/>
            </a:avLst>
          </a:prstGeom>
          <a:solidFill>
            <a:srgbClr val="F2F6FB"/>
          </a:solidFill>
          <a:ln w="12700">
            <a:solidFill>
              <a:srgbClr val="F2F6FB"/>
            </a:solidFill>
            <a:prstDash val="solid"/>
          </a:ln>
        </p:spPr>
      </p:sp>
      <p:sp>
        <p:nvSpPr>
          <p:cNvPr id="27" name="Text 23"/>
          <p:cNvSpPr txBox="1"/>
          <p:nvPr/>
        </p:nvSpPr>
        <p:spPr>
          <a:xfrm>
            <a:off x="658368" y="5532120"/>
            <a:ext cx="1051560" cy="777240"/>
          </a:xfrm>
          <a:prstGeom prst="rect">
            <a:avLst/>
          </a:prstGeom>
          <a:noFill/>
          <a:ln/>
        </p:spPr>
        <p:txBody>
          <a:bodyPr wrap="square" lIns="0" tIns="0" rIns="0" bIns="0" rtlCol="0" anchor="ctr"/>
          <a:lstStyle/>
          <a:p>
            <a:pPr indent="0" marL="0">
              <a:buNone/>
            </a:pPr>
            <a:r>
              <a:rPr lang="en-US" sz="1800" b="1" dirty="0">
                <a:solidFill>
                  <a:srgbClr val="138A5F"/>
                </a:solidFill>
                <a:latin typeface="Cambria" pitchFamily="34" charset="0"/>
                <a:ea typeface="Cambria" pitchFamily="34" charset="-122"/>
                <a:cs typeface="Cambria" pitchFamily="34" charset="-120"/>
              </a:rPr>
              <a:t>19 / 19</a:t>
            </a:r>
            <a:endParaRPr lang="en-US" sz="1800" dirty="0"/>
          </a:p>
        </p:txBody>
      </p:sp>
      <p:sp>
        <p:nvSpPr>
          <p:cNvPr id="28" name="Text 24"/>
          <p:cNvSpPr txBox="1"/>
          <p:nvPr/>
        </p:nvSpPr>
        <p:spPr>
          <a:xfrm>
            <a:off x="173736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automatic checks pass</a:t>
            </a:r>
            <a:endParaRPr lang="en-US" sz="1000" dirty="0"/>
          </a:p>
        </p:txBody>
      </p:sp>
      <p:sp>
        <p:nvSpPr>
          <p:cNvPr id="29" name="Stat card"/>
          <p:cNvSpPr/>
          <p:nvPr/>
        </p:nvSpPr>
        <p:spPr>
          <a:xfrm>
            <a:off x="3246120" y="5532120"/>
            <a:ext cx="2606040" cy="777240"/>
          </a:xfrm>
          <a:prstGeom prst="roundRect">
            <a:avLst>
              <a:gd name="adj" fmla="val 9412"/>
            </a:avLst>
          </a:prstGeom>
          <a:solidFill>
            <a:srgbClr val="F2F6FB"/>
          </a:solidFill>
          <a:ln w="12700">
            <a:solidFill>
              <a:srgbClr val="F2F6FB"/>
            </a:solidFill>
            <a:prstDash val="solid"/>
          </a:ln>
        </p:spPr>
      </p:sp>
      <p:sp>
        <p:nvSpPr>
          <p:cNvPr id="30" name="Text 26"/>
          <p:cNvSpPr txBox="1"/>
          <p:nvPr/>
        </p:nvSpPr>
        <p:spPr>
          <a:xfrm>
            <a:off x="3355848" y="5532120"/>
            <a:ext cx="1051560" cy="777240"/>
          </a:xfrm>
          <a:prstGeom prst="rect">
            <a:avLst/>
          </a:prstGeom>
          <a:noFill/>
          <a:ln/>
        </p:spPr>
        <p:txBody>
          <a:bodyPr wrap="square" lIns="0" tIns="0" rIns="0" bIns="0" rtlCol="0" anchor="ctr"/>
          <a:lstStyle/>
          <a:p>
            <a:pPr indent="0" marL="0">
              <a:buNone/>
            </a:pPr>
            <a:r>
              <a:rPr lang="en-US" sz="1800" b="1" dirty="0">
                <a:solidFill>
                  <a:srgbClr val="C24E1F"/>
                </a:solidFill>
                <a:latin typeface="Cambria" pitchFamily="34" charset="0"/>
                <a:ea typeface="Cambria" pitchFamily="34" charset="-122"/>
                <a:cs typeface="Cambria" pitchFamily="34" charset="-120"/>
              </a:rPr>
              <a:t>-0.017</a:t>
            </a:r>
            <a:endParaRPr lang="en-US" sz="1800" dirty="0"/>
          </a:p>
        </p:txBody>
      </p:sp>
      <p:sp>
        <p:nvSpPr>
          <p:cNvPr id="31" name="Text 27"/>
          <p:cNvSpPr txBox="1"/>
          <p:nvPr/>
        </p:nvSpPr>
        <p:spPr>
          <a:xfrm>
            <a:off x="443484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price effect: not measurable, hence a range</a:t>
            </a:r>
            <a:endParaRPr lang="en-US" sz="1000" dirty="0"/>
          </a:p>
        </p:txBody>
      </p:sp>
      <p:sp>
        <p:nvSpPr>
          <p:cNvPr id="32" name="Pilot card"/>
          <p:cNvSpPr/>
          <p:nvPr/>
        </p:nvSpPr>
        <p:spPr>
          <a:xfrm>
            <a:off x="5943600" y="5532120"/>
            <a:ext cx="5669280" cy="777240"/>
          </a:xfrm>
          <a:prstGeom prst="roundRect">
            <a:avLst>
              <a:gd name="adj" fmla="val 9412"/>
            </a:avLst>
          </a:prstGeom>
          <a:solidFill>
            <a:srgbClr val="FFFFFF"/>
          </a:solidFill>
          <a:ln w="19050">
            <a:solidFill>
              <a:srgbClr val="2A78D6"/>
            </a:solidFill>
            <a:prstDash val="solid"/>
          </a:ln>
        </p:spPr>
      </p:sp>
      <p:sp>
        <p:nvSpPr>
          <p:cNvPr id="33" name="Text 29"/>
          <p:cNvSpPr txBox="1"/>
          <p:nvPr/>
        </p:nvSpPr>
        <p:spPr>
          <a:xfrm>
            <a:off x="6080760" y="5532120"/>
            <a:ext cx="5440680" cy="777240"/>
          </a:xfrm>
          <a:prstGeom prst="rect">
            <a:avLst/>
          </a:prstGeom>
          <a:noFill/>
          <a:ln/>
        </p:spPr>
        <p:txBody>
          <a:bodyPr wrap="square" lIns="0" tIns="0" rIns="0" bIns="0" rtlCol="0" anchor="ctr"/>
          <a:lstStyle/>
          <a:p>
            <a:pPr indent="0" marL="0">
              <a:buNone/>
            </a:pPr>
            <a:r>
              <a:rPr lang="en-US" sz="1050" b="1" dirty="0">
                <a:solidFill>
                  <a:srgbClr val="1F5FB0"/>
                </a:solidFill>
              </a:rPr>
              <a:t>Next: two 8-week pilots. </a:t>
            </a:r>
            <a:pPr indent="0" marL="0">
              <a:buNone/>
            </a:pPr>
            <a:r>
              <a:rPr lang="en-US" sz="1050" dirty="0">
                <a:solidFill>
                  <a:srgbClr val="1B2A41"/>
                </a:solidFill>
              </a:rPr>
              <a:t>A: 6 scarce products at +3% / +5% vs matched controls (do they still sell out?). B: high-stock products at ±3% in random weeks (real price sensitivity).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ASSUMPTIONS REGISTER</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Assumptions, reasons and how each is replaced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474720"/>
                <a:gridCol w="3566160"/>
                <a:gridCol w="4023360"/>
              </a:tblGrid>
              <a:tr h="384048">
                <a:tc>
                  <a:txBody>
                    <a:bodyPr/>
                    <a:lstStyle/>
                    <a:p>
                      <a:pPr indent="0" marL="0">
                        <a:buNone/>
                      </a:pPr>
                      <a:r>
                        <a:rPr lang="en-US" sz="1300" b="1" dirty="0">
                          <a:solidFill>
                            <a:srgbClr val="FFFFFF"/>
                          </a:solidFill>
                        </a:rPr>
                        <a:t>Assumption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Why it was made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How it is checked or replaced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dirty="0">
                          <a:solidFill>
                            <a:srgbClr val="1B2A41"/>
                          </a:solidFill>
                        </a:rPr>
                        <a:t>Synthetic calendar from 6 Jan 2020</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the file has week numbers only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real dates replace it; no result depends on the start date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Sales = min(demand, stock)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stock-outs give zero sales; pile-ups sit at the stock caps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verified: zero violations in the database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Old forecast is a usable demand signal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unbiased (-0.4%) on weeks where truth is 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blend weight learned out-of-fold; accuracy also on clean weeks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Future stock follows its own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future purchasing is unknown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dashboard shows the stock-limited and unconstrained views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Credit terms, delays, default rates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customer or invoice data exists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editable in the dashboard; replace with payment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Price sensitivity -1 (plan) and -2 (stress)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price barely varies (4%), so the data cannot measure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results shown from 0 to -3; Pilot B measures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Competitor band -8% / +10%, holding 12%, funding 8%</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competitor data; standard cost-of-capital levels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adjustable parameters; replace with observations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2026-10-06T21:39:29Z</dcterms:created>
  <dcterms:modified xsi:type="dcterms:W3CDTF">2026-10-06T21:39:29Z</dcterms:modified>
</cp:coreProperties>
</file>