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41ca807e-fb4e-3e40-ff0c-cc278489b00f}">
          <p14:sldIdLst>
            <p14:sldId id="256"/>
            <p14:sldId id="257"/>
          </p14:sldIdLst>
        </p14:section>
        <p14:section name="Part 1 - Data" id="{2ed947bf-8dd8-069c-3df3-7b7127059de0}">
          <p14:sldIdLst>
            <p14:sldId id="258"/>
            <p14:sldId id="259"/>
          </p14:sldIdLst>
        </p14:section>
        <p14:section name="Part 2 - Forecast" id="{35576689-2acf-3cb8-62c0-a36a6c48be7d}">
          <p14:sldIdLst>
            <p14:sldId id="260"/>
            <p14:sldId id="261"/>
            <p14:sldId id="262"/>
            <p14:sldId id="263"/>
            <p14:sldId id="264"/>
            <p14:sldId id="265"/>
            <p14:sldId id="266"/>
          </p14:sldIdLst>
        </p14:section>
        <p14:section name="Part 3 - Dashboard" id="{7fb0bb75-64fd-b999-c283-0042f692e0f0}">
          <p14:sldIdLst>
            <p14:sldId id="267"/>
            <p14:sldId id="268"/>
          </p14:sldIdLst>
        </p14:section>
        <p14:section name="Part 4 - Pricing" id="{8e7fe24e-e538-08bb-2afc-bc35e378d62c}">
          <p14:sldIdLst>
            <p14:sldId id="269"/>
            <p14:sldId id="270"/>
            <p14:sldId id="271"/>
            <p14:sldId id="272"/>
            <p14:sldId id="273"/>
            <p14:sldId id="274"/>
          </p14:sldIdLst>
        </p14:section>
        <p14:section name="Wrap-up" id="{7bb31de4-0446-5bb0-c377-6ceb373d368e}">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Data-quality score, before vs after (0-100)</a:t>
            </a:r>
          </a:p>
        </c:rich>
      </c:tx>
      <c:layout/>
      <c:overlay val="0"/>
    </c:title>
    <c:autoTitleDeleted val="0"/>
    <c:plotArea>
      <c:layout/>
      <c:barChart>
        <c:barDir val="col"/>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0"/>
      </c:valAx>
      <c:spPr>
        <a:noFill/>
        <a:ln>
          <a:noFill/>
        </a:ln>
        <a:effectLst/>
      </c:spPr>
    </c:plotArea>
    <c:legend>
      <c:legendPos val="r"/>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What the learner relies on (share of importance)</a:t>
            </a:r>
          </a:p>
        </c:rich>
      </c:tx>
      <c:layout/>
      <c:overlay val="0"/>
    </c:title>
    <c:autoTitleDeleted val="0"/>
    <c:plotArea>
      <c:layout/>
      <c:barChart>
        <c:barDir val="bar"/>
        <c:grouping val="clustered"/>
        <c:varyColors val="0"/>
        <c:ser>
          <c:idx val="0"/>
          <c:order val="0"/>
          <c:tx>
            <c:strRef>
              <c:f>Sheet1!$B$1</c:f>
              <c:strCache>
                <c:ptCount val="1"/>
                <c:pt idx="0">
                  <c:v>Gain %</c:v>
                </c:pt>
              </c:strCache>
            </c:strRef>
          </c:tx>
          <c:spPr>
            <a:solidFill>
              <a:srgbClr val="2A78D6"/>
            </a:solidFill>
            <a:effectLst/>
          </c:spPr>
          <c:invertIfNegative val="0"/>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Week of year</c:v>
                  </c:pt>
                  <c:pt idx="1">
                    <c:v>Season (sin 1)</c:v>
                  </c:pt>
                  <c:pt idx="2">
                    <c:v>Last year, neighbours</c:v>
                  </c:pt>
                  <c:pt idx="3">
                    <c:v>Season (cos 2)</c:v>
                  </c:pt>
                  <c:pt idx="4">
                    <c:v>Last year, same week</c:v>
                  </c:pt>
                  <c:pt idx="5">
                    <c:v>Season (sin 3)</c:v>
                  </c:pt>
                </c:lvl>
              </c:multiLvlStrCache>
            </c:multiLvlStrRef>
          </c:cat>
          <c:val>
            <c:numRef>
              <c:f>Sheet1!$B$2:$B$7</c:f>
              <c:numCache>
                <c:formatCode>General</c:formatCode>
                <c:ptCount val="6"/>
                <c:pt idx="0">
                  <c:v>45.6</c:v>
                </c:pt>
                <c:pt idx="1">
                  <c:v>31.9</c:v>
                </c:pt>
                <c:pt idx="2">
                  <c:v>10.7</c:v>
                </c:pt>
                <c:pt idx="3">
                  <c:v>6.8</c:v>
                </c:pt>
                <c:pt idx="4">
                  <c:v>2.9</c:v>
                </c:pt>
                <c:pt idx="5">
                  <c:v>1.7</c:v>
                </c:pt>
              </c:numCache>
            </c:numRef>
          </c:val>
        </c:ser>
        <c:dLbls>
          <c:numFmt formatCode="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Winner's error in each test: stable between 4.3% and 5.1%</a:t>
            </a:r>
          </a:p>
        </c:rich>
      </c:tx>
      <c:layout/>
      <c:overlay val="0"/>
    </c:title>
    <c:autoTitleDeleted val="0"/>
    <c:plotArea>
      <c:layout/>
      <c:barChart>
        <c:barDir val="col"/>
        <c:grouping val="clustered"/>
        <c:varyColors val="0"/>
        <c:ser>
          <c:idx val="0"/>
          <c:order val="0"/>
          <c:tx>
            <c:strRef>
              <c:f>Sheet1!$B$1</c:f>
              <c:strCache>
                <c:ptCount val="1"/>
                <c:pt idx="0">
                  <c:v>WAPE %</c:v>
                </c:pt>
              </c:strCache>
            </c:strRef>
          </c:tx>
          <c:spPr>
            <a:solidFill>
              <a:srgbClr val="EB6834"/>
            </a:solidFill>
            <a:effectLst/>
          </c:spPr>
          <c:invertIfNegative val="0"/>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Sheet1!$A$2:$A$5</c:f>
              <c:multiLvlStrCache>
                <c:ptCount val="4"/>
                <c:lvl>
                  <c:pt idx="0">
                    <c:v>Test 1 (weeks 157-182)</c:v>
                  </c:pt>
                  <c:pt idx="1">
                    <c:v>Test 2 (183-208)</c:v>
                  </c:pt>
                  <c:pt idx="2">
                    <c:v>Test 3 (209-234)</c:v>
                  </c:pt>
                  <c:pt idx="3">
                    <c:v>Test 4 (235-260)</c:v>
                  </c:pt>
                </c:lvl>
              </c:multiLvlStrCache>
            </c:multiLvlStrRef>
          </c:cat>
          <c:val>
            <c:numRef>
              <c:f>Sheet1!$B$2:$B$5</c:f>
              <c:numCache>
                <c:formatCode>General</c:formatCode>
                <c:ptCount val="4"/>
                <c:pt idx="0">
                  <c:v>4.32</c:v>
                </c:pt>
                <c:pt idx="1">
                  <c:v>5.05</c:v>
                </c:pt>
                <c:pt idx="2">
                  <c:v>4.31</c:v>
                </c:pt>
                <c:pt idx="3">
                  <c:v>4.61</c:v>
                </c:pt>
              </c:numCache>
            </c:numRef>
          </c:val>
        </c:ser>
        <c:dLbls>
          <c:numFmt formatCode="0.00&quot;%&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demand</c:v>
                </c:pt>
              </c:strCache>
            </c:strRef>
          </c:tx>
          <c:spPr>
            <a:solidFill>
              <a:srgbClr val="8A8F98"/>
            </a:solidFill>
            <a:ln w="3175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Sheet1!$B$2:$B$79</c:f>
              <c:numCache>
                <c:formatCode>General</c:formatCode>
                <c:ptCount val="78"/>
                <c:pt idx="0">
                  <c:v>2773.05</c:v>
                </c:pt>
                <c:pt idx="1">
                  <c:v>2539.65</c:v>
                </c:pt>
                <c:pt idx="2">
                  <c:v>2467.52</c:v>
                </c:pt>
                <c:pt idx="3">
                  <c:v>2444.47</c:v>
                </c:pt>
                <c:pt idx="4">
                  <c:v>2491.27</c:v>
                </c:pt>
                <c:pt idx="5">
                  <c:v>2221.21</c:v>
                </c:pt>
                <c:pt idx="6">
                  <c:v>2102.43</c:v>
                </c:pt>
                <c:pt idx="7">
                  <c:v>2010.97</c:v>
                </c:pt>
                <c:pt idx="8">
                  <c:v>1906.28</c:v>
                </c:pt>
                <c:pt idx="9">
                  <c:v>2216.36</c:v>
                </c:pt>
                <c:pt idx="10">
                  <c:v>2067.59</c:v>
                </c:pt>
                <c:pt idx="11">
                  <c:v>1793</c:v>
                </c:pt>
                <c:pt idx="12">
                  <c:v>2072.64</c:v>
                </c:pt>
                <c:pt idx="13">
                  <c:v>2082.26</c:v>
                </c:pt>
                <c:pt idx="14">
                  <c:v>2187</c:v>
                </c:pt>
                <c:pt idx="15">
                  <c:v>2004</c:v>
                </c:pt>
                <c:pt idx="16">
                  <c:v>1910.47</c:v>
                </c:pt>
                <c:pt idx="17">
                  <c:v>2165.74</c:v>
                </c:pt>
                <c:pt idx="18">
                  <c:v>2109.6</c:v>
                </c:pt>
                <c:pt idx="19">
                  <c:v>2231.37</c:v>
                </c:pt>
                <c:pt idx="20">
                  <c:v>2338.17</c:v>
                </c:pt>
                <c:pt idx="21">
                  <c:v>2246.04</c:v>
                </c:pt>
                <c:pt idx="22">
                  <c:v>2642.47</c:v>
                </c:pt>
                <c:pt idx="23">
                  <c:v>2556.84</c:v>
                </c:pt>
                <c:pt idx="24">
                  <c:v>2526.51</c:v>
                </c:pt>
                <c:pt idx="25">
                  <c:v>2767.88</c:v>
                </c:pt>
                <c:pt idx="26">
                  <c:v>2987.79</c:v>
                </c:pt>
                <c:pt idx="27">
                  <c:v>2824.7</c:v>
                </c:pt>
                <c:pt idx="28">
                  <c:v>2997.1</c:v>
                </c:pt>
                <c:pt idx="29">
                  <c:v>2988.17</c:v>
                </c:pt>
                <c:pt idx="30">
                  <c:v>2985.1</c:v>
                </c:pt>
                <c:pt idx="31">
                  <c:v>3459.95</c:v>
                </c:pt>
                <c:pt idx="32">
                  <c:v>3283.68</c:v>
                </c:pt>
                <c:pt idx="33">
                  <c:v>3720.21</c:v>
                </c:pt>
                <c:pt idx="34">
                  <c:v>3416.33</c:v>
                </c:pt>
                <c:pt idx="35">
                  <c:v>3373.53</c:v>
                </c:pt>
                <c:pt idx="36">
                  <c:v>3549.28</c:v>
                </c:pt>
                <c:pt idx="37">
                  <c:v>3663.59</c:v>
                </c:pt>
                <c:pt idx="38">
                  <c:v>3564.82</c:v>
                </c:pt>
                <c:pt idx="39">
                  <c:v>3535.9</c:v>
                </c:pt>
                <c:pt idx="40">
                  <c:v>3481.44</c:v>
                </c:pt>
                <c:pt idx="41">
                  <c:v>3544.28</c:v>
                </c:pt>
                <c:pt idx="42">
                  <c:v>3346.36</c:v>
                </c:pt>
                <c:pt idx="43">
                  <c:v>3456.81</c:v>
                </c:pt>
                <c:pt idx="44">
                  <c:v>3314.66</c:v>
                </c:pt>
                <c:pt idx="45">
                  <c:v>3259.53</c:v>
                </c:pt>
                <c:pt idx="46">
                  <c:v>3449.33</c:v>
                </c:pt>
                <c:pt idx="47">
                  <c:v>3100.23</c:v>
                </c:pt>
                <c:pt idx="48">
                  <c:v>2984.96</c:v>
                </c:pt>
                <c:pt idx="49">
                  <c:v>2944.51</c:v>
                </c:pt>
                <c:pt idx="50">
                  <c:v>2856.24</c:v>
                </c:pt>
                <c:pt idx="51">
                  <c:v>2565.47</c:v>
                </c:pt>
                <c:pt idx="52">
                  <c:v>2504.99</c:v>
                </c:pt>
                <c:pt idx="53">
                  <c:v>2592.73</c:v>
                </c:pt>
                <c:pt idx="54">
                  <c:v>2576.32</c:v>
                </c:pt>
                <c:pt idx="55">
                  <c:v>2396</c:v>
                </c:pt>
                <c:pt idx="56">
                  <c:v>2604</c:v>
                </c:pt>
                <c:pt idx="57">
                  <c:v>2314.31</c:v>
                </c:pt>
                <c:pt idx="58">
                  <c:v>2412.67</c:v>
                </c:pt>
                <c:pt idx="59">
                  <c:v>2326</c:v>
                </c:pt>
                <c:pt idx="60">
                  <c:v>2217</c:v>
                </c:pt>
                <c:pt idx="61">
                  <c:v>2291</c:v>
                </c:pt>
                <c:pt idx="62">
                  <c:v>2014</c:v>
                </c:pt>
                <c:pt idx="63">
                  <c:v>1908</c:v>
                </c:pt>
                <c:pt idx="64">
                  <c:v>2203.17</c:v>
                </c:pt>
                <c:pt idx="65">
                  <c:v>1851</c:v>
                </c:pt>
                <c:pt idx="66">
                  <c:v>2206</c:v>
                </c:pt>
                <c:pt idx="67">
                  <c:v>2150</c:v>
                </c:pt>
                <c:pt idx="68">
                  <c:v>2265</c:v>
                </c:pt>
                <c:pt idx="69">
                  <c:v>2319</c:v>
                </c:pt>
                <c:pt idx="70">
                  <c:v>2420.11</c:v>
                </c:pt>
                <c:pt idx="71">
                  <c:v>2305.11</c:v>
                </c:pt>
                <c:pt idx="72">
                  <c:v>2252.11</c:v>
                </c:pt>
                <c:pt idx="73">
                  <c:v>2615.9</c:v>
                </c:pt>
                <c:pt idx="74">
                  <c:v>2605.46</c:v>
                </c:pt>
                <c:pt idx="75">
                  <c:v>2679.19</c:v>
                </c:pt>
                <c:pt idx="76">
                  <c:v>2426.58</c:v>
                </c:pt>
                <c:pt idx="77">
                  <c:v>3000.44</c:v>
                </c:pt>
              </c:numCache>
            </c:numRef>
          </c:val>
          <c:smooth val="0"/>
        </c:ser>
        <c:ser>
          <c:idx val="1"/>
          <c:order val="1"/>
          <c:tx>
            <c:strRef>
              <c:f>Sheet1!$C$1</c:f>
              <c:strCache>
                <c:ptCount val="1"/>
                <c:pt idx="0">
                  <c:v>Forecast</c:v>
                </c:pt>
              </c:strCache>
            </c:strRef>
          </c:tx>
          <c:spPr>
            <a:solidFill>
              <a:srgbClr val="EB6834"/>
            </a:solidFill>
            <a:ln w="3175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Sheet1!$A$2:$A$79</c:f>
              <c:multiLvlStrCache>
                <c:ptCount val="78"/>
                <c:lvl>
                  <c:pt idx="0">
                    <c:v>183</c:v>
                  </c:pt>
                  <c:pt idx="1">
                    <c:v>184</c:v>
                  </c:pt>
                  <c:pt idx="2">
                    <c:v>185</c:v>
                  </c:pt>
                  <c:pt idx="3">
                    <c:v>186</c:v>
                  </c:pt>
                  <c:pt idx="4">
                    <c:v>187</c:v>
                  </c:pt>
                  <c:pt idx="5">
                    <c:v>188</c:v>
                  </c:pt>
                  <c:pt idx="6">
                    <c:v>189</c:v>
                  </c:pt>
                  <c:pt idx="7">
                    <c:v>190</c:v>
                  </c:pt>
                  <c:pt idx="8">
                    <c:v>191</c:v>
                  </c:pt>
                  <c:pt idx="9">
                    <c:v>192</c:v>
                  </c:pt>
                  <c:pt idx="10">
                    <c:v>193</c:v>
                  </c:pt>
                  <c:pt idx="11">
                    <c:v>194</c:v>
                  </c:pt>
                  <c:pt idx="12">
                    <c:v>195</c:v>
                  </c:pt>
                  <c:pt idx="13">
                    <c:v>196</c:v>
                  </c:pt>
                  <c:pt idx="14">
                    <c:v>197</c:v>
                  </c:pt>
                  <c:pt idx="15">
                    <c:v>198</c:v>
                  </c:pt>
                  <c:pt idx="16">
                    <c:v>199</c:v>
                  </c:pt>
                  <c:pt idx="17">
                    <c:v>200</c:v>
                  </c:pt>
                  <c:pt idx="18">
                    <c:v>201</c:v>
                  </c:pt>
                  <c:pt idx="19">
                    <c:v>202</c:v>
                  </c:pt>
                  <c:pt idx="20">
                    <c:v>203</c:v>
                  </c:pt>
                  <c:pt idx="21">
                    <c:v>204</c:v>
                  </c:pt>
                  <c:pt idx="22">
                    <c:v>205</c:v>
                  </c:pt>
                  <c:pt idx="23">
                    <c:v>206</c:v>
                  </c:pt>
                  <c:pt idx="24">
                    <c:v>207</c:v>
                  </c:pt>
                  <c:pt idx="25">
                    <c:v>208</c:v>
                  </c:pt>
                  <c:pt idx="26">
                    <c:v>209</c:v>
                  </c:pt>
                  <c:pt idx="27">
                    <c:v>210</c:v>
                  </c:pt>
                  <c:pt idx="28">
                    <c:v>211</c:v>
                  </c:pt>
                  <c:pt idx="29">
                    <c:v>212</c:v>
                  </c:pt>
                  <c:pt idx="30">
                    <c:v>213</c:v>
                  </c:pt>
                  <c:pt idx="31">
                    <c:v>214</c:v>
                  </c:pt>
                  <c:pt idx="32">
                    <c:v>215</c:v>
                  </c:pt>
                  <c:pt idx="33">
                    <c:v>216</c:v>
                  </c:pt>
                  <c:pt idx="34">
                    <c:v>217</c:v>
                  </c:pt>
                  <c:pt idx="35">
                    <c:v>218</c:v>
                  </c:pt>
                  <c:pt idx="36">
                    <c:v>219</c:v>
                  </c:pt>
                  <c:pt idx="37">
                    <c:v>220</c:v>
                  </c:pt>
                  <c:pt idx="38">
                    <c:v>221</c:v>
                  </c:pt>
                  <c:pt idx="39">
                    <c:v>222</c:v>
                  </c:pt>
                  <c:pt idx="40">
                    <c:v>223</c:v>
                  </c:pt>
                  <c:pt idx="41">
                    <c:v>224</c:v>
                  </c:pt>
                  <c:pt idx="42">
                    <c:v>225</c:v>
                  </c:pt>
                  <c:pt idx="43">
                    <c:v>226</c:v>
                  </c:pt>
                  <c:pt idx="44">
                    <c:v>227</c:v>
                  </c:pt>
                  <c:pt idx="45">
                    <c:v>228</c:v>
                  </c:pt>
                  <c:pt idx="46">
                    <c:v>229</c:v>
                  </c:pt>
                  <c:pt idx="47">
                    <c:v>230</c:v>
                  </c:pt>
                  <c:pt idx="48">
                    <c:v>231</c:v>
                  </c:pt>
                  <c:pt idx="49">
                    <c:v>232</c:v>
                  </c:pt>
                  <c:pt idx="50">
                    <c:v>233</c:v>
                  </c:pt>
                  <c:pt idx="51">
                    <c:v>234</c:v>
                  </c:pt>
                  <c:pt idx="52">
                    <c:v>235</c:v>
                  </c:pt>
                  <c:pt idx="53">
                    <c:v>236</c:v>
                  </c:pt>
                  <c:pt idx="54">
                    <c:v>237</c:v>
                  </c:pt>
                  <c:pt idx="55">
                    <c:v>238</c:v>
                  </c:pt>
                  <c:pt idx="56">
                    <c:v>239</c:v>
                  </c:pt>
                  <c:pt idx="57">
                    <c:v>240</c:v>
                  </c:pt>
                  <c:pt idx="58">
                    <c:v>241</c:v>
                  </c:pt>
                  <c:pt idx="59">
                    <c:v>242</c:v>
                  </c:pt>
                  <c:pt idx="60">
                    <c:v>243</c:v>
                  </c:pt>
                  <c:pt idx="61">
                    <c:v>244</c:v>
                  </c:pt>
                  <c:pt idx="62">
                    <c:v>245</c:v>
                  </c:pt>
                  <c:pt idx="63">
                    <c:v>246</c:v>
                  </c:pt>
                  <c:pt idx="64">
                    <c:v>247</c:v>
                  </c:pt>
                  <c:pt idx="65">
                    <c:v>248</c:v>
                  </c:pt>
                  <c:pt idx="66">
                    <c:v>249</c:v>
                  </c:pt>
                  <c:pt idx="67">
                    <c:v>250</c:v>
                  </c:pt>
                  <c:pt idx="68">
                    <c:v>251</c:v>
                  </c:pt>
                  <c:pt idx="69">
                    <c:v>252</c:v>
                  </c:pt>
                  <c:pt idx="70">
                    <c:v>253</c:v>
                  </c:pt>
                  <c:pt idx="71">
                    <c:v>254</c:v>
                  </c:pt>
                  <c:pt idx="72">
                    <c:v>255</c:v>
                  </c:pt>
                  <c:pt idx="73">
                    <c:v>256</c:v>
                  </c:pt>
                  <c:pt idx="74">
                    <c:v>257</c:v>
                  </c:pt>
                  <c:pt idx="75">
                    <c:v>258</c:v>
                  </c:pt>
                  <c:pt idx="76">
                    <c:v>259</c:v>
                  </c:pt>
                  <c:pt idx="77">
                    <c:v>260</c:v>
                  </c:pt>
                </c:lvl>
              </c:multiLvlStrCache>
            </c:multiLvlStrRef>
          </c:cat>
          <c:val>
            <c:numRef>
              <c:f>Sheet1!$C$2:$C$79</c:f>
              <c:numCache>
                <c:formatCode>General</c:formatCode>
                <c:ptCount val="78"/>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2687.0532052078806</c:v>
                </c:pt>
                <c:pt idx="53">
                  <c:v>2605.609147869284</c:v>
                </c:pt>
                <c:pt idx="54">
                  <c:v>2526.9994240880087</c:v>
                </c:pt>
                <c:pt idx="55">
                  <c:v>2452.401401440831</c:v>
                </c:pt>
                <c:pt idx="56">
                  <c:v>2382.8912479742767</c:v>
                </c:pt>
                <c:pt idx="57">
                  <c:v>2319.428479197983</c:v>
                </c:pt>
                <c:pt idx="58">
                  <c:v>2262.847587929719</c:v>
                </c:pt>
                <c:pt idx="59">
                  <c:v>2213.8561973292776</c:v>
                </c:pt>
                <c:pt idx="60">
                  <c:v>2173.038546966784</c:v>
                </c:pt>
                <c:pt idx="61">
                  <c:v>2140.862700824322</c:v>
                </c:pt>
                <c:pt idx="62">
                  <c:v>2117.6896717829623</c:v>
                </c:pt>
                <c:pt idx="63">
                  <c:v>2103.782673470135</c:v>
                </c:pt>
                <c:pt idx="64">
                  <c:v>2099.314901117175</c:v>
                </c:pt>
                <c:pt idx="65">
                  <c:v>2104.374564858116</c:v>
                </c:pt>
                <c:pt idx="66">
                  <c:v>2118.966310960878</c:v>
                </c:pt>
                <c:pt idx="67">
                  <c:v>2143.0086357751265</c:v>
                </c:pt>
                <c:pt idx="68">
                  <c:v>2176.327398107919</c:v>
                </c:pt>
                <c:pt idx="69">
                  <c:v>2218.6460458412143</c:v>
                </c:pt>
                <c:pt idx="70">
                  <c:v>2269.5736662124546</c:v>
                </c:pt>
                <c:pt idx="71">
                  <c:v>2328.5924114857735</c:v>
                </c:pt>
                <c:pt idx="72">
                  <c:v>2395.046195863507</c:v>
                </c:pt>
                <c:pt idx="73">
                  <c:v>2468.1327486050263</c:v>
                </c:pt>
                <c:pt idx="74">
                  <c:v>2546.9010839939438</c:v>
                </c:pt>
                <c:pt idx="75">
                  <c:v>2630.2561649075537</c:v>
                </c:pt>
                <c:pt idx="76">
                  <c:v>2716.971976417431</c:v>
                </c:pt>
                <c:pt idx="77">
                  <c:v>2805.7134167498557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80"/>
                </a:solidFill>
                <a:latin typeface="Calibri"/>
              </a:defRPr>
            </a:pPr>
            <a:endParaRPr lang="en-US"/>
          </a:p>
        </c:txPr>
        <c:crossAx val="2094734552"/>
        <c:crosses val="autoZero"/>
        <c:auto val="1"/>
        <c:lblAlgn val="ctr"/>
        <c:noMultiLvlLbl val="1"/>
        <c:tickLblSkip val="13"/>
      </c:catAx>
      <c:valAx>
        <c:axId val="2094734552"/>
        <c:scaling>
          <c:orientation val="minMax"/>
          <c:max val="4000"/>
          <c:min val="1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4"/>
        <c:crosses val="autoZero"/>
        <c:crossBetween val="between"/>
        <c:majorUnit val="1000"/>
      </c:valAx>
      <c:spPr>
        <a:noFill/>
        <a:ln>
          <a:noFill/>
        </a:ln>
        <a:effectLst/>
      </c:spPr>
    </c:plotArea>
    <c:legend>
      <c:legendPos val="t"/>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Average miss (WAPE, %) by model, lower is better</a:t>
            </a:r>
          </a:p>
        </c:rich>
      </c:tx>
      <c:layout/>
      <c:overlay val="0"/>
    </c:title>
    <c:autoTitleDeleted val="0"/>
    <c:plotArea>
      <c:layout/>
      <c:barChart>
        <c:barDir val="bar"/>
        <c:grouping val="clustered"/>
        <c:varyColors val="0"/>
        <c:ser>
          <c:idx val="0"/>
          <c:order val="0"/>
          <c:tx>
            <c:strRef>
              <c:f>Sheet1!$B$1</c:f>
              <c:strCache>
                <c:ptCount val="1"/>
                <c:pt idx="0">
                  <c:v>All test weeks</c:v>
                </c:pt>
              </c:strCache>
            </c:strRef>
          </c:tx>
          <c:spPr>
            <a:solidFill>
              <a:srgbClr val="2A78D6"/>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ser>
          <c:idx val="1"/>
          <c:order val="1"/>
          <c:tx>
            <c:strRef>
              <c:f>Sheet1!$C$1</c:f>
              <c:strCache>
                <c:ptCount val="1"/>
                <c:pt idx="0">
                  <c:v>Unconstrained weeks only</c:v>
                </c:pt>
              </c:strCache>
            </c:strRef>
          </c:tx>
          <c:spPr>
            <a:solidFill>
              <a:srgbClr val="1BAF7A"/>
            </a:solidFill>
            <a:effectLst/>
          </c:spPr>
          <c:invertIfNegative val="0"/>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Structural (winner)</c:v>
                  </c:pt>
                  <c:pt idx="1">
                    <c:v>Structural per segment</c:v>
                  </c:pt>
                  <c:pt idx="2">
                    <c:v>Average of best 3</c:v>
                  </c:pt>
                  <c:pt idx="3">
                    <c:v>SARIMAX per product</c:v>
                  </c:pt>
                  <c:pt idx="4">
                    <c:v>Average of 5 methods</c:v>
                  </c:pt>
                  <c:pt idx="5">
                    <c:v>Size x Season x Growth</c:v>
                  </c:pt>
                  <c:pt idx="6">
                    <c:v>Prophet</c:v>
                  </c:pt>
                  <c:pt idx="7">
                    <c:v>LightGBM</c:v>
                  </c:pt>
                  <c:pt idx="8">
                    <c:v>LightGBM per segment</c:v>
                  </c:pt>
                  <c:pt idx="9">
                    <c:v>Last-year mean x season</c:v>
                  </c:pt>
                  <c:pt idx="10">
                    <c:v>Holt-Winters</c:v>
                  </c:pt>
                  <c:pt idx="11">
                    <c:v>Same week last year</c:v>
                  </c:pt>
                </c:lvl>
              </c:multiLvlStrCache>
            </c:multiLvlStrRef>
          </c:cat>
          <c:val>
            <c:numRef>
              <c:f>Sheet1!$C$2:$C$13</c:f>
              <c:numCache>
                <c:formatCode>General</c:formatCode>
                <c:ptCount val="12"/>
                <c:pt idx="0">
                  <c:v>6.64</c:v>
                </c:pt>
                <c:pt idx="1">
                  <c:v>6.63</c:v>
                </c:pt>
                <c:pt idx="2">
                  <c:v>6.63</c:v>
                </c:pt>
                <c:pt idx="3">
                  <c:v>6.74</c:v>
                </c:pt>
                <c:pt idx="4">
                  <c:v>6.7</c:v>
                </c:pt>
                <c:pt idx="5">
                  <c:v>6.62</c:v>
                </c:pt>
                <c:pt idx="6">
                  <c:v>6.8</c:v>
                </c:pt>
                <c:pt idx="7">
                  <c:v>6.81</c:v>
                </c:pt>
                <c:pt idx="8">
                  <c:v>7.03</c:v>
                </c:pt>
                <c:pt idx="9">
                  <c:v>6.81</c:v>
                </c:pt>
                <c:pt idx="10">
                  <c:v>7.36</c:v>
                </c:pt>
                <c:pt idx="11">
                  <c:v>8.81</c:v>
                </c:pt>
              </c:numCache>
            </c:numRef>
          </c:val>
        </c:ser>
        <c:dLbls>
          <c:numFmt formatCode="0.00" sourceLinked="0"/>
          <c:txPr>
            <a:bodyPr/>
            <a:lstStyle/>
            <a:p>
              <a:pPr>
                <a:defRPr b="0" i="0" strike="noStrike" sz="900" u="none">
                  <a:solidFill>
                    <a:srgbClr val="1B2A4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Risk score by category (scenario inputs)</a:t>
            </a:r>
          </a:p>
        </c:rich>
      </c:tx>
      <c:layout/>
      <c:overlay val="0"/>
    </c:title>
    <c:autoTitleDeleted val="0"/>
    <c:plotArea>
      <c:layout/>
      <c:barChart>
        <c:barDir val="bar"/>
        <c:grouping val="clustered"/>
        <c:varyColors val="0"/>
        <c:ser>
          <c:idx val="0"/>
          <c:order val="0"/>
          <c:tx>
            <c:strRef>
              <c:f>Sheet1!$B$1</c:f>
              <c:strCache>
                <c:ptCount val="1"/>
                <c:pt idx="0">
                  <c:v>Risk score</c:v>
                </c:pt>
              </c:strCache>
            </c:strRef>
          </c:tx>
          <c:spPr>
            <a:solidFill>
              <a:srgbClr val="EC835A"/>
            </a:solidFill>
            <a:effectLst/>
          </c:spPr>
          <c:invertIfNegative val="0"/>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EC835A"/>
              </a:solidFill>
              <a:effectLst/>
            </c:spPr>
          </c:dPt>
          <c:dPt>
            <c:idx val="1"/>
            <c:invertIfNegative val="0"/>
            <c:bubble3D val="0"/>
            <c:spPr>
              <a:solidFill>
                <a:srgbClr val="FAB219"/>
              </a:solidFill>
              <a:effectLst/>
            </c:spPr>
          </c:dPt>
          <c:dPt>
            <c:idx val="2"/>
            <c:invertIfNegative val="0"/>
            <c:bubble3D val="0"/>
            <c:spPr>
              <a:solidFill>
                <a:srgbClr val="FAB219"/>
              </a:solidFill>
              <a:effectLst/>
            </c:spPr>
          </c:dPt>
          <c:dPt>
            <c:idx val="3"/>
            <c:invertIfNegative val="0"/>
            <c:bubble3D val="0"/>
            <c:spPr>
              <a:solidFill>
                <a:srgbClr val="7FB800"/>
              </a:solidFill>
              <a:effectLst/>
            </c:spPr>
          </c:dPt>
          <c:dPt>
            <c:idx val="4"/>
            <c:invertIfNegative val="0"/>
            <c:bubble3D val="0"/>
            <c:spPr>
              <a:solidFill>
                <a:srgbClr val="7FB800"/>
              </a:solidFill>
              <a:effectLst/>
            </c:spPr>
          </c:dPt>
          <c:dPt>
            <c:idx val="5"/>
            <c:invertIfNegative val="0"/>
            <c:bubble3D val="0"/>
            <c:spPr>
              <a:solidFill>
                <a:srgbClr val="7FB800"/>
              </a:solidFill>
              <a:effectLst/>
            </c:spPr>
          </c:dPt>
          <c:dPt>
            <c:idx val="6"/>
            <c:invertIfNegative val="0"/>
            <c:bubble3D val="0"/>
            <c:spPr>
              <a:solidFill>
                <a:srgbClr val="7FB800"/>
              </a:solidFill>
              <a:effectLst/>
            </c:spPr>
          </c:dPt>
          <c:dPt>
            <c:idx val="7"/>
            <c:invertIfNegative val="0"/>
            <c:bubble3D val="0"/>
            <c:spPr>
              <a:solidFill>
                <a:srgbClr val="7FB800"/>
              </a:solidFill>
              <a:effectLst/>
            </c:spPr>
          </c:dPt>
          <c:cat>
            <c:multiLvlStrRef>
              <c:f>Sheet1!$A$2:$A$9</c:f>
              <c:multiLvlStrCache>
                <c:ptCount val="8"/>
                <c:lvl>
                  <c:pt idx="0">
                    <c:v>Beverages &amp; Cocoa</c:v>
                  </c:pt>
                  <c:pt idx="1">
                    <c:v>Spices &amp; Seasonings</c:v>
                  </c:pt>
                  <c:pt idx="2">
                    <c:v>Cereals &amp; Grains</c:v>
                  </c:pt>
                  <c:pt idx="3">
                    <c:v>Pulses</c:v>
                  </c:pt>
                  <c:pt idx="4">
                    <c:v>Canned Foods</c:v>
                  </c:pt>
                  <c:pt idx="5">
                    <c:v>Oils &amp; Fats</c:v>
                  </c:pt>
                  <c:pt idx="6">
                    <c:v>Sugar</c:v>
                  </c:pt>
                  <c:pt idx="7">
                    <c:v>Dairy</c:v>
                  </c:pt>
                </c:lvl>
              </c:multiLvlStrCache>
            </c:multiLvlStrRef>
          </c:cat>
          <c:val>
            <c:numRef>
              <c:f>Sheet1!$B$2:$B$9</c:f>
              <c:numCache>
                <c:formatCode>General</c:formatCode>
                <c:ptCount val="8"/>
                <c:pt idx="0">
                  <c:v>53.2</c:v>
                </c:pt>
                <c:pt idx="1">
                  <c:v>40.9</c:v>
                </c:pt>
                <c:pt idx="2">
                  <c:v>39.1</c:v>
                </c:pt>
                <c:pt idx="3">
                  <c:v>32.7</c:v>
                </c:pt>
                <c:pt idx="4">
                  <c:v>28.9</c:v>
                </c:pt>
                <c:pt idx="5">
                  <c:v>27.3</c:v>
                </c:pt>
                <c:pt idx="6">
                  <c:v>24.9</c:v>
                </c:pt>
                <c:pt idx="7">
                  <c:v>21.4</c:v>
                </c:pt>
              </c:numCache>
            </c:numRef>
          </c:val>
        </c:ser>
        <c:dLbls>
          <c:numFmt formatCode="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Price rise (%) by share of demand that cannot be served</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forecast demand (units per week)</a:t>
            </a:r>
          </a:p>
        </c:rich>
      </c:tx>
      <c:layout/>
      <c:overlay val="0"/>
    </c:title>
    <c:autoTitleDeleted val="0"/>
    <c:plotArea>
      <c:layout/>
      <c:lineChart>
        <c:varyColors val="0"/>
        <c:ser>
          <c:idx val="0"/>
          <c:order val="0"/>
          <c:tx>
            <c:strRef>
              <c:f>Sheet1!$B$1</c:f>
              <c:strCache>
                <c:ptCount val="1"/>
                <c:pt idx="0">
                  <c:v>Forecast demand</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2899</c:v>
                </c:pt>
                <c:pt idx="1">
                  <c:v>2984</c:v>
                </c:pt>
                <c:pt idx="2">
                  <c:v>3067</c:v>
                </c:pt>
                <c:pt idx="3">
                  <c:v>3147</c:v>
                </c:pt>
                <c:pt idx="4">
                  <c:v>3223</c:v>
                </c:pt>
                <c:pt idx="5">
                  <c:v>3294</c:v>
                </c:pt>
                <c:pt idx="6">
                  <c:v>3358</c:v>
                </c:pt>
                <c:pt idx="7">
                  <c:v>3416</c:v>
                </c:pt>
                <c:pt idx="8">
                  <c:v>3466</c:v>
                </c:pt>
                <c:pt idx="9">
                  <c:v>3506</c:v>
                </c:pt>
                <c:pt idx="10">
                  <c:v>3537</c:v>
                </c:pt>
                <c:pt idx="11">
                  <c:v>3557</c:v>
                </c:pt>
                <c:pt idx="12">
                  <c:v>3566</c:v>
                </c:pt>
                <c:pt idx="13">
                  <c:v>3563</c:v>
                </c:pt>
                <c:pt idx="14">
                  <c:v>3548</c:v>
                </c:pt>
                <c:pt idx="15">
                  <c:v>3521</c:v>
                </c:pt>
                <c:pt idx="16">
                  <c:v>3484</c:v>
                </c:pt>
                <c:pt idx="17">
                  <c:v>3437</c:v>
                </c:pt>
                <c:pt idx="18">
                  <c:v>3380</c:v>
                </c:pt>
                <c:pt idx="19">
                  <c:v>3317</c:v>
                </c:pt>
                <c:pt idx="20">
                  <c:v>3246</c:v>
                </c:pt>
                <c:pt idx="21">
                  <c:v>3171</c:v>
                </c:pt>
                <c:pt idx="22">
                  <c:v>3093</c:v>
                </c:pt>
                <c:pt idx="23">
                  <c:v>3012</c:v>
                </c:pt>
                <c:pt idx="24">
                  <c:v>2929</c:v>
                </c:pt>
                <c:pt idx="25">
                  <c:v>2847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4000"/>
          <c:min val="250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Barley: recommended price ($ per unit)</a:t>
            </a:r>
          </a:p>
        </c:rich>
      </c:tx>
      <c:layout/>
      <c:overlay val="0"/>
    </c:title>
    <c:autoTitleDeleted val="0"/>
    <c:plotArea>
      <c:layout/>
      <c:lineChart>
        <c:varyColors val="0"/>
        <c:ser>
          <c:idx val="0"/>
          <c:order val="0"/>
          <c:tx>
            <c:strRef>
              <c:f>Sheet1!$B$1</c:f>
              <c:strCache>
                <c:ptCount val="1"/>
                <c:pt idx="0">
                  <c:v>Recommended price</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Sheet1!$B$2:$B$27</c:f>
              <c:numCache>
                <c:formatCode>General</c:formatCode>
                <c:ptCount val="26"/>
                <c:pt idx="0">
                  <c:v>7.67</c:v>
                </c:pt>
                <c:pt idx="1">
                  <c:v>7.857</c:v>
                </c:pt>
                <c:pt idx="2">
                  <c:v>7.894</c:v>
                </c:pt>
                <c:pt idx="3">
                  <c:v>8.006</c:v>
                </c:pt>
                <c:pt idx="4">
                  <c:v>8.043</c:v>
                </c:pt>
                <c:pt idx="5">
                  <c:v>8.043</c:v>
                </c:pt>
                <c:pt idx="6">
                  <c:v>8.043</c:v>
                </c:pt>
                <c:pt idx="7">
                  <c:v>8.043</c:v>
                </c:pt>
                <c:pt idx="8">
                  <c:v>8.043</c:v>
                </c:pt>
                <c:pt idx="9">
                  <c:v>8.043</c:v>
                </c:pt>
                <c:pt idx="10">
                  <c:v>8.043</c:v>
                </c:pt>
                <c:pt idx="11">
                  <c:v>8.043</c:v>
                </c:pt>
                <c:pt idx="12">
                  <c:v>8.043</c:v>
                </c:pt>
                <c:pt idx="13">
                  <c:v>8.043</c:v>
                </c:pt>
                <c:pt idx="14">
                  <c:v>8.043</c:v>
                </c:pt>
                <c:pt idx="15">
                  <c:v>8.043</c:v>
                </c:pt>
                <c:pt idx="16">
                  <c:v>8.043</c:v>
                </c:pt>
                <c:pt idx="17">
                  <c:v>8.043</c:v>
                </c:pt>
                <c:pt idx="18">
                  <c:v>8.043</c:v>
                </c:pt>
                <c:pt idx="19">
                  <c:v>8.043</c:v>
                </c:pt>
                <c:pt idx="20">
                  <c:v>8.043</c:v>
                </c:pt>
                <c:pt idx="21">
                  <c:v>8.043</c:v>
                </c:pt>
                <c:pt idx="22">
                  <c:v>7.894</c:v>
                </c:pt>
                <c:pt idx="23">
                  <c:v>7.875</c:v>
                </c:pt>
                <c:pt idx="24">
                  <c:v>7.819</c:v>
                </c:pt>
                <c:pt idx="25">
                  <c:v>7.745</c:v>
                </c:pt>
              </c:numCache>
            </c:numRef>
          </c:val>
          <c:smooth val="0"/>
        </c:ser>
        <c:ser>
          <c:idx val="1"/>
          <c:order val="1"/>
          <c:tx>
            <c:strRef>
              <c:f>Sheet1!$C$1</c:f>
              <c:strCache>
                <c:ptCount val="1"/>
                <c:pt idx="0">
                  <c:v>Today's price</c:v>
                </c:pt>
              </c:strCache>
            </c:strRef>
          </c:tx>
          <c:spPr>
            <a:solidFill>
              <a:srgbClr val="8A8F98"/>
            </a:solidFill>
            <a:ln w="38100" cap="flat">
              <a:solidFill>
                <a:srgbClr val="8A8F98"/>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Sheet1!$A$2:$A$27</c:f>
              <c:multiLvlStrCache>
                <c:ptCount val="26"/>
                <c:lvl>
                  <c:pt idx="0">
                    <c:v>W1</c:v>
                  </c:pt>
                  <c:pt idx="1">
                    <c:v>W2</c:v>
                  </c:pt>
                  <c:pt idx="2">
                    <c:v>W3</c:v>
                  </c:pt>
                  <c:pt idx="3">
                    <c:v>W4</c:v>
                  </c:pt>
                  <c:pt idx="4">
                    <c:v>W5</c:v>
                  </c:pt>
                  <c:pt idx="5">
                    <c:v>W6</c:v>
                  </c:pt>
                  <c:pt idx="6">
                    <c:v>W7</c:v>
                  </c:pt>
                  <c:pt idx="7">
                    <c:v>W8</c:v>
                  </c:pt>
                  <c:pt idx="8">
                    <c:v>W9</c:v>
                  </c:pt>
                  <c:pt idx="9">
                    <c:v>W10</c:v>
                  </c:pt>
                  <c:pt idx="10">
                    <c:v>W11</c:v>
                  </c:pt>
                  <c:pt idx="11">
                    <c:v>W12</c:v>
                  </c:pt>
                  <c:pt idx="12">
                    <c:v>W13</c:v>
                  </c:pt>
                  <c:pt idx="13">
                    <c:v>W14</c:v>
                  </c:pt>
                  <c:pt idx="14">
                    <c:v>W15</c:v>
                  </c:pt>
                  <c:pt idx="15">
                    <c:v>W16</c:v>
                  </c:pt>
                  <c:pt idx="16">
                    <c:v>W17</c:v>
                  </c:pt>
                  <c:pt idx="17">
                    <c:v>W18</c:v>
                  </c:pt>
                  <c:pt idx="18">
                    <c:v>W19</c:v>
                  </c:pt>
                  <c:pt idx="19">
                    <c:v>W20</c:v>
                  </c:pt>
                  <c:pt idx="20">
                    <c:v>W21</c:v>
                  </c:pt>
                  <c:pt idx="21">
                    <c:v>W22</c:v>
                  </c:pt>
                  <c:pt idx="22">
                    <c:v>W23</c:v>
                  </c:pt>
                  <c:pt idx="23">
                    <c:v>W24</c:v>
                  </c:pt>
                  <c:pt idx="24">
                    <c:v>W25</c:v>
                  </c:pt>
                  <c:pt idx="25">
                    <c:v>W26</c:v>
                  </c:pt>
                </c:lvl>
              </c:multiLvlStrCache>
            </c:multiLvlStrRef>
          </c:cat>
          <c:val>
            <c:numRef>
              <c:f>Sheet1!$C$2:$C$27</c:f>
              <c:numCache>
                <c:formatCode>General</c:formatCode>
                <c:ptCount val="26"/>
                <c:pt idx="0">
                  <c:v>7.447</c:v>
                </c:pt>
                <c:pt idx="1">
                  <c:v>7.447</c:v>
                </c:pt>
                <c:pt idx="2">
                  <c:v>7.447</c:v>
                </c:pt>
                <c:pt idx="3">
                  <c:v>7.447</c:v>
                </c:pt>
                <c:pt idx="4">
                  <c:v>7.447</c:v>
                </c:pt>
                <c:pt idx="5">
                  <c:v>7.447</c:v>
                </c:pt>
                <c:pt idx="6">
                  <c:v>7.447</c:v>
                </c:pt>
                <c:pt idx="7">
                  <c:v>7.447</c:v>
                </c:pt>
                <c:pt idx="8">
                  <c:v>7.447</c:v>
                </c:pt>
                <c:pt idx="9">
                  <c:v>7.447</c:v>
                </c:pt>
                <c:pt idx="10">
                  <c:v>7.447</c:v>
                </c:pt>
                <c:pt idx="11">
                  <c:v>7.447</c:v>
                </c:pt>
                <c:pt idx="12">
                  <c:v>7.447</c:v>
                </c:pt>
                <c:pt idx="13">
                  <c:v>7.447</c:v>
                </c:pt>
                <c:pt idx="14">
                  <c:v>7.447</c:v>
                </c:pt>
                <c:pt idx="15">
                  <c:v>7.447</c:v>
                </c:pt>
                <c:pt idx="16">
                  <c:v>7.447</c:v>
                </c:pt>
                <c:pt idx="17">
                  <c:v>7.447</c:v>
                </c:pt>
                <c:pt idx="18">
                  <c:v>7.447</c:v>
                </c:pt>
                <c:pt idx="19">
                  <c:v>7.447</c:v>
                </c:pt>
                <c:pt idx="20">
                  <c:v>7.447</c:v>
                </c:pt>
                <c:pt idx="21">
                  <c:v>7.447</c:v>
                </c:pt>
                <c:pt idx="22">
                  <c:v>7.447</c:v>
                </c:pt>
                <c:pt idx="23">
                  <c:v>7.447</c:v>
                </c:pt>
                <c:pt idx="24">
                  <c:v>7.447</c:v>
                </c:pt>
                <c:pt idx="25">
                  <c:v>7.447</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tickLblSkip val="5"/>
      </c:catAx>
      <c:valAx>
        <c:axId val="2094734552"/>
        <c:scaling>
          <c:orientation val="minMax"/>
          <c:max val="8.5"/>
          <c:min val="7"/>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41"/>
                </a:solidFill>
                <a:latin typeface="Calibri"/>
              </a:defRPr>
            </a:pPr>
            <a:r>
              <a:rPr sz="1200" b="0" i="0" u="none" strike="noStrike">
                <a:solidFill>
                  <a:srgbClr val="1B2A41"/>
                </a:solidFill>
                <a:latin typeface="Calibri"/>
              </a:rPr>
              <a:t>Test 2: 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presentation walks through how I approached the assessment: what problem each part poses, how I investigated it, which technical decisions I made and why, and what the results are. The emphasis is on the reasoning and the method, not only the final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assessment names three business problems: demand volatility, static prices and credit/liquidity risk. I treated them as one chain: you cannot forecast before the data is trustworthy, you cannot price before you know demand, and a dashboard makes the whole thing usable. For each part I started from a question rather than a technique. Four habits guided every decision: diagnose before modelling, test on unseen data, prefer the simple solution unless evidence says otherwise, and state every assumption and stress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goal: every number in later parts must be trustworthy and every correction traceable. The raw file is copied untouched into a staging table first, so nothing is lost. Validation separates fatal problems (stop the load) from fixable ones (log and correct). Exact duplicates are dropped because a repeated row would double count sales. Missing sales are recovered from revenue / price. Odd values are flagged, not deleted, because later analysis shows they carry information. The load is one transaction so it is repeatable. Exception handling was proven on a deliberately corrupted copy: 15 tests, all passed. The integrity index rises from 79.7 to 99.7.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data challenges met in the raw file. Principle: fix what is provably wrong, flag what is merely unusual, and never delete information whose meaning is not yet understood. Duplicates (39) were dropped because a repeated week double counts sales. Missing sales (16) were recovered as revenue divided by price. The 606 missing legacy forecasts were not imputed because that would invent a baseline. 897 infinite growth values were set to NULL and recomputed. Derived fields were only 37 percent consistent, so revenue, profit, margin, growth and turnover were recomputed. The inventory timing issue looked like corruption (907 rows with zero stock but positive sales) but was a misaligned column: sales in a week are limited by the previous row's inventory. Pile-ups at 1,500 and 2,500 and the 1,329 zero-sales weeks looked like errors but are stock caps; they became the key to the whole solution. 23 outliers were flagged with a robust z-score and a winsorised copy added. Dates, customers and competitor prices do not exist in the file, so those parts rely on labelled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data finding. Sales in a week track the previous row's inventory (correlation 0.85), every one of the 1,329 stock-out weeks has zero sales, and in 2,813 further weeks sales equal the stock exactly, with pile-ups at 1,500 and 2,500. So sales = min(demand, stock): in 53 percent of weeks sales understate demand, and forecasting raw sales would forecast stock availability. Therefore the target is a reconstructed demand column, demand_est, computed per week type. Unconstrained weeks: sales are below stock, so sales are the demand. Stock-limited and stock-out weeks: demand is at least the sales, estimated as the larger of observed sales and a blend of the company's legacy forecast (weight 0.40, validated as unbiased on unconstrained weeks) and a seasonal model (weight 0.60). The three real Barley rows show each case. The blend weight is fitted out-of-fold; on weeks where true demand is known the blend error is 5.0 percent against 7.9 percent for the legacy forecast and 6.6 percent for the model alone. Caveat: unconstrained weeks are slightly biased toward lower demand, so the blend accuracy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engineering happened in three layers. Layer A, in the ETL: the most important feature of the project is stock_available_for_sales, the previous row's inventory, which turned an apparent data error into the explanation of the sales pattern; with the censoring status and flags it describes what each sales number really measures. Layer B, in pre-processing: the reconstructed demand target, the seasonal-model prediction, calendar fields from the synthetic dates, and product descriptors: stock regime from k-means and the high-stock versus normal-stock profile. Layer C, model inputs: the structural model needs only product level, trend and sine/cosine pairs of week of year; LightGBM also gets horizon, demand of the same week last year and its neighbours, 13, 26 and 52-week levels and product codes, with the target expressed relative to the 52-week level. The evidence for keeping or dropping features: week of year explains 78 to 86 percent of demand variance against a permutation null, product shapes correlate 0.97, price and cost have no calendar effect, and the within-product price effect is -0.017 (95 percent interval -0.056 to +0.021). LightGBM importance is concentrated in week of year, its sine/cosine terms and last year's pattern. Rules: only information known at the forecast origin is used, and the legacy forecast is never a model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predicts demand_est, the reconstructed units customers wanted, 26 weeks ahead for 30 products: 780 forecasts. Inputs are past demand_est, week of year and the product; the legacy forecast is excluded to avoid leakage. A single train/test split gives one number that depends on which weeks happen to be in the test window: with strong seasonality an easy season flatters the model and a hard one punishes it. A random split would leak the future, because neighbouring weeks and the seasonal pattern would sit in both train and test. So time-ordered rolling splits are used. The origins 156, 182, 208 and 234 make the test windows alternate between the first half (weeks 1 to 26 of the year) and the second half, so every season is tested twice. Each test mimics the real task: learn from the past, forecast 26 weeks. That gives 4 x 26 x 30 = 3,120 test forecasts and four error numbers, which also shows stability: the winner's error stays between 4.3 and 5.1 percent. Inside every training window, the last 52 weeks (two 26-week windows) validate candidate settings; the best setting is refitted on all training weeks. Test weeks never influence a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free parameter is a model setting that is not learned from the data by the model itself and must be chosen. All were chosen only on validation data inside the training window. The reconstruction model's Fourier order K and trend structure came from blocked five-fold cross-validation with the one-standard-error rule (K=2, shared), and the blend weight 0.40 from out-of-fold predictions. The winning structural model searched K from 1 to 8 and a shared or per-product trend, scoring two inner 26-week windows by WAPE: the final fit selected K=3 with a shared trend (inner WAPE 4.46 percent). Holt-Winters and SARIMAX were chosen by AICc. LightGBM searched 10 random configurations from a grid of leaves, learning rate, minimum leaf size, feature fraction and L2, with early stopping on a trailing 26-week validation block; the number of trees is refitted with 15 percent headroom. Prophet searched changepoint prior, Fourier order and seasonality mode with inner cross-validation on six sample products. The walk-forward ensemble chooses its top three only from earlier 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selected model is a pooled log-linear structural model: log demand = product level + trend + a shared seasonal curve written as K sine/cosine pairs of the week of the year. Exponentiated, it is level x growth x season, with a small bias correction because the model works in logs. Each of the three parts was found from a data insight. Level: products differ 5.5 times in size, from 555 units per week (Wheat) to 3,054 (Tea), so every product needs its own size. Growth: demand grew 2.8 percent a year (last 52 weeks against the 52 before), and the STL trend strength is 0.92. Season: week of year explains 78 to 86 percent of demand variance against a permutation null, all 30 products share the same curve (correlation 0.97), peak in week 13 (+25 percent) and trough in week 38 (-25 percent). Price, cost and stock show no demand effect, so they are not in the model. With K=3, only 30 + 1 + 6 = 37 numbers are learned from 7,800 observations because all products share the curve: little room to over-fit. Worked example: Barley, test origin week 234 (tuning picked K=2): 2,579 x 1.057 x 0.983 x 1.002 = 2,687 against 2,505 actual; 26-week miss 4.8 percent for Barley and 4.6 percent for all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 miss (WAPE) of every model over the four test windows, shown twice: on all test weeks (blue), and on unconstrained weeks only (green), where demand equals observed sales and does not depend on the reconstruction. The winner has 4.57 percent on all weeks and 6.64 percent on unconstrained weeks. On unconstrained weeks the top models are practically tied between 6.6 and 6.8 percent: the structure matters, not the model's complexity. Machine learning (LightGBM 4.78 percent, Prophet 4.76 percent) does not beat the shared structure, and per-product classical models are worse. The last-52-week mean (16.8 percent) is omitted from the chart for scale. Errors on unconstrained weeks are higher because reconstructed demand in capped weeks is smooth, while observed weeks carry real noise, so 6.6 percent is the honest accuracy to quote. The winner is statistically better than the best simple rule (paired bootstrap interval excludes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dollar figures are computed. Potential revenue: for every product-week the forecast demand (P50) is multiplied by the product's last-13-week average price and summed over 30 products and 26 weeks: 1.998 million units gives $64.6M. Unserved revenue: future stock is unknown, so for each product-week the expected units sold are simulated as min(demand, stock) where stock is drawn from that product's own last 104 weeks of stock available for sales; the expected sold units are 1.09 million, worth $35.8M. The difference, $28.7M (44 percent), is demand that stock history would not serve. Example: Barley week 1: 2,899 units x $7.447 = $21,589 potential; the historical stock lets about 1,397 units sell, worth $10,406; the remaining 1,494 units, $11,182, would be lost. This is a risk view, not a prediction of what will be sold, because purchasing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turns the data and the forecast into the KPIs the assessment asks for: financial (gross margin, revenue growth, operating profit), operational (inventory turnover, days of stock, service level, lost revenue) and credit (days sales outstanding and a default-risk rating A to E). It also shows the 26-week forecast with a likely range, the recommended prices of Part 4 and six rule-based alerts with editable thresholds. Because the data has no customers or invoices, the credit layer is a scenario with editable assumptions, labelled as such. 24 automatic tests reconcile every KPI to the database. The live dashboard is shown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rating summarises how risky it is to sell on credit in a product category, from A (lowest risk) to E (highest). Because the data has no customers or invoices, the inputs are scenario assumptions per category: payment terms, share of sales on credit, average payment delay and annual default rate. From them a risk score from 0 to 100 is built from four components, each scaled to 0-100 and capped: default rate (3 percent default = 100) with weight 40 percent, lateness (delay equal to half the terms = 100) 20 percent, expected credit loss relative to gross profit (15 percent = 100) 25 percent, and revenue concentration (25 percent of revenue = 100) 15 percent. Rating bands: A below 20, B below 35, C below 50, D below 65, E 65 and above. Example, Beverages and Cocoa: 0.40 x 60 + 0.20 x 40 + 0.25 x 42 + 0.15 x 71 = 53, rating D. Why it matters: the rating drives decisions: it raises credit alerts in the dashboard and sets the pricing rules of Part 4 (C: markdown capped at 5 percent; D and E: no markdowns, a risk premium and 15 days shorter terms). It is illustrative and should be calibrated with real payment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pricing idea is derived from what the data showed in Parts 1 to 3. Insight 1: 78 percent of the forecast product-weeks are scarce, meaning the stock history would not cover demand, so those products sell out regardless of price. Insight 2: demand swings 25 percent either side of normal over the year, so scarcity is strongest in peak weeks. Insight 3: five products hold 64 to 370 weeks of stock, 10.8 million dollars, so markdowns are only interesting there, and only if they pay. Insight 4: prices vary only 4 percent within a product, so the price effect cannot be measured (-0.017, interval includes zero). Idea: raise prices where stock sells out anyway, because then units are set by stock and the extra price is pure profit; do not rely on price sensitivity; discount only if it provably pays; and keep strict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algorithm. Inputs for every product-week: forecast demand with its range, the stock expected to be available, the season on the shared curve (peak at or above 1.10, off-peak at or below 0.90), and the credit rating. Step 1, scarcity premium: if part of the demand cannot be served the product sells out anyway, so the price can rise by up to 8 percent, scaled by how much demand is unserved and by the season. Step 2, sell-out protection: the rise is limited so that expected units sold stay within 1 percent, tested by 1,000 simulated demand draws with customers twice as price-sensitive as assumed. Step 3, surplus markdown: where stock exceeds 26 weeks, a markdown of up to 10 percent is allowed only if simulated profit rises. Step 4, credit risk: ratings D and E get no markdown and a risk premium; C is capped at a 5 percent markdown. Step 5, guardrails: a cost floor, a competitive band and a weekly step limit. The binding limit is recorded for every price so each one can be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prices scale during forecasted demand peaks and lulls. The premium is 8 percent x min(1, g / 30 percent) x the season multiplier, where g is the share of expected demand that cannot be served, and the multiplier is 1.0 in peak weeks (seasonal curve at or above 1.10), 0.75 in normal weeks and 0.5 in off-peak weeks (at or below 0.90). In a peak with 30 percent or more unserved demand the premium is the full 8 percent; in a lull it is only 4 percent; below 5 percent unserved demand there is no premium. Barley illustrates it: forecast demand rises from 2,900 to a peak of 3,566 units in week 13 and falls back; the recommended price follows, rising from 7.67 (limited to 3 percent in week 1) to the 8 percent cap in the peak weeks 5 to 22, then easing to +4 percent as the season turns. A weekly step limit keeps the path smooth.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by stock situation and season. Lean products (stock below demand, 78 percent of product-weeks) are scarce: the scarcity premium applies, scaled by the season: up to +8 percent in peak, +6 percent in normal and +4 percent in off-peak weeks, always within the sell-out protection and the guardrails. High-stock products (more than 26 weeks of cover, 17 percent of product-weeks, five products) get no premium. A markdown is considered only if profit rises: its depth is up to 10 percent, scaled by how far cover exceeds 26 weeks and by the season (0 in peak, 0.5 in normal, 1.0 in off-peak weeks, because discounting in a demand peak would give away margin). In the tests no markdown paid at the planning price sensitivity; Wheat - Hard Red would need customers 3.5 times as price-sensitive. Price cannot fix 64 to 370 weeks of stock: clearing it within a year would need cuts of 17 to 49 percent, and carrying the excess costs about $1.3M a year, more than the whole pricing gain. The right actions are to stop purchasing and to offer bulk or export deals.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groups of guardrails. Competitive and cost guardrails: the recommended price must stay inside a corridor around today's price. The cost floor is cost + 5 percent markup + four weeks of carrying cost at 12 percent a year, divided by (1 - expected credit loss), so no sale is loss-making. The competitive band is 0.92 to 1.10 times today's price (13-week average); no competitor prices exist in the data, so this average is the proxy for the market, to be replaced by observations. The weekly step is at most 3 percent so customers never see jumps. The Barley price sits in the band with the floor far below. Credit-risk guardrails use the A-E rating: A and B follow the normal rules; C: markdown capped at 5 percent; D and E: no markdowns, a risk premium that covers default loss and funding (share on credit x default rate + DSO/365 x 8 percent funding cost = 2.5 percent for Beverages and Cocoa), and recommended payment terms 15 days shorter, which frees about $361K of cash.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means gross profit minus expected credit losses, versus holding today's price, using the same simulated demand and stock for both. Because prices are raised only where stock sells out anyway, the gain barely depends on how customers react: $1.15M if they are very price-sensitive (-3), $1.30M if they ignore price (0), $1.26M in the planning case (-1). Test 1 simulates 1,000 demand and stock draws per product-week. Test 2 repeats this for five price-sensitivity values. Test 3 replays the last 52 weeks with decisions at weeks 208 and 234 using only past information and a naive same-week-last-year forecast: +$1.43M. Test 4 varies 16 parameter settings (all stay positive, $0.64M to $1.6M) and cuts real demand to 60 percent of the estimate: still +$0.94M. The largest setting risk is the number of units accepted to lose; at 0 percent the gain halves. 19 automatic checks pass: band, floor, weekly step, credit rules, hand-calculated arithmetic and the replay.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assumption is documented in the notebooks and the README. The three that matter most for decisions are price sensitivity, credit data, and the demand reconstruction; each has a test or a pilot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Technical Assessment for Data Scientist Position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Presenter: Hamidreza Nademi</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engineering  ·  Forecasting  ·  Dashboard  ·  Dynamic pricing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 AND MY APPROACH</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parts, one chain: each answer feeds the next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2651760"/>
                <a:gridCol w="3840480"/>
                <a:gridCol w="2651760"/>
              </a:tblGrid>
              <a:tr h="365760">
                <a:tc>
                  <a:txBody>
                    <a:bodyPr/>
                    <a:lstStyle/>
                    <a:p>
                      <a:pPr indent="0" marL="0">
                        <a:buNone/>
                      </a:pPr>
                      <a:r>
                        <a:rPr lang="en-US" sz="1300" b="1" dirty="0">
                          <a:solidFill>
                            <a:srgbClr val="FFFFFF"/>
                          </a:solidFill>
                        </a:rPr>
                        <a:t>Part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Business problem</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The question I asked first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What I built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b="1" dirty="0">
                          <a:solidFill>
                            <a:srgbClr val="1B2A41"/>
                          </a:solidFill>
                        </a:rPr>
                        <a:t>1  Data and ETL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Raw weekly file of 30 products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Can I trust every number, and what does each column really measure?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Validated pipeline, star schema, audit trail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2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volatility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exactly should I forecast, and how do I prove a model works?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rebuild, 13-model test, 26-week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3  Dashboard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Managers need KPIs and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would a manager decide on Monday morning?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Plain-language dashboard with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4  Pricing and risk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Static prices, credit and liquidity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Where does price really earn money, and what could go wrong?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Rule engine, safety limits, pilot plan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Principle card"/>
          <p:cNvSpPr/>
          <p:nvPr/>
        </p:nvSpPr>
        <p:spPr>
          <a:xfrm>
            <a:off x="548640" y="4846320"/>
            <a:ext cx="2651760" cy="1463040"/>
          </a:xfrm>
          <a:prstGeom prst="roundRect">
            <a:avLst>
              <a:gd name="adj" fmla="val 5000"/>
            </a:avLst>
          </a:prstGeom>
          <a:solidFill>
            <a:srgbClr val="F2F6FB"/>
          </a:solidFill>
          <a:ln w="12700">
            <a:solidFill>
              <a:srgbClr val="F2F6FB"/>
            </a:solidFill>
            <a:prstDash val="solid"/>
          </a:ln>
        </p:spPr>
      </p:sp>
      <p:sp>
        <p:nvSpPr>
          <p:cNvPr id="7" name="Principle accent"/>
          <p:cNvSpPr/>
          <p:nvPr/>
        </p:nvSpPr>
        <p:spPr>
          <a:xfrm>
            <a:off x="548640" y="4846320"/>
            <a:ext cx="82296" cy="1463040"/>
          </a:xfrm>
          <a:prstGeom prst="rect">
            <a:avLst/>
          </a:prstGeom>
          <a:solidFill>
            <a:srgbClr val="2A78D6"/>
          </a:solidFill>
          <a:ln w="12700">
            <a:solidFill>
              <a:srgbClr val="2A78D6"/>
            </a:solidFill>
            <a:prstDash val="solid"/>
          </a:ln>
        </p:spPr>
      </p:sp>
      <p:sp>
        <p:nvSpPr>
          <p:cNvPr id="8" name="Text 4"/>
          <p:cNvSpPr txBox="1"/>
          <p:nvPr/>
        </p:nvSpPr>
        <p:spPr>
          <a:xfrm>
            <a:off x="77724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Diagnose before modelling</a:t>
            </a:r>
            <a:endParaRPr lang="en-US" sz="1500" dirty="0"/>
          </a:p>
        </p:txBody>
      </p:sp>
      <p:sp>
        <p:nvSpPr>
          <p:cNvPr id="9" name="Text 5"/>
          <p:cNvSpPr txBox="1"/>
          <p:nvPr/>
        </p:nvSpPr>
        <p:spPr>
          <a:xfrm>
            <a:off x="77724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What the data measures is understood before a method is chosen.</a:t>
            </a:r>
            <a:endParaRPr lang="en-US" sz="1300" dirty="0"/>
          </a:p>
        </p:txBody>
      </p:sp>
      <p:sp>
        <p:nvSpPr>
          <p:cNvPr id="10" name="Principle card"/>
          <p:cNvSpPr/>
          <p:nvPr/>
        </p:nvSpPr>
        <p:spPr>
          <a:xfrm>
            <a:off x="3337560" y="4846320"/>
            <a:ext cx="2651760" cy="1463040"/>
          </a:xfrm>
          <a:prstGeom prst="roundRect">
            <a:avLst>
              <a:gd name="adj" fmla="val 5000"/>
            </a:avLst>
          </a:prstGeom>
          <a:solidFill>
            <a:srgbClr val="F2F6FB"/>
          </a:solidFill>
          <a:ln w="12700">
            <a:solidFill>
              <a:srgbClr val="F2F6FB"/>
            </a:solidFill>
            <a:prstDash val="solid"/>
          </a:ln>
        </p:spPr>
      </p:sp>
      <p:sp>
        <p:nvSpPr>
          <p:cNvPr id="11" name="Principle accent"/>
          <p:cNvSpPr/>
          <p:nvPr/>
        </p:nvSpPr>
        <p:spPr>
          <a:xfrm>
            <a:off x="3337560" y="4846320"/>
            <a:ext cx="82296" cy="1463040"/>
          </a:xfrm>
          <a:prstGeom prst="rect">
            <a:avLst/>
          </a:prstGeom>
          <a:solidFill>
            <a:srgbClr val="1BAF7A"/>
          </a:solidFill>
          <a:ln w="12700">
            <a:solidFill>
              <a:srgbClr val="1BAF7A"/>
            </a:solidFill>
            <a:prstDash val="solid"/>
          </a:ln>
        </p:spPr>
      </p:sp>
      <p:sp>
        <p:nvSpPr>
          <p:cNvPr id="12" name="Text 8"/>
          <p:cNvSpPr txBox="1"/>
          <p:nvPr/>
        </p:nvSpPr>
        <p:spPr>
          <a:xfrm>
            <a:off x="356616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Test on unseen data</a:t>
            </a:r>
            <a:endParaRPr lang="en-US" sz="1500" dirty="0"/>
          </a:p>
        </p:txBody>
      </p:sp>
      <p:sp>
        <p:nvSpPr>
          <p:cNvPr id="13" name="Text 9"/>
          <p:cNvSpPr txBox="1"/>
          <p:nvPr/>
        </p:nvSpPr>
        <p:spPr>
          <a:xfrm>
            <a:off x="356616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Every choice is judged on weeks the model has not seen.</a:t>
            </a:r>
            <a:endParaRPr lang="en-US" sz="1300" dirty="0"/>
          </a:p>
        </p:txBody>
      </p:sp>
      <p:sp>
        <p:nvSpPr>
          <p:cNvPr id="14" name="Principle card"/>
          <p:cNvSpPr/>
          <p:nvPr/>
        </p:nvSpPr>
        <p:spPr>
          <a:xfrm>
            <a:off x="6126480" y="4846320"/>
            <a:ext cx="2651760" cy="1463040"/>
          </a:xfrm>
          <a:prstGeom prst="roundRect">
            <a:avLst>
              <a:gd name="adj" fmla="val 5000"/>
            </a:avLst>
          </a:prstGeom>
          <a:solidFill>
            <a:srgbClr val="F2F6FB"/>
          </a:solidFill>
          <a:ln w="12700">
            <a:solidFill>
              <a:srgbClr val="F2F6FB"/>
            </a:solidFill>
            <a:prstDash val="solid"/>
          </a:ln>
        </p:spPr>
      </p:sp>
      <p:sp>
        <p:nvSpPr>
          <p:cNvPr id="15" name="Principle accent"/>
          <p:cNvSpPr/>
          <p:nvPr/>
        </p:nvSpPr>
        <p:spPr>
          <a:xfrm>
            <a:off x="6126480" y="4846320"/>
            <a:ext cx="82296" cy="1463040"/>
          </a:xfrm>
          <a:prstGeom prst="rect">
            <a:avLst/>
          </a:prstGeom>
          <a:solidFill>
            <a:srgbClr val="EB6834"/>
          </a:solidFill>
          <a:ln w="12700">
            <a:solidFill>
              <a:srgbClr val="EB6834"/>
            </a:solidFill>
            <a:prstDash val="solid"/>
          </a:ln>
        </p:spPr>
      </p:sp>
      <p:sp>
        <p:nvSpPr>
          <p:cNvPr id="16" name="Text 12"/>
          <p:cNvSpPr txBox="1"/>
          <p:nvPr/>
        </p:nvSpPr>
        <p:spPr>
          <a:xfrm>
            <a:off x="635508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Simple unless proven otherwise</a:t>
            </a:r>
            <a:endParaRPr lang="en-US" sz="1500" dirty="0"/>
          </a:p>
        </p:txBody>
      </p:sp>
      <p:sp>
        <p:nvSpPr>
          <p:cNvPr id="17" name="Text 13"/>
          <p:cNvSpPr txBox="1"/>
          <p:nvPr/>
        </p:nvSpPr>
        <p:spPr>
          <a:xfrm>
            <a:off x="635508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A complex model must beat a plain rule to be used.</a:t>
            </a:r>
            <a:endParaRPr lang="en-US" sz="1300" dirty="0"/>
          </a:p>
        </p:txBody>
      </p:sp>
      <p:sp>
        <p:nvSpPr>
          <p:cNvPr id="18" name="Principle card"/>
          <p:cNvSpPr/>
          <p:nvPr/>
        </p:nvSpPr>
        <p:spPr>
          <a:xfrm>
            <a:off x="8915400" y="4846320"/>
            <a:ext cx="2651760" cy="1463040"/>
          </a:xfrm>
          <a:prstGeom prst="roundRect">
            <a:avLst>
              <a:gd name="adj" fmla="val 5000"/>
            </a:avLst>
          </a:prstGeom>
          <a:solidFill>
            <a:srgbClr val="F2F6FB"/>
          </a:solidFill>
          <a:ln w="12700">
            <a:solidFill>
              <a:srgbClr val="F2F6FB"/>
            </a:solidFill>
            <a:prstDash val="solid"/>
          </a:ln>
        </p:spPr>
      </p:sp>
      <p:sp>
        <p:nvSpPr>
          <p:cNvPr id="19" name="Principle accent"/>
          <p:cNvSpPr/>
          <p:nvPr/>
        </p:nvSpPr>
        <p:spPr>
          <a:xfrm>
            <a:off x="8915400" y="4846320"/>
            <a:ext cx="82296" cy="1463040"/>
          </a:xfrm>
          <a:prstGeom prst="rect">
            <a:avLst/>
          </a:prstGeom>
          <a:solidFill>
            <a:srgbClr val="D03B3B"/>
          </a:solidFill>
          <a:ln w="12700">
            <a:solidFill>
              <a:srgbClr val="D03B3B"/>
            </a:solidFill>
            <a:prstDash val="solid"/>
          </a:ln>
        </p:spPr>
      </p:sp>
      <p:sp>
        <p:nvSpPr>
          <p:cNvPr id="20" name="Text 16"/>
          <p:cNvSpPr txBox="1"/>
          <p:nvPr/>
        </p:nvSpPr>
        <p:spPr>
          <a:xfrm>
            <a:off x="914400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State and stress assumptions</a:t>
            </a:r>
            <a:endParaRPr lang="en-US" sz="1500" dirty="0"/>
          </a:p>
        </p:txBody>
      </p:sp>
      <p:sp>
        <p:nvSpPr>
          <p:cNvPr id="21" name="Text 17"/>
          <p:cNvSpPr txBox="1"/>
          <p:nvPr/>
        </p:nvSpPr>
        <p:spPr>
          <a:xfrm>
            <a:off x="914400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Where data is missing, assume openly and show the range.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pipeline that never loses or hides information</a:t>
            </a:r>
            <a:endParaRPr lang="en-US" sz="3000" dirty="0"/>
          </a:p>
        </p:txBody>
      </p:sp>
      <p:sp>
        <p:nvSpPr>
          <p:cNvPr id="5" name="Pipeline step"/>
          <p:cNvSpPr/>
          <p:nvPr/>
        </p:nvSpPr>
        <p:spPr>
          <a:xfrm>
            <a:off x="548640" y="1645920"/>
            <a:ext cx="2103120" cy="1965960"/>
          </a:xfrm>
          <a:prstGeom prst="roundRect">
            <a:avLst>
              <a:gd name="adj" fmla="val 3721"/>
            </a:avLst>
          </a:prstGeom>
          <a:solidFill>
            <a:srgbClr val="F2F6FB"/>
          </a:solidFill>
          <a:ln w="12700">
            <a:solidFill>
              <a:srgbClr val="D9E1EC"/>
            </a:solidFill>
            <a:prstDash val="solid"/>
          </a:ln>
        </p:spPr>
      </p:sp>
      <p:sp>
        <p:nvSpPr>
          <p:cNvPr id="6" name="Step number"/>
          <p:cNvSpPr/>
          <p:nvPr/>
        </p:nvSpPr>
        <p:spPr>
          <a:xfrm>
            <a:off x="685800" y="1755648"/>
            <a:ext cx="384048" cy="384048"/>
          </a:xfrm>
          <a:prstGeom prst="ellipse">
            <a:avLst/>
          </a:prstGeom>
          <a:solidFill>
            <a:srgbClr val="2A78D6"/>
          </a:solidFill>
          <a:ln w="12700">
            <a:solidFill>
              <a:srgbClr val="FFFFFF"/>
            </a:solidFill>
            <a:prstDash val="solid"/>
          </a:ln>
        </p:spPr>
      </p:sp>
      <p:sp>
        <p:nvSpPr>
          <p:cNvPr id="7" name="Text 4"/>
          <p:cNvSpPr txBox="1"/>
          <p:nvPr/>
        </p:nvSpPr>
        <p:spPr>
          <a:xfrm>
            <a:off x="6858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43000"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Extract and check</a:t>
            </a:r>
            <a:endParaRPr lang="en-US" sz="1400" dirty="0"/>
          </a:p>
        </p:txBody>
      </p:sp>
      <p:sp>
        <p:nvSpPr>
          <p:cNvPr id="9" name="Text 6"/>
          <p:cNvSpPr txBox="1"/>
          <p:nvPr/>
        </p:nvSpPr>
        <p:spPr>
          <a:xfrm>
            <a:off x="685800"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schema, types, untouched raw copy kept</a:t>
            </a:r>
            <a:endParaRPr lang="en-US" sz="1200" dirty="0"/>
          </a:p>
        </p:txBody>
      </p:sp>
      <p:sp>
        <p:nvSpPr>
          <p:cNvPr id="10" name="Text 7"/>
          <p:cNvSpPr txBox="1"/>
          <p:nvPr/>
        </p:nvSpPr>
        <p:spPr>
          <a:xfrm>
            <a:off x="685800"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nothing is ever lost</a:t>
            </a:r>
            <a:endParaRPr lang="en-US" sz="1200" dirty="0"/>
          </a:p>
        </p:txBody>
      </p:sp>
      <p:sp>
        <p:nvSpPr>
          <p:cNvPr id="11" name="Flow arrow"/>
          <p:cNvSpPr/>
          <p:nvPr/>
        </p:nvSpPr>
        <p:spPr>
          <a:xfrm>
            <a:off x="2651760" y="2606040"/>
            <a:ext cx="128016" cy="0"/>
          </a:xfrm>
          <a:prstGeom prst="line">
            <a:avLst/>
          </a:prstGeom>
          <a:noFill/>
          <a:ln w="19050">
            <a:solidFill>
              <a:srgbClr val="8A8F98"/>
            </a:solidFill>
            <a:prstDash val="solid"/>
            <a:tailEnd type="triangle"/>
          </a:ln>
        </p:spPr>
      </p:sp>
      <p:sp>
        <p:nvSpPr>
          <p:cNvPr id="12" name="Pipeline step"/>
          <p:cNvSpPr/>
          <p:nvPr/>
        </p:nvSpPr>
        <p:spPr>
          <a:xfrm>
            <a:off x="2779776" y="1645920"/>
            <a:ext cx="2103120" cy="1965960"/>
          </a:xfrm>
          <a:prstGeom prst="roundRect">
            <a:avLst>
              <a:gd name="adj" fmla="val 3721"/>
            </a:avLst>
          </a:prstGeom>
          <a:solidFill>
            <a:srgbClr val="F2F6FB"/>
          </a:solidFill>
          <a:ln w="12700">
            <a:solidFill>
              <a:srgbClr val="D9E1EC"/>
            </a:solidFill>
            <a:prstDash val="solid"/>
          </a:ln>
        </p:spPr>
      </p:sp>
      <p:sp>
        <p:nvSpPr>
          <p:cNvPr id="13" name="Step number"/>
          <p:cNvSpPr/>
          <p:nvPr/>
        </p:nvSpPr>
        <p:spPr>
          <a:xfrm>
            <a:off x="2916936" y="1755648"/>
            <a:ext cx="384048" cy="384048"/>
          </a:xfrm>
          <a:prstGeom prst="ellipse">
            <a:avLst/>
          </a:prstGeom>
          <a:solidFill>
            <a:srgbClr val="2A78D6"/>
          </a:solidFill>
          <a:ln w="12700">
            <a:solidFill>
              <a:srgbClr val="FFFFFF"/>
            </a:solidFill>
            <a:prstDash val="solid"/>
          </a:ln>
        </p:spPr>
      </p:sp>
      <p:sp>
        <p:nvSpPr>
          <p:cNvPr id="14" name="Text 11"/>
          <p:cNvSpPr txBox="1"/>
          <p:nvPr/>
        </p:nvSpPr>
        <p:spPr>
          <a:xfrm>
            <a:off x="2916936"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3374136"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Validate</a:t>
            </a:r>
            <a:endParaRPr lang="en-US" sz="1400" dirty="0"/>
          </a:p>
        </p:txBody>
      </p:sp>
      <p:sp>
        <p:nvSpPr>
          <p:cNvPr id="16" name="Text 13"/>
          <p:cNvSpPr txBox="1"/>
          <p:nvPr/>
        </p:nvSpPr>
        <p:spPr>
          <a:xfrm>
            <a:off x="2916936"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typed exceptions, bad rows to quarantine</a:t>
            </a:r>
            <a:endParaRPr lang="en-US" sz="1200" dirty="0"/>
          </a:p>
        </p:txBody>
      </p:sp>
      <p:sp>
        <p:nvSpPr>
          <p:cNvPr id="17" name="Text 14"/>
          <p:cNvSpPr txBox="1"/>
          <p:nvPr/>
        </p:nvSpPr>
        <p:spPr>
          <a:xfrm>
            <a:off x="2916936"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fatal errors stop the load</a:t>
            </a:r>
            <a:endParaRPr lang="en-US" sz="1200" dirty="0"/>
          </a:p>
        </p:txBody>
      </p:sp>
      <p:sp>
        <p:nvSpPr>
          <p:cNvPr id="18" name="Flow arrow"/>
          <p:cNvSpPr/>
          <p:nvPr/>
        </p:nvSpPr>
        <p:spPr>
          <a:xfrm>
            <a:off x="4882896" y="2606040"/>
            <a:ext cx="128016" cy="0"/>
          </a:xfrm>
          <a:prstGeom prst="line">
            <a:avLst/>
          </a:prstGeom>
          <a:noFill/>
          <a:ln w="19050">
            <a:solidFill>
              <a:srgbClr val="8A8F98"/>
            </a:solidFill>
            <a:prstDash val="solid"/>
            <a:tailEnd type="triangle"/>
          </a:ln>
        </p:spPr>
      </p:sp>
      <p:sp>
        <p:nvSpPr>
          <p:cNvPr id="19" name="Pipeline step"/>
          <p:cNvSpPr/>
          <p:nvPr/>
        </p:nvSpPr>
        <p:spPr>
          <a:xfrm>
            <a:off x="5010912" y="1645920"/>
            <a:ext cx="2103120" cy="1965960"/>
          </a:xfrm>
          <a:prstGeom prst="roundRect">
            <a:avLst>
              <a:gd name="adj" fmla="val 3721"/>
            </a:avLst>
          </a:prstGeom>
          <a:solidFill>
            <a:srgbClr val="F2F6FB"/>
          </a:solidFill>
          <a:ln w="12700">
            <a:solidFill>
              <a:srgbClr val="D9E1EC"/>
            </a:solidFill>
            <a:prstDash val="solid"/>
          </a:ln>
        </p:spPr>
      </p:sp>
      <p:sp>
        <p:nvSpPr>
          <p:cNvPr id="20" name="Step number"/>
          <p:cNvSpPr/>
          <p:nvPr/>
        </p:nvSpPr>
        <p:spPr>
          <a:xfrm>
            <a:off x="5148072" y="1755648"/>
            <a:ext cx="384048" cy="384048"/>
          </a:xfrm>
          <a:prstGeom prst="ellipse">
            <a:avLst/>
          </a:prstGeom>
          <a:solidFill>
            <a:srgbClr val="2A78D6"/>
          </a:solidFill>
          <a:ln w="12700">
            <a:solidFill>
              <a:srgbClr val="FFFFFF"/>
            </a:solidFill>
            <a:prstDash val="solid"/>
          </a:ln>
        </p:spPr>
      </p:sp>
      <p:sp>
        <p:nvSpPr>
          <p:cNvPr id="21" name="Text 18"/>
          <p:cNvSpPr txBox="1"/>
          <p:nvPr/>
        </p:nvSpPr>
        <p:spPr>
          <a:xfrm>
            <a:off x="5148072"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5605272"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Clean</a:t>
            </a:r>
            <a:endParaRPr lang="en-US" sz="1400" dirty="0"/>
          </a:p>
        </p:txBody>
      </p:sp>
      <p:sp>
        <p:nvSpPr>
          <p:cNvPr id="23" name="Text 20"/>
          <p:cNvSpPr txBox="1"/>
          <p:nvPr/>
        </p:nvSpPr>
        <p:spPr>
          <a:xfrm>
            <a:off x="5148072"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39 exact duplicates dropped, infinite growth values nulled</a:t>
            </a:r>
            <a:endParaRPr lang="en-US" sz="1200" dirty="0"/>
          </a:p>
        </p:txBody>
      </p:sp>
      <p:sp>
        <p:nvSpPr>
          <p:cNvPr id="24" name="Text 21"/>
          <p:cNvSpPr txBox="1"/>
          <p:nvPr/>
        </p:nvSpPr>
        <p:spPr>
          <a:xfrm>
            <a:off x="5148072"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repeats would double count</a:t>
            </a:r>
            <a:endParaRPr lang="en-US" sz="1200" dirty="0"/>
          </a:p>
        </p:txBody>
      </p:sp>
      <p:sp>
        <p:nvSpPr>
          <p:cNvPr id="25" name="Flow arrow"/>
          <p:cNvSpPr/>
          <p:nvPr/>
        </p:nvSpPr>
        <p:spPr>
          <a:xfrm>
            <a:off x="7114032" y="2606040"/>
            <a:ext cx="128016" cy="0"/>
          </a:xfrm>
          <a:prstGeom prst="line">
            <a:avLst/>
          </a:prstGeom>
          <a:noFill/>
          <a:ln w="19050">
            <a:solidFill>
              <a:srgbClr val="8A8F98"/>
            </a:solidFill>
            <a:prstDash val="solid"/>
            <a:tailEnd type="triangle"/>
          </a:ln>
        </p:spPr>
      </p:sp>
      <p:sp>
        <p:nvSpPr>
          <p:cNvPr id="26" name="Pipeline step"/>
          <p:cNvSpPr/>
          <p:nvPr/>
        </p:nvSpPr>
        <p:spPr>
          <a:xfrm>
            <a:off x="7242048" y="1645920"/>
            <a:ext cx="2103120" cy="1965960"/>
          </a:xfrm>
          <a:prstGeom prst="roundRect">
            <a:avLst>
              <a:gd name="adj" fmla="val 3721"/>
            </a:avLst>
          </a:prstGeom>
          <a:solidFill>
            <a:srgbClr val="F2F6FB"/>
          </a:solidFill>
          <a:ln w="12700">
            <a:solidFill>
              <a:srgbClr val="D9E1EC"/>
            </a:solidFill>
            <a:prstDash val="solid"/>
          </a:ln>
        </p:spPr>
      </p:sp>
      <p:sp>
        <p:nvSpPr>
          <p:cNvPr id="27" name="Step number"/>
          <p:cNvSpPr/>
          <p:nvPr/>
        </p:nvSpPr>
        <p:spPr>
          <a:xfrm>
            <a:off x="7379208" y="1755648"/>
            <a:ext cx="384048" cy="384048"/>
          </a:xfrm>
          <a:prstGeom prst="ellipse">
            <a:avLst/>
          </a:prstGeom>
          <a:solidFill>
            <a:srgbClr val="2A78D6"/>
          </a:solidFill>
          <a:ln w="12700">
            <a:solidFill>
              <a:srgbClr val="FFFFFF"/>
            </a:solidFill>
            <a:prstDash val="solid"/>
          </a:ln>
        </p:spPr>
      </p:sp>
      <p:sp>
        <p:nvSpPr>
          <p:cNvPr id="28" name="Text 25"/>
          <p:cNvSpPr txBox="1"/>
          <p:nvPr/>
        </p:nvSpPr>
        <p:spPr>
          <a:xfrm>
            <a:off x="737920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9" name="Text 26"/>
          <p:cNvSpPr txBox="1"/>
          <p:nvPr/>
        </p:nvSpPr>
        <p:spPr>
          <a:xfrm>
            <a:off x="7836408"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Recover and flag</a:t>
            </a:r>
            <a:endParaRPr lang="en-US" sz="1400" dirty="0"/>
          </a:p>
        </p:txBody>
      </p:sp>
      <p:sp>
        <p:nvSpPr>
          <p:cNvPr id="30" name="Text 27"/>
          <p:cNvSpPr txBox="1"/>
          <p:nvPr/>
        </p:nvSpPr>
        <p:spPr>
          <a:xfrm>
            <a:off x="7379208"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16 missing sales = revenue / price; odd rows flagged</a:t>
            </a:r>
            <a:endParaRPr lang="en-US" sz="1200" dirty="0"/>
          </a:p>
        </p:txBody>
      </p:sp>
      <p:sp>
        <p:nvSpPr>
          <p:cNvPr id="31" name="Text 28"/>
          <p:cNvSpPr txBox="1"/>
          <p:nvPr/>
        </p:nvSpPr>
        <p:spPr>
          <a:xfrm>
            <a:off x="7379208"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information is kept, not erased</a:t>
            </a:r>
            <a:endParaRPr lang="en-US" sz="1200" dirty="0"/>
          </a:p>
        </p:txBody>
      </p:sp>
      <p:sp>
        <p:nvSpPr>
          <p:cNvPr id="32" name="Flow arrow"/>
          <p:cNvSpPr/>
          <p:nvPr/>
        </p:nvSpPr>
        <p:spPr>
          <a:xfrm>
            <a:off x="9345168" y="2606040"/>
            <a:ext cx="128016" cy="0"/>
          </a:xfrm>
          <a:prstGeom prst="line">
            <a:avLst/>
          </a:prstGeom>
          <a:noFill/>
          <a:ln w="19050">
            <a:solidFill>
              <a:srgbClr val="8A8F98"/>
            </a:solidFill>
            <a:prstDash val="solid"/>
            <a:tailEnd type="triangle"/>
          </a:ln>
        </p:spPr>
      </p:sp>
      <p:sp>
        <p:nvSpPr>
          <p:cNvPr id="33" name="Pipeline step"/>
          <p:cNvSpPr/>
          <p:nvPr/>
        </p:nvSpPr>
        <p:spPr>
          <a:xfrm>
            <a:off x="9473184" y="1645920"/>
            <a:ext cx="2103120" cy="1965960"/>
          </a:xfrm>
          <a:prstGeom prst="roundRect">
            <a:avLst>
              <a:gd name="adj" fmla="val 3721"/>
            </a:avLst>
          </a:prstGeom>
          <a:solidFill>
            <a:srgbClr val="F2F6FB"/>
          </a:solidFill>
          <a:ln w="12700">
            <a:solidFill>
              <a:srgbClr val="D9E1EC"/>
            </a:solidFill>
            <a:prstDash val="solid"/>
          </a:ln>
        </p:spPr>
      </p:sp>
      <p:sp>
        <p:nvSpPr>
          <p:cNvPr id="34" name="Step number"/>
          <p:cNvSpPr/>
          <p:nvPr/>
        </p:nvSpPr>
        <p:spPr>
          <a:xfrm>
            <a:off x="9610344" y="1755648"/>
            <a:ext cx="384048" cy="384048"/>
          </a:xfrm>
          <a:prstGeom prst="ellipse">
            <a:avLst/>
          </a:prstGeom>
          <a:solidFill>
            <a:srgbClr val="2A78D6"/>
          </a:solidFill>
          <a:ln w="12700">
            <a:solidFill>
              <a:srgbClr val="FFFFFF"/>
            </a:solidFill>
            <a:prstDash val="solid"/>
          </a:ln>
        </p:spPr>
      </p:sp>
      <p:sp>
        <p:nvSpPr>
          <p:cNvPr id="35" name="Text 32"/>
          <p:cNvSpPr txBox="1"/>
          <p:nvPr/>
        </p:nvSpPr>
        <p:spPr>
          <a:xfrm>
            <a:off x="961034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6" name="Text 33"/>
          <p:cNvSpPr txBox="1"/>
          <p:nvPr/>
        </p:nvSpPr>
        <p:spPr>
          <a:xfrm>
            <a:off x="10067544"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Load</a:t>
            </a:r>
            <a:endParaRPr lang="en-US" sz="1400" dirty="0"/>
          </a:p>
        </p:txBody>
      </p:sp>
      <p:sp>
        <p:nvSpPr>
          <p:cNvPr id="37" name="Text 34"/>
          <p:cNvSpPr txBox="1"/>
          <p:nvPr/>
        </p:nvSpPr>
        <p:spPr>
          <a:xfrm>
            <a:off x="9610344"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star schema in one transaction, run log</a:t>
            </a:r>
            <a:endParaRPr lang="en-US" sz="1200" dirty="0"/>
          </a:p>
        </p:txBody>
      </p:sp>
      <p:sp>
        <p:nvSpPr>
          <p:cNvPr id="38" name="Text 35"/>
          <p:cNvSpPr txBox="1"/>
          <p:nvPr/>
        </p:nvSpPr>
        <p:spPr>
          <a:xfrm>
            <a:off x="9610344"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repeatable and auditable</a:t>
            </a:r>
            <a:endParaRPr lang="en-US" sz="1200" dirty="0"/>
          </a:p>
        </p:txBody>
      </p:sp>
      <p:graphicFrame>
        <p:nvGraphicFramePr>
          <p:cNvPr id="39" name="Chart 0" descr=""/>
          <p:cNvGraphicFramePr/>
          <p:nvPr/>
        </p:nvGraphicFramePr>
        <p:xfrm>
          <a:off x="548640" y="3749040"/>
          <a:ext cx="6675120" cy="2606040"/>
        </p:xfrm>
        <a:graphic xmlns:a="http://schemas.openxmlformats.org/drawingml/2006/main">
          <a:graphicData uri="http://schemas.openxmlformats.org/drawingml/2006/chart">
            <c:chart xmlns:c="http://schemas.openxmlformats.org/drawingml/2006/chart" r:id="rId1"/>
          </a:graphicData>
        </a:graphic>
      </p:graphicFrame>
      <p:sp>
        <p:nvSpPr>
          <p:cNvPr id="40" name="Stat card"/>
          <p:cNvSpPr/>
          <p:nvPr/>
        </p:nvSpPr>
        <p:spPr>
          <a:xfrm>
            <a:off x="7498080" y="3840480"/>
            <a:ext cx="1920240" cy="1188720"/>
          </a:xfrm>
          <a:prstGeom prst="roundRect">
            <a:avLst>
              <a:gd name="adj" fmla="val 6154"/>
            </a:avLst>
          </a:prstGeom>
          <a:solidFill>
            <a:srgbClr val="F2F6FB"/>
          </a:solidFill>
          <a:ln w="12700">
            <a:solidFill>
              <a:srgbClr val="F2F6FB"/>
            </a:solidFill>
            <a:prstDash val="solid"/>
          </a:ln>
        </p:spPr>
      </p:sp>
      <p:sp>
        <p:nvSpPr>
          <p:cNvPr id="41" name="Text 37"/>
          <p:cNvSpPr txBox="1"/>
          <p:nvPr/>
        </p:nvSpPr>
        <p:spPr>
          <a:xfrm>
            <a:off x="7635240" y="3913632"/>
            <a:ext cx="164592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7,800</a:t>
            </a:r>
            <a:endParaRPr lang="en-US" sz="2600" dirty="0"/>
          </a:p>
        </p:txBody>
      </p:sp>
      <p:sp>
        <p:nvSpPr>
          <p:cNvPr id="42" name="Text 38"/>
          <p:cNvSpPr txBox="1"/>
          <p:nvPr/>
        </p:nvSpPr>
        <p:spPr>
          <a:xfrm>
            <a:off x="7635240" y="4458614"/>
            <a:ext cx="1645920" cy="546811"/>
          </a:xfrm>
          <a:prstGeom prst="rect">
            <a:avLst/>
          </a:prstGeom>
          <a:noFill/>
          <a:ln/>
        </p:spPr>
        <p:txBody>
          <a:bodyPr wrap="square" lIns="0" tIns="0" rIns="0" bIns="0" rtlCol="0" anchor="t"/>
          <a:lstStyle/>
          <a:p>
            <a:pPr indent="0" marL="0">
              <a:buNone/>
            </a:pPr>
            <a:r>
              <a:rPr lang="en-US" sz="1300" dirty="0">
                <a:solidFill>
                  <a:srgbClr val="5B6B80"/>
                </a:solidFill>
              </a:rPr>
              <a:t>unique product-weeks from 7,839 raw rows</a:t>
            </a:r>
            <a:endParaRPr lang="en-US" sz="1300" dirty="0"/>
          </a:p>
        </p:txBody>
      </p:sp>
      <p:sp>
        <p:nvSpPr>
          <p:cNvPr id="43" name="Stat card"/>
          <p:cNvSpPr/>
          <p:nvPr/>
        </p:nvSpPr>
        <p:spPr>
          <a:xfrm>
            <a:off x="9555480" y="3840480"/>
            <a:ext cx="2057400" cy="1188720"/>
          </a:xfrm>
          <a:prstGeom prst="roundRect">
            <a:avLst>
              <a:gd name="adj" fmla="val 6154"/>
            </a:avLst>
          </a:prstGeom>
          <a:solidFill>
            <a:srgbClr val="F2F6FB"/>
          </a:solidFill>
          <a:ln w="12700">
            <a:solidFill>
              <a:srgbClr val="F2F6FB"/>
            </a:solidFill>
            <a:prstDash val="solid"/>
          </a:ln>
        </p:spPr>
      </p:sp>
      <p:sp>
        <p:nvSpPr>
          <p:cNvPr id="44" name="Text 40"/>
          <p:cNvSpPr txBox="1"/>
          <p:nvPr/>
        </p:nvSpPr>
        <p:spPr>
          <a:xfrm>
            <a:off x="9692640" y="3913632"/>
            <a:ext cx="178308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15 / 15</a:t>
            </a:r>
            <a:endParaRPr lang="en-US" sz="2600" dirty="0"/>
          </a:p>
        </p:txBody>
      </p:sp>
      <p:sp>
        <p:nvSpPr>
          <p:cNvPr id="45" name="Text 41"/>
          <p:cNvSpPr txBox="1"/>
          <p:nvPr/>
        </p:nvSpPr>
        <p:spPr>
          <a:xfrm>
            <a:off x="9692640" y="4458614"/>
            <a:ext cx="1783080" cy="546811"/>
          </a:xfrm>
          <a:prstGeom prst="rect">
            <a:avLst/>
          </a:prstGeom>
          <a:noFill/>
          <a:ln/>
        </p:spPr>
        <p:txBody>
          <a:bodyPr wrap="square" lIns="0" tIns="0" rIns="0" bIns="0" rtlCol="0" anchor="t"/>
          <a:lstStyle/>
          <a:p>
            <a:pPr indent="0" marL="0">
              <a:buNone/>
            </a:pPr>
            <a:r>
              <a:rPr lang="en-US" sz="1300" dirty="0">
                <a:solidFill>
                  <a:srgbClr val="5B6B80"/>
                </a:solidFill>
              </a:rPr>
              <a:t>exception tests passed on a corrupted copy</a:t>
            </a:r>
            <a:endParaRPr lang="en-US" sz="1300" dirty="0"/>
          </a:p>
        </p:txBody>
      </p:sp>
      <p:sp>
        <p:nvSpPr>
          <p:cNvPr id="46" name="Text 42"/>
          <p:cNvSpPr txBox="1"/>
          <p:nvPr/>
        </p:nvSpPr>
        <p:spPr>
          <a:xfrm>
            <a:off x="7498080" y="5212080"/>
            <a:ext cx="4114800" cy="1005840"/>
          </a:xfrm>
          <a:prstGeom prst="rect">
            <a:avLst/>
          </a:prstGeom>
          <a:noFill/>
          <a:ln/>
        </p:spPr>
        <p:txBody>
          <a:bodyPr wrap="square" lIns="0" tIns="0" rIns="0" bIns="0" rtlCol="0" anchor="t"/>
          <a:lstStyle/>
          <a:p>
            <a:pPr indent="0" marL="0">
              <a:buNone/>
            </a:pPr>
            <a:r>
              <a:rPr lang="en-US" sz="1300" i="1" dirty="0">
                <a:solidFill>
                  <a:srgbClr val="5B6B80"/>
                </a:solidFill>
              </a:rPr>
              <a:t>Star schema: product, date and weekly-sales tables plus audit tables, so every later question is a simple query.</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CHALLENGES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Nine data problems, each treated with a reason</a:t>
            </a:r>
            <a:endParaRPr lang="en-US" sz="3000" dirty="0"/>
          </a:p>
        </p:txBody>
      </p:sp>
      <p:sp>
        <p:nvSpPr>
          <p:cNvPr id="5" name="Challenge tile"/>
          <p:cNvSpPr/>
          <p:nvPr/>
        </p:nvSpPr>
        <p:spPr>
          <a:xfrm>
            <a:off x="548640" y="1645920"/>
            <a:ext cx="3566160" cy="1463040"/>
          </a:xfrm>
          <a:prstGeom prst="roundRect">
            <a:avLst>
              <a:gd name="adj" fmla="val 5000"/>
            </a:avLst>
          </a:prstGeom>
          <a:solidFill>
            <a:srgbClr val="F2F6FB"/>
          </a:solidFill>
          <a:ln w="12700">
            <a:solidFill>
              <a:srgbClr val="F2F6FB"/>
            </a:solidFill>
            <a:prstDash val="solid"/>
          </a:ln>
        </p:spPr>
      </p:sp>
      <p:sp>
        <p:nvSpPr>
          <p:cNvPr id="6" name="Tile accent"/>
          <p:cNvSpPr/>
          <p:nvPr/>
        </p:nvSpPr>
        <p:spPr>
          <a:xfrm>
            <a:off x="548640" y="1645920"/>
            <a:ext cx="82296" cy="1463040"/>
          </a:xfrm>
          <a:prstGeom prst="rect">
            <a:avLst/>
          </a:prstGeom>
          <a:solidFill>
            <a:srgbClr val="8A8F98"/>
          </a:solidFill>
          <a:ln w="12700">
            <a:solidFill>
              <a:srgbClr val="8A8F98"/>
            </a:solidFill>
            <a:prstDash val="solid"/>
          </a:ln>
        </p:spPr>
      </p:sp>
      <p:sp>
        <p:nvSpPr>
          <p:cNvPr id="7" name="Text 4"/>
          <p:cNvSpPr txBox="1"/>
          <p:nvPr/>
        </p:nvSpPr>
        <p:spPr>
          <a:xfrm>
            <a:off x="77724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39</a:t>
            </a:r>
            <a:endParaRPr lang="en-US" sz="3000" dirty="0"/>
          </a:p>
        </p:txBody>
      </p:sp>
      <p:sp>
        <p:nvSpPr>
          <p:cNvPr id="8" name="Text 5"/>
          <p:cNvSpPr txBox="1"/>
          <p:nvPr/>
        </p:nvSpPr>
        <p:spPr>
          <a:xfrm>
            <a:off x="77724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exact duplicate rows</a:t>
            </a:r>
            <a:endParaRPr lang="en-US" sz="1300" dirty="0"/>
          </a:p>
        </p:txBody>
      </p:sp>
      <p:sp>
        <p:nvSpPr>
          <p:cNvPr id="9" name="Treatment chip"/>
          <p:cNvSpPr/>
          <p:nvPr/>
        </p:nvSpPr>
        <p:spPr>
          <a:xfrm>
            <a:off x="777240" y="2715768"/>
            <a:ext cx="1143000" cy="265176"/>
          </a:xfrm>
          <a:prstGeom prst="roundRect">
            <a:avLst>
              <a:gd name="adj" fmla="val 17241"/>
            </a:avLst>
          </a:prstGeom>
          <a:solidFill>
            <a:srgbClr val="8A8F98"/>
          </a:solidFill>
          <a:ln w="12700">
            <a:solidFill>
              <a:srgbClr val="8A8F98"/>
            </a:solidFill>
            <a:prstDash val="solid"/>
          </a:ln>
        </p:spPr>
      </p:sp>
      <p:sp>
        <p:nvSpPr>
          <p:cNvPr id="10" name="Text 7"/>
          <p:cNvSpPr txBox="1"/>
          <p:nvPr/>
        </p:nvSpPr>
        <p:spPr>
          <a:xfrm>
            <a:off x="77724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DROPPED</a:t>
            </a:r>
            <a:endParaRPr lang="en-US" sz="1000" dirty="0"/>
          </a:p>
        </p:txBody>
      </p:sp>
      <p:sp>
        <p:nvSpPr>
          <p:cNvPr id="11" name="Text 8"/>
          <p:cNvSpPr txBox="1"/>
          <p:nvPr/>
        </p:nvSpPr>
        <p:spPr>
          <a:xfrm>
            <a:off x="201168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a repeat double counts sales</a:t>
            </a:r>
            <a:endParaRPr lang="en-US" sz="1100" dirty="0"/>
          </a:p>
        </p:txBody>
      </p:sp>
      <p:sp>
        <p:nvSpPr>
          <p:cNvPr id="12" name="Challenge tile"/>
          <p:cNvSpPr/>
          <p:nvPr/>
        </p:nvSpPr>
        <p:spPr>
          <a:xfrm>
            <a:off x="4297680" y="1645920"/>
            <a:ext cx="3566160" cy="1463040"/>
          </a:xfrm>
          <a:prstGeom prst="roundRect">
            <a:avLst>
              <a:gd name="adj" fmla="val 5000"/>
            </a:avLst>
          </a:prstGeom>
          <a:solidFill>
            <a:srgbClr val="F2F6FB"/>
          </a:solidFill>
          <a:ln w="12700">
            <a:solidFill>
              <a:srgbClr val="F2F6FB"/>
            </a:solidFill>
            <a:prstDash val="solid"/>
          </a:ln>
        </p:spPr>
      </p:sp>
      <p:sp>
        <p:nvSpPr>
          <p:cNvPr id="13" name="Tile accent"/>
          <p:cNvSpPr/>
          <p:nvPr/>
        </p:nvSpPr>
        <p:spPr>
          <a:xfrm>
            <a:off x="4297680" y="1645920"/>
            <a:ext cx="82296" cy="1463040"/>
          </a:xfrm>
          <a:prstGeom prst="rect">
            <a:avLst/>
          </a:prstGeom>
          <a:solidFill>
            <a:srgbClr val="1BAF7A"/>
          </a:solidFill>
          <a:ln w="12700">
            <a:solidFill>
              <a:srgbClr val="1BAF7A"/>
            </a:solidFill>
            <a:prstDash val="solid"/>
          </a:ln>
        </p:spPr>
      </p:sp>
      <p:sp>
        <p:nvSpPr>
          <p:cNvPr id="14" name="Text 11"/>
          <p:cNvSpPr txBox="1"/>
          <p:nvPr/>
        </p:nvSpPr>
        <p:spPr>
          <a:xfrm>
            <a:off x="4526280" y="1737360"/>
            <a:ext cx="3200400" cy="502920"/>
          </a:xfrm>
          <a:prstGeom prst="rect">
            <a:avLst/>
          </a:prstGeom>
          <a:noFill/>
          <a:ln/>
        </p:spPr>
        <p:txBody>
          <a:bodyPr wrap="square" lIns="0" tIns="0" rIns="0" bIns="0" rtlCol="0" anchor="ctr"/>
          <a:lstStyle/>
          <a:p>
            <a:pPr indent="0" marL="0">
              <a:buNone/>
            </a:pPr>
            <a:r>
              <a:rPr lang="en-US" sz="3000" b="1" dirty="0">
                <a:solidFill>
                  <a:srgbClr val="1BAF7A"/>
                </a:solidFill>
                <a:latin typeface="Cambria" pitchFamily="34" charset="0"/>
                <a:ea typeface="Cambria" pitchFamily="34" charset="-122"/>
                <a:cs typeface="Cambria" pitchFamily="34" charset="-120"/>
              </a:rPr>
              <a:t>16</a:t>
            </a:r>
            <a:endParaRPr lang="en-US" sz="3000" dirty="0"/>
          </a:p>
        </p:txBody>
      </p:sp>
      <p:sp>
        <p:nvSpPr>
          <p:cNvPr id="15" name="Text 12"/>
          <p:cNvSpPr txBox="1"/>
          <p:nvPr/>
        </p:nvSpPr>
        <p:spPr>
          <a:xfrm>
            <a:off x="452628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sales values</a:t>
            </a:r>
            <a:endParaRPr lang="en-US" sz="1300" dirty="0"/>
          </a:p>
        </p:txBody>
      </p:sp>
      <p:sp>
        <p:nvSpPr>
          <p:cNvPr id="16" name="Treatment chip"/>
          <p:cNvSpPr/>
          <p:nvPr/>
        </p:nvSpPr>
        <p:spPr>
          <a:xfrm>
            <a:off x="4526280" y="2715768"/>
            <a:ext cx="1143000" cy="265176"/>
          </a:xfrm>
          <a:prstGeom prst="roundRect">
            <a:avLst>
              <a:gd name="adj" fmla="val 17241"/>
            </a:avLst>
          </a:prstGeom>
          <a:solidFill>
            <a:srgbClr val="1BAF7A"/>
          </a:solidFill>
          <a:ln w="12700">
            <a:solidFill>
              <a:srgbClr val="1BAF7A"/>
            </a:solidFill>
            <a:prstDash val="solid"/>
          </a:ln>
        </p:spPr>
      </p:sp>
      <p:sp>
        <p:nvSpPr>
          <p:cNvPr id="17" name="Text 14"/>
          <p:cNvSpPr txBox="1"/>
          <p:nvPr/>
        </p:nvSpPr>
        <p:spPr>
          <a:xfrm>
            <a:off x="452628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RECOVERED</a:t>
            </a:r>
            <a:endParaRPr lang="en-US" sz="1000" dirty="0"/>
          </a:p>
        </p:txBody>
      </p:sp>
      <p:sp>
        <p:nvSpPr>
          <p:cNvPr id="18" name="Text 15"/>
          <p:cNvSpPr txBox="1"/>
          <p:nvPr/>
        </p:nvSpPr>
        <p:spPr>
          <a:xfrm>
            <a:off x="576072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revenue / price</a:t>
            </a:r>
            <a:endParaRPr lang="en-US" sz="1100" dirty="0"/>
          </a:p>
        </p:txBody>
      </p:sp>
      <p:sp>
        <p:nvSpPr>
          <p:cNvPr id="19" name="Challenge tile"/>
          <p:cNvSpPr/>
          <p:nvPr/>
        </p:nvSpPr>
        <p:spPr>
          <a:xfrm>
            <a:off x="8046720" y="1645920"/>
            <a:ext cx="3566160" cy="1463040"/>
          </a:xfrm>
          <a:prstGeom prst="roundRect">
            <a:avLst>
              <a:gd name="adj" fmla="val 5000"/>
            </a:avLst>
          </a:prstGeom>
          <a:solidFill>
            <a:srgbClr val="F2F6FB"/>
          </a:solidFill>
          <a:ln w="12700">
            <a:solidFill>
              <a:srgbClr val="F2F6FB"/>
            </a:solidFill>
            <a:prstDash val="solid"/>
          </a:ln>
        </p:spPr>
      </p:sp>
      <p:sp>
        <p:nvSpPr>
          <p:cNvPr id="20" name="Tile accent"/>
          <p:cNvSpPr/>
          <p:nvPr/>
        </p:nvSpPr>
        <p:spPr>
          <a:xfrm>
            <a:off x="8046720" y="1645920"/>
            <a:ext cx="82296" cy="1463040"/>
          </a:xfrm>
          <a:prstGeom prst="rect">
            <a:avLst/>
          </a:prstGeom>
          <a:solidFill>
            <a:srgbClr val="8A8F98"/>
          </a:solidFill>
          <a:ln w="12700">
            <a:solidFill>
              <a:srgbClr val="8A8F98"/>
            </a:solidFill>
            <a:prstDash val="solid"/>
          </a:ln>
        </p:spPr>
      </p:sp>
      <p:sp>
        <p:nvSpPr>
          <p:cNvPr id="21" name="Text 18"/>
          <p:cNvSpPr txBox="1"/>
          <p:nvPr/>
        </p:nvSpPr>
        <p:spPr>
          <a:xfrm>
            <a:off x="8275320" y="1737360"/>
            <a:ext cx="3200400" cy="502920"/>
          </a:xfrm>
          <a:prstGeom prst="rect">
            <a:avLst/>
          </a:prstGeom>
          <a:noFill/>
          <a:ln/>
        </p:spPr>
        <p:txBody>
          <a:bodyPr wrap="square" lIns="0" tIns="0" rIns="0" bIns="0" rtlCol="0" anchor="ctr"/>
          <a:lstStyle/>
          <a:p>
            <a:pPr indent="0" marL="0">
              <a:buNone/>
            </a:pPr>
            <a:r>
              <a:rPr lang="en-US" sz="3000" b="1" dirty="0">
                <a:solidFill>
                  <a:srgbClr val="5B6B80"/>
                </a:solidFill>
                <a:latin typeface="Cambria" pitchFamily="34" charset="0"/>
                <a:ea typeface="Cambria" pitchFamily="34" charset="-122"/>
                <a:cs typeface="Cambria" pitchFamily="34" charset="-120"/>
              </a:rPr>
              <a:t>606</a:t>
            </a:r>
            <a:endParaRPr lang="en-US" sz="3000" dirty="0"/>
          </a:p>
        </p:txBody>
      </p:sp>
      <p:sp>
        <p:nvSpPr>
          <p:cNvPr id="22" name="Text 19"/>
          <p:cNvSpPr txBox="1"/>
          <p:nvPr/>
        </p:nvSpPr>
        <p:spPr>
          <a:xfrm>
            <a:off x="8275320" y="224942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legacy forecasts</a:t>
            </a:r>
            <a:endParaRPr lang="en-US" sz="1300" dirty="0"/>
          </a:p>
        </p:txBody>
      </p:sp>
      <p:sp>
        <p:nvSpPr>
          <p:cNvPr id="23" name="Treatment chip"/>
          <p:cNvSpPr/>
          <p:nvPr/>
        </p:nvSpPr>
        <p:spPr>
          <a:xfrm>
            <a:off x="8275320" y="2715768"/>
            <a:ext cx="1143000" cy="265176"/>
          </a:xfrm>
          <a:prstGeom prst="roundRect">
            <a:avLst>
              <a:gd name="adj" fmla="val 17241"/>
            </a:avLst>
          </a:prstGeom>
          <a:solidFill>
            <a:srgbClr val="8A8F98"/>
          </a:solidFill>
          <a:ln w="12700">
            <a:solidFill>
              <a:srgbClr val="8A8F98"/>
            </a:solidFill>
            <a:prstDash val="solid"/>
          </a:ln>
        </p:spPr>
      </p:sp>
      <p:sp>
        <p:nvSpPr>
          <p:cNvPr id="24" name="Text 21"/>
          <p:cNvSpPr txBox="1"/>
          <p:nvPr/>
        </p:nvSpPr>
        <p:spPr>
          <a:xfrm>
            <a:off x="8275320" y="271576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KEPT EMPTY</a:t>
            </a:r>
            <a:endParaRPr lang="en-US" sz="1000" dirty="0"/>
          </a:p>
        </p:txBody>
      </p:sp>
      <p:sp>
        <p:nvSpPr>
          <p:cNvPr id="25" name="Text 22"/>
          <p:cNvSpPr txBox="1"/>
          <p:nvPr/>
        </p:nvSpPr>
        <p:spPr>
          <a:xfrm>
            <a:off x="9509760" y="268833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imputing would invent a baseline</a:t>
            </a:r>
            <a:endParaRPr lang="en-US" sz="1100" dirty="0"/>
          </a:p>
        </p:txBody>
      </p:sp>
      <p:sp>
        <p:nvSpPr>
          <p:cNvPr id="26" name="Challenge tile"/>
          <p:cNvSpPr/>
          <p:nvPr/>
        </p:nvSpPr>
        <p:spPr>
          <a:xfrm>
            <a:off x="548640" y="3200400"/>
            <a:ext cx="3566160" cy="1463040"/>
          </a:xfrm>
          <a:prstGeom prst="roundRect">
            <a:avLst>
              <a:gd name="adj" fmla="val 5000"/>
            </a:avLst>
          </a:prstGeom>
          <a:solidFill>
            <a:srgbClr val="F2F6FB"/>
          </a:solidFill>
          <a:ln w="12700">
            <a:solidFill>
              <a:srgbClr val="F2F6FB"/>
            </a:solidFill>
            <a:prstDash val="solid"/>
          </a:ln>
        </p:spPr>
      </p:sp>
      <p:sp>
        <p:nvSpPr>
          <p:cNvPr id="27" name="Tile accent"/>
          <p:cNvSpPr/>
          <p:nvPr/>
        </p:nvSpPr>
        <p:spPr>
          <a:xfrm>
            <a:off x="548640" y="3200400"/>
            <a:ext cx="82296" cy="1463040"/>
          </a:xfrm>
          <a:prstGeom prst="rect">
            <a:avLst/>
          </a:prstGeom>
          <a:solidFill>
            <a:srgbClr val="2A78D6"/>
          </a:solidFill>
          <a:ln w="12700">
            <a:solidFill>
              <a:srgbClr val="2A78D6"/>
            </a:solidFill>
            <a:prstDash val="solid"/>
          </a:ln>
        </p:spPr>
      </p:sp>
      <p:sp>
        <p:nvSpPr>
          <p:cNvPr id="28" name="Text 25"/>
          <p:cNvSpPr txBox="1"/>
          <p:nvPr/>
        </p:nvSpPr>
        <p:spPr>
          <a:xfrm>
            <a:off x="77724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897</a:t>
            </a:r>
            <a:endParaRPr lang="en-US" sz="3000" dirty="0"/>
          </a:p>
        </p:txBody>
      </p:sp>
      <p:sp>
        <p:nvSpPr>
          <p:cNvPr id="29" name="Text 26"/>
          <p:cNvSpPr txBox="1"/>
          <p:nvPr/>
        </p:nvSpPr>
        <p:spPr>
          <a:xfrm>
            <a:off x="77724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infinite growth values</a:t>
            </a:r>
            <a:endParaRPr lang="en-US" sz="1300" dirty="0"/>
          </a:p>
        </p:txBody>
      </p:sp>
      <p:sp>
        <p:nvSpPr>
          <p:cNvPr id="30" name="Treatment chip"/>
          <p:cNvSpPr/>
          <p:nvPr/>
        </p:nvSpPr>
        <p:spPr>
          <a:xfrm>
            <a:off x="777240" y="4270248"/>
            <a:ext cx="1143000" cy="265176"/>
          </a:xfrm>
          <a:prstGeom prst="roundRect">
            <a:avLst>
              <a:gd name="adj" fmla="val 17241"/>
            </a:avLst>
          </a:prstGeom>
          <a:solidFill>
            <a:srgbClr val="2A78D6"/>
          </a:solidFill>
          <a:ln w="12700">
            <a:solidFill>
              <a:srgbClr val="2A78D6"/>
            </a:solidFill>
            <a:prstDash val="solid"/>
          </a:ln>
        </p:spPr>
      </p:sp>
      <p:sp>
        <p:nvSpPr>
          <p:cNvPr id="31" name="Text 28"/>
          <p:cNvSpPr txBox="1"/>
          <p:nvPr/>
        </p:nvSpPr>
        <p:spPr>
          <a:xfrm>
            <a:off x="77724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2" name="Text 29"/>
          <p:cNvSpPr txBox="1"/>
          <p:nvPr/>
        </p:nvSpPr>
        <p:spPr>
          <a:xfrm>
            <a:off x="201168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growth from zero is undefined</a:t>
            </a:r>
            <a:endParaRPr lang="en-US" sz="1100" dirty="0"/>
          </a:p>
        </p:txBody>
      </p:sp>
      <p:sp>
        <p:nvSpPr>
          <p:cNvPr id="33" name="Challenge tile"/>
          <p:cNvSpPr/>
          <p:nvPr/>
        </p:nvSpPr>
        <p:spPr>
          <a:xfrm>
            <a:off x="4297680" y="3200400"/>
            <a:ext cx="3566160" cy="1463040"/>
          </a:xfrm>
          <a:prstGeom prst="roundRect">
            <a:avLst>
              <a:gd name="adj" fmla="val 5000"/>
            </a:avLst>
          </a:prstGeom>
          <a:solidFill>
            <a:srgbClr val="F2F6FB"/>
          </a:solidFill>
          <a:ln w="12700">
            <a:solidFill>
              <a:srgbClr val="F2F6FB"/>
            </a:solidFill>
            <a:prstDash val="solid"/>
          </a:ln>
        </p:spPr>
      </p:sp>
      <p:sp>
        <p:nvSpPr>
          <p:cNvPr id="34" name="Tile accent"/>
          <p:cNvSpPr/>
          <p:nvPr/>
        </p:nvSpPr>
        <p:spPr>
          <a:xfrm>
            <a:off x="4297680" y="3200400"/>
            <a:ext cx="82296" cy="1463040"/>
          </a:xfrm>
          <a:prstGeom prst="rect">
            <a:avLst/>
          </a:prstGeom>
          <a:solidFill>
            <a:srgbClr val="2A78D6"/>
          </a:solidFill>
          <a:ln w="12700">
            <a:solidFill>
              <a:srgbClr val="2A78D6"/>
            </a:solidFill>
            <a:prstDash val="solid"/>
          </a:ln>
        </p:spPr>
      </p:sp>
      <p:sp>
        <p:nvSpPr>
          <p:cNvPr id="35" name="Text 32"/>
          <p:cNvSpPr txBox="1"/>
          <p:nvPr/>
        </p:nvSpPr>
        <p:spPr>
          <a:xfrm>
            <a:off x="452628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37%</a:t>
            </a:r>
            <a:endParaRPr lang="en-US" sz="3000" dirty="0"/>
          </a:p>
        </p:txBody>
      </p:sp>
      <p:sp>
        <p:nvSpPr>
          <p:cNvPr id="36" name="Text 33"/>
          <p:cNvSpPr txBox="1"/>
          <p:nvPr/>
        </p:nvSpPr>
        <p:spPr>
          <a:xfrm>
            <a:off x="452628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of derived fields consistent</a:t>
            </a:r>
            <a:endParaRPr lang="en-US" sz="1300" dirty="0"/>
          </a:p>
        </p:txBody>
      </p:sp>
      <p:sp>
        <p:nvSpPr>
          <p:cNvPr id="37" name="Treatment chip"/>
          <p:cNvSpPr/>
          <p:nvPr/>
        </p:nvSpPr>
        <p:spPr>
          <a:xfrm>
            <a:off x="4526280" y="4270248"/>
            <a:ext cx="1143000" cy="265176"/>
          </a:xfrm>
          <a:prstGeom prst="roundRect">
            <a:avLst>
              <a:gd name="adj" fmla="val 17241"/>
            </a:avLst>
          </a:prstGeom>
          <a:solidFill>
            <a:srgbClr val="2A78D6"/>
          </a:solidFill>
          <a:ln w="12700">
            <a:solidFill>
              <a:srgbClr val="2A78D6"/>
            </a:solidFill>
            <a:prstDash val="solid"/>
          </a:ln>
        </p:spPr>
      </p:sp>
      <p:sp>
        <p:nvSpPr>
          <p:cNvPr id="38" name="Text 35"/>
          <p:cNvSpPr txBox="1"/>
          <p:nvPr/>
        </p:nvSpPr>
        <p:spPr>
          <a:xfrm>
            <a:off x="452628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RECOMPUTED</a:t>
            </a:r>
            <a:endParaRPr lang="en-US" sz="1000" dirty="0"/>
          </a:p>
        </p:txBody>
      </p:sp>
      <p:sp>
        <p:nvSpPr>
          <p:cNvPr id="39" name="Text 36"/>
          <p:cNvSpPr txBox="1"/>
          <p:nvPr/>
        </p:nvSpPr>
        <p:spPr>
          <a:xfrm>
            <a:off x="576072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KPIs must reproduce 100%</a:t>
            </a:r>
            <a:endParaRPr lang="en-US" sz="1100" dirty="0"/>
          </a:p>
        </p:txBody>
      </p:sp>
      <p:sp>
        <p:nvSpPr>
          <p:cNvPr id="40" name="Challenge tile"/>
          <p:cNvSpPr/>
          <p:nvPr/>
        </p:nvSpPr>
        <p:spPr>
          <a:xfrm>
            <a:off x="8046720" y="3200400"/>
            <a:ext cx="3566160" cy="1463040"/>
          </a:xfrm>
          <a:prstGeom prst="roundRect">
            <a:avLst>
              <a:gd name="adj" fmla="val 5000"/>
            </a:avLst>
          </a:prstGeom>
          <a:solidFill>
            <a:srgbClr val="F2F6FB"/>
          </a:solidFill>
          <a:ln w="12700">
            <a:solidFill>
              <a:srgbClr val="F2F6FB"/>
            </a:solidFill>
            <a:prstDash val="solid"/>
          </a:ln>
        </p:spPr>
      </p:sp>
      <p:sp>
        <p:nvSpPr>
          <p:cNvPr id="41" name="Tile accent"/>
          <p:cNvSpPr/>
          <p:nvPr/>
        </p:nvSpPr>
        <p:spPr>
          <a:xfrm>
            <a:off x="8046720" y="3200400"/>
            <a:ext cx="82296" cy="1463040"/>
          </a:xfrm>
          <a:prstGeom prst="rect">
            <a:avLst/>
          </a:prstGeom>
          <a:solidFill>
            <a:srgbClr val="2A78D6"/>
          </a:solidFill>
          <a:ln w="12700">
            <a:solidFill>
              <a:srgbClr val="2A78D6"/>
            </a:solidFill>
            <a:prstDash val="solid"/>
          </a:ln>
        </p:spPr>
      </p:sp>
      <p:sp>
        <p:nvSpPr>
          <p:cNvPr id="42" name="Text 39"/>
          <p:cNvSpPr txBox="1"/>
          <p:nvPr/>
        </p:nvSpPr>
        <p:spPr>
          <a:xfrm>
            <a:off x="8275320" y="3291840"/>
            <a:ext cx="320040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907</a:t>
            </a:r>
            <a:endParaRPr lang="en-US" sz="3000" dirty="0"/>
          </a:p>
        </p:txBody>
      </p:sp>
      <p:sp>
        <p:nvSpPr>
          <p:cNvPr id="43" name="Text 40"/>
          <p:cNvSpPr txBox="1"/>
          <p:nvPr/>
        </p:nvSpPr>
        <p:spPr>
          <a:xfrm>
            <a:off x="8275320" y="3803904"/>
            <a:ext cx="3200400" cy="384048"/>
          </a:xfrm>
          <a:prstGeom prst="rect">
            <a:avLst/>
          </a:prstGeom>
          <a:noFill/>
          <a:ln/>
        </p:spPr>
        <p:txBody>
          <a:bodyPr wrap="square" lIns="0" tIns="0" rIns="0" bIns="0" rtlCol="0" anchor="t"/>
          <a:lstStyle/>
          <a:p>
            <a:pPr indent="0" marL="0">
              <a:buNone/>
            </a:pPr>
            <a:r>
              <a:rPr lang="en-US" sz="1300" dirty="0">
                <a:solidFill>
                  <a:srgbClr val="1B2A41"/>
                </a:solidFill>
              </a:rPr>
              <a:t>rows: zero stock but sales</a:t>
            </a:r>
            <a:endParaRPr lang="en-US" sz="1300" dirty="0"/>
          </a:p>
        </p:txBody>
      </p:sp>
      <p:sp>
        <p:nvSpPr>
          <p:cNvPr id="44" name="Treatment chip"/>
          <p:cNvSpPr/>
          <p:nvPr/>
        </p:nvSpPr>
        <p:spPr>
          <a:xfrm>
            <a:off x="8275320" y="4270248"/>
            <a:ext cx="1143000" cy="265176"/>
          </a:xfrm>
          <a:prstGeom prst="roundRect">
            <a:avLst>
              <a:gd name="adj" fmla="val 17241"/>
            </a:avLst>
          </a:prstGeom>
          <a:solidFill>
            <a:srgbClr val="2A78D6"/>
          </a:solidFill>
          <a:ln w="12700">
            <a:solidFill>
              <a:srgbClr val="2A78D6"/>
            </a:solidFill>
            <a:prstDash val="solid"/>
          </a:ln>
        </p:spPr>
      </p:sp>
      <p:sp>
        <p:nvSpPr>
          <p:cNvPr id="45" name="Text 42"/>
          <p:cNvSpPr txBox="1"/>
          <p:nvPr/>
        </p:nvSpPr>
        <p:spPr>
          <a:xfrm>
            <a:off x="8275320" y="427024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REALIGNED</a:t>
            </a:r>
            <a:endParaRPr lang="en-US" sz="1000" dirty="0"/>
          </a:p>
        </p:txBody>
      </p:sp>
      <p:sp>
        <p:nvSpPr>
          <p:cNvPr id="46" name="Text 43"/>
          <p:cNvSpPr txBox="1"/>
          <p:nvPr/>
        </p:nvSpPr>
        <p:spPr>
          <a:xfrm>
            <a:off x="9509760" y="424281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 previous row's inventory</a:t>
            </a:r>
            <a:endParaRPr lang="en-US" sz="1100" dirty="0"/>
          </a:p>
        </p:txBody>
      </p:sp>
      <p:sp>
        <p:nvSpPr>
          <p:cNvPr id="47" name="Challenge tile"/>
          <p:cNvSpPr/>
          <p:nvPr/>
        </p:nvSpPr>
        <p:spPr>
          <a:xfrm>
            <a:off x="548640" y="4754880"/>
            <a:ext cx="3566160" cy="1463040"/>
          </a:xfrm>
          <a:prstGeom prst="roundRect">
            <a:avLst>
              <a:gd name="adj" fmla="val 5000"/>
            </a:avLst>
          </a:prstGeom>
          <a:solidFill>
            <a:srgbClr val="F2F6FB"/>
          </a:solidFill>
          <a:ln w="12700">
            <a:solidFill>
              <a:srgbClr val="F2F6FB"/>
            </a:solidFill>
            <a:prstDash val="solid"/>
          </a:ln>
        </p:spPr>
      </p:sp>
      <p:sp>
        <p:nvSpPr>
          <p:cNvPr id="48" name="Tile accent"/>
          <p:cNvSpPr/>
          <p:nvPr/>
        </p:nvSpPr>
        <p:spPr>
          <a:xfrm>
            <a:off x="548640" y="4754880"/>
            <a:ext cx="82296" cy="1463040"/>
          </a:xfrm>
          <a:prstGeom prst="rect">
            <a:avLst/>
          </a:prstGeom>
          <a:solidFill>
            <a:srgbClr val="EB6834"/>
          </a:solidFill>
          <a:ln w="12700">
            <a:solidFill>
              <a:srgbClr val="EB6834"/>
            </a:solidFill>
            <a:prstDash val="solid"/>
          </a:ln>
        </p:spPr>
      </p:sp>
      <p:sp>
        <p:nvSpPr>
          <p:cNvPr id="49" name="Text 46"/>
          <p:cNvSpPr txBox="1"/>
          <p:nvPr/>
        </p:nvSpPr>
        <p:spPr>
          <a:xfrm>
            <a:off x="77724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1,329</a:t>
            </a:r>
            <a:endParaRPr lang="en-US" sz="3000" dirty="0"/>
          </a:p>
        </p:txBody>
      </p:sp>
      <p:sp>
        <p:nvSpPr>
          <p:cNvPr id="50" name="Text 47"/>
          <p:cNvSpPr txBox="1"/>
          <p:nvPr/>
        </p:nvSpPr>
        <p:spPr>
          <a:xfrm>
            <a:off x="77724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zero-sales weeks, pile-ups at 1,500 / 2,500</a:t>
            </a:r>
            <a:endParaRPr lang="en-US" sz="1300" dirty="0"/>
          </a:p>
        </p:txBody>
      </p:sp>
      <p:sp>
        <p:nvSpPr>
          <p:cNvPr id="51" name="Treatment chip"/>
          <p:cNvSpPr/>
          <p:nvPr/>
        </p:nvSpPr>
        <p:spPr>
          <a:xfrm>
            <a:off x="777240" y="5824728"/>
            <a:ext cx="1143000" cy="265176"/>
          </a:xfrm>
          <a:prstGeom prst="roundRect">
            <a:avLst>
              <a:gd name="adj" fmla="val 17241"/>
            </a:avLst>
          </a:prstGeom>
          <a:solidFill>
            <a:srgbClr val="EB6834"/>
          </a:solidFill>
          <a:ln w="12700">
            <a:solidFill>
              <a:srgbClr val="EB6834"/>
            </a:solidFill>
            <a:prstDash val="solid"/>
          </a:ln>
        </p:spPr>
      </p:sp>
      <p:sp>
        <p:nvSpPr>
          <p:cNvPr id="52" name="Text 49"/>
          <p:cNvSpPr txBox="1"/>
          <p:nvPr/>
        </p:nvSpPr>
        <p:spPr>
          <a:xfrm>
            <a:off x="77724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53" name="Text 50"/>
          <p:cNvSpPr txBox="1"/>
          <p:nvPr/>
        </p:nvSpPr>
        <p:spPr>
          <a:xfrm>
            <a:off x="201168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stock caps, not errors</a:t>
            </a:r>
            <a:endParaRPr lang="en-US" sz="1100" dirty="0"/>
          </a:p>
        </p:txBody>
      </p:sp>
      <p:sp>
        <p:nvSpPr>
          <p:cNvPr id="54" name="Challenge tile"/>
          <p:cNvSpPr/>
          <p:nvPr/>
        </p:nvSpPr>
        <p:spPr>
          <a:xfrm>
            <a:off x="4297680" y="4754880"/>
            <a:ext cx="3566160" cy="1463040"/>
          </a:xfrm>
          <a:prstGeom prst="roundRect">
            <a:avLst>
              <a:gd name="adj" fmla="val 5000"/>
            </a:avLst>
          </a:prstGeom>
          <a:solidFill>
            <a:srgbClr val="F2F6FB"/>
          </a:solidFill>
          <a:ln w="12700">
            <a:solidFill>
              <a:srgbClr val="F2F6FB"/>
            </a:solidFill>
            <a:prstDash val="solid"/>
          </a:ln>
        </p:spPr>
      </p:sp>
      <p:sp>
        <p:nvSpPr>
          <p:cNvPr id="55" name="Tile accent"/>
          <p:cNvSpPr/>
          <p:nvPr/>
        </p:nvSpPr>
        <p:spPr>
          <a:xfrm>
            <a:off x="4297680" y="4754880"/>
            <a:ext cx="82296" cy="1463040"/>
          </a:xfrm>
          <a:prstGeom prst="rect">
            <a:avLst/>
          </a:prstGeom>
          <a:solidFill>
            <a:srgbClr val="EB6834"/>
          </a:solidFill>
          <a:ln w="12700">
            <a:solidFill>
              <a:srgbClr val="EB6834"/>
            </a:solidFill>
            <a:prstDash val="solid"/>
          </a:ln>
        </p:spPr>
      </p:sp>
      <p:sp>
        <p:nvSpPr>
          <p:cNvPr id="56" name="Text 53"/>
          <p:cNvSpPr txBox="1"/>
          <p:nvPr/>
        </p:nvSpPr>
        <p:spPr>
          <a:xfrm>
            <a:off x="4526280" y="4846320"/>
            <a:ext cx="3200400" cy="5029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23</a:t>
            </a:r>
            <a:endParaRPr lang="en-US" sz="3000" dirty="0"/>
          </a:p>
        </p:txBody>
      </p:sp>
      <p:sp>
        <p:nvSpPr>
          <p:cNvPr id="57" name="Text 54"/>
          <p:cNvSpPr txBox="1"/>
          <p:nvPr/>
        </p:nvSpPr>
        <p:spPr>
          <a:xfrm>
            <a:off x="452628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sales outliers</a:t>
            </a:r>
            <a:endParaRPr lang="en-US" sz="1300" dirty="0"/>
          </a:p>
        </p:txBody>
      </p:sp>
      <p:sp>
        <p:nvSpPr>
          <p:cNvPr id="58" name="Treatment chip"/>
          <p:cNvSpPr/>
          <p:nvPr/>
        </p:nvSpPr>
        <p:spPr>
          <a:xfrm>
            <a:off x="4526280" y="5824728"/>
            <a:ext cx="1143000" cy="265176"/>
          </a:xfrm>
          <a:prstGeom prst="roundRect">
            <a:avLst>
              <a:gd name="adj" fmla="val 17241"/>
            </a:avLst>
          </a:prstGeom>
          <a:solidFill>
            <a:srgbClr val="EB6834"/>
          </a:solidFill>
          <a:ln w="12700">
            <a:solidFill>
              <a:srgbClr val="EB6834"/>
            </a:solidFill>
            <a:prstDash val="solid"/>
          </a:ln>
        </p:spPr>
      </p:sp>
      <p:sp>
        <p:nvSpPr>
          <p:cNvPr id="59" name="Text 56"/>
          <p:cNvSpPr txBox="1"/>
          <p:nvPr/>
        </p:nvSpPr>
        <p:spPr>
          <a:xfrm>
            <a:off x="452628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FLAGGED</a:t>
            </a:r>
            <a:endParaRPr lang="en-US" sz="1000" dirty="0"/>
          </a:p>
        </p:txBody>
      </p:sp>
      <p:sp>
        <p:nvSpPr>
          <p:cNvPr id="60" name="Text 57"/>
          <p:cNvSpPr txBox="1"/>
          <p:nvPr/>
        </p:nvSpPr>
        <p:spPr>
          <a:xfrm>
            <a:off x="576072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winsorised copy, original kept</a:t>
            </a:r>
            <a:endParaRPr lang="en-US" sz="1100" dirty="0"/>
          </a:p>
        </p:txBody>
      </p:sp>
      <p:sp>
        <p:nvSpPr>
          <p:cNvPr id="61" name="Challenge tile"/>
          <p:cNvSpPr/>
          <p:nvPr/>
        </p:nvSpPr>
        <p:spPr>
          <a:xfrm>
            <a:off x="8046720" y="4754880"/>
            <a:ext cx="3566160" cy="1463040"/>
          </a:xfrm>
          <a:prstGeom prst="roundRect">
            <a:avLst>
              <a:gd name="adj" fmla="val 5000"/>
            </a:avLst>
          </a:prstGeom>
          <a:solidFill>
            <a:srgbClr val="F2F6FB"/>
          </a:solidFill>
          <a:ln w="12700">
            <a:solidFill>
              <a:srgbClr val="F2F6FB"/>
            </a:solidFill>
            <a:prstDash val="solid"/>
          </a:ln>
        </p:spPr>
      </p:sp>
      <p:sp>
        <p:nvSpPr>
          <p:cNvPr id="62" name="Tile accent"/>
          <p:cNvSpPr/>
          <p:nvPr/>
        </p:nvSpPr>
        <p:spPr>
          <a:xfrm>
            <a:off x="8046720" y="4754880"/>
            <a:ext cx="82296" cy="1463040"/>
          </a:xfrm>
          <a:prstGeom prst="rect">
            <a:avLst/>
          </a:prstGeom>
          <a:solidFill>
            <a:srgbClr val="12263F"/>
          </a:solidFill>
          <a:ln w="12700">
            <a:solidFill>
              <a:srgbClr val="12263F"/>
            </a:solidFill>
            <a:prstDash val="solid"/>
          </a:ln>
        </p:spPr>
      </p:sp>
      <p:sp>
        <p:nvSpPr>
          <p:cNvPr id="63" name="Text 60"/>
          <p:cNvSpPr txBox="1"/>
          <p:nvPr/>
        </p:nvSpPr>
        <p:spPr>
          <a:xfrm>
            <a:off x="8275320" y="4846320"/>
            <a:ext cx="3200400" cy="502920"/>
          </a:xfrm>
          <a:prstGeom prst="rect">
            <a:avLst/>
          </a:prstGeom>
          <a:noFill/>
          <a:ln/>
        </p:spPr>
        <p:txBody>
          <a:bodyPr wrap="square" lIns="0" tIns="0" rIns="0" bIns="0" rtlCol="0" anchor="ctr"/>
          <a:lstStyle/>
          <a:p>
            <a:pPr indent="0" marL="0">
              <a:buNone/>
            </a:pPr>
            <a:r>
              <a:rPr lang="en-US" sz="3000" b="1" dirty="0">
                <a:solidFill>
                  <a:srgbClr val="12263F"/>
                </a:solidFill>
                <a:latin typeface="Cambria" pitchFamily="34" charset="0"/>
                <a:ea typeface="Cambria" pitchFamily="34" charset="-122"/>
                <a:cs typeface="Cambria" pitchFamily="34" charset="-120"/>
              </a:rPr>
              <a:t>3</a:t>
            </a:r>
            <a:endParaRPr lang="en-US" sz="3000" dirty="0"/>
          </a:p>
        </p:txBody>
      </p:sp>
      <p:sp>
        <p:nvSpPr>
          <p:cNvPr id="64" name="Text 61"/>
          <p:cNvSpPr txBox="1"/>
          <p:nvPr/>
        </p:nvSpPr>
        <p:spPr>
          <a:xfrm>
            <a:off x="8275320" y="5358384"/>
            <a:ext cx="3200400" cy="384048"/>
          </a:xfrm>
          <a:prstGeom prst="rect">
            <a:avLst/>
          </a:prstGeom>
          <a:noFill/>
          <a:ln/>
        </p:spPr>
        <p:txBody>
          <a:bodyPr wrap="square" lIns="0" tIns="0" rIns="0" bIns="0" rtlCol="0" anchor="t"/>
          <a:lstStyle/>
          <a:p>
            <a:pPr indent="0" marL="0">
              <a:buNone/>
            </a:pPr>
            <a:r>
              <a:rPr lang="en-US" sz="1300" dirty="0">
                <a:solidFill>
                  <a:srgbClr val="1B2A41"/>
                </a:solidFill>
              </a:rPr>
              <a:t>missing sources: dates, customers, competitors</a:t>
            </a:r>
            <a:endParaRPr lang="en-US" sz="1300" dirty="0"/>
          </a:p>
        </p:txBody>
      </p:sp>
      <p:sp>
        <p:nvSpPr>
          <p:cNvPr id="65" name="Treatment chip"/>
          <p:cNvSpPr/>
          <p:nvPr/>
        </p:nvSpPr>
        <p:spPr>
          <a:xfrm>
            <a:off x="8275320" y="5824728"/>
            <a:ext cx="1143000" cy="265176"/>
          </a:xfrm>
          <a:prstGeom prst="roundRect">
            <a:avLst>
              <a:gd name="adj" fmla="val 17241"/>
            </a:avLst>
          </a:prstGeom>
          <a:solidFill>
            <a:srgbClr val="12263F"/>
          </a:solidFill>
          <a:ln w="12700">
            <a:solidFill>
              <a:srgbClr val="12263F"/>
            </a:solidFill>
            <a:prstDash val="solid"/>
          </a:ln>
        </p:spPr>
      </p:sp>
      <p:sp>
        <p:nvSpPr>
          <p:cNvPr id="66" name="Text 63"/>
          <p:cNvSpPr txBox="1"/>
          <p:nvPr/>
        </p:nvSpPr>
        <p:spPr>
          <a:xfrm>
            <a:off x="8275320" y="5824728"/>
            <a:ext cx="1143000" cy="265176"/>
          </a:xfrm>
          <a:prstGeom prst="rect">
            <a:avLst/>
          </a:prstGeom>
          <a:noFill/>
          <a:ln/>
        </p:spPr>
        <p:txBody>
          <a:bodyPr wrap="square" lIns="0" tIns="0" rIns="0" bIns="0" rtlCol="0" anchor="ctr"/>
          <a:lstStyle/>
          <a:p>
            <a:pPr algn="ctr" indent="0" marL="0">
              <a:buNone/>
            </a:pPr>
            <a:r>
              <a:rPr lang="en-US" sz="1000" b="1" dirty="0">
                <a:solidFill>
                  <a:srgbClr val="FFFFFF"/>
                </a:solidFill>
              </a:rPr>
              <a:t>ASSUMED</a:t>
            </a:r>
            <a:endParaRPr lang="en-US" sz="1000" dirty="0"/>
          </a:p>
        </p:txBody>
      </p:sp>
      <p:sp>
        <p:nvSpPr>
          <p:cNvPr id="67" name="Text 64"/>
          <p:cNvSpPr txBox="1"/>
          <p:nvPr/>
        </p:nvSpPr>
        <p:spPr>
          <a:xfrm>
            <a:off x="9509760" y="5797296"/>
            <a:ext cx="2011680" cy="329184"/>
          </a:xfrm>
          <a:prstGeom prst="rect">
            <a:avLst/>
          </a:prstGeom>
          <a:noFill/>
          <a:ln/>
        </p:spPr>
        <p:txBody>
          <a:bodyPr wrap="square" lIns="0" tIns="0" rIns="0" bIns="0" rtlCol="0" anchor="ctr"/>
          <a:lstStyle/>
          <a:p>
            <a:pPr indent="0" marL="0">
              <a:buNone/>
            </a:pPr>
            <a:r>
              <a:rPr lang="en-US" sz="1100" i="1" dirty="0">
                <a:solidFill>
                  <a:srgbClr val="5B6B80"/>
                </a:solidFill>
              </a:rPr>
              <a:t>synthetic calendar, labelled scenarios</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PRE-PROCESSING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Data finding and the demand_est computation</a:t>
            </a:r>
            <a:endParaRPr lang="en-US" sz="3000" dirty="0"/>
          </a:p>
        </p:txBody>
      </p:sp>
      <p:sp>
        <p:nvSpPr>
          <p:cNvPr id="5" name="Stat card"/>
          <p:cNvSpPr/>
          <p:nvPr/>
        </p:nvSpPr>
        <p:spPr>
          <a:xfrm>
            <a:off x="548640" y="1600200"/>
            <a:ext cx="3566160" cy="1051560"/>
          </a:xfrm>
          <a:prstGeom prst="roundRect">
            <a:avLst>
              <a:gd name="adj" fmla="val 6957"/>
            </a:avLst>
          </a:prstGeom>
          <a:solidFill>
            <a:srgbClr val="F2F6FB"/>
          </a:solidFill>
          <a:ln w="12700">
            <a:solidFill>
              <a:srgbClr val="F2F6FB"/>
            </a:solidFill>
            <a:prstDash val="solid"/>
          </a:ln>
        </p:spPr>
      </p:sp>
      <p:sp>
        <p:nvSpPr>
          <p:cNvPr id="6" name="Text 3"/>
          <p:cNvSpPr txBox="1"/>
          <p:nvPr/>
        </p:nvSpPr>
        <p:spPr>
          <a:xfrm>
            <a:off x="685800" y="1673352"/>
            <a:ext cx="3291840" cy="473202"/>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7" name="Text 4"/>
          <p:cNvSpPr txBox="1"/>
          <p:nvPr/>
        </p:nvSpPr>
        <p:spPr>
          <a:xfrm>
            <a:off x="68580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correlation of sales with the PREVIOUS row's stock</a:t>
            </a:r>
            <a:endParaRPr lang="en-US" sz="1300" dirty="0"/>
          </a:p>
        </p:txBody>
      </p:sp>
      <p:sp>
        <p:nvSpPr>
          <p:cNvPr id="8" name="Stat card"/>
          <p:cNvSpPr/>
          <p:nvPr/>
        </p:nvSpPr>
        <p:spPr>
          <a:xfrm>
            <a:off x="4297680" y="1600200"/>
            <a:ext cx="3566160" cy="1051560"/>
          </a:xfrm>
          <a:prstGeom prst="roundRect">
            <a:avLst>
              <a:gd name="adj" fmla="val 6957"/>
            </a:avLst>
          </a:prstGeom>
          <a:solidFill>
            <a:srgbClr val="F2F6FB"/>
          </a:solidFill>
          <a:ln w="12700">
            <a:solidFill>
              <a:srgbClr val="F2F6FB"/>
            </a:solidFill>
            <a:prstDash val="solid"/>
          </a:ln>
        </p:spPr>
      </p:sp>
      <p:sp>
        <p:nvSpPr>
          <p:cNvPr id="9" name="Text 6"/>
          <p:cNvSpPr txBox="1"/>
          <p:nvPr/>
        </p:nvSpPr>
        <p:spPr>
          <a:xfrm>
            <a:off x="4434840" y="1673352"/>
            <a:ext cx="3291840" cy="473202"/>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0" name="Text 7"/>
          <p:cNvSpPr txBox="1"/>
          <p:nvPr/>
        </p:nvSpPr>
        <p:spPr>
          <a:xfrm>
            <a:off x="443484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stock-out weeks, every one with zero sales</a:t>
            </a:r>
            <a:endParaRPr lang="en-US" sz="1300" dirty="0"/>
          </a:p>
        </p:txBody>
      </p:sp>
      <p:sp>
        <p:nvSpPr>
          <p:cNvPr id="11" name="Stat card"/>
          <p:cNvSpPr/>
          <p:nvPr/>
        </p:nvSpPr>
        <p:spPr>
          <a:xfrm>
            <a:off x="8046720" y="1600200"/>
            <a:ext cx="3566160" cy="1051560"/>
          </a:xfrm>
          <a:prstGeom prst="roundRect">
            <a:avLst>
              <a:gd name="adj" fmla="val 6957"/>
            </a:avLst>
          </a:prstGeom>
          <a:solidFill>
            <a:srgbClr val="F2F6FB"/>
          </a:solidFill>
          <a:ln w="12700">
            <a:solidFill>
              <a:srgbClr val="F2F6FB"/>
            </a:solidFill>
            <a:prstDash val="solid"/>
          </a:ln>
        </p:spPr>
      </p:sp>
      <p:sp>
        <p:nvSpPr>
          <p:cNvPr id="12" name="Text 9"/>
          <p:cNvSpPr txBox="1"/>
          <p:nvPr/>
        </p:nvSpPr>
        <p:spPr>
          <a:xfrm>
            <a:off x="8183880" y="1673352"/>
            <a:ext cx="3291840" cy="473202"/>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2,813</a:t>
            </a:r>
            <a:endParaRPr lang="en-US" sz="2800" dirty="0"/>
          </a:p>
        </p:txBody>
      </p:sp>
      <p:sp>
        <p:nvSpPr>
          <p:cNvPr id="13" name="Text 10"/>
          <p:cNvSpPr txBox="1"/>
          <p:nvPr/>
        </p:nvSpPr>
        <p:spPr>
          <a:xfrm>
            <a:off x="8183880" y="2147011"/>
            <a:ext cx="3291840" cy="483718"/>
          </a:xfrm>
          <a:prstGeom prst="rect">
            <a:avLst/>
          </a:prstGeom>
          <a:noFill/>
          <a:ln/>
        </p:spPr>
        <p:txBody>
          <a:bodyPr wrap="square" lIns="0" tIns="0" rIns="0" bIns="0" rtlCol="0" anchor="t"/>
          <a:lstStyle/>
          <a:p>
            <a:pPr indent="0" marL="0">
              <a:buNone/>
            </a:pPr>
            <a:r>
              <a:rPr lang="en-US" sz="1300" dirty="0">
                <a:solidFill>
                  <a:srgbClr val="5B6B80"/>
                </a:solidFill>
              </a:rPr>
              <a:t>weeks where sales equal stock (pile-ups at 1,500 / 2,500)</a:t>
            </a:r>
            <a:endParaRPr lang="en-US" sz="1300" dirty="0"/>
          </a:p>
        </p:txBody>
      </p:sp>
      <p:sp>
        <p:nvSpPr>
          <p:cNvPr id="14" name="Conclusion band"/>
          <p:cNvSpPr/>
          <p:nvPr/>
        </p:nvSpPr>
        <p:spPr>
          <a:xfrm>
            <a:off x="548640" y="2761488"/>
            <a:ext cx="11064240" cy="384048"/>
          </a:xfrm>
          <a:prstGeom prst="rect">
            <a:avLst/>
          </a:prstGeom>
          <a:solidFill>
            <a:srgbClr val="12263F"/>
          </a:solidFill>
          <a:ln w="12700">
            <a:solidFill>
              <a:srgbClr val="12263F"/>
            </a:solidFill>
            <a:prstDash val="solid"/>
          </a:ln>
        </p:spPr>
      </p:sp>
      <p:sp>
        <p:nvSpPr>
          <p:cNvPr id="15" name="Text 12"/>
          <p:cNvSpPr txBox="1"/>
          <p:nvPr/>
        </p:nvSpPr>
        <p:spPr>
          <a:xfrm>
            <a:off x="731520" y="2761488"/>
            <a:ext cx="10698480" cy="384048"/>
          </a:xfrm>
          <a:prstGeom prst="rect">
            <a:avLst/>
          </a:prstGeom>
          <a:noFill/>
          <a:ln/>
        </p:spPr>
        <p:txBody>
          <a:bodyPr wrap="square" lIns="0" tIns="0" rIns="0" bIns="0" rtlCol="0" anchor="ctr"/>
          <a:lstStyle/>
          <a:p>
            <a:pPr indent="0" marL="0">
              <a:buNone/>
            </a:pPr>
            <a:r>
              <a:rPr lang="en-US" sz="1250" b="1" dirty="0">
                <a:solidFill>
                  <a:srgbClr val="FFFFFF"/>
                </a:solidFill>
              </a:rPr>
              <a:t>sales = min(demand, stock)  →  53% of weeks understate demand  →  demand_est is computed per week type</a:t>
            </a:r>
            <a:endParaRPr lang="en-US" sz="1250" dirty="0"/>
          </a:p>
        </p:txBody>
      </p:sp>
      <p:sp>
        <p:nvSpPr>
          <p:cNvPr id="16" name="Week type card"/>
          <p:cNvSpPr/>
          <p:nvPr/>
        </p:nvSpPr>
        <p:spPr>
          <a:xfrm>
            <a:off x="548640" y="3246120"/>
            <a:ext cx="3566160" cy="2514600"/>
          </a:xfrm>
          <a:prstGeom prst="roundRect">
            <a:avLst>
              <a:gd name="adj" fmla="val 2909"/>
            </a:avLst>
          </a:prstGeom>
          <a:solidFill>
            <a:srgbClr val="F2F6FB"/>
          </a:solidFill>
          <a:ln w="12700">
            <a:solidFill>
              <a:srgbClr val="F2F6FB"/>
            </a:solidFill>
            <a:prstDash val="solid"/>
          </a:ln>
        </p:spPr>
      </p:sp>
      <p:sp>
        <p:nvSpPr>
          <p:cNvPr id="17" name="Card accent"/>
          <p:cNvSpPr/>
          <p:nvPr/>
        </p:nvSpPr>
        <p:spPr>
          <a:xfrm>
            <a:off x="548640" y="3246120"/>
            <a:ext cx="3566160" cy="64008"/>
          </a:xfrm>
          <a:prstGeom prst="rect">
            <a:avLst/>
          </a:prstGeom>
          <a:solidFill>
            <a:srgbClr val="2A78D6"/>
          </a:solidFill>
          <a:ln w="12700">
            <a:solidFill>
              <a:srgbClr val="2A78D6"/>
            </a:solidFill>
            <a:prstDash val="solid"/>
          </a:ln>
        </p:spPr>
      </p:sp>
      <p:sp>
        <p:nvSpPr>
          <p:cNvPr id="18" name="Text 15"/>
          <p:cNvSpPr txBox="1"/>
          <p:nvPr/>
        </p:nvSpPr>
        <p:spPr>
          <a:xfrm>
            <a:off x="73152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Unconstrained  ·  46.5%</a:t>
            </a:r>
            <a:endParaRPr lang="en-US" sz="1400" dirty="0"/>
          </a:p>
        </p:txBody>
      </p:sp>
      <p:sp>
        <p:nvSpPr>
          <p:cNvPr id="19" name="Text 16"/>
          <p:cNvSpPr txBox="1"/>
          <p:nvPr/>
        </p:nvSpPr>
        <p:spPr>
          <a:xfrm>
            <a:off x="731520" y="3630168"/>
            <a:ext cx="3200400" cy="384048"/>
          </a:xfrm>
          <a:prstGeom prst="rect">
            <a:avLst/>
          </a:prstGeom>
          <a:noFill/>
          <a:ln/>
        </p:spPr>
        <p:txBody>
          <a:bodyPr wrap="square" lIns="0" tIns="0" rIns="0" bIns="0" rtlCol="0" anchor="t"/>
          <a:lstStyle/>
          <a:p>
            <a:pPr indent="0" marL="0">
              <a:buNone/>
            </a:pPr>
            <a:r>
              <a:rPr lang="en-US" sz="1050" b="1" dirty="0">
                <a:solidFill>
                  <a:srgbClr val="1F5FB0"/>
                </a:solidFill>
              </a:rPr>
              <a:t>demand_est = sales</a:t>
            </a:r>
            <a:endParaRPr lang="en-US" sz="1050" dirty="0"/>
          </a:p>
        </p:txBody>
      </p:sp>
      <p:sp>
        <p:nvSpPr>
          <p:cNvPr id="20" name="Text 17"/>
          <p:cNvSpPr txBox="1"/>
          <p:nvPr/>
        </p:nvSpPr>
        <p:spPr>
          <a:xfrm>
            <a:off x="73152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stock was enough, so sales are the demand</a:t>
            </a:r>
            <a:endParaRPr lang="en-US" sz="1000" dirty="0"/>
          </a:p>
        </p:txBody>
      </p:sp>
      <p:sp>
        <p:nvSpPr>
          <p:cNvPr id="21" name="Text 18"/>
          <p:cNvSpPr txBox="1"/>
          <p:nvPr/>
        </p:nvSpPr>
        <p:spPr>
          <a:xfrm>
            <a:off x="73152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28</a:t>
            </a:r>
            <a:endParaRPr lang="en-US" sz="1050" dirty="0"/>
          </a:p>
        </p:txBody>
      </p:sp>
      <p:sp>
        <p:nvSpPr>
          <p:cNvPr id="22" name="Text 19"/>
          <p:cNvSpPr txBox="1"/>
          <p:nvPr/>
        </p:nvSpPr>
        <p:spPr>
          <a:xfrm>
            <a:off x="237744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23" name="Text 20"/>
          <p:cNvSpPr txBox="1"/>
          <p:nvPr/>
        </p:nvSpPr>
        <p:spPr>
          <a:xfrm>
            <a:off x="73152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24" name="Text 21"/>
          <p:cNvSpPr txBox="1"/>
          <p:nvPr/>
        </p:nvSpPr>
        <p:spPr>
          <a:xfrm>
            <a:off x="237744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2,201</a:t>
            </a:r>
            <a:endParaRPr lang="en-US" sz="1050" dirty="0"/>
          </a:p>
        </p:txBody>
      </p:sp>
      <p:sp>
        <p:nvSpPr>
          <p:cNvPr id="25" name="Text 22"/>
          <p:cNvSpPr txBox="1"/>
          <p:nvPr/>
        </p:nvSpPr>
        <p:spPr>
          <a:xfrm>
            <a:off x="73152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Stock available</a:t>
            </a:r>
            <a:endParaRPr lang="en-US" sz="1050" dirty="0"/>
          </a:p>
        </p:txBody>
      </p:sp>
      <p:sp>
        <p:nvSpPr>
          <p:cNvPr id="26" name="Text 23"/>
          <p:cNvSpPr txBox="1"/>
          <p:nvPr/>
        </p:nvSpPr>
        <p:spPr>
          <a:xfrm>
            <a:off x="237744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a:t>
            </a:r>
            <a:endParaRPr lang="en-US" sz="1050" dirty="0"/>
          </a:p>
        </p:txBody>
      </p:sp>
      <p:sp>
        <p:nvSpPr>
          <p:cNvPr id="27" name="Text 24"/>
          <p:cNvSpPr txBox="1"/>
          <p:nvPr/>
        </p:nvSpPr>
        <p:spPr>
          <a:xfrm>
            <a:off x="73152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28" name="Text 25"/>
          <p:cNvSpPr txBox="1"/>
          <p:nvPr/>
        </p:nvSpPr>
        <p:spPr>
          <a:xfrm>
            <a:off x="237744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2,211</a:t>
            </a:r>
            <a:endParaRPr lang="en-US" sz="1050" dirty="0"/>
          </a:p>
        </p:txBody>
      </p:sp>
      <p:sp>
        <p:nvSpPr>
          <p:cNvPr id="29" name="Text 26"/>
          <p:cNvSpPr txBox="1"/>
          <p:nvPr/>
        </p:nvSpPr>
        <p:spPr>
          <a:xfrm>
            <a:off x="73152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30" name="Text 27"/>
          <p:cNvSpPr txBox="1"/>
          <p:nvPr/>
        </p:nvSpPr>
        <p:spPr>
          <a:xfrm>
            <a:off x="237744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2,343</a:t>
            </a:r>
            <a:endParaRPr lang="en-US" sz="1050" dirty="0"/>
          </a:p>
        </p:txBody>
      </p:sp>
      <p:sp>
        <p:nvSpPr>
          <p:cNvPr id="31" name="Text 28"/>
          <p:cNvSpPr txBox="1"/>
          <p:nvPr/>
        </p:nvSpPr>
        <p:spPr>
          <a:xfrm>
            <a:off x="731520" y="5413248"/>
            <a:ext cx="2377440" cy="292608"/>
          </a:xfrm>
          <a:prstGeom prst="rect">
            <a:avLst/>
          </a:prstGeom>
          <a:noFill/>
          <a:ln/>
        </p:spPr>
        <p:txBody>
          <a:bodyPr wrap="square" lIns="0" tIns="0" rIns="0" bIns="0" rtlCol="0" anchor="ctr"/>
          <a:lstStyle/>
          <a:p>
            <a:pPr indent="0" marL="0">
              <a:buNone/>
            </a:pPr>
            <a:r>
              <a:rPr lang="en-US" sz="1350" b="1" dirty="0">
                <a:solidFill>
                  <a:srgbClr val="1F5FB0"/>
                </a:solidFill>
                <a:latin typeface="Cambria" pitchFamily="34" charset="0"/>
                <a:ea typeface="Cambria" pitchFamily="34" charset="-122"/>
                <a:cs typeface="Cambria" pitchFamily="34" charset="-120"/>
              </a:rPr>
              <a:t>demand_est = 2,201</a:t>
            </a:r>
            <a:endParaRPr lang="en-US" sz="1350" dirty="0"/>
          </a:p>
        </p:txBody>
      </p:sp>
      <p:sp>
        <p:nvSpPr>
          <p:cNvPr id="32" name="Text 29"/>
          <p:cNvSpPr txBox="1"/>
          <p:nvPr/>
        </p:nvSpPr>
        <p:spPr>
          <a:xfrm>
            <a:off x="310896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observed</a:t>
            </a:r>
            <a:endParaRPr lang="en-US" sz="900" dirty="0"/>
          </a:p>
        </p:txBody>
      </p:sp>
      <p:sp>
        <p:nvSpPr>
          <p:cNvPr id="33" name="Week type card"/>
          <p:cNvSpPr/>
          <p:nvPr/>
        </p:nvSpPr>
        <p:spPr>
          <a:xfrm>
            <a:off x="4297680" y="3246120"/>
            <a:ext cx="3566160" cy="2514600"/>
          </a:xfrm>
          <a:prstGeom prst="roundRect">
            <a:avLst>
              <a:gd name="adj" fmla="val 2909"/>
            </a:avLst>
          </a:prstGeom>
          <a:solidFill>
            <a:srgbClr val="F2F6FB"/>
          </a:solidFill>
          <a:ln w="12700">
            <a:solidFill>
              <a:srgbClr val="F2F6FB"/>
            </a:solidFill>
            <a:prstDash val="solid"/>
          </a:ln>
        </p:spPr>
      </p:sp>
      <p:sp>
        <p:nvSpPr>
          <p:cNvPr id="34" name="Card accent"/>
          <p:cNvSpPr/>
          <p:nvPr/>
        </p:nvSpPr>
        <p:spPr>
          <a:xfrm>
            <a:off x="4297680" y="3246120"/>
            <a:ext cx="3566160" cy="64008"/>
          </a:xfrm>
          <a:prstGeom prst="rect">
            <a:avLst/>
          </a:prstGeom>
          <a:solidFill>
            <a:srgbClr val="EB6834"/>
          </a:solidFill>
          <a:ln w="12700">
            <a:solidFill>
              <a:srgbClr val="EB6834"/>
            </a:solidFill>
            <a:prstDash val="solid"/>
          </a:ln>
        </p:spPr>
      </p:sp>
      <p:sp>
        <p:nvSpPr>
          <p:cNvPr id="35" name="Text 32"/>
          <p:cNvSpPr txBox="1"/>
          <p:nvPr/>
        </p:nvSpPr>
        <p:spPr>
          <a:xfrm>
            <a:off x="448056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Stock-limited  ·  36.1%</a:t>
            </a:r>
            <a:endParaRPr lang="en-US" sz="1400" dirty="0"/>
          </a:p>
        </p:txBody>
      </p:sp>
      <p:sp>
        <p:nvSpPr>
          <p:cNvPr id="36" name="Text 33"/>
          <p:cNvSpPr txBox="1"/>
          <p:nvPr/>
        </p:nvSpPr>
        <p:spPr>
          <a:xfrm>
            <a:off x="4480560" y="3630168"/>
            <a:ext cx="3200400" cy="384048"/>
          </a:xfrm>
          <a:prstGeom prst="rect">
            <a:avLst/>
          </a:prstGeom>
          <a:noFill/>
          <a:ln/>
        </p:spPr>
        <p:txBody>
          <a:bodyPr wrap="square" lIns="0" tIns="0" rIns="0" bIns="0" rtlCol="0" anchor="t"/>
          <a:lstStyle/>
          <a:p>
            <a:pPr indent="0" marL="0">
              <a:buNone/>
            </a:pPr>
            <a:r>
              <a:rPr lang="en-US" sz="1050" b="1" dirty="0">
                <a:solidFill>
                  <a:srgbClr val="C24E1F"/>
                </a:solidFill>
              </a:rPr>
              <a:t>demand_est = max(sales, 0.40 × legacy + 0.60 × model)</a:t>
            </a:r>
            <a:endParaRPr lang="en-US" sz="1050" dirty="0"/>
          </a:p>
        </p:txBody>
      </p:sp>
      <p:sp>
        <p:nvSpPr>
          <p:cNvPr id="37" name="Text 34"/>
          <p:cNvSpPr txBox="1"/>
          <p:nvPr/>
        </p:nvSpPr>
        <p:spPr>
          <a:xfrm>
            <a:off x="448056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sales hit the stock level, so demand is at least that</a:t>
            </a:r>
            <a:endParaRPr lang="en-US" sz="1000" dirty="0"/>
          </a:p>
        </p:txBody>
      </p:sp>
      <p:sp>
        <p:nvSpPr>
          <p:cNvPr id="38" name="Text 35"/>
          <p:cNvSpPr txBox="1"/>
          <p:nvPr/>
        </p:nvSpPr>
        <p:spPr>
          <a:xfrm>
            <a:off x="448056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2</a:t>
            </a:r>
            <a:endParaRPr lang="en-US" sz="1050" dirty="0"/>
          </a:p>
        </p:txBody>
      </p:sp>
      <p:sp>
        <p:nvSpPr>
          <p:cNvPr id="39" name="Text 36"/>
          <p:cNvSpPr txBox="1"/>
          <p:nvPr/>
        </p:nvSpPr>
        <p:spPr>
          <a:xfrm>
            <a:off x="612648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40" name="Text 37"/>
          <p:cNvSpPr txBox="1"/>
          <p:nvPr/>
        </p:nvSpPr>
        <p:spPr>
          <a:xfrm>
            <a:off x="448056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41" name="Text 38"/>
          <p:cNvSpPr txBox="1"/>
          <p:nvPr/>
        </p:nvSpPr>
        <p:spPr>
          <a:xfrm>
            <a:off x="612648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2,500 (= stock)</a:t>
            </a:r>
            <a:endParaRPr lang="en-US" sz="1050" dirty="0"/>
          </a:p>
        </p:txBody>
      </p:sp>
      <p:sp>
        <p:nvSpPr>
          <p:cNvPr id="42" name="Text 39"/>
          <p:cNvSpPr txBox="1"/>
          <p:nvPr/>
        </p:nvSpPr>
        <p:spPr>
          <a:xfrm>
            <a:off x="448056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43" name="Text 40"/>
          <p:cNvSpPr txBox="1"/>
          <p:nvPr/>
        </p:nvSpPr>
        <p:spPr>
          <a:xfrm>
            <a:off x="612648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2,733</a:t>
            </a:r>
            <a:endParaRPr lang="en-US" sz="1050" dirty="0"/>
          </a:p>
        </p:txBody>
      </p:sp>
      <p:sp>
        <p:nvSpPr>
          <p:cNvPr id="44" name="Text 41"/>
          <p:cNvSpPr txBox="1"/>
          <p:nvPr/>
        </p:nvSpPr>
        <p:spPr>
          <a:xfrm>
            <a:off x="448056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45" name="Text 42"/>
          <p:cNvSpPr txBox="1"/>
          <p:nvPr/>
        </p:nvSpPr>
        <p:spPr>
          <a:xfrm>
            <a:off x="612648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2,611</a:t>
            </a:r>
            <a:endParaRPr lang="en-US" sz="1050" dirty="0"/>
          </a:p>
        </p:txBody>
      </p:sp>
      <p:sp>
        <p:nvSpPr>
          <p:cNvPr id="46" name="Text 43"/>
          <p:cNvSpPr txBox="1"/>
          <p:nvPr/>
        </p:nvSpPr>
        <p:spPr>
          <a:xfrm>
            <a:off x="448056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47" name="Text 44"/>
          <p:cNvSpPr txBox="1"/>
          <p:nvPr/>
        </p:nvSpPr>
        <p:spPr>
          <a:xfrm>
            <a:off x="612648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2,659</a:t>
            </a:r>
            <a:endParaRPr lang="en-US" sz="1050" dirty="0"/>
          </a:p>
        </p:txBody>
      </p:sp>
      <p:sp>
        <p:nvSpPr>
          <p:cNvPr id="48" name="Text 45"/>
          <p:cNvSpPr txBox="1"/>
          <p:nvPr/>
        </p:nvSpPr>
        <p:spPr>
          <a:xfrm>
            <a:off x="4480560" y="5413248"/>
            <a:ext cx="2377440" cy="292608"/>
          </a:xfrm>
          <a:prstGeom prst="rect">
            <a:avLst/>
          </a:prstGeom>
          <a:noFill/>
          <a:ln/>
        </p:spPr>
        <p:txBody>
          <a:bodyPr wrap="square" lIns="0" tIns="0" rIns="0" bIns="0" rtlCol="0" anchor="ctr"/>
          <a:lstStyle/>
          <a:p>
            <a:pPr indent="0" marL="0">
              <a:buNone/>
            </a:pPr>
            <a:r>
              <a:rPr lang="en-US" sz="1350" b="1" dirty="0">
                <a:solidFill>
                  <a:srgbClr val="C24E1F"/>
                </a:solidFill>
                <a:latin typeface="Cambria" pitchFamily="34" charset="0"/>
                <a:ea typeface="Cambria" pitchFamily="34" charset="-122"/>
                <a:cs typeface="Cambria" pitchFamily="34" charset="-120"/>
              </a:rPr>
              <a:t>demand_est = 2,659</a:t>
            </a:r>
            <a:endParaRPr lang="en-US" sz="1350" dirty="0"/>
          </a:p>
        </p:txBody>
      </p:sp>
      <p:sp>
        <p:nvSpPr>
          <p:cNvPr id="49" name="Text 46"/>
          <p:cNvSpPr txBox="1"/>
          <p:nvPr/>
        </p:nvSpPr>
        <p:spPr>
          <a:xfrm>
            <a:off x="685800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+6.4% above sales</a:t>
            </a:r>
            <a:endParaRPr lang="en-US" sz="900" dirty="0"/>
          </a:p>
        </p:txBody>
      </p:sp>
      <p:sp>
        <p:nvSpPr>
          <p:cNvPr id="50" name="Week type card"/>
          <p:cNvSpPr/>
          <p:nvPr/>
        </p:nvSpPr>
        <p:spPr>
          <a:xfrm>
            <a:off x="8046720" y="3246120"/>
            <a:ext cx="3566160" cy="2514600"/>
          </a:xfrm>
          <a:prstGeom prst="roundRect">
            <a:avLst>
              <a:gd name="adj" fmla="val 2909"/>
            </a:avLst>
          </a:prstGeom>
          <a:solidFill>
            <a:srgbClr val="F2F6FB"/>
          </a:solidFill>
          <a:ln w="12700">
            <a:solidFill>
              <a:srgbClr val="F2F6FB"/>
            </a:solidFill>
            <a:prstDash val="solid"/>
          </a:ln>
        </p:spPr>
      </p:sp>
      <p:sp>
        <p:nvSpPr>
          <p:cNvPr id="51" name="Card accent"/>
          <p:cNvSpPr/>
          <p:nvPr/>
        </p:nvSpPr>
        <p:spPr>
          <a:xfrm>
            <a:off x="8046720" y="3246120"/>
            <a:ext cx="3566160" cy="64008"/>
          </a:xfrm>
          <a:prstGeom prst="rect">
            <a:avLst/>
          </a:prstGeom>
          <a:solidFill>
            <a:srgbClr val="D03B3B"/>
          </a:solidFill>
          <a:ln w="12700">
            <a:solidFill>
              <a:srgbClr val="D03B3B"/>
            </a:solidFill>
            <a:prstDash val="solid"/>
          </a:ln>
        </p:spPr>
      </p:sp>
      <p:sp>
        <p:nvSpPr>
          <p:cNvPr id="52" name="Text 49"/>
          <p:cNvSpPr txBox="1"/>
          <p:nvPr/>
        </p:nvSpPr>
        <p:spPr>
          <a:xfrm>
            <a:off x="8229600" y="3355848"/>
            <a:ext cx="3200400" cy="274320"/>
          </a:xfrm>
          <a:prstGeom prst="rect">
            <a:avLst/>
          </a:prstGeom>
          <a:noFill/>
          <a:ln/>
        </p:spPr>
        <p:txBody>
          <a:bodyPr wrap="square" lIns="0" tIns="0" rIns="0" bIns="0" rtlCol="0" anchor="ctr"/>
          <a:lstStyle/>
          <a:p>
            <a:pPr indent="0" marL="0">
              <a:buNone/>
            </a:pPr>
            <a:r>
              <a:rPr lang="en-US" sz="1400" b="1" dirty="0">
                <a:solidFill>
                  <a:schemeClr val="tx1"/>
                </a:solidFill>
              </a:rPr>
              <a:t>Stock-out  ·  17.0%</a:t>
            </a:r>
            <a:endParaRPr lang="en-US" sz="1400" dirty="0"/>
          </a:p>
        </p:txBody>
      </p:sp>
      <p:sp>
        <p:nvSpPr>
          <p:cNvPr id="53" name="Text 50"/>
          <p:cNvSpPr txBox="1"/>
          <p:nvPr/>
        </p:nvSpPr>
        <p:spPr>
          <a:xfrm>
            <a:off x="8229600" y="3630168"/>
            <a:ext cx="3200400" cy="384048"/>
          </a:xfrm>
          <a:prstGeom prst="rect">
            <a:avLst/>
          </a:prstGeom>
          <a:noFill/>
          <a:ln/>
        </p:spPr>
        <p:txBody>
          <a:bodyPr wrap="square" lIns="0" tIns="0" rIns="0" bIns="0" rtlCol="0" anchor="t"/>
          <a:lstStyle/>
          <a:p>
            <a:pPr indent="0" marL="0">
              <a:buNone/>
            </a:pPr>
            <a:r>
              <a:rPr lang="en-US" sz="1050" b="1" dirty="0">
                <a:solidFill>
                  <a:srgbClr val="B02F2F"/>
                </a:solidFill>
              </a:rPr>
              <a:t>demand_est = max(sales, 0.40 × legacy + 0.60 × model)</a:t>
            </a:r>
            <a:endParaRPr lang="en-US" sz="1050" dirty="0"/>
          </a:p>
        </p:txBody>
      </p:sp>
      <p:sp>
        <p:nvSpPr>
          <p:cNvPr id="54" name="Text 51"/>
          <p:cNvSpPr txBox="1"/>
          <p:nvPr/>
        </p:nvSpPr>
        <p:spPr>
          <a:xfrm>
            <a:off x="8229600" y="4050792"/>
            <a:ext cx="3200400" cy="228600"/>
          </a:xfrm>
          <a:prstGeom prst="rect">
            <a:avLst/>
          </a:prstGeom>
          <a:noFill/>
          <a:ln/>
        </p:spPr>
        <p:txBody>
          <a:bodyPr wrap="square" lIns="0" tIns="0" rIns="0" bIns="0" rtlCol="0" anchor="ctr"/>
          <a:lstStyle/>
          <a:p>
            <a:pPr indent="0" marL="0">
              <a:buNone/>
            </a:pPr>
            <a:r>
              <a:rPr lang="en-US" sz="1000" i="1" dirty="0">
                <a:solidFill>
                  <a:srgbClr val="5B6B80"/>
                </a:solidFill>
              </a:rPr>
              <a:t>no stock, so sales are 0 and demand is hidden</a:t>
            </a:r>
            <a:endParaRPr lang="en-US" sz="1000" dirty="0"/>
          </a:p>
        </p:txBody>
      </p:sp>
      <p:sp>
        <p:nvSpPr>
          <p:cNvPr id="55" name="Text 52"/>
          <p:cNvSpPr txBox="1"/>
          <p:nvPr/>
        </p:nvSpPr>
        <p:spPr>
          <a:xfrm>
            <a:off x="8229600" y="4315968"/>
            <a:ext cx="1737360" cy="201168"/>
          </a:xfrm>
          <a:prstGeom prst="rect">
            <a:avLst/>
          </a:prstGeom>
          <a:noFill/>
          <a:ln/>
        </p:spPr>
        <p:txBody>
          <a:bodyPr wrap="square" lIns="0" tIns="0" rIns="0" bIns="0" rtlCol="0" anchor="ctr"/>
          <a:lstStyle/>
          <a:p>
            <a:pPr indent="0" marL="0">
              <a:buNone/>
            </a:pPr>
            <a:r>
              <a:rPr lang="en-US" sz="1050" b="1" dirty="0">
                <a:solidFill>
                  <a:srgbClr val="1B2A41"/>
                </a:solidFill>
              </a:rPr>
              <a:t>Barley, week 4</a:t>
            </a:r>
            <a:endParaRPr lang="en-US" sz="1050" dirty="0"/>
          </a:p>
        </p:txBody>
      </p:sp>
      <p:sp>
        <p:nvSpPr>
          <p:cNvPr id="56" name="Text 53"/>
          <p:cNvSpPr txBox="1"/>
          <p:nvPr/>
        </p:nvSpPr>
        <p:spPr>
          <a:xfrm>
            <a:off x="9875520" y="4315968"/>
            <a:ext cx="1554480" cy="201168"/>
          </a:xfrm>
          <a:prstGeom prst="rect">
            <a:avLst/>
          </a:prstGeom>
          <a:noFill/>
          <a:ln/>
        </p:spPr>
        <p:txBody>
          <a:bodyPr wrap="square" lIns="0" tIns="0" rIns="0" bIns="0" rtlCol="0" anchor="ctr"/>
          <a:lstStyle/>
          <a:p>
            <a:pPr algn="r" indent="0" marL="0">
              <a:buNone/>
            </a:pPr>
            <a:endParaRPr lang="en-US" sz="1050" dirty="0"/>
          </a:p>
        </p:txBody>
      </p:sp>
      <p:sp>
        <p:nvSpPr>
          <p:cNvPr id="57" name="Text 54"/>
          <p:cNvSpPr txBox="1"/>
          <p:nvPr/>
        </p:nvSpPr>
        <p:spPr>
          <a:xfrm>
            <a:off x="8229600" y="4526280"/>
            <a:ext cx="1737360" cy="201168"/>
          </a:xfrm>
          <a:prstGeom prst="rect">
            <a:avLst/>
          </a:prstGeom>
          <a:noFill/>
          <a:ln/>
        </p:spPr>
        <p:txBody>
          <a:bodyPr wrap="square" lIns="0" tIns="0" rIns="0" bIns="0" rtlCol="0" anchor="ctr"/>
          <a:lstStyle/>
          <a:p>
            <a:pPr indent="0" marL="0">
              <a:buNone/>
            </a:pPr>
            <a:r>
              <a:rPr lang="en-US" sz="1050" dirty="0">
                <a:solidFill>
                  <a:srgbClr val="5B6B80"/>
                </a:solidFill>
              </a:rPr>
              <a:t>Sales</a:t>
            </a:r>
            <a:endParaRPr lang="en-US" sz="1050" dirty="0"/>
          </a:p>
        </p:txBody>
      </p:sp>
      <p:sp>
        <p:nvSpPr>
          <p:cNvPr id="58" name="Text 55"/>
          <p:cNvSpPr txBox="1"/>
          <p:nvPr/>
        </p:nvSpPr>
        <p:spPr>
          <a:xfrm>
            <a:off x="9875520" y="4526280"/>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0 (stock = 0)</a:t>
            </a:r>
            <a:endParaRPr lang="en-US" sz="1050" dirty="0"/>
          </a:p>
        </p:txBody>
      </p:sp>
      <p:sp>
        <p:nvSpPr>
          <p:cNvPr id="59" name="Text 56"/>
          <p:cNvSpPr txBox="1"/>
          <p:nvPr/>
        </p:nvSpPr>
        <p:spPr>
          <a:xfrm>
            <a:off x="8229600" y="4736592"/>
            <a:ext cx="1737360" cy="201168"/>
          </a:xfrm>
          <a:prstGeom prst="rect">
            <a:avLst/>
          </a:prstGeom>
          <a:noFill/>
          <a:ln/>
        </p:spPr>
        <p:txBody>
          <a:bodyPr wrap="square" lIns="0" tIns="0" rIns="0" bIns="0" rtlCol="0" anchor="ctr"/>
          <a:lstStyle/>
          <a:p>
            <a:pPr indent="0" marL="0">
              <a:buNone/>
            </a:pPr>
            <a:r>
              <a:rPr lang="en-US" sz="1050" dirty="0">
                <a:solidFill>
                  <a:srgbClr val="5B6B80"/>
                </a:solidFill>
              </a:rPr>
              <a:t>Legacy forecast</a:t>
            </a:r>
            <a:endParaRPr lang="en-US" sz="1050" dirty="0"/>
          </a:p>
        </p:txBody>
      </p:sp>
      <p:sp>
        <p:nvSpPr>
          <p:cNvPr id="60" name="Text 57"/>
          <p:cNvSpPr txBox="1"/>
          <p:nvPr/>
        </p:nvSpPr>
        <p:spPr>
          <a:xfrm>
            <a:off x="9875520" y="4736592"/>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3,195</a:t>
            </a:r>
            <a:endParaRPr lang="en-US" sz="1050" dirty="0"/>
          </a:p>
        </p:txBody>
      </p:sp>
      <p:sp>
        <p:nvSpPr>
          <p:cNvPr id="61" name="Text 58"/>
          <p:cNvSpPr txBox="1"/>
          <p:nvPr/>
        </p:nvSpPr>
        <p:spPr>
          <a:xfrm>
            <a:off x="8229600" y="4946904"/>
            <a:ext cx="1737360" cy="201168"/>
          </a:xfrm>
          <a:prstGeom prst="rect">
            <a:avLst/>
          </a:prstGeom>
          <a:noFill/>
          <a:ln/>
        </p:spPr>
        <p:txBody>
          <a:bodyPr wrap="square" lIns="0" tIns="0" rIns="0" bIns="0" rtlCol="0" anchor="ctr"/>
          <a:lstStyle/>
          <a:p>
            <a:pPr indent="0" marL="0">
              <a:buNone/>
            </a:pPr>
            <a:r>
              <a:rPr lang="en-US" sz="1050" dirty="0">
                <a:solidFill>
                  <a:srgbClr val="5B6B80"/>
                </a:solidFill>
              </a:rPr>
              <a:t>Seasonal model</a:t>
            </a:r>
            <a:endParaRPr lang="en-US" sz="1050" dirty="0"/>
          </a:p>
        </p:txBody>
      </p:sp>
      <p:sp>
        <p:nvSpPr>
          <p:cNvPr id="62" name="Text 59"/>
          <p:cNvSpPr txBox="1"/>
          <p:nvPr/>
        </p:nvSpPr>
        <p:spPr>
          <a:xfrm>
            <a:off x="9875520" y="4946904"/>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2,758</a:t>
            </a:r>
            <a:endParaRPr lang="en-US" sz="1050" dirty="0"/>
          </a:p>
        </p:txBody>
      </p:sp>
      <p:sp>
        <p:nvSpPr>
          <p:cNvPr id="63" name="Text 60"/>
          <p:cNvSpPr txBox="1"/>
          <p:nvPr/>
        </p:nvSpPr>
        <p:spPr>
          <a:xfrm>
            <a:off x="8229600" y="5157216"/>
            <a:ext cx="1737360" cy="201168"/>
          </a:xfrm>
          <a:prstGeom prst="rect">
            <a:avLst/>
          </a:prstGeom>
          <a:noFill/>
          <a:ln/>
        </p:spPr>
        <p:txBody>
          <a:bodyPr wrap="square" lIns="0" tIns="0" rIns="0" bIns="0" rtlCol="0" anchor="ctr"/>
          <a:lstStyle/>
          <a:p>
            <a:pPr indent="0" marL="0">
              <a:buNone/>
            </a:pPr>
            <a:r>
              <a:rPr lang="en-US" sz="1050" dirty="0">
                <a:solidFill>
                  <a:srgbClr val="5B6B80"/>
                </a:solidFill>
              </a:rPr>
              <a:t>Blend 0.40 / 0.60</a:t>
            </a:r>
            <a:endParaRPr lang="en-US" sz="1050" dirty="0"/>
          </a:p>
        </p:txBody>
      </p:sp>
      <p:sp>
        <p:nvSpPr>
          <p:cNvPr id="64" name="Text 61"/>
          <p:cNvSpPr txBox="1"/>
          <p:nvPr/>
        </p:nvSpPr>
        <p:spPr>
          <a:xfrm>
            <a:off x="9875520" y="5157216"/>
            <a:ext cx="1554480" cy="201168"/>
          </a:xfrm>
          <a:prstGeom prst="rect">
            <a:avLst/>
          </a:prstGeom>
          <a:noFill/>
          <a:ln/>
        </p:spPr>
        <p:txBody>
          <a:bodyPr wrap="square" lIns="0" tIns="0" rIns="0" bIns="0" rtlCol="0" anchor="ctr"/>
          <a:lstStyle/>
          <a:p>
            <a:pPr algn="r" indent="0" marL="0">
              <a:buNone/>
            </a:pPr>
            <a:r>
              <a:rPr lang="en-US" sz="1050" dirty="0">
                <a:solidFill>
                  <a:srgbClr val="1B2A41"/>
                </a:solidFill>
              </a:rPr>
              <a:t>2,925</a:t>
            </a:r>
            <a:endParaRPr lang="en-US" sz="1050" dirty="0"/>
          </a:p>
        </p:txBody>
      </p:sp>
      <p:sp>
        <p:nvSpPr>
          <p:cNvPr id="65" name="Text 62"/>
          <p:cNvSpPr txBox="1"/>
          <p:nvPr/>
        </p:nvSpPr>
        <p:spPr>
          <a:xfrm>
            <a:off x="8229600" y="5413248"/>
            <a:ext cx="2377440" cy="292608"/>
          </a:xfrm>
          <a:prstGeom prst="rect">
            <a:avLst/>
          </a:prstGeom>
          <a:noFill/>
          <a:ln/>
        </p:spPr>
        <p:txBody>
          <a:bodyPr wrap="square" lIns="0" tIns="0" rIns="0" bIns="0" rtlCol="0" anchor="ctr"/>
          <a:lstStyle/>
          <a:p>
            <a:pPr indent="0" marL="0">
              <a:buNone/>
            </a:pPr>
            <a:r>
              <a:rPr lang="en-US" sz="1350" b="1" dirty="0">
                <a:solidFill>
                  <a:srgbClr val="B02F2F"/>
                </a:solidFill>
                <a:latin typeface="Cambria" pitchFamily="34" charset="0"/>
                <a:ea typeface="Cambria" pitchFamily="34" charset="-122"/>
                <a:cs typeface="Cambria" pitchFamily="34" charset="-120"/>
              </a:rPr>
              <a:t>demand_est = 2,925</a:t>
            </a:r>
            <a:endParaRPr lang="en-US" sz="1350" dirty="0"/>
          </a:p>
        </p:txBody>
      </p:sp>
      <p:sp>
        <p:nvSpPr>
          <p:cNvPr id="66" name="Text 63"/>
          <p:cNvSpPr txBox="1"/>
          <p:nvPr/>
        </p:nvSpPr>
        <p:spPr>
          <a:xfrm>
            <a:off x="10607040" y="5413248"/>
            <a:ext cx="822960" cy="292608"/>
          </a:xfrm>
          <a:prstGeom prst="rect">
            <a:avLst/>
          </a:prstGeom>
          <a:noFill/>
          <a:ln/>
        </p:spPr>
        <p:txBody>
          <a:bodyPr wrap="square" lIns="0" tIns="0" rIns="0" bIns="0" rtlCol="0" anchor="ctr"/>
          <a:lstStyle/>
          <a:p>
            <a:pPr algn="r" indent="0" marL="0">
              <a:buNone/>
            </a:pPr>
            <a:r>
              <a:rPr lang="en-US" sz="900" i="1" dirty="0">
                <a:solidFill>
                  <a:srgbClr val="5B6B80"/>
                </a:solidFill>
              </a:rPr>
              <a:t>sales were 0</a:t>
            </a:r>
            <a:endParaRPr lang="en-US" sz="900" dirty="0"/>
          </a:p>
        </p:txBody>
      </p:sp>
      <p:sp>
        <p:nvSpPr>
          <p:cNvPr id="67" name="Text 64"/>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150" i="1" dirty="0">
                <a:solidFill>
                  <a:srgbClr val="5B6B80"/>
                </a:solidFill>
              </a:rPr>
              <a:t>Why 0.40 / 0.60: on weeks with known demand the blend errs by 5.0%, against 7.9% for the legacy forecast and 6.6% for the seasonal model alone; weights fitted out-of-fold. 606 missing legacy values use the model alone.</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FEATURE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Feature engineering in three layers</a:t>
            </a:r>
            <a:endParaRPr lang="en-US" sz="3000" dirty="0"/>
          </a:p>
        </p:txBody>
      </p:sp>
      <p:sp>
        <p:nvSpPr>
          <p:cNvPr id="5" name="Feature layer"/>
          <p:cNvSpPr/>
          <p:nvPr/>
        </p:nvSpPr>
        <p:spPr>
          <a:xfrm>
            <a:off x="548640" y="1645920"/>
            <a:ext cx="6309360" cy="1170432"/>
          </a:xfrm>
          <a:prstGeom prst="roundRect">
            <a:avLst>
              <a:gd name="adj" fmla="val 6250"/>
            </a:avLst>
          </a:prstGeom>
          <a:solidFill>
            <a:srgbClr val="F2F6FB"/>
          </a:solidFill>
          <a:ln w="12700">
            <a:solidFill>
              <a:srgbClr val="F2F6FB"/>
            </a:solidFill>
            <a:prstDash val="solid"/>
          </a:ln>
        </p:spPr>
      </p:sp>
      <p:sp>
        <p:nvSpPr>
          <p:cNvPr id="6" name="Layer accent"/>
          <p:cNvSpPr/>
          <p:nvPr/>
        </p:nvSpPr>
        <p:spPr>
          <a:xfrm>
            <a:off x="548640" y="1645920"/>
            <a:ext cx="82296" cy="1170432"/>
          </a:xfrm>
          <a:prstGeom prst="rect">
            <a:avLst/>
          </a:prstGeom>
          <a:solidFill>
            <a:srgbClr val="2A78D6"/>
          </a:solidFill>
          <a:ln w="12700">
            <a:solidFill>
              <a:srgbClr val="2A78D6"/>
            </a:solidFill>
            <a:prstDash val="solid"/>
          </a:ln>
        </p:spPr>
      </p:sp>
      <p:sp>
        <p:nvSpPr>
          <p:cNvPr id="7" name="Text 4"/>
          <p:cNvSpPr txBox="1"/>
          <p:nvPr/>
        </p:nvSpPr>
        <p:spPr>
          <a:xfrm>
            <a:off x="777240" y="1709928"/>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A  Data and stock features</a:t>
            </a:r>
            <a:pPr indent="0" marL="0">
              <a:buNone/>
            </a:pPr>
            <a:r>
              <a:rPr lang="en-US" sz="1100" i="1" dirty="0">
                <a:solidFill>
                  <a:srgbClr val="5B6B80"/>
                </a:solidFill>
              </a:rPr>
              <a:t>   built in ETL</a:t>
            </a:r>
            <a:endParaRPr lang="en-US" sz="1400" dirty="0"/>
          </a:p>
        </p:txBody>
      </p:sp>
      <p:sp>
        <p:nvSpPr>
          <p:cNvPr id="8" name="Text 5"/>
          <p:cNvSpPr txBox="1"/>
          <p:nvPr/>
        </p:nvSpPr>
        <p:spPr>
          <a:xfrm>
            <a:off x="777240" y="2039112"/>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stock available = previous row's inventory (lag 1)</a:t>
            </a:r>
            <a:endParaRPr lang="en-US" sz="1150" dirty="0"/>
          </a:p>
          <a:p>
            <a:pPr marL="203200" indent="-203200">
              <a:spcAft>
                <a:spcPts val="800"/>
              </a:spcAft>
              <a:buSzPct val="100000"/>
              <a:buChar char="•"/>
            </a:pPr>
            <a:r>
              <a:rPr lang="en-US" sz="1150" dirty="0">
                <a:solidFill>
                  <a:srgbClr val="1B2A41"/>
                </a:solidFill>
              </a:rPr>
              <a:t>censor status and flags: stock-out, capped, pile-up, outlier</a:t>
            </a:r>
            <a:endParaRPr lang="en-US" sz="1150" dirty="0"/>
          </a:p>
          <a:p>
            <a:pPr marL="203200" indent="-203200">
              <a:spcAft>
                <a:spcPts val="800"/>
              </a:spcAft>
              <a:buSzPct val="100000"/>
              <a:buChar char="•"/>
            </a:pPr>
            <a:r>
              <a:rPr lang="en-US" sz="1150" dirty="0">
                <a:solidFill>
                  <a:srgbClr val="1B2A41"/>
                </a:solidFill>
              </a:rPr>
              <a:t>recomputed margin, growth, turnover</a:t>
            </a:r>
            <a:endParaRPr lang="en-US" sz="1150" dirty="0"/>
          </a:p>
        </p:txBody>
      </p:sp>
      <p:sp>
        <p:nvSpPr>
          <p:cNvPr id="9" name="Feature layer"/>
          <p:cNvSpPr/>
          <p:nvPr/>
        </p:nvSpPr>
        <p:spPr>
          <a:xfrm>
            <a:off x="548640" y="2889504"/>
            <a:ext cx="6309360" cy="1170432"/>
          </a:xfrm>
          <a:prstGeom prst="roundRect">
            <a:avLst>
              <a:gd name="adj" fmla="val 6250"/>
            </a:avLst>
          </a:prstGeom>
          <a:solidFill>
            <a:srgbClr val="F2F6FB"/>
          </a:solidFill>
          <a:ln w="12700">
            <a:solidFill>
              <a:srgbClr val="F2F6FB"/>
            </a:solidFill>
            <a:prstDash val="solid"/>
          </a:ln>
        </p:spPr>
      </p:sp>
      <p:sp>
        <p:nvSpPr>
          <p:cNvPr id="10" name="Layer accent"/>
          <p:cNvSpPr/>
          <p:nvPr/>
        </p:nvSpPr>
        <p:spPr>
          <a:xfrm>
            <a:off x="548640" y="2889504"/>
            <a:ext cx="82296" cy="1170432"/>
          </a:xfrm>
          <a:prstGeom prst="rect">
            <a:avLst/>
          </a:prstGeom>
          <a:solidFill>
            <a:srgbClr val="1BAF7A"/>
          </a:solidFill>
          <a:ln w="12700">
            <a:solidFill>
              <a:srgbClr val="1BAF7A"/>
            </a:solidFill>
            <a:prstDash val="solid"/>
          </a:ln>
        </p:spPr>
      </p:sp>
      <p:sp>
        <p:nvSpPr>
          <p:cNvPr id="11" name="Text 8"/>
          <p:cNvSpPr txBox="1"/>
          <p:nvPr/>
        </p:nvSpPr>
        <p:spPr>
          <a:xfrm>
            <a:off x="777240" y="2953512"/>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B  Target and structure</a:t>
            </a:r>
            <a:pPr indent="0" marL="0">
              <a:buNone/>
            </a:pPr>
            <a:r>
              <a:rPr lang="en-US" sz="1100" i="1" dirty="0">
                <a:solidFill>
                  <a:srgbClr val="5B6B80"/>
                </a:solidFill>
              </a:rPr>
              <a:t>   built in pre-processing</a:t>
            </a:r>
            <a:endParaRPr lang="en-US" sz="1400" dirty="0"/>
          </a:p>
        </p:txBody>
      </p:sp>
      <p:sp>
        <p:nvSpPr>
          <p:cNvPr id="12" name="Text 9"/>
          <p:cNvSpPr txBox="1"/>
          <p:nvPr/>
        </p:nvSpPr>
        <p:spPr>
          <a:xfrm>
            <a:off x="777240" y="3282696"/>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demand_est: the reconstructed target</a:t>
            </a:r>
            <a:endParaRPr lang="en-US" sz="1150" dirty="0"/>
          </a:p>
          <a:p>
            <a:pPr marL="203200" indent="-203200">
              <a:spcAft>
                <a:spcPts val="800"/>
              </a:spcAft>
              <a:buSzPct val="100000"/>
              <a:buChar char="•"/>
            </a:pPr>
            <a:r>
              <a:rPr lang="en-US" sz="1150" dirty="0">
                <a:solidFill>
                  <a:srgbClr val="1B2A41"/>
                </a:solidFill>
              </a:rPr>
              <a:t>calendar: week of year, quarter, season, year index</a:t>
            </a:r>
            <a:endParaRPr lang="en-US" sz="1150" dirty="0"/>
          </a:p>
          <a:p>
            <a:pPr marL="203200" indent="-203200">
              <a:spcAft>
                <a:spcPts val="800"/>
              </a:spcAft>
              <a:buSzPct val="100000"/>
              <a:buChar char="•"/>
            </a:pPr>
            <a:r>
              <a:rPr lang="en-US" sz="1150" dirty="0">
                <a:solidFill>
                  <a:srgbClr val="1B2A41"/>
                </a:solidFill>
              </a:rPr>
              <a:t>stock regime (k-means) and high / normal stock profile</a:t>
            </a:r>
            <a:endParaRPr lang="en-US" sz="1150" dirty="0"/>
          </a:p>
        </p:txBody>
      </p:sp>
      <p:sp>
        <p:nvSpPr>
          <p:cNvPr id="13" name="Feature layer"/>
          <p:cNvSpPr/>
          <p:nvPr/>
        </p:nvSpPr>
        <p:spPr>
          <a:xfrm>
            <a:off x="548640" y="4133088"/>
            <a:ext cx="6309360" cy="1170432"/>
          </a:xfrm>
          <a:prstGeom prst="roundRect">
            <a:avLst>
              <a:gd name="adj" fmla="val 6250"/>
            </a:avLst>
          </a:prstGeom>
          <a:solidFill>
            <a:srgbClr val="F2F6FB"/>
          </a:solidFill>
          <a:ln w="12700">
            <a:solidFill>
              <a:srgbClr val="F2F6FB"/>
            </a:solidFill>
            <a:prstDash val="solid"/>
          </a:ln>
        </p:spPr>
      </p:sp>
      <p:sp>
        <p:nvSpPr>
          <p:cNvPr id="14" name="Layer accent"/>
          <p:cNvSpPr/>
          <p:nvPr/>
        </p:nvSpPr>
        <p:spPr>
          <a:xfrm>
            <a:off x="548640" y="4133088"/>
            <a:ext cx="82296" cy="1170432"/>
          </a:xfrm>
          <a:prstGeom prst="rect">
            <a:avLst/>
          </a:prstGeom>
          <a:solidFill>
            <a:srgbClr val="EB6834"/>
          </a:solidFill>
          <a:ln w="12700">
            <a:solidFill>
              <a:srgbClr val="EB6834"/>
            </a:solidFill>
            <a:prstDash val="solid"/>
          </a:ln>
        </p:spPr>
      </p:sp>
      <p:sp>
        <p:nvSpPr>
          <p:cNvPr id="15" name="Text 12"/>
          <p:cNvSpPr txBox="1"/>
          <p:nvPr/>
        </p:nvSpPr>
        <p:spPr>
          <a:xfrm>
            <a:off x="777240" y="4197096"/>
            <a:ext cx="5943600" cy="292608"/>
          </a:xfrm>
          <a:prstGeom prst="rect">
            <a:avLst/>
          </a:prstGeom>
          <a:noFill/>
          <a:ln/>
        </p:spPr>
        <p:txBody>
          <a:bodyPr wrap="square" lIns="0" tIns="0" rIns="0" bIns="0" rtlCol="0" anchor="ctr"/>
          <a:lstStyle/>
          <a:p>
            <a:pPr indent="0" marL="0">
              <a:buNone/>
            </a:pPr>
            <a:r>
              <a:rPr lang="en-US" sz="1400" b="1" dirty="0">
                <a:solidFill>
                  <a:schemeClr val="tx1"/>
                </a:solidFill>
              </a:rPr>
              <a:t>C  Model inputs</a:t>
            </a:r>
            <a:pPr indent="0" marL="0">
              <a:buNone/>
            </a:pPr>
            <a:r>
              <a:rPr lang="en-US" sz="1100" i="1" dirty="0">
                <a:solidFill>
                  <a:srgbClr val="5B6B80"/>
                </a:solidFill>
              </a:rPr>
              <a:t>   built in forecasting</a:t>
            </a:r>
            <a:endParaRPr lang="en-US" sz="1400" dirty="0"/>
          </a:p>
        </p:txBody>
      </p:sp>
      <p:sp>
        <p:nvSpPr>
          <p:cNvPr id="16" name="Text 13"/>
          <p:cNvSpPr txBox="1"/>
          <p:nvPr/>
        </p:nvSpPr>
        <p:spPr>
          <a:xfrm>
            <a:off x="777240" y="4526280"/>
            <a:ext cx="5943600" cy="749808"/>
          </a:xfrm>
          <a:prstGeom prst="rect">
            <a:avLst/>
          </a:prstGeom>
          <a:noFill/>
          <a:ln/>
        </p:spPr>
        <p:txBody>
          <a:bodyPr wrap="square" lIns="0" tIns="0" rIns="0" bIns="0" rtlCol="0" anchor="t"/>
          <a:lstStyle/>
          <a:p>
            <a:pPr marL="203200" indent="-203200">
              <a:spcAft>
                <a:spcPts val="800"/>
              </a:spcAft>
              <a:buSzPct val="100000"/>
              <a:buChar char="•"/>
            </a:pPr>
            <a:r>
              <a:rPr lang="en-US" sz="1150" dirty="0">
                <a:solidFill>
                  <a:srgbClr val="1B2A41"/>
                </a:solidFill>
              </a:rPr>
              <a:t>Structural: product level, shared trend, sin / cos of week</a:t>
            </a:r>
            <a:endParaRPr lang="en-US" sz="1150" dirty="0"/>
          </a:p>
          <a:p>
            <a:pPr marL="203200" indent="-203200">
              <a:spcAft>
                <a:spcPts val="800"/>
              </a:spcAft>
              <a:buSzPct val="100000"/>
              <a:buChar char="•"/>
            </a:pPr>
            <a:r>
              <a:rPr lang="en-US" sz="1150" dirty="0">
                <a:solidFill>
                  <a:srgbClr val="1B2A41"/>
                </a:solidFill>
              </a:rPr>
              <a:t>LightGBM: horizon, same week last year (+/- 1), 13 / 26 / 52-week levels</a:t>
            </a:r>
            <a:endParaRPr lang="en-US" sz="1150" dirty="0"/>
          </a:p>
          <a:p>
            <a:pPr marL="203200" indent="-203200">
              <a:spcAft>
                <a:spcPts val="800"/>
              </a:spcAft>
              <a:buSzPct val="100000"/>
              <a:buChar char="•"/>
            </a:pPr>
            <a:r>
              <a:rPr lang="en-US" sz="1150" dirty="0">
                <a:solidFill>
                  <a:srgbClr val="1B2A41"/>
                </a:solidFill>
              </a:rPr>
              <a:t>target relative to the 52-week level</a:t>
            </a:r>
            <a:endParaRPr lang="en-US" sz="1150" dirty="0"/>
          </a:p>
        </p:txBody>
      </p:sp>
      <p:graphicFrame>
        <p:nvGraphicFramePr>
          <p:cNvPr id="17" name="Chart 0" descr=""/>
          <p:cNvGraphicFramePr/>
          <p:nvPr/>
        </p:nvGraphicFramePr>
        <p:xfrm>
          <a:off x="7086600" y="1600200"/>
          <a:ext cx="4526280" cy="2514600"/>
        </p:xfrm>
        <a:graphic xmlns:a="http://schemas.openxmlformats.org/drawingml/2006/main">
          <a:graphicData uri="http://schemas.openxmlformats.org/drawingml/2006/chart">
            <c:chart xmlns:c="http://schemas.openxmlformats.org/drawingml/2006/chart" r:id="rId1"/>
          </a:graphicData>
        </a:graphic>
      </p:graphicFrame>
      <p:sp>
        <p:nvSpPr>
          <p:cNvPr id="18" name="Stat card"/>
          <p:cNvSpPr/>
          <p:nvPr/>
        </p:nvSpPr>
        <p:spPr>
          <a:xfrm>
            <a:off x="7086600" y="4206240"/>
            <a:ext cx="1417320" cy="1143000"/>
          </a:xfrm>
          <a:prstGeom prst="roundRect">
            <a:avLst>
              <a:gd name="adj" fmla="val 6400"/>
            </a:avLst>
          </a:prstGeom>
          <a:solidFill>
            <a:srgbClr val="F2F6FB"/>
          </a:solidFill>
          <a:ln w="12700">
            <a:solidFill>
              <a:srgbClr val="F2F6FB"/>
            </a:solidFill>
            <a:prstDash val="solid"/>
          </a:ln>
        </p:spPr>
      </p:sp>
      <p:sp>
        <p:nvSpPr>
          <p:cNvPr id="19" name="Text 15"/>
          <p:cNvSpPr txBox="1"/>
          <p:nvPr/>
        </p:nvSpPr>
        <p:spPr>
          <a:xfrm>
            <a:off x="7223760" y="4279392"/>
            <a:ext cx="1143000" cy="514350"/>
          </a:xfrm>
          <a:prstGeom prst="rect">
            <a:avLst/>
          </a:prstGeom>
          <a:noFill/>
          <a:ln/>
        </p:spPr>
        <p:txBody>
          <a:bodyPr wrap="square" lIns="0" tIns="0" rIns="0" bIns="0" rtlCol="0" anchor="ctr"/>
          <a:lstStyle/>
          <a:p>
            <a:pPr indent="0" marL="0">
              <a:buNone/>
            </a:pPr>
            <a:r>
              <a:rPr lang="en-US" sz="2000" b="1" dirty="0">
                <a:solidFill>
                  <a:srgbClr val="2A78D6"/>
                </a:solidFill>
                <a:latin typeface="Cambria" pitchFamily="34" charset="0"/>
                <a:ea typeface="Cambria" pitchFamily="34" charset="-122"/>
                <a:cs typeface="Cambria" pitchFamily="34" charset="-120"/>
              </a:rPr>
              <a:t>78-86%</a:t>
            </a:r>
            <a:endParaRPr lang="en-US" sz="2000" dirty="0"/>
          </a:p>
        </p:txBody>
      </p:sp>
      <p:sp>
        <p:nvSpPr>
          <p:cNvPr id="20" name="Text 16"/>
          <p:cNvSpPr txBox="1"/>
          <p:nvPr/>
        </p:nvSpPr>
        <p:spPr>
          <a:xfrm>
            <a:off x="722376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variance by week of year</a:t>
            </a:r>
            <a:endParaRPr lang="en-US" sz="1300" dirty="0"/>
          </a:p>
        </p:txBody>
      </p:sp>
      <p:sp>
        <p:nvSpPr>
          <p:cNvPr id="21" name="Stat card"/>
          <p:cNvSpPr/>
          <p:nvPr/>
        </p:nvSpPr>
        <p:spPr>
          <a:xfrm>
            <a:off x="8595360" y="4206240"/>
            <a:ext cx="1417320" cy="1143000"/>
          </a:xfrm>
          <a:prstGeom prst="roundRect">
            <a:avLst>
              <a:gd name="adj" fmla="val 6400"/>
            </a:avLst>
          </a:prstGeom>
          <a:solidFill>
            <a:srgbClr val="F2F6FB"/>
          </a:solidFill>
          <a:ln w="12700">
            <a:solidFill>
              <a:srgbClr val="F2F6FB"/>
            </a:solidFill>
            <a:prstDash val="solid"/>
          </a:ln>
        </p:spPr>
      </p:sp>
      <p:sp>
        <p:nvSpPr>
          <p:cNvPr id="22" name="Text 18"/>
          <p:cNvSpPr txBox="1"/>
          <p:nvPr/>
        </p:nvSpPr>
        <p:spPr>
          <a:xfrm>
            <a:off x="8732520" y="4279392"/>
            <a:ext cx="1143000" cy="514350"/>
          </a:xfrm>
          <a:prstGeom prst="rect">
            <a:avLst/>
          </a:prstGeom>
          <a:noFill/>
          <a:ln/>
        </p:spPr>
        <p:txBody>
          <a:bodyPr wrap="square" lIns="0" tIns="0" rIns="0" bIns="0" rtlCol="0" anchor="ctr"/>
          <a:lstStyle/>
          <a:p>
            <a:pPr indent="0" marL="0">
              <a:buNone/>
            </a:pPr>
            <a:r>
              <a:rPr lang="en-US" sz="2000" b="1" dirty="0">
                <a:solidFill>
                  <a:srgbClr val="1BAF7A"/>
                </a:solidFill>
                <a:latin typeface="Cambria" pitchFamily="34" charset="0"/>
                <a:ea typeface="Cambria" pitchFamily="34" charset="-122"/>
                <a:cs typeface="Cambria" pitchFamily="34" charset="-120"/>
              </a:rPr>
              <a:t>0.97</a:t>
            </a:r>
            <a:endParaRPr lang="en-US" sz="2000" dirty="0"/>
          </a:p>
        </p:txBody>
      </p:sp>
      <p:sp>
        <p:nvSpPr>
          <p:cNvPr id="23" name="Text 19"/>
          <p:cNvSpPr txBox="1"/>
          <p:nvPr/>
        </p:nvSpPr>
        <p:spPr>
          <a:xfrm>
            <a:off x="8732520" y="4800600"/>
            <a:ext cx="1143000" cy="525780"/>
          </a:xfrm>
          <a:prstGeom prst="rect">
            <a:avLst/>
          </a:prstGeom>
          <a:noFill/>
          <a:ln/>
        </p:spPr>
        <p:txBody>
          <a:bodyPr wrap="square" lIns="0" tIns="0" rIns="0" bIns="0" rtlCol="0" anchor="t"/>
          <a:lstStyle/>
          <a:p>
            <a:pPr indent="0" marL="0">
              <a:buNone/>
            </a:pPr>
            <a:r>
              <a:rPr lang="en-US" sz="1300" dirty="0">
                <a:solidFill>
                  <a:srgbClr val="5B6B80"/>
                </a:solidFill>
              </a:rPr>
              <a:t>product profile correlation</a:t>
            </a:r>
            <a:endParaRPr lang="en-US" sz="1300" dirty="0"/>
          </a:p>
        </p:txBody>
      </p:sp>
      <p:sp>
        <p:nvSpPr>
          <p:cNvPr id="24" name="Stat card"/>
          <p:cNvSpPr/>
          <p:nvPr/>
        </p:nvSpPr>
        <p:spPr>
          <a:xfrm>
            <a:off x="10104120" y="4206240"/>
            <a:ext cx="1508760" cy="1143000"/>
          </a:xfrm>
          <a:prstGeom prst="roundRect">
            <a:avLst>
              <a:gd name="adj" fmla="val 6400"/>
            </a:avLst>
          </a:prstGeom>
          <a:solidFill>
            <a:srgbClr val="F2F6FB"/>
          </a:solidFill>
          <a:ln w="12700">
            <a:solidFill>
              <a:srgbClr val="F2F6FB"/>
            </a:solidFill>
            <a:prstDash val="solid"/>
          </a:ln>
        </p:spPr>
      </p:sp>
      <p:sp>
        <p:nvSpPr>
          <p:cNvPr id="25" name="Text 21"/>
          <p:cNvSpPr txBox="1"/>
          <p:nvPr/>
        </p:nvSpPr>
        <p:spPr>
          <a:xfrm>
            <a:off x="10241280" y="4279392"/>
            <a:ext cx="1234440" cy="514350"/>
          </a:xfrm>
          <a:prstGeom prst="rect">
            <a:avLst/>
          </a:prstGeom>
          <a:noFill/>
          <a:ln/>
        </p:spPr>
        <p:txBody>
          <a:bodyPr wrap="square" lIns="0" tIns="0" rIns="0" bIns="0" rtlCol="0" anchor="ctr"/>
          <a:lstStyle/>
          <a:p>
            <a:pPr indent="0" marL="0">
              <a:buNone/>
            </a:pPr>
            <a:r>
              <a:rPr lang="en-US" sz="2000" b="1" dirty="0">
                <a:solidFill>
                  <a:srgbClr val="EB6834"/>
                </a:solidFill>
                <a:latin typeface="Cambria" pitchFamily="34" charset="0"/>
                <a:ea typeface="Cambria" pitchFamily="34" charset="-122"/>
                <a:cs typeface="Cambria" pitchFamily="34" charset="-120"/>
              </a:rPr>
              <a:t>-0.017</a:t>
            </a:r>
            <a:endParaRPr lang="en-US" sz="2000" dirty="0"/>
          </a:p>
        </p:txBody>
      </p:sp>
      <p:sp>
        <p:nvSpPr>
          <p:cNvPr id="26" name="Text 22"/>
          <p:cNvSpPr txBox="1"/>
          <p:nvPr/>
        </p:nvSpPr>
        <p:spPr>
          <a:xfrm>
            <a:off x="10241280" y="4800600"/>
            <a:ext cx="1234440" cy="525780"/>
          </a:xfrm>
          <a:prstGeom prst="rect">
            <a:avLst/>
          </a:prstGeom>
          <a:noFill/>
          <a:ln/>
        </p:spPr>
        <p:txBody>
          <a:bodyPr wrap="square" lIns="0" tIns="0" rIns="0" bIns="0" rtlCol="0" anchor="t"/>
          <a:lstStyle/>
          <a:p>
            <a:pPr indent="0" marL="0">
              <a:buNone/>
            </a:pPr>
            <a:r>
              <a:rPr lang="en-US" sz="1300" dirty="0">
                <a:solidFill>
                  <a:srgbClr val="5B6B80"/>
                </a:solidFill>
              </a:rPr>
              <a:t>price effect (n.s.)</a:t>
            </a:r>
            <a:endParaRPr lang="en-US" sz="1300" dirty="0"/>
          </a:p>
        </p:txBody>
      </p:sp>
      <p:sp>
        <p:nvSpPr>
          <p:cNvPr id="27" name="Callout"/>
          <p:cNvSpPr/>
          <p:nvPr/>
        </p:nvSpPr>
        <p:spPr>
          <a:xfrm>
            <a:off x="548640" y="5468112"/>
            <a:ext cx="11064240" cy="868680"/>
          </a:xfrm>
          <a:prstGeom prst="roundRect">
            <a:avLst>
              <a:gd name="adj" fmla="val 8421"/>
            </a:avLst>
          </a:prstGeom>
          <a:solidFill>
            <a:srgbClr val="F2F6FB"/>
          </a:solidFill>
          <a:ln w="12700">
            <a:solidFill>
              <a:srgbClr val="D9E1EC"/>
            </a:solidFill>
            <a:prstDash val="solid"/>
          </a:ln>
        </p:spPr>
      </p:sp>
      <p:sp>
        <p:nvSpPr>
          <p:cNvPr id="28" name="Text 24"/>
          <p:cNvSpPr txBox="1"/>
          <p:nvPr/>
        </p:nvSpPr>
        <p:spPr>
          <a:xfrm>
            <a:off x="731520" y="5577840"/>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Rules and decisions</a:t>
            </a:r>
            <a:endParaRPr lang="en-US" sz="1400" dirty="0"/>
          </a:p>
        </p:txBody>
      </p:sp>
      <p:sp>
        <p:nvSpPr>
          <p:cNvPr id="29" name="Text 25"/>
          <p:cNvSpPr txBox="1"/>
          <p:nvPr/>
        </p:nvSpPr>
        <p:spPr>
          <a:xfrm>
            <a:off x="731520" y="5925312"/>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Only information known at the forecast origin is used; the legacy forecast builds the target but is never an input. One shared seasonal curve; price, cost and stock are not features.</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VALIDATION DESIGN</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Why four rolling tests instead of one train/test split</a:t>
            </a:r>
            <a:endParaRPr lang="en-US" sz="3000" dirty="0"/>
          </a:p>
        </p:txBody>
      </p:sp>
      <p:sp>
        <p:nvSpPr>
          <p:cNvPr id="5" name="Target band"/>
          <p:cNvSpPr/>
          <p:nvPr/>
        </p:nvSpPr>
        <p:spPr>
          <a:xfrm>
            <a:off x="548640" y="1600200"/>
            <a:ext cx="7498080" cy="457200"/>
          </a:xfrm>
          <a:prstGeom prst="roundRect">
            <a:avLst>
              <a:gd name="adj" fmla="val 12000"/>
            </a:avLst>
          </a:prstGeom>
          <a:solidFill>
            <a:srgbClr val="F2F6FB"/>
          </a:solidFill>
          <a:ln w="12700">
            <a:solidFill>
              <a:srgbClr val="F2F6FB"/>
            </a:solidFill>
            <a:prstDash val="solid"/>
          </a:ln>
        </p:spPr>
      </p:sp>
      <p:sp>
        <p:nvSpPr>
          <p:cNvPr id="6" name="Text 3"/>
          <p:cNvSpPr txBox="1"/>
          <p:nvPr/>
        </p:nvSpPr>
        <p:spPr>
          <a:xfrm>
            <a:off x="685800" y="1600200"/>
            <a:ext cx="7269480" cy="457200"/>
          </a:xfrm>
          <a:prstGeom prst="rect">
            <a:avLst/>
          </a:prstGeom>
          <a:noFill/>
          <a:ln/>
        </p:spPr>
        <p:txBody>
          <a:bodyPr wrap="square" lIns="0" tIns="0" rIns="0" bIns="0" rtlCol="0" anchor="ctr"/>
          <a:lstStyle/>
          <a:p>
            <a:pPr indent="0" marL="0">
              <a:buNone/>
            </a:pPr>
            <a:r>
              <a:rPr lang="en-US" sz="1100" dirty="0">
                <a:solidFill>
                  <a:srgbClr val="5B6B80"/>
                </a:solidFill>
              </a:rPr>
              <a:t>Predicts </a:t>
            </a:r>
            <a:pPr indent="0" marL="0">
              <a:buNone/>
            </a:pPr>
            <a:r>
              <a:rPr lang="en-US" sz="1100" b="1" dirty="0">
                <a:solidFill>
                  <a:srgbClr val="1B2A41"/>
                </a:solidFill>
              </a:rPr>
              <a:t>demand_est</a:t>
            </a:r>
            <a:pPr indent="0" marL="0">
              <a:buNone/>
            </a:pPr>
            <a:r>
              <a:rPr lang="en-US" sz="1100" dirty="0">
                <a:solidFill>
                  <a:srgbClr val="5B6B80"/>
                </a:solidFill>
              </a:rPr>
              <a:t> (units customers wanted)  ·  26 weeks × 30 products = 780 forecasts  ·  inputs: past demand, week of year, product</a:t>
            </a:r>
            <a:endParaRPr lang="en-US" sz="1100" dirty="0"/>
          </a:p>
        </p:txBody>
      </p:sp>
      <p:sp>
        <p:nvSpPr>
          <p:cNvPr id="7" name="Text 4"/>
          <p:cNvSpPr txBox="1"/>
          <p:nvPr/>
        </p:nvSpPr>
        <p:spPr>
          <a:xfrm>
            <a:off x="548640" y="2194560"/>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1</a:t>
            </a:r>
            <a:endParaRPr lang="en-US" sz="1150" dirty="0"/>
          </a:p>
        </p:txBody>
      </p:sp>
      <p:sp>
        <p:nvSpPr>
          <p:cNvPr id="8" name="Train"/>
          <p:cNvSpPr/>
          <p:nvPr/>
        </p:nvSpPr>
        <p:spPr>
          <a:xfrm>
            <a:off x="1417320" y="2194560"/>
            <a:ext cx="2394065" cy="310896"/>
          </a:xfrm>
          <a:prstGeom prst="rect">
            <a:avLst/>
          </a:prstGeom>
          <a:solidFill>
            <a:srgbClr val="2A78D6"/>
          </a:solidFill>
          <a:ln w="6350">
            <a:solidFill>
              <a:srgbClr val="FFFFFF"/>
            </a:solidFill>
            <a:prstDash val="solid"/>
          </a:ln>
        </p:spPr>
      </p:sp>
      <p:sp>
        <p:nvSpPr>
          <p:cNvPr id="9" name="Validation"/>
          <p:cNvSpPr/>
          <p:nvPr/>
        </p:nvSpPr>
        <p:spPr>
          <a:xfrm>
            <a:off x="3811385" y="2194560"/>
            <a:ext cx="1197033" cy="310896"/>
          </a:xfrm>
          <a:prstGeom prst="rect">
            <a:avLst/>
          </a:prstGeom>
          <a:solidFill>
            <a:srgbClr val="1BAF7A"/>
          </a:solidFill>
          <a:ln w="6350">
            <a:solidFill>
              <a:srgbClr val="FFFFFF"/>
            </a:solidFill>
            <a:prstDash val="solid"/>
          </a:ln>
        </p:spPr>
      </p:sp>
      <p:sp>
        <p:nvSpPr>
          <p:cNvPr id="10" name="Test"/>
          <p:cNvSpPr/>
          <p:nvPr/>
        </p:nvSpPr>
        <p:spPr>
          <a:xfrm>
            <a:off x="5008418" y="2194560"/>
            <a:ext cx="598516" cy="310896"/>
          </a:xfrm>
          <a:prstGeom prst="rect">
            <a:avLst/>
          </a:prstGeom>
          <a:solidFill>
            <a:srgbClr val="EB6834"/>
          </a:solidFill>
          <a:ln w="6350">
            <a:solidFill>
              <a:srgbClr val="FFFFFF"/>
            </a:solidFill>
            <a:prstDash val="solid"/>
          </a:ln>
        </p:spPr>
      </p:sp>
      <p:sp>
        <p:nvSpPr>
          <p:cNvPr id="11" name="Text 8"/>
          <p:cNvSpPr txBox="1"/>
          <p:nvPr/>
        </p:nvSpPr>
        <p:spPr>
          <a:xfrm>
            <a:off x="1417320" y="2194560"/>
            <a:ext cx="239406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1-104</a:t>
            </a:r>
            <a:endParaRPr lang="en-US" sz="1000" dirty="0"/>
          </a:p>
        </p:txBody>
      </p:sp>
      <p:sp>
        <p:nvSpPr>
          <p:cNvPr id="12" name="Text 9"/>
          <p:cNvSpPr txBox="1"/>
          <p:nvPr/>
        </p:nvSpPr>
        <p:spPr>
          <a:xfrm>
            <a:off x="3811385" y="2194560"/>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13" name="Text 10"/>
          <p:cNvSpPr txBox="1"/>
          <p:nvPr/>
        </p:nvSpPr>
        <p:spPr>
          <a:xfrm>
            <a:off x="4916978" y="2194560"/>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14" name="Text 11"/>
          <p:cNvSpPr txBox="1"/>
          <p:nvPr/>
        </p:nvSpPr>
        <p:spPr>
          <a:xfrm>
            <a:off x="548640" y="2596896"/>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2</a:t>
            </a:r>
            <a:endParaRPr lang="en-US" sz="1150" dirty="0"/>
          </a:p>
        </p:txBody>
      </p:sp>
      <p:sp>
        <p:nvSpPr>
          <p:cNvPr id="15" name="Train"/>
          <p:cNvSpPr/>
          <p:nvPr/>
        </p:nvSpPr>
        <p:spPr>
          <a:xfrm>
            <a:off x="1417320" y="2596896"/>
            <a:ext cx="2992582" cy="310896"/>
          </a:xfrm>
          <a:prstGeom prst="rect">
            <a:avLst/>
          </a:prstGeom>
          <a:solidFill>
            <a:srgbClr val="2A78D6"/>
          </a:solidFill>
          <a:ln w="6350">
            <a:solidFill>
              <a:srgbClr val="FFFFFF"/>
            </a:solidFill>
            <a:prstDash val="solid"/>
          </a:ln>
        </p:spPr>
      </p:sp>
      <p:sp>
        <p:nvSpPr>
          <p:cNvPr id="16" name="Validation"/>
          <p:cNvSpPr/>
          <p:nvPr/>
        </p:nvSpPr>
        <p:spPr>
          <a:xfrm>
            <a:off x="4409902" y="2596896"/>
            <a:ext cx="1197033" cy="310896"/>
          </a:xfrm>
          <a:prstGeom prst="rect">
            <a:avLst/>
          </a:prstGeom>
          <a:solidFill>
            <a:srgbClr val="1BAF7A"/>
          </a:solidFill>
          <a:ln w="6350">
            <a:solidFill>
              <a:srgbClr val="FFFFFF"/>
            </a:solidFill>
            <a:prstDash val="solid"/>
          </a:ln>
        </p:spPr>
      </p:sp>
      <p:sp>
        <p:nvSpPr>
          <p:cNvPr id="17" name="Test"/>
          <p:cNvSpPr/>
          <p:nvPr/>
        </p:nvSpPr>
        <p:spPr>
          <a:xfrm>
            <a:off x="5606935" y="2596896"/>
            <a:ext cx="598516" cy="310896"/>
          </a:xfrm>
          <a:prstGeom prst="rect">
            <a:avLst/>
          </a:prstGeom>
          <a:solidFill>
            <a:srgbClr val="EB6834"/>
          </a:solidFill>
          <a:ln w="6350">
            <a:solidFill>
              <a:srgbClr val="FFFFFF"/>
            </a:solidFill>
            <a:prstDash val="solid"/>
          </a:ln>
        </p:spPr>
      </p:sp>
      <p:sp>
        <p:nvSpPr>
          <p:cNvPr id="18" name="Text 15"/>
          <p:cNvSpPr txBox="1"/>
          <p:nvPr/>
        </p:nvSpPr>
        <p:spPr>
          <a:xfrm>
            <a:off x="1417320" y="2596896"/>
            <a:ext cx="2992582" cy="310896"/>
          </a:xfrm>
          <a:prstGeom prst="rect">
            <a:avLst/>
          </a:prstGeom>
          <a:noFill/>
          <a:ln/>
        </p:spPr>
        <p:txBody>
          <a:bodyPr wrap="square" lIns="0" tIns="0" rIns="0" bIns="0" rtlCol="0" anchor="ctr"/>
          <a:lstStyle/>
          <a:p>
            <a:pPr algn="ctr" indent="0" marL="0">
              <a:buNone/>
            </a:pPr>
            <a:r>
              <a:rPr lang="en-US" sz="1000" dirty="0">
                <a:solidFill>
                  <a:srgbClr val="FFFFFF"/>
                </a:solidFill>
              </a:rPr>
              <a:t>train  1-130</a:t>
            </a:r>
            <a:endParaRPr lang="en-US" sz="1000" dirty="0"/>
          </a:p>
        </p:txBody>
      </p:sp>
      <p:sp>
        <p:nvSpPr>
          <p:cNvPr id="19" name="Text 16"/>
          <p:cNvSpPr txBox="1"/>
          <p:nvPr/>
        </p:nvSpPr>
        <p:spPr>
          <a:xfrm>
            <a:off x="4409902" y="2596896"/>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0" name="Text 17"/>
          <p:cNvSpPr txBox="1"/>
          <p:nvPr/>
        </p:nvSpPr>
        <p:spPr>
          <a:xfrm>
            <a:off x="5515495" y="2596896"/>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1" name="Text 18"/>
          <p:cNvSpPr txBox="1"/>
          <p:nvPr/>
        </p:nvSpPr>
        <p:spPr>
          <a:xfrm>
            <a:off x="548640" y="2999232"/>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3</a:t>
            </a:r>
            <a:endParaRPr lang="en-US" sz="1150" dirty="0"/>
          </a:p>
        </p:txBody>
      </p:sp>
      <p:sp>
        <p:nvSpPr>
          <p:cNvPr id="22" name="Train"/>
          <p:cNvSpPr/>
          <p:nvPr/>
        </p:nvSpPr>
        <p:spPr>
          <a:xfrm>
            <a:off x="1417320" y="2999232"/>
            <a:ext cx="3591098" cy="310896"/>
          </a:xfrm>
          <a:prstGeom prst="rect">
            <a:avLst/>
          </a:prstGeom>
          <a:solidFill>
            <a:srgbClr val="2A78D6"/>
          </a:solidFill>
          <a:ln w="6350">
            <a:solidFill>
              <a:srgbClr val="FFFFFF"/>
            </a:solidFill>
            <a:prstDash val="solid"/>
          </a:ln>
        </p:spPr>
      </p:sp>
      <p:sp>
        <p:nvSpPr>
          <p:cNvPr id="23" name="Validation"/>
          <p:cNvSpPr/>
          <p:nvPr/>
        </p:nvSpPr>
        <p:spPr>
          <a:xfrm>
            <a:off x="5008418" y="2999232"/>
            <a:ext cx="1197033" cy="310896"/>
          </a:xfrm>
          <a:prstGeom prst="rect">
            <a:avLst/>
          </a:prstGeom>
          <a:solidFill>
            <a:srgbClr val="1BAF7A"/>
          </a:solidFill>
          <a:ln w="6350">
            <a:solidFill>
              <a:srgbClr val="FFFFFF"/>
            </a:solidFill>
            <a:prstDash val="solid"/>
          </a:ln>
        </p:spPr>
      </p:sp>
      <p:sp>
        <p:nvSpPr>
          <p:cNvPr id="24" name="Test"/>
          <p:cNvSpPr/>
          <p:nvPr/>
        </p:nvSpPr>
        <p:spPr>
          <a:xfrm>
            <a:off x="6205451" y="2999232"/>
            <a:ext cx="598516" cy="310896"/>
          </a:xfrm>
          <a:prstGeom prst="rect">
            <a:avLst/>
          </a:prstGeom>
          <a:solidFill>
            <a:srgbClr val="EB6834"/>
          </a:solidFill>
          <a:ln w="6350">
            <a:solidFill>
              <a:srgbClr val="FFFFFF"/>
            </a:solidFill>
            <a:prstDash val="solid"/>
          </a:ln>
        </p:spPr>
      </p:sp>
      <p:sp>
        <p:nvSpPr>
          <p:cNvPr id="25" name="Text 22"/>
          <p:cNvSpPr txBox="1"/>
          <p:nvPr/>
        </p:nvSpPr>
        <p:spPr>
          <a:xfrm>
            <a:off x="1417320" y="2999232"/>
            <a:ext cx="3591098" cy="310896"/>
          </a:xfrm>
          <a:prstGeom prst="rect">
            <a:avLst/>
          </a:prstGeom>
          <a:noFill/>
          <a:ln/>
        </p:spPr>
        <p:txBody>
          <a:bodyPr wrap="square" lIns="0" tIns="0" rIns="0" bIns="0" rtlCol="0" anchor="ctr"/>
          <a:lstStyle/>
          <a:p>
            <a:pPr algn="ctr" indent="0" marL="0">
              <a:buNone/>
            </a:pPr>
            <a:r>
              <a:rPr lang="en-US" sz="1000" dirty="0">
                <a:solidFill>
                  <a:srgbClr val="FFFFFF"/>
                </a:solidFill>
              </a:rPr>
              <a:t>train  1-156</a:t>
            </a:r>
            <a:endParaRPr lang="en-US" sz="1000" dirty="0"/>
          </a:p>
        </p:txBody>
      </p:sp>
      <p:sp>
        <p:nvSpPr>
          <p:cNvPr id="26" name="Text 23"/>
          <p:cNvSpPr txBox="1"/>
          <p:nvPr/>
        </p:nvSpPr>
        <p:spPr>
          <a:xfrm>
            <a:off x="5008418" y="2999232"/>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27" name="Text 24"/>
          <p:cNvSpPr txBox="1"/>
          <p:nvPr/>
        </p:nvSpPr>
        <p:spPr>
          <a:xfrm>
            <a:off x="6114011" y="2999232"/>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28" name="Text 25"/>
          <p:cNvSpPr txBox="1"/>
          <p:nvPr/>
        </p:nvSpPr>
        <p:spPr>
          <a:xfrm>
            <a:off x="548640" y="3401568"/>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Test 4</a:t>
            </a:r>
            <a:endParaRPr lang="en-US" sz="1150" dirty="0"/>
          </a:p>
        </p:txBody>
      </p:sp>
      <p:sp>
        <p:nvSpPr>
          <p:cNvPr id="29" name="Train"/>
          <p:cNvSpPr/>
          <p:nvPr/>
        </p:nvSpPr>
        <p:spPr>
          <a:xfrm>
            <a:off x="1417320" y="3401568"/>
            <a:ext cx="4189615" cy="310896"/>
          </a:xfrm>
          <a:prstGeom prst="rect">
            <a:avLst/>
          </a:prstGeom>
          <a:solidFill>
            <a:srgbClr val="2A78D6"/>
          </a:solidFill>
          <a:ln w="6350">
            <a:solidFill>
              <a:srgbClr val="FFFFFF"/>
            </a:solidFill>
            <a:prstDash val="solid"/>
          </a:ln>
        </p:spPr>
      </p:sp>
      <p:sp>
        <p:nvSpPr>
          <p:cNvPr id="30" name="Validation"/>
          <p:cNvSpPr/>
          <p:nvPr/>
        </p:nvSpPr>
        <p:spPr>
          <a:xfrm>
            <a:off x="5606935" y="3401568"/>
            <a:ext cx="1197033" cy="310896"/>
          </a:xfrm>
          <a:prstGeom prst="rect">
            <a:avLst/>
          </a:prstGeom>
          <a:solidFill>
            <a:srgbClr val="1BAF7A"/>
          </a:solidFill>
          <a:ln w="6350">
            <a:solidFill>
              <a:srgbClr val="FFFFFF"/>
            </a:solidFill>
            <a:prstDash val="solid"/>
          </a:ln>
        </p:spPr>
      </p:sp>
      <p:sp>
        <p:nvSpPr>
          <p:cNvPr id="31" name="Test"/>
          <p:cNvSpPr/>
          <p:nvPr/>
        </p:nvSpPr>
        <p:spPr>
          <a:xfrm>
            <a:off x="6803967" y="3401568"/>
            <a:ext cx="598516" cy="310896"/>
          </a:xfrm>
          <a:prstGeom prst="rect">
            <a:avLst/>
          </a:prstGeom>
          <a:solidFill>
            <a:srgbClr val="EB6834"/>
          </a:solidFill>
          <a:ln w="6350">
            <a:solidFill>
              <a:srgbClr val="FFFFFF"/>
            </a:solidFill>
            <a:prstDash val="solid"/>
          </a:ln>
        </p:spPr>
      </p:sp>
      <p:sp>
        <p:nvSpPr>
          <p:cNvPr id="32" name="Text 29"/>
          <p:cNvSpPr txBox="1"/>
          <p:nvPr/>
        </p:nvSpPr>
        <p:spPr>
          <a:xfrm>
            <a:off x="1417320" y="3401568"/>
            <a:ext cx="4189615" cy="310896"/>
          </a:xfrm>
          <a:prstGeom prst="rect">
            <a:avLst/>
          </a:prstGeom>
          <a:noFill/>
          <a:ln/>
        </p:spPr>
        <p:txBody>
          <a:bodyPr wrap="square" lIns="0" tIns="0" rIns="0" bIns="0" rtlCol="0" anchor="ctr"/>
          <a:lstStyle/>
          <a:p>
            <a:pPr algn="ctr" indent="0" marL="0">
              <a:buNone/>
            </a:pPr>
            <a:r>
              <a:rPr lang="en-US" sz="1000" dirty="0">
                <a:solidFill>
                  <a:srgbClr val="FFFFFF"/>
                </a:solidFill>
              </a:rPr>
              <a:t>train  1-182</a:t>
            </a:r>
            <a:endParaRPr lang="en-US" sz="1000" dirty="0"/>
          </a:p>
        </p:txBody>
      </p:sp>
      <p:sp>
        <p:nvSpPr>
          <p:cNvPr id="33" name="Text 30"/>
          <p:cNvSpPr txBox="1"/>
          <p:nvPr/>
        </p:nvSpPr>
        <p:spPr>
          <a:xfrm>
            <a:off x="5606935" y="3401568"/>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34" name="Text 31"/>
          <p:cNvSpPr txBox="1"/>
          <p:nvPr/>
        </p:nvSpPr>
        <p:spPr>
          <a:xfrm>
            <a:off x="6712527" y="3401568"/>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test</a:t>
            </a:r>
            <a:endParaRPr lang="en-US" sz="900" dirty="0"/>
          </a:p>
        </p:txBody>
      </p:sp>
      <p:sp>
        <p:nvSpPr>
          <p:cNvPr id="35" name="Text 32"/>
          <p:cNvSpPr txBox="1"/>
          <p:nvPr/>
        </p:nvSpPr>
        <p:spPr>
          <a:xfrm>
            <a:off x="548640" y="3803904"/>
            <a:ext cx="822960" cy="310896"/>
          </a:xfrm>
          <a:prstGeom prst="rect">
            <a:avLst/>
          </a:prstGeom>
          <a:noFill/>
          <a:ln/>
        </p:spPr>
        <p:txBody>
          <a:bodyPr wrap="square" lIns="0" tIns="0" rIns="0" bIns="0" rtlCol="0" anchor="ctr"/>
          <a:lstStyle/>
          <a:p>
            <a:pPr indent="0" marL="0">
              <a:buNone/>
            </a:pPr>
            <a:r>
              <a:rPr lang="en-US" sz="1150" b="1" dirty="0">
                <a:solidFill>
                  <a:srgbClr val="1B2A41"/>
                </a:solidFill>
              </a:rPr>
              <a:t>Final</a:t>
            </a:r>
            <a:endParaRPr lang="en-US" sz="1150" dirty="0"/>
          </a:p>
        </p:txBody>
      </p:sp>
      <p:sp>
        <p:nvSpPr>
          <p:cNvPr id="36" name="Train"/>
          <p:cNvSpPr/>
          <p:nvPr/>
        </p:nvSpPr>
        <p:spPr>
          <a:xfrm>
            <a:off x="1417320" y="3803904"/>
            <a:ext cx="4788131" cy="310896"/>
          </a:xfrm>
          <a:prstGeom prst="rect">
            <a:avLst/>
          </a:prstGeom>
          <a:solidFill>
            <a:srgbClr val="2A78D6"/>
          </a:solidFill>
          <a:ln w="6350">
            <a:solidFill>
              <a:srgbClr val="FFFFFF"/>
            </a:solidFill>
            <a:prstDash val="solid"/>
          </a:ln>
        </p:spPr>
      </p:sp>
      <p:sp>
        <p:nvSpPr>
          <p:cNvPr id="37" name="Validation"/>
          <p:cNvSpPr/>
          <p:nvPr/>
        </p:nvSpPr>
        <p:spPr>
          <a:xfrm>
            <a:off x="6205451" y="3803904"/>
            <a:ext cx="1197033" cy="310896"/>
          </a:xfrm>
          <a:prstGeom prst="rect">
            <a:avLst/>
          </a:prstGeom>
          <a:solidFill>
            <a:srgbClr val="1BAF7A"/>
          </a:solidFill>
          <a:ln w="6350">
            <a:solidFill>
              <a:srgbClr val="FFFFFF"/>
            </a:solidFill>
            <a:prstDash val="solid"/>
          </a:ln>
        </p:spPr>
      </p:sp>
      <p:sp>
        <p:nvSpPr>
          <p:cNvPr id="38" name="Test"/>
          <p:cNvSpPr/>
          <p:nvPr/>
        </p:nvSpPr>
        <p:spPr>
          <a:xfrm>
            <a:off x="7402484" y="3803904"/>
            <a:ext cx="598516" cy="310896"/>
          </a:xfrm>
          <a:prstGeom prst="rect">
            <a:avLst/>
          </a:prstGeom>
          <a:solidFill>
            <a:srgbClr val="8A8F98"/>
          </a:solidFill>
          <a:ln w="6350">
            <a:solidFill>
              <a:srgbClr val="FFFFFF"/>
            </a:solidFill>
            <a:prstDash val="solid"/>
          </a:ln>
        </p:spPr>
      </p:sp>
      <p:sp>
        <p:nvSpPr>
          <p:cNvPr id="39" name="Text 36"/>
          <p:cNvSpPr txBox="1"/>
          <p:nvPr/>
        </p:nvSpPr>
        <p:spPr>
          <a:xfrm>
            <a:off x="1417320" y="3803904"/>
            <a:ext cx="4788131" cy="310896"/>
          </a:xfrm>
          <a:prstGeom prst="rect">
            <a:avLst/>
          </a:prstGeom>
          <a:noFill/>
          <a:ln/>
        </p:spPr>
        <p:txBody>
          <a:bodyPr wrap="square" lIns="0" tIns="0" rIns="0" bIns="0" rtlCol="0" anchor="ctr"/>
          <a:lstStyle/>
          <a:p>
            <a:pPr algn="ctr" indent="0" marL="0">
              <a:buNone/>
            </a:pPr>
            <a:r>
              <a:rPr lang="en-US" sz="1000" dirty="0">
                <a:solidFill>
                  <a:srgbClr val="FFFFFF"/>
                </a:solidFill>
              </a:rPr>
              <a:t>train  1-208</a:t>
            </a:r>
            <a:endParaRPr lang="en-US" sz="1000" dirty="0"/>
          </a:p>
        </p:txBody>
      </p:sp>
      <p:sp>
        <p:nvSpPr>
          <p:cNvPr id="40" name="Text 37"/>
          <p:cNvSpPr txBox="1"/>
          <p:nvPr/>
        </p:nvSpPr>
        <p:spPr>
          <a:xfrm>
            <a:off x="6205451" y="3803904"/>
            <a:ext cx="1197033" cy="310896"/>
          </a:xfrm>
          <a:prstGeom prst="rect">
            <a:avLst/>
          </a:prstGeom>
          <a:noFill/>
          <a:ln/>
        </p:spPr>
        <p:txBody>
          <a:bodyPr wrap="square" lIns="0" tIns="0" rIns="0" bIns="0" rtlCol="0" anchor="ctr"/>
          <a:lstStyle/>
          <a:p>
            <a:pPr algn="ctr" indent="0" marL="0">
              <a:buNone/>
            </a:pPr>
            <a:r>
              <a:rPr lang="en-US" sz="900" dirty="0">
                <a:solidFill>
                  <a:srgbClr val="FFFFFF"/>
                </a:solidFill>
              </a:rPr>
              <a:t>validation</a:t>
            </a:r>
            <a:endParaRPr lang="en-US" sz="900" dirty="0"/>
          </a:p>
        </p:txBody>
      </p:sp>
      <p:sp>
        <p:nvSpPr>
          <p:cNvPr id="41" name="Text 38"/>
          <p:cNvSpPr txBox="1"/>
          <p:nvPr/>
        </p:nvSpPr>
        <p:spPr>
          <a:xfrm>
            <a:off x="7311044" y="3803904"/>
            <a:ext cx="781396" cy="310896"/>
          </a:xfrm>
          <a:prstGeom prst="rect">
            <a:avLst/>
          </a:prstGeom>
          <a:noFill/>
          <a:ln/>
        </p:spPr>
        <p:txBody>
          <a:bodyPr wrap="square" lIns="0" tIns="0" rIns="0" bIns="0" rtlCol="0" anchor="ctr"/>
          <a:lstStyle/>
          <a:p>
            <a:pPr algn="ctr" indent="0" marL="0">
              <a:buNone/>
            </a:pPr>
            <a:r>
              <a:rPr lang="en-US" sz="900" dirty="0">
                <a:solidFill>
                  <a:srgbClr val="FFFFFF"/>
                </a:solidFill>
              </a:rPr>
              <a:t>fcst</a:t>
            </a:r>
            <a:endParaRPr lang="en-US" sz="900" dirty="0"/>
          </a:p>
        </p:txBody>
      </p:sp>
      <p:sp>
        <p:nvSpPr>
          <p:cNvPr id="42" name="Text 39"/>
          <p:cNvSpPr txBox="1"/>
          <p:nvPr/>
        </p:nvSpPr>
        <p:spPr>
          <a:xfrm>
            <a:off x="548640" y="4224528"/>
            <a:ext cx="7498080" cy="274320"/>
          </a:xfrm>
          <a:prstGeom prst="rect">
            <a:avLst/>
          </a:prstGeom>
          <a:noFill/>
          <a:ln/>
        </p:spPr>
        <p:txBody>
          <a:bodyPr wrap="square" lIns="0" tIns="0" rIns="0" bIns="0" rtlCol="0" anchor="ctr"/>
          <a:lstStyle/>
          <a:p>
            <a:pPr indent="0" marL="0">
              <a:buNone/>
            </a:pPr>
            <a:r>
              <a:rPr lang="en-US" sz="1050" i="1" dirty="0">
                <a:solidFill>
                  <a:srgbClr val="5B6B80"/>
                </a:solidFill>
              </a:rPr>
              <a:t>train = learns · validation = chooses settings · test = scores (weeks 157-182, 183-208, 209-234, 235-260); Final: weeks 261-286</a:t>
            </a:r>
            <a:endParaRPr lang="en-US" sz="1050" dirty="0"/>
          </a:p>
        </p:txBody>
      </p:sp>
      <p:graphicFrame>
        <p:nvGraphicFramePr>
          <p:cNvPr id="43" name="Chart 0" descr=""/>
          <p:cNvGraphicFramePr/>
          <p:nvPr/>
        </p:nvGraphicFramePr>
        <p:xfrm>
          <a:off x="548640" y="4572000"/>
          <a:ext cx="7498080" cy="1737360"/>
        </p:xfrm>
        <a:graphic xmlns:a="http://schemas.openxmlformats.org/drawingml/2006/main">
          <a:graphicData uri="http://schemas.openxmlformats.org/drawingml/2006/chart">
            <c:chart xmlns:c="http://schemas.openxmlformats.org/drawingml/2006/chart" r:id="rId1"/>
          </a:graphicData>
        </a:graphic>
      </p:graphicFrame>
      <p:sp>
        <p:nvSpPr>
          <p:cNvPr id="44" name="Why card"/>
          <p:cNvSpPr/>
          <p:nvPr/>
        </p:nvSpPr>
        <p:spPr>
          <a:xfrm>
            <a:off x="8275320" y="1600200"/>
            <a:ext cx="3337560" cy="1097280"/>
          </a:xfrm>
          <a:prstGeom prst="roundRect">
            <a:avLst>
              <a:gd name="adj" fmla="val 6667"/>
            </a:avLst>
          </a:prstGeom>
          <a:solidFill>
            <a:srgbClr val="F2F6FB"/>
          </a:solidFill>
          <a:ln w="12700">
            <a:solidFill>
              <a:srgbClr val="F2F6FB"/>
            </a:solidFill>
            <a:prstDash val="solid"/>
          </a:ln>
        </p:spPr>
      </p:sp>
      <p:sp>
        <p:nvSpPr>
          <p:cNvPr id="45" name="Card accent"/>
          <p:cNvSpPr/>
          <p:nvPr/>
        </p:nvSpPr>
        <p:spPr>
          <a:xfrm>
            <a:off x="8275320" y="1600200"/>
            <a:ext cx="82296" cy="1097280"/>
          </a:xfrm>
          <a:prstGeom prst="rect">
            <a:avLst/>
          </a:prstGeom>
          <a:solidFill>
            <a:srgbClr val="D03B3B"/>
          </a:solidFill>
          <a:ln w="12700">
            <a:solidFill>
              <a:srgbClr val="D03B3B"/>
            </a:solidFill>
            <a:prstDash val="solid"/>
          </a:ln>
        </p:spPr>
      </p:sp>
      <p:sp>
        <p:nvSpPr>
          <p:cNvPr id="46" name="Text 42"/>
          <p:cNvSpPr txBox="1"/>
          <p:nvPr/>
        </p:nvSpPr>
        <p:spPr>
          <a:xfrm>
            <a:off x="8503920" y="166420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One split = one lucky number</a:t>
            </a:r>
            <a:endParaRPr lang="en-US" sz="1300" dirty="0"/>
          </a:p>
        </p:txBody>
      </p:sp>
      <p:sp>
        <p:nvSpPr>
          <p:cNvPr id="47" name="Text 43"/>
          <p:cNvSpPr txBox="1"/>
          <p:nvPr/>
        </p:nvSpPr>
        <p:spPr>
          <a:xfrm>
            <a:off x="8503920" y="1965960"/>
            <a:ext cx="3017520" cy="694944"/>
          </a:xfrm>
          <a:prstGeom prst="rect">
            <a:avLst/>
          </a:prstGeom>
          <a:noFill/>
          <a:ln/>
        </p:spPr>
        <p:txBody>
          <a:bodyPr wrap="square" lIns="0" tIns="0" rIns="0" bIns="0" rtlCol="0" anchor="t"/>
          <a:lstStyle/>
          <a:p>
            <a:pPr indent="0" marL="0">
              <a:buNone/>
            </a:pPr>
            <a:r>
              <a:rPr lang="en-US" sz="1150" dirty="0">
                <a:solidFill>
                  <a:srgbClr val="1B2A41"/>
                </a:solidFill>
              </a:rPr>
              <a:t>A single test window can fall in an easy or a hard season.</a:t>
            </a:r>
            <a:endParaRPr lang="en-US" sz="1150" dirty="0"/>
          </a:p>
        </p:txBody>
      </p:sp>
      <p:sp>
        <p:nvSpPr>
          <p:cNvPr id="48" name="Why card"/>
          <p:cNvSpPr/>
          <p:nvPr/>
        </p:nvSpPr>
        <p:spPr>
          <a:xfrm>
            <a:off x="8275320" y="2788920"/>
            <a:ext cx="3337560" cy="1097280"/>
          </a:xfrm>
          <a:prstGeom prst="roundRect">
            <a:avLst>
              <a:gd name="adj" fmla="val 6667"/>
            </a:avLst>
          </a:prstGeom>
          <a:solidFill>
            <a:srgbClr val="F2F6FB"/>
          </a:solidFill>
          <a:ln w="12700">
            <a:solidFill>
              <a:srgbClr val="F2F6FB"/>
            </a:solidFill>
            <a:prstDash val="solid"/>
          </a:ln>
        </p:spPr>
      </p:sp>
      <p:sp>
        <p:nvSpPr>
          <p:cNvPr id="49" name="Card accent"/>
          <p:cNvSpPr/>
          <p:nvPr/>
        </p:nvSpPr>
        <p:spPr>
          <a:xfrm>
            <a:off x="8275320" y="2788920"/>
            <a:ext cx="82296" cy="1097280"/>
          </a:xfrm>
          <a:prstGeom prst="rect">
            <a:avLst/>
          </a:prstGeom>
          <a:solidFill>
            <a:srgbClr val="2A78D6"/>
          </a:solidFill>
          <a:ln w="12700">
            <a:solidFill>
              <a:srgbClr val="2A78D6"/>
            </a:solidFill>
            <a:prstDash val="solid"/>
          </a:ln>
        </p:spPr>
      </p:sp>
      <p:sp>
        <p:nvSpPr>
          <p:cNvPr id="50" name="Text 46"/>
          <p:cNvSpPr txBox="1"/>
          <p:nvPr/>
        </p:nvSpPr>
        <p:spPr>
          <a:xfrm>
            <a:off x="8503920" y="285292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Seasons alternate</a:t>
            </a:r>
            <a:endParaRPr lang="en-US" sz="1300" dirty="0"/>
          </a:p>
        </p:txBody>
      </p:sp>
      <p:sp>
        <p:nvSpPr>
          <p:cNvPr id="51" name="Text 47"/>
          <p:cNvSpPr txBox="1"/>
          <p:nvPr/>
        </p:nvSpPr>
        <p:spPr>
          <a:xfrm>
            <a:off x="8503920" y="3154680"/>
            <a:ext cx="3017520" cy="694944"/>
          </a:xfrm>
          <a:prstGeom prst="rect">
            <a:avLst/>
          </a:prstGeom>
          <a:noFill/>
          <a:ln/>
        </p:spPr>
        <p:txBody>
          <a:bodyPr wrap="square" lIns="0" tIns="0" rIns="0" bIns="0" rtlCol="0" anchor="t"/>
          <a:lstStyle/>
          <a:p>
            <a:pPr indent="0" marL="0">
              <a:buNone/>
            </a:pPr>
            <a:r>
              <a:rPr lang="en-US" sz="1150" dirty="0">
                <a:solidFill>
                  <a:srgbClr val="1B2A41"/>
                </a:solidFill>
              </a:rPr>
              <a:t>Tests cover weeks 1-26 and 27-52 of the year, twice each: peak and lull both scored.</a:t>
            </a:r>
            <a:endParaRPr lang="en-US" sz="1150" dirty="0"/>
          </a:p>
        </p:txBody>
      </p:sp>
      <p:sp>
        <p:nvSpPr>
          <p:cNvPr id="52" name="Why card"/>
          <p:cNvSpPr/>
          <p:nvPr/>
        </p:nvSpPr>
        <p:spPr>
          <a:xfrm>
            <a:off x="8275320" y="3977640"/>
            <a:ext cx="3337560" cy="1097280"/>
          </a:xfrm>
          <a:prstGeom prst="roundRect">
            <a:avLst>
              <a:gd name="adj" fmla="val 6667"/>
            </a:avLst>
          </a:prstGeom>
          <a:solidFill>
            <a:srgbClr val="F2F6FB"/>
          </a:solidFill>
          <a:ln w="12700">
            <a:solidFill>
              <a:srgbClr val="F2F6FB"/>
            </a:solidFill>
            <a:prstDash val="solid"/>
          </a:ln>
        </p:spPr>
      </p:sp>
      <p:sp>
        <p:nvSpPr>
          <p:cNvPr id="53" name="Card accent"/>
          <p:cNvSpPr/>
          <p:nvPr/>
        </p:nvSpPr>
        <p:spPr>
          <a:xfrm>
            <a:off x="8275320" y="3977640"/>
            <a:ext cx="82296" cy="1097280"/>
          </a:xfrm>
          <a:prstGeom prst="rect">
            <a:avLst/>
          </a:prstGeom>
          <a:solidFill>
            <a:srgbClr val="EB6834"/>
          </a:solidFill>
          <a:ln w="12700">
            <a:solidFill>
              <a:srgbClr val="EB6834"/>
            </a:solidFill>
            <a:prstDash val="solid"/>
          </a:ln>
        </p:spPr>
      </p:sp>
      <p:sp>
        <p:nvSpPr>
          <p:cNvPr id="54" name="Text 50"/>
          <p:cNvSpPr txBox="1"/>
          <p:nvPr/>
        </p:nvSpPr>
        <p:spPr>
          <a:xfrm>
            <a:off x="8503920" y="404164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No random split</a:t>
            </a:r>
            <a:endParaRPr lang="en-US" sz="1300" dirty="0"/>
          </a:p>
        </p:txBody>
      </p:sp>
      <p:sp>
        <p:nvSpPr>
          <p:cNvPr id="55" name="Text 51"/>
          <p:cNvSpPr txBox="1"/>
          <p:nvPr/>
        </p:nvSpPr>
        <p:spPr>
          <a:xfrm>
            <a:off x="8503920" y="4343400"/>
            <a:ext cx="3017520" cy="694944"/>
          </a:xfrm>
          <a:prstGeom prst="rect">
            <a:avLst/>
          </a:prstGeom>
          <a:noFill/>
          <a:ln/>
        </p:spPr>
        <p:txBody>
          <a:bodyPr wrap="square" lIns="0" tIns="0" rIns="0" bIns="0" rtlCol="0" anchor="t"/>
          <a:lstStyle/>
          <a:p>
            <a:pPr indent="0" marL="0">
              <a:buNone/>
            </a:pPr>
            <a:r>
              <a:rPr lang="en-US" sz="1150" dirty="0">
                <a:solidFill>
                  <a:srgbClr val="1B2A41"/>
                </a:solidFill>
              </a:rPr>
              <a:t>Shuffled weeks leak neighbouring weeks and the seasonal pattern into training.</a:t>
            </a:r>
            <a:endParaRPr lang="en-US" sz="1150" dirty="0"/>
          </a:p>
        </p:txBody>
      </p:sp>
      <p:sp>
        <p:nvSpPr>
          <p:cNvPr id="56" name="Why card"/>
          <p:cNvSpPr/>
          <p:nvPr/>
        </p:nvSpPr>
        <p:spPr>
          <a:xfrm>
            <a:off x="8275320" y="5166360"/>
            <a:ext cx="3337560" cy="1097280"/>
          </a:xfrm>
          <a:prstGeom prst="roundRect">
            <a:avLst>
              <a:gd name="adj" fmla="val 6667"/>
            </a:avLst>
          </a:prstGeom>
          <a:solidFill>
            <a:srgbClr val="F2F6FB"/>
          </a:solidFill>
          <a:ln w="12700">
            <a:solidFill>
              <a:srgbClr val="F2F6FB"/>
            </a:solidFill>
            <a:prstDash val="solid"/>
          </a:ln>
        </p:spPr>
      </p:sp>
      <p:sp>
        <p:nvSpPr>
          <p:cNvPr id="57" name="Card accent"/>
          <p:cNvSpPr/>
          <p:nvPr/>
        </p:nvSpPr>
        <p:spPr>
          <a:xfrm>
            <a:off x="8275320" y="5166360"/>
            <a:ext cx="82296" cy="1097280"/>
          </a:xfrm>
          <a:prstGeom prst="rect">
            <a:avLst/>
          </a:prstGeom>
          <a:solidFill>
            <a:srgbClr val="1BAF7A"/>
          </a:solidFill>
          <a:ln w="12700">
            <a:solidFill>
              <a:srgbClr val="1BAF7A"/>
            </a:solidFill>
            <a:prstDash val="solid"/>
          </a:ln>
        </p:spPr>
      </p:sp>
      <p:sp>
        <p:nvSpPr>
          <p:cNvPr id="58" name="Text 54"/>
          <p:cNvSpPr txBox="1"/>
          <p:nvPr/>
        </p:nvSpPr>
        <p:spPr>
          <a:xfrm>
            <a:off x="8503920" y="5230368"/>
            <a:ext cx="3017520" cy="274320"/>
          </a:xfrm>
          <a:prstGeom prst="rect">
            <a:avLst/>
          </a:prstGeom>
          <a:noFill/>
          <a:ln/>
        </p:spPr>
        <p:txBody>
          <a:bodyPr wrap="square" lIns="0" tIns="0" rIns="0" bIns="0" rtlCol="0" anchor="ctr"/>
          <a:lstStyle/>
          <a:p>
            <a:pPr indent="0" marL="0">
              <a:buNone/>
            </a:pPr>
            <a:r>
              <a:rPr lang="en-US" sz="1300" b="1" dirty="0">
                <a:solidFill>
                  <a:schemeClr val="tx1"/>
                </a:solidFill>
              </a:rPr>
              <a:t>Mimics real use</a:t>
            </a:r>
            <a:endParaRPr lang="en-US" sz="1300" dirty="0"/>
          </a:p>
        </p:txBody>
      </p:sp>
      <p:sp>
        <p:nvSpPr>
          <p:cNvPr id="59" name="Text 55"/>
          <p:cNvSpPr txBox="1"/>
          <p:nvPr/>
        </p:nvSpPr>
        <p:spPr>
          <a:xfrm>
            <a:off x="8503920" y="5532120"/>
            <a:ext cx="3017520" cy="694944"/>
          </a:xfrm>
          <a:prstGeom prst="rect">
            <a:avLst/>
          </a:prstGeom>
          <a:noFill/>
          <a:ln/>
        </p:spPr>
        <p:txBody>
          <a:bodyPr wrap="square" lIns="0" tIns="0" rIns="0" bIns="0" rtlCol="0" anchor="t"/>
          <a:lstStyle/>
          <a:p>
            <a:pPr indent="0" marL="0">
              <a:buNone/>
            </a:pPr>
            <a:r>
              <a:rPr lang="en-US" sz="1150" dirty="0">
                <a:solidFill>
                  <a:srgbClr val="1B2A41"/>
                </a:solidFill>
              </a:rPr>
              <a:t>Always: learn from the past, forecast 26 weeks. The final forecast works the same way.</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FINE-TUNING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Free parameters: what was tuned and how</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011680"/>
                <a:gridCol w="4206240"/>
                <a:gridCol w="2743200"/>
                <a:gridCol w="2103120"/>
              </a:tblGrid>
              <a:tr h="329184">
                <a:tc>
                  <a:txBody>
                    <a:bodyPr/>
                    <a:lstStyle/>
                    <a:p>
                      <a:pPr indent="0" marL="0">
                        <a:buNone/>
                      </a:pPr>
                      <a:r>
                        <a:rPr lang="en-US" sz="1100" b="1" dirty="0">
                          <a:solidFill>
                            <a:srgbClr val="FFFFFF"/>
                          </a:solidFill>
                        </a:rPr>
                        <a:t>Model</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Free parameters searched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Chosen 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100" b="1" dirty="0">
                          <a:solidFill>
                            <a:srgbClr val="FFFFFF"/>
                          </a:solidFill>
                        </a:rPr>
                        <a:t>Selected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457200">
                <a:tc>
                  <a:txBody>
                    <a:bodyPr/>
                    <a:lstStyle/>
                    <a:p>
                      <a:pPr indent="0" marL="0">
                        <a:buNone/>
                      </a:pPr>
                      <a:r>
                        <a:rPr lang="en-US" sz="1100" b="1" dirty="0">
                          <a:solidFill>
                            <a:srgbClr val="1B2A41"/>
                          </a:solidFill>
                        </a:rPr>
                        <a:t>Demand reconstruction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1-10, trend shared / per product; blend weight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blocked 5-fold CV, 1-SE rule; out-of-fold fit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2, shared; weight 0.40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Structural (winner)</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order K 1-8, trend shared / per product (16 combinations)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2 inner windows (T-52, T-26), WAPE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 3, shared trend</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Holt-Winters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trend none / damped, seasonality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20624">
                <a:tc>
                  <a:txBody>
                    <a:bodyPr/>
                    <a:lstStyle/>
                    <a:p>
                      <a:pPr indent="0" marL="0">
                        <a:buNone/>
                      </a:pPr>
                      <a:r>
                        <a:rPr lang="en-US" sz="1100" b="1" dirty="0">
                          <a:solidFill>
                            <a:srgbClr val="1B2A41"/>
                          </a:solidFill>
                        </a:rPr>
                        <a:t>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Fourier K in {2, 3}, ARMA order (1,0,0) /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AICc, per product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K 2-3, (1,0,1)</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B2A41"/>
                          </a:solidFill>
                        </a:rPr>
                        <a:t>LightGBM</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leaves, learning rate, min leaf, feature fraction, L2 (10 random configs)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trailing 26-week validation block, early stopping</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7 leaves, 0.03, min leaf 80</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Prophet</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changepoint prior 0.01 / 0.1, Fourier order 2 / 4, additive / multiplicative</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inner CV on 6 sample products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prior 0.01, order 2</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1B2A41"/>
                          </a:solidFill>
                        </a:rPr>
                        <a:t>Ensembles</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members of the average; the top 3 of the walk-forward version</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dirty="0">
                          <a:solidFill>
                            <a:srgbClr val="1B2A41"/>
                          </a:solidFill>
                        </a:rPr>
                        <a:t>earlier folds only</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100" b="1" dirty="0">
                          <a:solidFill>
                            <a:srgbClr val="138A5F"/>
                          </a:solidFill>
                        </a:rPr>
                        <a:t>struct, struct-seg, SARIMAX</a:t>
                      </a:r>
                      <a:endParaRPr lang="en-US" sz="1100" dirty="0"/>
                    </a:p>
                  </a:txBody>
                  <a:tcPr marL="91440" marR="91440" marT="27432" marB="27432"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Callout"/>
          <p:cNvSpPr/>
          <p:nvPr/>
        </p:nvSpPr>
        <p:spPr>
          <a:xfrm>
            <a:off x="548640" y="5440680"/>
            <a:ext cx="11064240" cy="868680"/>
          </a:xfrm>
          <a:prstGeom prst="roundRect">
            <a:avLst>
              <a:gd name="adj" fmla="val 8421"/>
            </a:avLst>
          </a:prstGeom>
          <a:solidFill>
            <a:srgbClr val="F2F6FB"/>
          </a:solidFill>
          <a:ln w="12700">
            <a:solidFill>
              <a:srgbClr val="D9E1EC"/>
            </a:solidFill>
            <a:prstDash val="solid"/>
          </a:ln>
        </p:spPr>
      </p:sp>
      <p:sp>
        <p:nvSpPr>
          <p:cNvPr id="7" name="Text 3"/>
          <p:cNvSpPr txBox="1"/>
          <p:nvPr/>
        </p:nvSpPr>
        <p:spPr>
          <a:xfrm>
            <a:off x="731520" y="555040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The rule behind every row</a:t>
            </a:r>
            <a:endParaRPr lang="en-US" sz="1400" dirty="0"/>
          </a:p>
        </p:txBody>
      </p:sp>
      <p:sp>
        <p:nvSpPr>
          <p:cNvPr id="8" name="Text 4"/>
          <p:cNvSpPr txBox="1"/>
          <p:nvPr/>
        </p:nvSpPr>
        <p:spPr>
          <a:xfrm>
            <a:off x="731520" y="5897880"/>
            <a:ext cx="10698480" cy="3200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B2A41"/>
                </a:solidFill>
              </a:rPr>
              <a:t>Settings are scored on validation windows inside the training weeks only; the winner is refitted on all training weeks before it faces the test weeks.</a:t>
            </a:r>
            <a:endParaRPr lang="en-US" sz="12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SELECTED MODEL</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winner: level × growth × season</a:t>
            </a:r>
            <a:endParaRPr lang="en-US" sz="3000" dirty="0"/>
          </a:p>
        </p:txBody>
      </p:sp>
      <p:sp>
        <p:nvSpPr>
          <p:cNvPr id="5" name="Formula band"/>
          <p:cNvSpPr/>
          <p:nvPr/>
        </p:nvSpPr>
        <p:spPr>
          <a:xfrm>
            <a:off x="548640" y="1600200"/>
            <a:ext cx="11064240" cy="640080"/>
          </a:xfrm>
          <a:prstGeom prst="roundRect">
            <a:avLst>
              <a:gd name="adj" fmla="val 11429"/>
            </a:avLst>
          </a:prstGeom>
          <a:solidFill>
            <a:srgbClr val="12263F"/>
          </a:solidFill>
          <a:ln w="12700">
            <a:solidFill>
              <a:srgbClr val="12263F"/>
            </a:solidFill>
            <a:prstDash val="solid"/>
          </a:ln>
        </p:spPr>
      </p:sp>
      <p:sp>
        <p:nvSpPr>
          <p:cNvPr id="6" name="Text 3"/>
          <p:cNvSpPr txBox="1"/>
          <p:nvPr/>
        </p:nvSpPr>
        <p:spPr>
          <a:xfrm>
            <a:off x="777240" y="1618488"/>
            <a:ext cx="10607040" cy="603504"/>
          </a:xfrm>
          <a:prstGeom prst="rect">
            <a:avLst/>
          </a:prstGeom>
          <a:noFill/>
          <a:ln/>
        </p:spPr>
        <p:txBody>
          <a:bodyPr wrap="square" lIns="0" tIns="0" rIns="0" bIns="0" rtlCol="0" anchor="ctr"/>
          <a:lstStyle/>
          <a:p>
            <a:pPr indent="0" marL="0">
              <a:buNone/>
            </a:pPr>
            <a:r>
              <a:rPr lang="en-US" sz="1800" b="1" dirty="0">
                <a:solidFill>
                  <a:srgbClr val="FFFFFF"/>
                </a:solidFill>
              </a:rPr>
              <a:t>demand(product, week)  =  product level  ×  growth trend  ×  seasonal factor</a:t>
            </a:r>
            <a:endParaRPr lang="en-US" sz="1800" dirty="0"/>
          </a:p>
          <a:p>
            <a:pPr indent="0" marL="0">
              <a:buNone/>
            </a:pPr>
            <a:r>
              <a:rPr lang="en-US" sz="1100" dirty="0">
                <a:solidFill>
                  <a:srgbClr val="CADCFC"/>
                </a:solidFill>
              </a:rPr>
              <a:t>fitted in log space: log demand = level + trend + sum over k of [ a_k sin(2πk·week/52) + b_k cos(2πk·week/52) ], K = 3</a:t>
            </a:r>
            <a:endParaRPr lang="en-US" sz="1800" dirty="0"/>
          </a:p>
        </p:txBody>
      </p:sp>
      <p:sp>
        <p:nvSpPr>
          <p:cNvPr id="7" name="Concept card"/>
          <p:cNvSpPr/>
          <p:nvPr/>
        </p:nvSpPr>
        <p:spPr>
          <a:xfrm>
            <a:off x="548640" y="2359152"/>
            <a:ext cx="5669280" cy="1115568"/>
          </a:xfrm>
          <a:prstGeom prst="roundRect">
            <a:avLst>
              <a:gd name="adj" fmla="val 6557"/>
            </a:avLst>
          </a:prstGeom>
          <a:solidFill>
            <a:srgbClr val="F2F6FB"/>
          </a:solidFill>
          <a:ln w="12700">
            <a:solidFill>
              <a:srgbClr val="F2F6FB"/>
            </a:solidFill>
            <a:prstDash val="solid"/>
          </a:ln>
        </p:spPr>
      </p:sp>
      <p:sp>
        <p:nvSpPr>
          <p:cNvPr id="8" name="Card accent"/>
          <p:cNvSpPr/>
          <p:nvPr/>
        </p:nvSpPr>
        <p:spPr>
          <a:xfrm>
            <a:off x="548640" y="2359152"/>
            <a:ext cx="82296" cy="1115568"/>
          </a:xfrm>
          <a:prstGeom prst="rect">
            <a:avLst/>
          </a:prstGeom>
          <a:solidFill>
            <a:srgbClr val="2A78D6"/>
          </a:solidFill>
          <a:ln w="12700">
            <a:solidFill>
              <a:srgbClr val="2A78D6"/>
            </a:solidFill>
            <a:prstDash val="solid"/>
          </a:ln>
        </p:spPr>
      </p:sp>
      <p:sp>
        <p:nvSpPr>
          <p:cNvPr id="9" name="Text 6"/>
          <p:cNvSpPr txBox="1"/>
          <p:nvPr/>
        </p:nvSpPr>
        <p:spPr>
          <a:xfrm>
            <a:off x="749808" y="240487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Product level</a:t>
            </a:r>
            <a:pPr indent="0" marL="0">
              <a:buNone/>
            </a:pPr>
            <a:r>
              <a:rPr lang="en-US" sz="1100" i="1" dirty="0">
                <a:solidFill>
                  <a:srgbClr val="5B6B80"/>
                </a:solidFill>
              </a:rPr>
              <a:t>   how big the product normally is</a:t>
            </a:r>
            <a:endParaRPr lang="en-US" sz="1350" dirty="0"/>
          </a:p>
        </p:txBody>
      </p:sp>
      <p:sp>
        <p:nvSpPr>
          <p:cNvPr id="10" name="Text 7"/>
          <p:cNvSpPr txBox="1"/>
          <p:nvPr/>
        </p:nvSpPr>
        <p:spPr>
          <a:xfrm>
            <a:off x="749808" y="268833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number per product: its average weekly demand (30 numbers).</a:t>
            </a:r>
            <a:endParaRPr lang="en-US" sz="1100" dirty="0"/>
          </a:p>
        </p:txBody>
      </p:sp>
      <p:sp>
        <p:nvSpPr>
          <p:cNvPr id="11" name="Text 8"/>
          <p:cNvSpPr txBox="1"/>
          <p:nvPr/>
        </p:nvSpPr>
        <p:spPr>
          <a:xfrm>
            <a:off x="749808" y="303580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products differ 5.5x in size: 555 units a week (Wheat) to 3,054 (Tea).</a:t>
            </a:r>
            <a:endParaRPr lang="en-US" sz="1050" dirty="0"/>
          </a:p>
        </p:txBody>
      </p:sp>
      <p:sp>
        <p:nvSpPr>
          <p:cNvPr id="12" name="Concept card"/>
          <p:cNvSpPr/>
          <p:nvPr/>
        </p:nvSpPr>
        <p:spPr>
          <a:xfrm>
            <a:off x="548640" y="3547872"/>
            <a:ext cx="5669280" cy="1115568"/>
          </a:xfrm>
          <a:prstGeom prst="roundRect">
            <a:avLst>
              <a:gd name="adj" fmla="val 6557"/>
            </a:avLst>
          </a:prstGeom>
          <a:solidFill>
            <a:srgbClr val="F2F6FB"/>
          </a:solidFill>
          <a:ln w="12700">
            <a:solidFill>
              <a:srgbClr val="F2F6FB"/>
            </a:solidFill>
            <a:prstDash val="solid"/>
          </a:ln>
        </p:spPr>
      </p:sp>
      <p:sp>
        <p:nvSpPr>
          <p:cNvPr id="13" name="Card accent"/>
          <p:cNvSpPr/>
          <p:nvPr/>
        </p:nvSpPr>
        <p:spPr>
          <a:xfrm>
            <a:off x="548640" y="3547872"/>
            <a:ext cx="82296" cy="1115568"/>
          </a:xfrm>
          <a:prstGeom prst="rect">
            <a:avLst/>
          </a:prstGeom>
          <a:solidFill>
            <a:srgbClr val="1BAF7A"/>
          </a:solidFill>
          <a:ln w="12700">
            <a:solidFill>
              <a:srgbClr val="1BAF7A"/>
            </a:solidFill>
            <a:prstDash val="solid"/>
          </a:ln>
        </p:spPr>
      </p:sp>
      <p:sp>
        <p:nvSpPr>
          <p:cNvPr id="14" name="Text 11"/>
          <p:cNvSpPr txBox="1"/>
          <p:nvPr/>
        </p:nvSpPr>
        <p:spPr>
          <a:xfrm>
            <a:off x="749808" y="359359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Growth trend</a:t>
            </a:r>
            <a:pPr indent="0" marL="0">
              <a:buNone/>
            </a:pPr>
            <a:r>
              <a:rPr lang="en-US" sz="1100" i="1" dirty="0">
                <a:solidFill>
                  <a:srgbClr val="5B6B80"/>
                </a:solidFill>
              </a:rPr>
              <a:t>   is the business slowly growing?</a:t>
            </a:r>
            <a:endParaRPr lang="en-US" sz="1350" dirty="0"/>
          </a:p>
        </p:txBody>
      </p:sp>
      <p:sp>
        <p:nvSpPr>
          <p:cNvPr id="15" name="Text 12"/>
          <p:cNvSpPr txBox="1"/>
          <p:nvPr/>
        </p:nvSpPr>
        <p:spPr>
          <a:xfrm>
            <a:off x="749808" y="3877056"/>
            <a:ext cx="5394960" cy="347472"/>
          </a:xfrm>
          <a:prstGeom prst="rect">
            <a:avLst/>
          </a:prstGeom>
          <a:noFill/>
          <a:ln/>
        </p:spPr>
        <p:txBody>
          <a:bodyPr wrap="square" lIns="0" tIns="0" rIns="0" bIns="0" rtlCol="0" anchor="t"/>
          <a:lstStyle/>
          <a:p>
            <a:pPr indent="0" marL="0">
              <a:buNone/>
            </a:pPr>
            <a:r>
              <a:rPr lang="en-US" sz="1100" dirty="0">
                <a:solidFill>
                  <a:srgbClr val="1B2A41"/>
                </a:solidFill>
              </a:rPr>
              <a:t>One shared yearly slope for all products: about +2.8% a year.</a:t>
            </a:r>
            <a:endParaRPr lang="en-US" sz="1100" dirty="0"/>
          </a:p>
        </p:txBody>
      </p:sp>
      <p:sp>
        <p:nvSpPr>
          <p:cNvPr id="16" name="Text 13"/>
          <p:cNvSpPr txBox="1"/>
          <p:nvPr/>
        </p:nvSpPr>
        <p:spPr>
          <a:xfrm>
            <a:off x="749808" y="422452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demand grew 2.8% (last 52 vs previous 52 weeks); trend strength 0.92 in an STL decomposition.</a:t>
            </a:r>
            <a:endParaRPr lang="en-US" sz="1050" dirty="0"/>
          </a:p>
        </p:txBody>
      </p:sp>
      <p:sp>
        <p:nvSpPr>
          <p:cNvPr id="17" name="Concept card"/>
          <p:cNvSpPr/>
          <p:nvPr/>
        </p:nvSpPr>
        <p:spPr>
          <a:xfrm>
            <a:off x="548640" y="4736592"/>
            <a:ext cx="5669280" cy="1115568"/>
          </a:xfrm>
          <a:prstGeom prst="roundRect">
            <a:avLst>
              <a:gd name="adj" fmla="val 6557"/>
            </a:avLst>
          </a:prstGeom>
          <a:solidFill>
            <a:srgbClr val="F2F6FB"/>
          </a:solidFill>
          <a:ln w="12700">
            <a:solidFill>
              <a:srgbClr val="F2F6FB"/>
            </a:solidFill>
            <a:prstDash val="solid"/>
          </a:ln>
        </p:spPr>
      </p:sp>
      <p:sp>
        <p:nvSpPr>
          <p:cNvPr id="18" name="Card accent"/>
          <p:cNvSpPr/>
          <p:nvPr/>
        </p:nvSpPr>
        <p:spPr>
          <a:xfrm>
            <a:off x="548640" y="4736592"/>
            <a:ext cx="82296" cy="1115568"/>
          </a:xfrm>
          <a:prstGeom prst="rect">
            <a:avLst/>
          </a:prstGeom>
          <a:solidFill>
            <a:srgbClr val="EB6834"/>
          </a:solidFill>
          <a:ln w="12700">
            <a:solidFill>
              <a:srgbClr val="EB6834"/>
            </a:solidFill>
            <a:prstDash val="solid"/>
          </a:ln>
        </p:spPr>
      </p:sp>
      <p:sp>
        <p:nvSpPr>
          <p:cNvPr id="19" name="Text 16"/>
          <p:cNvSpPr txBox="1"/>
          <p:nvPr/>
        </p:nvSpPr>
        <p:spPr>
          <a:xfrm>
            <a:off x="749808" y="4782312"/>
            <a:ext cx="5394960" cy="274320"/>
          </a:xfrm>
          <a:prstGeom prst="rect">
            <a:avLst/>
          </a:prstGeom>
          <a:noFill/>
          <a:ln/>
        </p:spPr>
        <p:txBody>
          <a:bodyPr wrap="square" lIns="0" tIns="0" rIns="0" bIns="0" rtlCol="0" anchor="ctr"/>
          <a:lstStyle/>
          <a:p>
            <a:pPr indent="0" marL="0">
              <a:buNone/>
            </a:pPr>
            <a:r>
              <a:rPr lang="en-US" sz="1350" b="1" dirty="0">
                <a:solidFill>
                  <a:schemeClr val="tx1"/>
                </a:solidFill>
              </a:rPr>
              <a:t>Seasonal factor</a:t>
            </a:r>
            <a:pPr indent="0" marL="0">
              <a:buNone/>
            </a:pPr>
            <a:r>
              <a:rPr lang="en-US" sz="1100" i="1" dirty="0">
                <a:solidFill>
                  <a:srgbClr val="5B6B80"/>
                </a:solidFill>
              </a:rPr>
              <a:t>   is it a busy or quiet time of year?</a:t>
            </a:r>
            <a:endParaRPr lang="en-US" sz="1350" dirty="0"/>
          </a:p>
        </p:txBody>
      </p:sp>
      <p:sp>
        <p:nvSpPr>
          <p:cNvPr id="20" name="Text 17"/>
          <p:cNvSpPr txBox="1"/>
          <p:nvPr/>
        </p:nvSpPr>
        <p:spPr>
          <a:xfrm>
            <a:off x="749808" y="5065776"/>
            <a:ext cx="5394960" cy="347472"/>
          </a:xfrm>
          <a:prstGeom prst="rect">
            <a:avLst/>
          </a:prstGeom>
          <a:noFill/>
          <a:ln/>
        </p:spPr>
        <p:txBody>
          <a:bodyPr wrap="square" lIns="0" tIns="0" rIns="0" bIns="0" rtlCol="0" anchor="t"/>
          <a:lstStyle/>
          <a:p>
            <a:pPr indent="0" marL="0">
              <a:buNone/>
            </a:pPr>
            <a:r>
              <a:rPr lang="en-US" sz="1100" dirty="0">
                <a:solidFill>
                  <a:srgbClr val="1B2A41"/>
                </a:solidFill>
              </a:rPr>
              <a:t>A multiplier per week of the year: 1.00 normal, 1.25 = 25% busier. Same curve for all products.</a:t>
            </a:r>
            <a:endParaRPr lang="en-US" sz="1100" dirty="0"/>
          </a:p>
        </p:txBody>
      </p:sp>
      <p:sp>
        <p:nvSpPr>
          <p:cNvPr id="21" name="Text 18"/>
          <p:cNvSpPr txBox="1"/>
          <p:nvPr/>
        </p:nvSpPr>
        <p:spPr>
          <a:xfrm>
            <a:off x="749808" y="5413248"/>
            <a:ext cx="5394960" cy="420624"/>
          </a:xfrm>
          <a:prstGeom prst="rect">
            <a:avLst/>
          </a:prstGeom>
          <a:noFill/>
          <a:ln/>
        </p:spPr>
        <p:txBody>
          <a:bodyPr wrap="square" lIns="0" tIns="0" rIns="0" bIns="0" rtlCol="0" anchor="t"/>
          <a:lstStyle/>
          <a:p>
            <a:pPr indent="0" marL="0">
              <a:buNone/>
            </a:pPr>
            <a:r>
              <a:rPr lang="en-US" sz="1050" i="1" dirty="0">
                <a:solidFill>
                  <a:srgbClr val="5B6B80"/>
                </a:solidFill>
              </a:rPr>
              <a:t>Found because week of year explains 78-86% of demand variance and 30 products correlate 0.97: peak week 13 (+25%), quiet week 38 (-25%).</a:t>
            </a:r>
            <a:endParaRPr lang="en-US" sz="1050" dirty="0"/>
          </a:p>
        </p:txBody>
      </p:sp>
      <p:sp>
        <p:nvSpPr>
          <p:cNvPr id="22" name="Text 19"/>
          <p:cNvSpPr txBox="1"/>
          <p:nvPr/>
        </p:nvSpPr>
        <p:spPr>
          <a:xfrm>
            <a:off x="6400800" y="2359152"/>
            <a:ext cx="5212080" cy="274320"/>
          </a:xfrm>
          <a:prstGeom prst="rect">
            <a:avLst/>
          </a:prstGeom>
          <a:noFill/>
          <a:ln/>
        </p:spPr>
        <p:txBody>
          <a:bodyPr wrap="square" lIns="0" tIns="0" rIns="0" bIns="0" rtlCol="0" anchor="ctr"/>
          <a:lstStyle/>
          <a:p>
            <a:pPr indent="0" marL="0">
              <a:buNone/>
            </a:pPr>
            <a:r>
              <a:rPr lang="en-US" sz="1300" b="1" dirty="0">
                <a:solidFill>
                  <a:srgbClr val="5B6B80"/>
                </a:solidFill>
              </a:rPr>
              <a:t>Worked example: Barley, week 235 (first test week)</a:t>
            </a:r>
            <a:endParaRPr lang="en-US" sz="1300" dirty="0"/>
          </a:p>
        </p:txBody>
      </p:sp>
      <p:sp>
        <p:nvSpPr>
          <p:cNvPr id="23" name="Equation chip"/>
          <p:cNvSpPr/>
          <p:nvPr/>
        </p:nvSpPr>
        <p:spPr>
          <a:xfrm>
            <a:off x="6400800" y="2679192"/>
            <a:ext cx="822960" cy="731520"/>
          </a:xfrm>
          <a:prstGeom prst="roundRect">
            <a:avLst>
              <a:gd name="adj" fmla="val 7500"/>
            </a:avLst>
          </a:prstGeom>
          <a:solidFill>
            <a:srgbClr val="F2F6FB"/>
          </a:solidFill>
          <a:ln w="9525">
            <a:solidFill>
              <a:srgbClr val="D9E1EC"/>
            </a:solidFill>
            <a:prstDash val="solid"/>
          </a:ln>
        </p:spPr>
      </p:sp>
      <p:sp>
        <p:nvSpPr>
          <p:cNvPr id="24" name="Text 21"/>
          <p:cNvSpPr txBox="1"/>
          <p:nvPr/>
        </p:nvSpPr>
        <p:spPr>
          <a:xfrm>
            <a:off x="6400800"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2,579</a:t>
            </a:r>
            <a:endParaRPr lang="en-US" sz="1300" dirty="0"/>
          </a:p>
        </p:txBody>
      </p:sp>
      <p:sp>
        <p:nvSpPr>
          <p:cNvPr id="25" name="Text 22"/>
          <p:cNvSpPr txBox="1"/>
          <p:nvPr/>
        </p:nvSpPr>
        <p:spPr>
          <a:xfrm>
            <a:off x="640080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level</a:t>
            </a:r>
            <a:endParaRPr lang="en-US" sz="950" dirty="0"/>
          </a:p>
        </p:txBody>
      </p:sp>
      <p:sp>
        <p:nvSpPr>
          <p:cNvPr id="26" name="Equation chip"/>
          <p:cNvSpPr/>
          <p:nvPr/>
        </p:nvSpPr>
        <p:spPr>
          <a:xfrm>
            <a:off x="7278624" y="2679192"/>
            <a:ext cx="822960" cy="731520"/>
          </a:xfrm>
          <a:prstGeom prst="roundRect">
            <a:avLst>
              <a:gd name="adj" fmla="val 7500"/>
            </a:avLst>
          </a:prstGeom>
          <a:solidFill>
            <a:srgbClr val="F2F6FB"/>
          </a:solidFill>
          <a:ln w="9525">
            <a:solidFill>
              <a:srgbClr val="D9E1EC"/>
            </a:solidFill>
            <a:prstDash val="solid"/>
          </a:ln>
        </p:spPr>
      </p:sp>
      <p:sp>
        <p:nvSpPr>
          <p:cNvPr id="27" name="Text 24"/>
          <p:cNvSpPr txBox="1"/>
          <p:nvPr/>
        </p:nvSpPr>
        <p:spPr>
          <a:xfrm>
            <a:off x="7278624"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1.057</a:t>
            </a:r>
            <a:endParaRPr lang="en-US" sz="1300" dirty="0"/>
          </a:p>
        </p:txBody>
      </p:sp>
      <p:sp>
        <p:nvSpPr>
          <p:cNvPr id="28" name="Text 25"/>
          <p:cNvSpPr txBox="1"/>
          <p:nvPr/>
        </p:nvSpPr>
        <p:spPr>
          <a:xfrm>
            <a:off x="7278624"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trend</a:t>
            </a:r>
            <a:endParaRPr lang="en-US" sz="950" dirty="0"/>
          </a:p>
        </p:txBody>
      </p:sp>
      <p:sp>
        <p:nvSpPr>
          <p:cNvPr id="29" name="Equation chip"/>
          <p:cNvSpPr/>
          <p:nvPr/>
        </p:nvSpPr>
        <p:spPr>
          <a:xfrm>
            <a:off x="8156448" y="2679192"/>
            <a:ext cx="822960" cy="731520"/>
          </a:xfrm>
          <a:prstGeom prst="roundRect">
            <a:avLst>
              <a:gd name="adj" fmla="val 7500"/>
            </a:avLst>
          </a:prstGeom>
          <a:solidFill>
            <a:srgbClr val="F2F6FB"/>
          </a:solidFill>
          <a:ln w="9525">
            <a:solidFill>
              <a:srgbClr val="D9E1EC"/>
            </a:solidFill>
            <a:prstDash val="solid"/>
          </a:ln>
        </p:spPr>
      </p:sp>
      <p:sp>
        <p:nvSpPr>
          <p:cNvPr id="30" name="Text 27"/>
          <p:cNvSpPr txBox="1"/>
          <p:nvPr/>
        </p:nvSpPr>
        <p:spPr>
          <a:xfrm>
            <a:off x="8156448"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0.983</a:t>
            </a:r>
            <a:endParaRPr lang="en-US" sz="1300" dirty="0"/>
          </a:p>
        </p:txBody>
      </p:sp>
      <p:sp>
        <p:nvSpPr>
          <p:cNvPr id="31" name="Text 28"/>
          <p:cNvSpPr txBox="1"/>
          <p:nvPr/>
        </p:nvSpPr>
        <p:spPr>
          <a:xfrm>
            <a:off x="8156448"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season</a:t>
            </a:r>
            <a:endParaRPr lang="en-US" sz="950" dirty="0"/>
          </a:p>
        </p:txBody>
      </p:sp>
      <p:sp>
        <p:nvSpPr>
          <p:cNvPr id="32" name="Equation chip"/>
          <p:cNvSpPr/>
          <p:nvPr/>
        </p:nvSpPr>
        <p:spPr>
          <a:xfrm>
            <a:off x="9034272" y="2679192"/>
            <a:ext cx="822960" cy="731520"/>
          </a:xfrm>
          <a:prstGeom prst="roundRect">
            <a:avLst>
              <a:gd name="adj" fmla="val 7500"/>
            </a:avLst>
          </a:prstGeom>
          <a:solidFill>
            <a:srgbClr val="F2F6FB"/>
          </a:solidFill>
          <a:ln w="9525">
            <a:solidFill>
              <a:srgbClr val="D9E1EC"/>
            </a:solidFill>
            <a:prstDash val="solid"/>
          </a:ln>
        </p:spPr>
      </p:sp>
      <p:sp>
        <p:nvSpPr>
          <p:cNvPr id="33" name="Text 30"/>
          <p:cNvSpPr txBox="1"/>
          <p:nvPr/>
        </p:nvSpPr>
        <p:spPr>
          <a:xfrm>
            <a:off x="9034272" y="2706624"/>
            <a:ext cx="822960" cy="384048"/>
          </a:xfrm>
          <a:prstGeom prst="rect">
            <a:avLst/>
          </a:prstGeom>
          <a:noFill/>
          <a:ln/>
        </p:spPr>
        <p:txBody>
          <a:bodyPr wrap="square" lIns="0" tIns="0" rIns="0" bIns="0" rtlCol="0" anchor="ctr"/>
          <a:lstStyle/>
          <a:p>
            <a:pPr algn="ctr" indent="0" marL="0">
              <a:buNone/>
            </a:pPr>
            <a:r>
              <a:rPr lang="en-US" sz="1300" b="1" dirty="0">
                <a:solidFill>
                  <a:srgbClr val="1B2A41"/>
                </a:solidFill>
                <a:latin typeface="Cambria" pitchFamily="34" charset="0"/>
                <a:ea typeface="Cambria" pitchFamily="34" charset="-122"/>
                <a:cs typeface="Cambria" pitchFamily="34" charset="-120"/>
              </a:rPr>
              <a:t>× 1.002</a:t>
            </a:r>
            <a:endParaRPr lang="en-US" sz="1300" dirty="0"/>
          </a:p>
        </p:txBody>
      </p:sp>
      <p:sp>
        <p:nvSpPr>
          <p:cNvPr id="34" name="Text 31"/>
          <p:cNvSpPr txBox="1"/>
          <p:nvPr/>
        </p:nvSpPr>
        <p:spPr>
          <a:xfrm>
            <a:off x="9034272"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bias fix</a:t>
            </a:r>
            <a:endParaRPr lang="en-US" sz="950" dirty="0"/>
          </a:p>
        </p:txBody>
      </p:sp>
      <p:sp>
        <p:nvSpPr>
          <p:cNvPr id="35" name="Equation chip"/>
          <p:cNvSpPr/>
          <p:nvPr/>
        </p:nvSpPr>
        <p:spPr>
          <a:xfrm>
            <a:off x="9912096" y="2679192"/>
            <a:ext cx="822960" cy="731520"/>
          </a:xfrm>
          <a:prstGeom prst="roundRect">
            <a:avLst>
              <a:gd name="adj" fmla="val 7500"/>
            </a:avLst>
          </a:prstGeom>
          <a:solidFill>
            <a:srgbClr val="E3F6EE"/>
          </a:solidFill>
          <a:ln w="9525">
            <a:solidFill>
              <a:srgbClr val="D9E1EC"/>
            </a:solidFill>
            <a:prstDash val="solid"/>
          </a:ln>
        </p:spPr>
      </p:sp>
      <p:sp>
        <p:nvSpPr>
          <p:cNvPr id="36" name="Text 33"/>
          <p:cNvSpPr txBox="1"/>
          <p:nvPr/>
        </p:nvSpPr>
        <p:spPr>
          <a:xfrm>
            <a:off x="9912096" y="2706624"/>
            <a:ext cx="822960" cy="384048"/>
          </a:xfrm>
          <a:prstGeom prst="rect">
            <a:avLst/>
          </a:prstGeom>
          <a:noFill/>
          <a:ln/>
        </p:spPr>
        <p:txBody>
          <a:bodyPr wrap="square" lIns="0" tIns="0" rIns="0" bIns="0" rtlCol="0" anchor="ctr"/>
          <a:lstStyle/>
          <a:p>
            <a:pPr algn="ctr" indent="0" marL="0">
              <a:buNone/>
            </a:pPr>
            <a:r>
              <a:rPr lang="en-US" sz="1300" b="1" dirty="0">
                <a:solidFill>
                  <a:srgbClr val="138A5F"/>
                </a:solidFill>
                <a:latin typeface="Cambria" pitchFamily="34" charset="0"/>
                <a:ea typeface="Cambria" pitchFamily="34" charset="-122"/>
                <a:cs typeface="Cambria" pitchFamily="34" charset="-120"/>
              </a:rPr>
              <a:t>= 2,687</a:t>
            </a:r>
            <a:endParaRPr lang="en-US" sz="1300" dirty="0"/>
          </a:p>
        </p:txBody>
      </p:sp>
      <p:sp>
        <p:nvSpPr>
          <p:cNvPr id="37" name="Text 34"/>
          <p:cNvSpPr txBox="1"/>
          <p:nvPr/>
        </p:nvSpPr>
        <p:spPr>
          <a:xfrm>
            <a:off x="9912096"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forecast</a:t>
            </a:r>
            <a:endParaRPr lang="en-US" sz="950" dirty="0"/>
          </a:p>
        </p:txBody>
      </p:sp>
      <p:sp>
        <p:nvSpPr>
          <p:cNvPr id="38" name="Equation chip"/>
          <p:cNvSpPr/>
          <p:nvPr/>
        </p:nvSpPr>
        <p:spPr>
          <a:xfrm>
            <a:off x="10789920" y="2679192"/>
            <a:ext cx="822960" cy="731520"/>
          </a:xfrm>
          <a:prstGeom prst="roundRect">
            <a:avLst>
              <a:gd name="adj" fmla="val 7500"/>
            </a:avLst>
          </a:prstGeom>
          <a:solidFill>
            <a:srgbClr val="FDEBE4"/>
          </a:solidFill>
          <a:ln w="9525">
            <a:solidFill>
              <a:srgbClr val="D9E1EC"/>
            </a:solidFill>
            <a:prstDash val="solid"/>
          </a:ln>
        </p:spPr>
      </p:sp>
      <p:sp>
        <p:nvSpPr>
          <p:cNvPr id="39" name="Text 36"/>
          <p:cNvSpPr txBox="1"/>
          <p:nvPr/>
        </p:nvSpPr>
        <p:spPr>
          <a:xfrm>
            <a:off x="10789920" y="2706624"/>
            <a:ext cx="822960" cy="384048"/>
          </a:xfrm>
          <a:prstGeom prst="rect">
            <a:avLst/>
          </a:prstGeom>
          <a:noFill/>
          <a:ln/>
        </p:spPr>
        <p:txBody>
          <a:bodyPr wrap="square" lIns="0" tIns="0" rIns="0" bIns="0" rtlCol="0" anchor="ctr"/>
          <a:lstStyle/>
          <a:p>
            <a:pPr algn="ctr" indent="0" marL="0">
              <a:buNone/>
            </a:pPr>
            <a:r>
              <a:rPr lang="en-US" sz="1300" b="1" dirty="0">
                <a:solidFill>
                  <a:srgbClr val="C24E1F"/>
                </a:solidFill>
                <a:latin typeface="Cambria" pitchFamily="34" charset="0"/>
                <a:ea typeface="Cambria" pitchFamily="34" charset="-122"/>
                <a:cs typeface="Cambria" pitchFamily="34" charset="-120"/>
              </a:rPr>
              <a:t>2,505</a:t>
            </a:r>
            <a:endParaRPr lang="en-US" sz="1300" dirty="0"/>
          </a:p>
        </p:txBody>
      </p:sp>
      <p:sp>
        <p:nvSpPr>
          <p:cNvPr id="40" name="Text 37"/>
          <p:cNvSpPr txBox="1"/>
          <p:nvPr/>
        </p:nvSpPr>
        <p:spPr>
          <a:xfrm>
            <a:off x="10789920" y="3090672"/>
            <a:ext cx="822960" cy="274320"/>
          </a:xfrm>
          <a:prstGeom prst="rect">
            <a:avLst/>
          </a:prstGeom>
          <a:noFill/>
          <a:ln/>
        </p:spPr>
        <p:txBody>
          <a:bodyPr wrap="square" lIns="0" tIns="0" rIns="0" bIns="0" rtlCol="0" anchor="t"/>
          <a:lstStyle/>
          <a:p>
            <a:pPr algn="ctr" indent="0" marL="0">
              <a:buNone/>
            </a:pPr>
            <a:r>
              <a:rPr lang="en-US" sz="950" dirty="0">
                <a:solidFill>
                  <a:srgbClr val="5B6B80"/>
                </a:solidFill>
              </a:rPr>
              <a:t>actual</a:t>
            </a:r>
            <a:endParaRPr lang="en-US" sz="950" dirty="0"/>
          </a:p>
        </p:txBody>
      </p:sp>
      <p:graphicFrame>
        <p:nvGraphicFramePr>
          <p:cNvPr id="41" name="Chart 0" descr=""/>
          <p:cNvGraphicFramePr/>
          <p:nvPr/>
        </p:nvGraphicFramePr>
        <p:xfrm>
          <a:off x="6309360" y="3520440"/>
          <a:ext cx="5303520" cy="233172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6400800" y="585216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Barley, 26 test weeks: average miss 4.8% (all products 4.6%). Price, cost and stock show no demand effect, so they are not in the model.</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RESULTS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models compared: the simple structure wins</a:t>
            </a:r>
            <a:endParaRPr lang="en-US" sz="3000" dirty="0"/>
          </a:p>
        </p:txBody>
      </p:sp>
      <p:graphicFrame>
        <p:nvGraphicFramePr>
          <p:cNvPr id="5" name="Chart 0" descr=""/>
          <p:cNvGraphicFramePr/>
          <p:nvPr/>
        </p:nvGraphicFramePr>
        <p:xfrm>
          <a:off x="54864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8046720" y="1645920"/>
            <a:ext cx="1737360" cy="1188720"/>
          </a:xfrm>
          <a:prstGeom prst="roundRect">
            <a:avLst>
              <a:gd name="adj" fmla="val 6154"/>
            </a:avLst>
          </a:prstGeom>
          <a:solidFill>
            <a:srgbClr val="F2F6FB"/>
          </a:solidFill>
          <a:ln w="12700">
            <a:solidFill>
              <a:srgbClr val="F2F6FB"/>
            </a:solidFill>
            <a:prstDash val="solid"/>
          </a:ln>
        </p:spPr>
      </p:sp>
      <p:sp>
        <p:nvSpPr>
          <p:cNvPr id="7" name="Text 3"/>
          <p:cNvSpPr txBox="1"/>
          <p:nvPr/>
        </p:nvSpPr>
        <p:spPr>
          <a:xfrm>
            <a:off x="8183880" y="1719072"/>
            <a:ext cx="146304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4.57%</a:t>
            </a:r>
            <a:endParaRPr lang="en-US" sz="2600" dirty="0"/>
          </a:p>
        </p:txBody>
      </p:sp>
      <p:sp>
        <p:nvSpPr>
          <p:cNvPr id="8" name="Text 4"/>
          <p:cNvSpPr txBox="1"/>
          <p:nvPr/>
        </p:nvSpPr>
        <p:spPr>
          <a:xfrm>
            <a:off x="81838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all test weeks</a:t>
            </a:r>
            <a:endParaRPr lang="en-US" sz="1300" dirty="0"/>
          </a:p>
        </p:txBody>
      </p:sp>
      <p:sp>
        <p:nvSpPr>
          <p:cNvPr id="9" name="Stat card"/>
          <p:cNvSpPr/>
          <p:nvPr/>
        </p:nvSpPr>
        <p:spPr>
          <a:xfrm>
            <a:off x="9875520" y="1645920"/>
            <a:ext cx="1737360" cy="1188720"/>
          </a:xfrm>
          <a:prstGeom prst="roundRect">
            <a:avLst>
              <a:gd name="adj" fmla="val 6154"/>
            </a:avLst>
          </a:prstGeom>
          <a:solidFill>
            <a:srgbClr val="F2F6FB"/>
          </a:solidFill>
          <a:ln w="12700">
            <a:solidFill>
              <a:srgbClr val="F2F6FB"/>
            </a:solidFill>
            <a:prstDash val="solid"/>
          </a:ln>
        </p:spPr>
      </p:sp>
      <p:sp>
        <p:nvSpPr>
          <p:cNvPr id="10" name="Text 6"/>
          <p:cNvSpPr txBox="1"/>
          <p:nvPr/>
        </p:nvSpPr>
        <p:spPr>
          <a:xfrm>
            <a:off x="10012680" y="1719072"/>
            <a:ext cx="146304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6.64%</a:t>
            </a:r>
            <a:endParaRPr lang="en-US" sz="2600" dirty="0"/>
          </a:p>
        </p:txBody>
      </p:sp>
      <p:sp>
        <p:nvSpPr>
          <p:cNvPr id="11" name="Text 7"/>
          <p:cNvSpPr txBox="1"/>
          <p:nvPr/>
        </p:nvSpPr>
        <p:spPr>
          <a:xfrm>
            <a:off x="10012680" y="2264054"/>
            <a:ext cx="1463040" cy="546811"/>
          </a:xfrm>
          <a:prstGeom prst="rect">
            <a:avLst/>
          </a:prstGeom>
          <a:noFill/>
          <a:ln/>
        </p:spPr>
        <p:txBody>
          <a:bodyPr wrap="square" lIns="0" tIns="0" rIns="0" bIns="0" rtlCol="0" anchor="t"/>
          <a:lstStyle/>
          <a:p>
            <a:pPr indent="0" marL="0">
              <a:buNone/>
            </a:pPr>
            <a:r>
              <a:rPr lang="en-US" sz="1300" dirty="0">
                <a:solidFill>
                  <a:srgbClr val="5B6B80"/>
                </a:solidFill>
              </a:rPr>
              <a:t>winner, unconstrained weeks</a:t>
            </a:r>
            <a:endParaRPr lang="en-US" sz="1300" dirty="0"/>
          </a:p>
        </p:txBody>
      </p:sp>
      <p:sp>
        <p:nvSpPr>
          <p:cNvPr id="12" name="Text 8"/>
          <p:cNvSpPr txBox="1"/>
          <p:nvPr/>
        </p:nvSpPr>
        <p:spPr>
          <a:xfrm>
            <a:off x="8046720" y="3017520"/>
            <a:ext cx="3566160" cy="3200400"/>
          </a:xfrm>
          <a:prstGeom prst="rect">
            <a:avLst/>
          </a:prstGeom>
          <a:noFill/>
          <a:ln/>
        </p:spPr>
        <p:txBody>
          <a:bodyPr wrap="square" lIns="0" tIns="0" rIns="0" bIns="0" rtlCol="0" anchor="t"/>
          <a:lstStyle/>
          <a:p>
            <a:pPr marL="203200" indent="-203200">
              <a:spcAft>
                <a:spcPts val="800"/>
              </a:spcAft>
              <a:buSzPct val="100000"/>
              <a:buChar char="•"/>
            </a:pPr>
            <a:r>
              <a:rPr lang="en-US" sz="1300" b="1" dirty="0">
                <a:solidFill>
                  <a:srgbClr val="1B2A41"/>
                </a:solidFill>
              </a:rPr>
              <a:t>Honest figure: </a:t>
            </a:r>
            <a:pPr indent="0" marL="0">
              <a:spcAft>
                <a:spcPts val="800"/>
              </a:spcAft>
              <a:buNone/>
            </a:pPr>
            <a:r>
              <a:rPr lang="en-US" sz="1300" dirty="0">
                <a:solidFill>
                  <a:srgbClr val="1B2A41"/>
                </a:solidFill>
              </a:rPr>
              <a:t>6.6% where demand was observed directly.</a:t>
            </a:r>
            <a:endParaRPr lang="en-US" sz="1300" dirty="0"/>
          </a:p>
          <a:p>
            <a:pPr marL="203200" indent="-203200">
              <a:spcAft>
                <a:spcPts val="800"/>
              </a:spcAft>
              <a:buSzPct val="100000"/>
              <a:buChar char="•"/>
            </a:pPr>
            <a:r>
              <a:rPr lang="en-US" sz="1300" b="1" dirty="0">
                <a:solidFill>
                  <a:srgbClr val="1B2A41"/>
                </a:solidFill>
              </a:rPr>
              <a:t>Top models tie there: </a:t>
            </a:r>
            <a:pPr indent="0" marL="0">
              <a:spcAft>
                <a:spcPts val="800"/>
              </a:spcAft>
              <a:buNone/>
            </a:pPr>
            <a:r>
              <a:rPr lang="en-US" sz="1300" dirty="0">
                <a:solidFill>
                  <a:srgbClr val="1B2A41"/>
                </a:solidFill>
              </a:rPr>
              <a:t>6.6 to 6.8%. The structure matters, not complexity.</a:t>
            </a:r>
            <a:endParaRPr lang="en-US" sz="1300" dirty="0"/>
          </a:p>
          <a:p>
            <a:pPr marL="203200" indent="-203200">
              <a:spcAft>
                <a:spcPts val="800"/>
              </a:spcAft>
              <a:buSzPct val="100000"/>
              <a:buChar char="•"/>
            </a:pPr>
            <a:r>
              <a:rPr lang="en-US" sz="1300" b="1" dirty="0">
                <a:solidFill>
                  <a:srgbClr val="1B2A41"/>
                </a:solidFill>
              </a:rPr>
              <a:t>ML does not win: </a:t>
            </a:r>
            <a:pPr indent="0" marL="0">
              <a:spcAft>
                <a:spcPts val="800"/>
              </a:spcAft>
              <a:buNone/>
            </a:pPr>
            <a:r>
              <a:rPr lang="en-US" sz="1300" dirty="0">
                <a:solidFill>
                  <a:srgbClr val="1B2A41"/>
                </a:solidFill>
              </a:rPr>
              <a:t>LightGBM 4.78%, Prophet 4.76%.</a:t>
            </a:r>
            <a:endParaRPr lang="en-US" sz="1300" dirty="0"/>
          </a:p>
          <a:p>
            <a:pPr marL="203200" indent="-203200">
              <a:spcAft>
                <a:spcPts val="800"/>
              </a:spcAft>
              <a:buSzPct val="100000"/>
              <a:buChar char="•"/>
            </a:pPr>
            <a:r>
              <a:rPr lang="en-US" sz="1300" b="1" dirty="0">
                <a:solidFill>
                  <a:srgbClr val="1B2A41"/>
                </a:solidFill>
              </a:rPr>
              <a:t>13% better </a:t>
            </a:r>
            <a:pPr indent="0" marL="0">
              <a:spcAft>
                <a:spcPts val="800"/>
              </a:spcAft>
              <a:buNone/>
            </a:pPr>
            <a:r>
              <a:rPr lang="en-US" sz="1300" dirty="0">
                <a:solidFill>
                  <a:srgbClr val="1B2A41"/>
                </a:solidFill>
              </a:rPr>
              <a:t>than the best simple rule, 34% than last year's week.</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THE 26-WEEK FORECAST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$64.6M potential, $28.7M unserved</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00200"/>
            <a:ext cx="6583680" cy="2103120"/>
          </a:xfrm>
          <a:prstGeom prst="rect">
            <a:avLst/>
          </a:prstGeom>
        </p:spPr>
      </p:pic>
      <p:sp>
        <p:nvSpPr>
          <p:cNvPr id="6" name="Stat card"/>
          <p:cNvSpPr/>
          <p:nvPr/>
        </p:nvSpPr>
        <p:spPr>
          <a:xfrm>
            <a:off x="7315200" y="1600200"/>
            <a:ext cx="1325880" cy="1005840"/>
          </a:xfrm>
          <a:prstGeom prst="roundRect">
            <a:avLst>
              <a:gd name="adj" fmla="val 7273"/>
            </a:avLst>
          </a:prstGeom>
          <a:solidFill>
            <a:srgbClr val="F2F6FB"/>
          </a:solidFill>
          <a:ln w="12700">
            <a:solidFill>
              <a:srgbClr val="F2F6FB"/>
            </a:solidFill>
            <a:prstDash val="solid"/>
          </a:ln>
        </p:spPr>
      </p:sp>
      <p:sp>
        <p:nvSpPr>
          <p:cNvPr id="7" name="Text 3"/>
          <p:cNvSpPr txBox="1"/>
          <p:nvPr/>
        </p:nvSpPr>
        <p:spPr>
          <a:xfrm>
            <a:off x="7452360" y="1673352"/>
            <a:ext cx="105156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2.0M</a:t>
            </a:r>
            <a:endParaRPr lang="en-US" sz="2200" dirty="0"/>
          </a:p>
        </p:txBody>
      </p:sp>
      <p:sp>
        <p:nvSpPr>
          <p:cNvPr id="8" name="Text 4"/>
          <p:cNvSpPr txBox="1"/>
          <p:nvPr/>
        </p:nvSpPr>
        <p:spPr>
          <a:xfrm>
            <a:off x="7452360" y="2123237"/>
            <a:ext cx="1051560" cy="462686"/>
          </a:xfrm>
          <a:prstGeom prst="rect">
            <a:avLst/>
          </a:prstGeom>
          <a:noFill/>
          <a:ln/>
        </p:spPr>
        <p:txBody>
          <a:bodyPr wrap="square" lIns="0" tIns="0" rIns="0" bIns="0" rtlCol="0" anchor="t"/>
          <a:lstStyle/>
          <a:p>
            <a:pPr indent="0" marL="0">
              <a:buNone/>
            </a:pPr>
            <a:r>
              <a:rPr lang="en-US" sz="1300" dirty="0">
                <a:solidFill>
                  <a:srgbClr val="5B6B80"/>
                </a:solidFill>
              </a:rPr>
              <a:t>units forecast</a:t>
            </a:r>
            <a:endParaRPr lang="en-US" sz="1300" dirty="0"/>
          </a:p>
        </p:txBody>
      </p:sp>
      <p:sp>
        <p:nvSpPr>
          <p:cNvPr id="9" name="Stat card"/>
          <p:cNvSpPr/>
          <p:nvPr/>
        </p:nvSpPr>
        <p:spPr>
          <a:xfrm>
            <a:off x="8732520" y="1600200"/>
            <a:ext cx="1371600" cy="1005840"/>
          </a:xfrm>
          <a:prstGeom prst="roundRect">
            <a:avLst>
              <a:gd name="adj" fmla="val 7273"/>
            </a:avLst>
          </a:prstGeom>
          <a:solidFill>
            <a:srgbClr val="F2F6FB"/>
          </a:solidFill>
          <a:ln w="12700">
            <a:solidFill>
              <a:srgbClr val="F2F6FB"/>
            </a:solidFill>
            <a:prstDash val="solid"/>
          </a:ln>
        </p:spPr>
      </p:sp>
      <p:sp>
        <p:nvSpPr>
          <p:cNvPr id="10" name="Text 6"/>
          <p:cNvSpPr txBox="1"/>
          <p:nvPr/>
        </p:nvSpPr>
        <p:spPr>
          <a:xfrm>
            <a:off x="8869680" y="1673352"/>
            <a:ext cx="1097280" cy="452628"/>
          </a:xfrm>
          <a:prstGeom prst="rect">
            <a:avLst/>
          </a:prstGeom>
          <a:noFill/>
          <a:ln/>
        </p:spPr>
        <p:txBody>
          <a:bodyPr wrap="square" lIns="0" tIns="0" rIns="0" bIns="0" rtlCol="0" anchor="ctr"/>
          <a:lstStyle/>
          <a:p>
            <a:pPr indent="0" marL="0">
              <a:buNone/>
            </a:pPr>
            <a:r>
              <a:rPr lang="en-US" sz="2200" b="1" dirty="0">
                <a:solidFill>
                  <a:srgbClr val="1BAF7A"/>
                </a:solidFill>
                <a:latin typeface="Cambria" pitchFamily="34" charset="0"/>
                <a:ea typeface="Cambria" pitchFamily="34" charset="-122"/>
                <a:cs typeface="Cambria" pitchFamily="34" charset="-120"/>
              </a:rPr>
              <a:t>+2.8%</a:t>
            </a:r>
            <a:endParaRPr lang="en-US" sz="2200" dirty="0"/>
          </a:p>
        </p:txBody>
      </p:sp>
      <p:sp>
        <p:nvSpPr>
          <p:cNvPr id="11" name="Text 7"/>
          <p:cNvSpPr txBox="1"/>
          <p:nvPr/>
        </p:nvSpPr>
        <p:spPr>
          <a:xfrm>
            <a:off x="8869680" y="2123237"/>
            <a:ext cx="1097280" cy="462686"/>
          </a:xfrm>
          <a:prstGeom prst="rect">
            <a:avLst/>
          </a:prstGeom>
          <a:noFill/>
          <a:ln/>
        </p:spPr>
        <p:txBody>
          <a:bodyPr wrap="square" lIns="0" tIns="0" rIns="0" bIns="0" rtlCol="0" anchor="t"/>
          <a:lstStyle/>
          <a:p>
            <a:pPr indent="0" marL="0">
              <a:buNone/>
            </a:pPr>
            <a:r>
              <a:rPr lang="en-US" sz="1300" dirty="0">
                <a:solidFill>
                  <a:srgbClr val="5B6B80"/>
                </a:solidFill>
              </a:rPr>
              <a:t>vs last year</a:t>
            </a:r>
            <a:endParaRPr lang="en-US" sz="1300" dirty="0"/>
          </a:p>
        </p:txBody>
      </p:sp>
      <p:sp>
        <p:nvSpPr>
          <p:cNvPr id="12" name="Stat card"/>
          <p:cNvSpPr/>
          <p:nvPr/>
        </p:nvSpPr>
        <p:spPr>
          <a:xfrm>
            <a:off x="10195560" y="1600200"/>
            <a:ext cx="1417320" cy="1005840"/>
          </a:xfrm>
          <a:prstGeom prst="roundRect">
            <a:avLst>
              <a:gd name="adj" fmla="val 7273"/>
            </a:avLst>
          </a:prstGeom>
          <a:solidFill>
            <a:srgbClr val="F2F6FB"/>
          </a:solidFill>
          <a:ln w="12700">
            <a:solidFill>
              <a:srgbClr val="F2F6FB"/>
            </a:solidFill>
            <a:prstDash val="solid"/>
          </a:ln>
        </p:spPr>
      </p:sp>
      <p:sp>
        <p:nvSpPr>
          <p:cNvPr id="13" name="Text 9"/>
          <p:cNvSpPr txBox="1"/>
          <p:nvPr/>
        </p:nvSpPr>
        <p:spPr>
          <a:xfrm>
            <a:off x="10332720" y="1673352"/>
            <a:ext cx="1143000" cy="452628"/>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80%</a:t>
            </a:r>
            <a:endParaRPr lang="en-US" sz="2200" dirty="0"/>
          </a:p>
        </p:txBody>
      </p:sp>
      <p:sp>
        <p:nvSpPr>
          <p:cNvPr id="14" name="Text 10"/>
          <p:cNvSpPr txBox="1"/>
          <p:nvPr/>
        </p:nvSpPr>
        <p:spPr>
          <a:xfrm>
            <a:off x="10332720" y="2123237"/>
            <a:ext cx="1143000" cy="462686"/>
          </a:xfrm>
          <a:prstGeom prst="rect">
            <a:avLst/>
          </a:prstGeom>
          <a:noFill/>
          <a:ln/>
        </p:spPr>
        <p:txBody>
          <a:bodyPr wrap="square" lIns="0" tIns="0" rIns="0" bIns="0" rtlCol="0" anchor="t"/>
          <a:lstStyle/>
          <a:p>
            <a:pPr indent="0" marL="0">
              <a:buNone/>
            </a:pPr>
            <a:r>
              <a:rPr lang="en-US" sz="1300" dirty="0">
                <a:solidFill>
                  <a:srgbClr val="5B6B80"/>
                </a:solidFill>
              </a:rPr>
              <a:t>inside P10-P90</a:t>
            </a:r>
            <a:endParaRPr lang="en-US" sz="1300" dirty="0"/>
          </a:p>
        </p:txBody>
      </p:sp>
      <p:sp>
        <p:nvSpPr>
          <p:cNvPr id="15" name="Text 11"/>
          <p:cNvSpPr txBox="1"/>
          <p:nvPr/>
        </p:nvSpPr>
        <p:spPr>
          <a:xfrm>
            <a:off x="7315200" y="2697480"/>
            <a:ext cx="4297680" cy="457200"/>
          </a:xfrm>
          <a:prstGeom prst="rect">
            <a:avLst/>
          </a:prstGeom>
          <a:noFill/>
          <a:ln/>
        </p:spPr>
        <p:txBody>
          <a:bodyPr wrap="square" lIns="0" tIns="0" rIns="0" bIns="0" rtlCol="0" anchor="t"/>
          <a:lstStyle/>
          <a:p>
            <a:pPr indent="0" marL="0">
              <a:buNone/>
            </a:pPr>
            <a:r>
              <a:rPr lang="en-US" sz="1100" i="1" dirty="0">
                <a:solidFill>
                  <a:srgbClr val="5B6B80"/>
                </a:solidFill>
              </a:rPr>
              <a:t>Range P10-P90 from backtest errors: 1.84M to 2.15M units</a:t>
            </a:r>
            <a:endParaRPr lang="en-US" sz="1100" dirty="0"/>
          </a:p>
        </p:txBody>
      </p:sp>
      <p:sp>
        <p:nvSpPr>
          <p:cNvPr id="16" name="Bridge step"/>
          <p:cNvSpPr/>
          <p:nvPr/>
        </p:nvSpPr>
        <p:spPr>
          <a:xfrm>
            <a:off x="548640" y="3886200"/>
            <a:ext cx="3566160" cy="749808"/>
          </a:xfrm>
          <a:prstGeom prst="roundRect">
            <a:avLst>
              <a:gd name="adj" fmla="val 7317"/>
            </a:avLst>
          </a:prstGeom>
          <a:solidFill>
            <a:srgbClr val="F2F6FB"/>
          </a:solidFill>
          <a:ln w="12700">
            <a:solidFill>
              <a:srgbClr val="F2F6FB"/>
            </a:solidFill>
            <a:prstDash val="solid"/>
          </a:ln>
        </p:spPr>
      </p:sp>
      <p:sp>
        <p:nvSpPr>
          <p:cNvPr id="17" name="Text 13"/>
          <p:cNvSpPr txBox="1"/>
          <p:nvPr/>
        </p:nvSpPr>
        <p:spPr>
          <a:xfrm>
            <a:off x="68580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1,998k units</a:t>
            </a:r>
            <a:endParaRPr lang="en-US" sz="1300" dirty="0"/>
          </a:p>
        </p:txBody>
      </p:sp>
      <p:sp>
        <p:nvSpPr>
          <p:cNvPr id="18" name="Text 14"/>
          <p:cNvSpPr txBox="1"/>
          <p:nvPr/>
        </p:nvSpPr>
        <p:spPr>
          <a:xfrm>
            <a:off x="68580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forecast demand (P50), summed over 780 product-weeks</a:t>
            </a:r>
            <a:endParaRPr lang="en-US" sz="1050" dirty="0"/>
          </a:p>
        </p:txBody>
      </p:sp>
      <p:sp>
        <p:nvSpPr>
          <p:cNvPr id="19" name="Bridge step"/>
          <p:cNvSpPr/>
          <p:nvPr/>
        </p:nvSpPr>
        <p:spPr>
          <a:xfrm>
            <a:off x="4297680" y="3886200"/>
            <a:ext cx="3566160" cy="749808"/>
          </a:xfrm>
          <a:prstGeom prst="roundRect">
            <a:avLst>
              <a:gd name="adj" fmla="val 7317"/>
            </a:avLst>
          </a:prstGeom>
          <a:solidFill>
            <a:srgbClr val="F2F6FB"/>
          </a:solidFill>
          <a:ln w="12700">
            <a:solidFill>
              <a:srgbClr val="F2F6FB"/>
            </a:solidFill>
            <a:prstDash val="solid"/>
          </a:ln>
        </p:spPr>
      </p:sp>
      <p:sp>
        <p:nvSpPr>
          <p:cNvPr id="20" name="Text 16"/>
          <p:cNvSpPr txBox="1"/>
          <p:nvPr/>
        </p:nvSpPr>
        <p:spPr>
          <a:xfrm>
            <a:off x="4434840" y="3922776"/>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 last-13-week price</a:t>
            </a:r>
            <a:endParaRPr lang="en-US" sz="1300" dirty="0"/>
          </a:p>
        </p:txBody>
      </p:sp>
      <p:sp>
        <p:nvSpPr>
          <p:cNvPr id="21" name="Text 17"/>
          <p:cNvSpPr txBox="1"/>
          <p:nvPr/>
        </p:nvSpPr>
        <p:spPr>
          <a:xfrm>
            <a:off x="443484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each product's own average price</a:t>
            </a:r>
            <a:endParaRPr lang="en-US" sz="1050" dirty="0"/>
          </a:p>
        </p:txBody>
      </p:sp>
      <p:sp>
        <p:nvSpPr>
          <p:cNvPr id="22" name="Bridge step"/>
          <p:cNvSpPr/>
          <p:nvPr/>
        </p:nvSpPr>
        <p:spPr>
          <a:xfrm>
            <a:off x="8046720" y="3886200"/>
            <a:ext cx="3566160" cy="749808"/>
          </a:xfrm>
          <a:prstGeom prst="roundRect">
            <a:avLst>
              <a:gd name="adj" fmla="val 7317"/>
            </a:avLst>
          </a:prstGeom>
          <a:solidFill>
            <a:srgbClr val="FFFFFF"/>
          </a:solidFill>
          <a:ln w="25400">
            <a:solidFill>
              <a:srgbClr val="2A78D6"/>
            </a:solidFill>
            <a:prstDash val="solid"/>
          </a:ln>
        </p:spPr>
      </p:sp>
      <p:sp>
        <p:nvSpPr>
          <p:cNvPr id="23" name="Text 19"/>
          <p:cNvSpPr txBox="1"/>
          <p:nvPr/>
        </p:nvSpPr>
        <p:spPr>
          <a:xfrm>
            <a:off x="8183880" y="3922776"/>
            <a:ext cx="3291840" cy="320040"/>
          </a:xfrm>
          <a:prstGeom prst="rect">
            <a:avLst/>
          </a:prstGeom>
          <a:noFill/>
          <a:ln/>
        </p:spPr>
        <p:txBody>
          <a:bodyPr wrap="square" lIns="0" tIns="0" rIns="0" bIns="0" rtlCol="0" anchor="ctr"/>
          <a:lstStyle/>
          <a:p>
            <a:pPr indent="0" marL="0">
              <a:buNone/>
            </a:pPr>
            <a:r>
              <a:rPr lang="en-US" sz="1500" b="1" dirty="0">
                <a:solidFill>
                  <a:srgbClr val="1F5FB0"/>
                </a:solidFill>
                <a:latin typeface="Cambria" pitchFamily="34" charset="0"/>
                <a:ea typeface="Cambria" pitchFamily="34" charset="-122"/>
                <a:cs typeface="Cambria" pitchFamily="34" charset="-120"/>
              </a:rPr>
              <a:t>= $64.6M</a:t>
            </a:r>
            <a:endParaRPr lang="en-US" sz="1500" dirty="0"/>
          </a:p>
        </p:txBody>
      </p:sp>
      <p:sp>
        <p:nvSpPr>
          <p:cNvPr id="24" name="Text 20"/>
          <p:cNvSpPr txBox="1"/>
          <p:nvPr/>
        </p:nvSpPr>
        <p:spPr>
          <a:xfrm>
            <a:off x="8183880" y="4251960"/>
            <a:ext cx="3291840" cy="365760"/>
          </a:xfrm>
          <a:prstGeom prst="rect">
            <a:avLst/>
          </a:prstGeom>
          <a:noFill/>
          <a:ln/>
        </p:spPr>
        <p:txBody>
          <a:bodyPr wrap="square" lIns="0" tIns="0" rIns="0" bIns="0" rtlCol="0" anchor="t"/>
          <a:lstStyle/>
          <a:p>
            <a:pPr indent="0" marL="0">
              <a:buNone/>
            </a:pPr>
            <a:r>
              <a:rPr lang="en-US" sz="1050" dirty="0">
                <a:solidFill>
                  <a:srgbClr val="5B6B80"/>
                </a:solidFill>
              </a:rPr>
              <a:t>revenue potential if every unit could be sold</a:t>
            </a:r>
            <a:endParaRPr lang="en-US" sz="1050" dirty="0"/>
          </a:p>
        </p:txBody>
      </p:sp>
      <p:sp>
        <p:nvSpPr>
          <p:cNvPr id="25" name="Bridge step"/>
          <p:cNvSpPr/>
          <p:nvPr/>
        </p:nvSpPr>
        <p:spPr>
          <a:xfrm>
            <a:off x="548640" y="4727448"/>
            <a:ext cx="3566160" cy="749808"/>
          </a:xfrm>
          <a:prstGeom prst="roundRect">
            <a:avLst>
              <a:gd name="adj" fmla="val 7317"/>
            </a:avLst>
          </a:prstGeom>
          <a:solidFill>
            <a:srgbClr val="F2F6FB"/>
          </a:solidFill>
          <a:ln w="12700">
            <a:solidFill>
              <a:srgbClr val="F2F6FB"/>
            </a:solidFill>
            <a:prstDash val="solid"/>
          </a:ln>
        </p:spPr>
      </p:sp>
      <p:sp>
        <p:nvSpPr>
          <p:cNvPr id="26" name="Text 22"/>
          <p:cNvSpPr txBox="1"/>
          <p:nvPr/>
        </p:nvSpPr>
        <p:spPr>
          <a:xfrm>
            <a:off x="685800" y="4764024"/>
            <a:ext cx="3291840" cy="320040"/>
          </a:xfrm>
          <a:prstGeom prst="rect">
            <a:avLst/>
          </a:prstGeom>
          <a:noFill/>
          <a:ln/>
        </p:spPr>
        <p:txBody>
          <a:bodyPr wrap="square" lIns="0" tIns="0" rIns="0" bIns="0" rtlCol="0" anchor="ctr"/>
          <a:lstStyle/>
          <a:p>
            <a:pPr indent="0" marL="0">
              <a:buNone/>
            </a:pPr>
            <a:r>
              <a:rPr lang="en-US" sz="1300" b="1" dirty="0">
                <a:solidFill>
                  <a:srgbClr val="1B2A41"/>
                </a:solidFill>
                <a:latin typeface="Calibri" pitchFamily="34" charset="0"/>
                <a:ea typeface="Calibri" pitchFamily="34" charset="-122"/>
                <a:cs typeface="Calibri" pitchFamily="34" charset="-120"/>
              </a:rPr>
              <a:t>stock simulation</a:t>
            </a:r>
            <a:endParaRPr lang="en-US" sz="1300" dirty="0"/>
          </a:p>
        </p:txBody>
      </p:sp>
      <p:sp>
        <p:nvSpPr>
          <p:cNvPr id="27" name="Text 23"/>
          <p:cNvSpPr txBox="1"/>
          <p:nvPr/>
        </p:nvSpPr>
        <p:spPr>
          <a:xfrm>
            <a:off x="68580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sold = min(demand, stock drawn from the last 104 weeks): 1,093k units</a:t>
            </a:r>
            <a:endParaRPr lang="en-US" sz="1050" dirty="0"/>
          </a:p>
        </p:txBody>
      </p:sp>
      <p:sp>
        <p:nvSpPr>
          <p:cNvPr id="28" name="Bridge step"/>
          <p:cNvSpPr/>
          <p:nvPr/>
        </p:nvSpPr>
        <p:spPr>
          <a:xfrm>
            <a:off x="4297680" y="4727448"/>
            <a:ext cx="3566160" cy="749808"/>
          </a:xfrm>
          <a:prstGeom prst="roundRect">
            <a:avLst>
              <a:gd name="adj" fmla="val 7317"/>
            </a:avLst>
          </a:prstGeom>
          <a:solidFill>
            <a:srgbClr val="FFFFFF"/>
          </a:solidFill>
          <a:ln w="25400">
            <a:solidFill>
              <a:srgbClr val="1BAF7A"/>
            </a:solidFill>
            <a:prstDash val="solid"/>
          </a:ln>
        </p:spPr>
      </p:sp>
      <p:sp>
        <p:nvSpPr>
          <p:cNvPr id="29" name="Text 25"/>
          <p:cNvSpPr txBox="1"/>
          <p:nvPr/>
        </p:nvSpPr>
        <p:spPr>
          <a:xfrm>
            <a:off x="4434840" y="4764024"/>
            <a:ext cx="3291840" cy="320040"/>
          </a:xfrm>
          <a:prstGeom prst="rect">
            <a:avLst/>
          </a:prstGeom>
          <a:noFill/>
          <a:ln/>
        </p:spPr>
        <p:txBody>
          <a:bodyPr wrap="square" lIns="0" tIns="0" rIns="0" bIns="0" rtlCol="0" anchor="ctr"/>
          <a:lstStyle/>
          <a:p>
            <a:pPr indent="0" marL="0">
              <a:buNone/>
            </a:pPr>
            <a:r>
              <a:rPr lang="en-US" sz="1500" b="1" dirty="0">
                <a:solidFill>
                  <a:srgbClr val="138A5F"/>
                </a:solidFill>
                <a:latin typeface="Cambria" pitchFamily="34" charset="0"/>
                <a:ea typeface="Cambria" pitchFamily="34" charset="-122"/>
                <a:cs typeface="Cambria" pitchFamily="34" charset="-120"/>
              </a:rPr>
              <a:t>= $35.8M</a:t>
            </a:r>
            <a:endParaRPr lang="en-US" sz="1500" dirty="0"/>
          </a:p>
        </p:txBody>
      </p:sp>
      <p:sp>
        <p:nvSpPr>
          <p:cNvPr id="30" name="Text 26"/>
          <p:cNvSpPr txBox="1"/>
          <p:nvPr/>
        </p:nvSpPr>
        <p:spPr>
          <a:xfrm>
            <a:off x="443484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expected sales at historical stock levels</a:t>
            </a:r>
            <a:endParaRPr lang="en-US" sz="1050" dirty="0"/>
          </a:p>
        </p:txBody>
      </p:sp>
      <p:sp>
        <p:nvSpPr>
          <p:cNvPr id="31" name="Bridge step"/>
          <p:cNvSpPr/>
          <p:nvPr/>
        </p:nvSpPr>
        <p:spPr>
          <a:xfrm>
            <a:off x="8046720" y="4727448"/>
            <a:ext cx="3566160" cy="749808"/>
          </a:xfrm>
          <a:prstGeom prst="roundRect">
            <a:avLst>
              <a:gd name="adj" fmla="val 7317"/>
            </a:avLst>
          </a:prstGeom>
          <a:solidFill>
            <a:srgbClr val="FFFFFF"/>
          </a:solidFill>
          <a:ln w="25400">
            <a:solidFill>
              <a:srgbClr val="EB6834"/>
            </a:solidFill>
            <a:prstDash val="solid"/>
          </a:ln>
        </p:spPr>
      </p:sp>
      <p:sp>
        <p:nvSpPr>
          <p:cNvPr id="32" name="Text 28"/>
          <p:cNvSpPr txBox="1"/>
          <p:nvPr/>
        </p:nvSpPr>
        <p:spPr>
          <a:xfrm>
            <a:off x="8183880" y="4764024"/>
            <a:ext cx="3291840" cy="320040"/>
          </a:xfrm>
          <a:prstGeom prst="rect">
            <a:avLst/>
          </a:prstGeom>
          <a:noFill/>
          <a:ln/>
        </p:spPr>
        <p:txBody>
          <a:bodyPr wrap="square" lIns="0" tIns="0" rIns="0" bIns="0" rtlCol="0" anchor="ctr"/>
          <a:lstStyle/>
          <a:p>
            <a:pPr indent="0" marL="0">
              <a:buNone/>
            </a:pPr>
            <a:r>
              <a:rPr lang="en-US" sz="1500" b="1" dirty="0">
                <a:solidFill>
                  <a:srgbClr val="C24E1F"/>
                </a:solidFill>
                <a:latin typeface="Cambria" pitchFamily="34" charset="0"/>
                <a:ea typeface="Cambria" pitchFamily="34" charset="-122"/>
                <a:cs typeface="Cambria" pitchFamily="34" charset="-120"/>
              </a:rPr>
              <a:t>$64.6M - $35.8M = $28.7M</a:t>
            </a:r>
            <a:endParaRPr lang="en-US" sz="1500" dirty="0"/>
          </a:p>
        </p:txBody>
      </p:sp>
      <p:sp>
        <p:nvSpPr>
          <p:cNvPr id="33" name="Text 29"/>
          <p:cNvSpPr txBox="1"/>
          <p:nvPr/>
        </p:nvSpPr>
        <p:spPr>
          <a:xfrm>
            <a:off x="8183880" y="5093208"/>
            <a:ext cx="3291840" cy="365760"/>
          </a:xfrm>
          <a:prstGeom prst="rect">
            <a:avLst/>
          </a:prstGeom>
          <a:noFill/>
          <a:ln/>
        </p:spPr>
        <p:txBody>
          <a:bodyPr wrap="square" lIns="0" tIns="0" rIns="0" bIns="0" rtlCol="0" anchor="t"/>
          <a:lstStyle/>
          <a:p>
            <a:pPr indent="0" marL="0">
              <a:buNone/>
            </a:pPr>
            <a:r>
              <a:rPr lang="en-US" sz="1050" dirty="0">
                <a:solidFill>
                  <a:srgbClr val="5B6B80"/>
                </a:solidFill>
              </a:rPr>
              <a:t>unserved demand (44%)</a:t>
            </a:r>
            <a:endParaRPr lang="en-US" sz="1050" dirty="0"/>
          </a:p>
        </p:txBody>
      </p:sp>
      <p:sp>
        <p:nvSpPr>
          <p:cNvPr id="34" name="Text 30"/>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200" i="1" dirty="0">
                <a:solidFill>
                  <a:srgbClr val="5B6B80"/>
                </a:solidFill>
              </a:rPr>
              <a:t>Example, Barley week 1: 2,899 units × $7.447 = $21,589 potential; history lets 1,397 units sell ($10,406); 1,494 units ($11,182) unserved.   Assumptions: stock follows each product's history; prices stay at the last 13-week average.</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KPI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KPI dashboard: financial, operational, credit</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645920"/>
            <a:ext cx="5486400" cy="3044952"/>
          </a:xfrm>
          <a:prstGeom prst="rect">
            <a:avLst/>
          </a:prstGeom>
        </p:spPr>
      </p:pic>
      <p:sp>
        <p:nvSpPr>
          <p:cNvPr id="6" name="Text 2"/>
          <p:cNvSpPr txBox="1"/>
          <p:nvPr/>
        </p:nvSpPr>
        <p:spPr>
          <a:xfrm>
            <a:off x="548640" y="4727448"/>
            <a:ext cx="5486400" cy="274320"/>
          </a:xfrm>
          <a:prstGeom prst="rect">
            <a:avLst/>
          </a:prstGeom>
          <a:noFill/>
          <a:ln/>
        </p:spPr>
        <p:txBody>
          <a:bodyPr wrap="square" lIns="0" tIns="0" rIns="0" bIns="0" rtlCol="0" anchor="ctr"/>
          <a:lstStyle/>
          <a:p>
            <a:pPr indent="0" marL="0">
              <a:buNone/>
            </a:pPr>
            <a:r>
              <a:rPr lang="en-US" sz="1200" i="1" dirty="0">
                <a:solidFill>
                  <a:srgbClr val="5B6B80"/>
                </a:solidFill>
              </a:rPr>
              <a:t>Overview tab (live demo)</a:t>
            </a:r>
            <a:endParaRPr lang="en-US" sz="1200" dirty="0"/>
          </a:p>
        </p:txBody>
      </p:sp>
      <p:sp>
        <p:nvSpPr>
          <p:cNvPr id="7" name="KPI group"/>
          <p:cNvSpPr/>
          <p:nvPr/>
        </p:nvSpPr>
        <p:spPr>
          <a:xfrm>
            <a:off x="6309360" y="1645920"/>
            <a:ext cx="5303520" cy="731520"/>
          </a:xfrm>
          <a:prstGeom prst="roundRect">
            <a:avLst>
              <a:gd name="adj" fmla="val 10000"/>
            </a:avLst>
          </a:prstGeom>
          <a:solidFill>
            <a:srgbClr val="F2F6FB"/>
          </a:solidFill>
          <a:ln w="12700">
            <a:solidFill>
              <a:srgbClr val="F2F6FB"/>
            </a:solidFill>
            <a:prstDash val="solid"/>
          </a:ln>
        </p:spPr>
      </p:sp>
      <p:sp>
        <p:nvSpPr>
          <p:cNvPr id="8" name="Group accent"/>
          <p:cNvSpPr/>
          <p:nvPr/>
        </p:nvSpPr>
        <p:spPr>
          <a:xfrm>
            <a:off x="6309360" y="1645920"/>
            <a:ext cx="82296" cy="731520"/>
          </a:xfrm>
          <a:prstGeom prst="rect">
            <a:avLst/>
          </a:prstGeom>
          <a:solidFill>
            <a:srgbClr val="2A78D6"/>
          </a:solidFill>
          <a:ln w="12700">
            <a:solidFill>
              <a:srgbClr val="2A78D6"/>
            </a:solidFill>
            <a:prstDash val="solid"/>
          </a:ln>
        </p:spPr>
      </p:sp>
      <p:sp>
        <p:nvSpPr>
          <p:cNvPr id="9" name="Text 5"/>
          <p:cNvSpPr txBox="1"/>
          <p:nvPr/>
        </p:nvSpPr>
        <p:spPr>
          <a:xfrm>
            <a:off x="6537960" y="170078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Financial</a:t>
            </a:r>
            <a:endParaRPr lang="en-US" sz="1400" dirty="0"/>
          </a:p>
        </p:txBody>
      </p:sp>
      <p:sp>
        <p:nvSpPr>
          <p:cNvPr id="10" name="Text 6"/>
          <p:cNvSpPr txBox="1"/>
          <p:nvPr/>
        </p:nvSpPr>
        <p:spPr>
          <a:xfrm>
            <a:off x="6537960" y="1993392"/>
            <a:ext cx="4937760" cy="347472"/>
          </a:xfrm>
          <a:prstGeom prst="rect">
            <a:avLst/>
          </a:prstGeom>
          <a:noFill/>
          <a:ln/>
        </p:spPr>
        <p:txBody>
          <a:bodyPr wrap="square" lIns="0" tIns="0" rIns="0" bIns="0" rtlCol="0" anchor="t"/>
          <a:lstStyle/>
          <a:p>
            <a:pPr indent="0" marL="0">
              <a:buNone/>
            </a:pPr>
            <a:r>
              <a:rPr lang="en-US" sz="1150" dirty="0">
                <a:solidFill>
                  <a:srgbClr val="1B2A41"/>
                </a:solidFill>
              </a:rPr>
              <a:t>gross margin · revenue growth · operating profit</a:t>
            </a:r>
            <a:endParaRPr lang="en-US" sz="1150" dirty="0"/>
          </a:p>
        </p:txBody>
      </p:sp>
      <p:sp>
        <p:nvSpPr>
          <p:cNvPr id="11" name="KPI group"/>
          <p:cNvSpPr/>
          <p:nvPr/>
        </p:nvSpPr>
        <p:spPr>
          <a:xfrm>
            <a:off x="6309360" y="2468880"/>
            <a:ext cx="5303520" cy="731520"/>
          </a:xfrm>
          <a:prstGeom prst="roundRect">
            <a:avLst>
              <a:gd name="adj" fmla="val 10000"/>
            </a:avLst>
          </a:prstGeom>
          <a:solidFill>
            <a:srgbClr val="F2F6FB"/>
          </a:solidFill>
          <a:ln w="12700">
            <a:solidFill>
              <a:srgbClr val="F2F6FB"/>
            </a:solidFill>
            <a:prstDash val="solid"/>
          </a:ln>
        </p:spPr>
      </p:sp>
      <p:sp>
        <p:nvSpPr>
          <p:cNvPr id="12" name="Group accent"/>
          <p:cNvSpPr/>
          <p:nvPr/>
        </p:nvSpPr>
        <p:spPr>
          <a:xfrm>
            <a:off x="6309360" y="2468880"/>
            <a:ext cx="82296" cy="731520"/>
          </a:xfrm>
          <a:prstGeom prst="rect">
            <a:avLst/>
          </a:prstGeom>
          <a:solidFill>
            <a:srgbClr val="EB6834"/>
          </a:solidFill>
          <a:ln w="12700">
            <a:solidFill>
              <a:srgbClr val="EB6834"/>
            </a:solidFill>
            <a:prstDash val="solid"/>
          </a:ln>
        </p:spPr>
      </p:sp>
      <p:sp>
        <p:nvSpPr>
          <p:cNvPr id="13" name="Text 9"/>
          <p:cNvSpPr txBox="1"/>
          <p:nvPr/>
        </p:nvSpPr>
        <p:spPr>
          <a:xfrm>
            <a:off x="6537960" y="252374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Operational</a:t>
            </a:r>
            <a:endParaRPr lang="en-US" sz="1400" dirty="0"/>
          </a:p>
        </p:txBody>
      </p:sp>
      <p:sp>
        <p:nvSpPr>
          <p:cNvPr id="14" name="Text 10"/>
          <p:cNvSpPr txBox="1"/>
          <p:nvPr/>
        </p:nvSpPr>
        <p:spPr>
          <a:xfrm>
            <a:off x="6537960" y="2816352"/>
            <a:ext cx="4937760" cy="347472"/>
          </a:xfrm>
          <a:prstGeom prst="rect">
            <a:avLst/>
          </a:prstGeom>
          <a:noFill/>
          <a:ln/>
        </p:spPr>
        <p:txBody>
          <a:bodyPr wrap="square" lIns="0" tIns="0" rIns="0" bIns="0" rtlCol="0" anchor="t"/>
          <a:lstStyle/>
          <a:p>
            <a:pPr indent="0" marL="0">
              <a:buNone/>
            </a:pPr>
            <a:r>
              <a:rPr lang="en-US" sz="1150" dirty="0">
                <a:solidFill>
                  <a:srgbClr val="1B2A41"/>
                </a:solidFill>
              </a:rPr>
              <a:t>inventory turnover · days of stock (DSI) · service level · lost revenue</a:t>
            </a:r>
            <a:endParaRPr lang="en-US" sz="1150" dirty="0"/>
          </a:p>
        </p:txBody>
      </p:sp>
      <p:sp>
        <p:nvSpPr>
          <p:cNvPr id="15" name="KPI group"/>
          <p:cNvSpPr/>
          <p:nvPr/>
        </p:nvSpPr>
        <p:spPr>
          <a:xfrm>
            <a:off x="6309360" y="3291840"/>
            <a:ext cx="5303520" cy="731520"/>
          </a:xfrm>
          <a:prstGeom prst="roundRect">
            <a:avLst>
              <a:gd name="adj" fmla="val 10000"/>
            </a:avLst>
          </a:prstGeom>
          <a:solidFill>
            <a:srgbClr val="F2F6FB"/>
          </a:solidFill>
          <a:ln w="12700">
            <a:solidFill>
              <a:srgbClr val="F2F6FB"/>
            </a:solidFill>
            <a:prstDash val="solid"/>
          </a:ln>
        </p:spPr>
      </p:sp>
      <p:sp>
        <p:nvSpPr>
          <p:cNvPr id="16" name="Group accent"/>
          <p:cNvSpPr/>
          <p:nvPr/>
        </p:nvSpPr>
        <p:spPr>
          <a:xfrm>
            <a:off x="6309360" y="3291840"/>
            <a:ext cx="82296" cy="731520"/>
          </a:xfrm>
          <a:prstGeom prst="rect">
            <a:avLst/>
          </a:prstGeom>
          <a:solidFill>
            <a:srgbClr val="D03B3B"/>
          </a:solidFill>
          <a:ln w="12700">
            <a:solidFill>
              <a:srgbClr val="D03B3B"/>
            </a:solidFill>
            <a:prstDash val="solid"/>
          </a:ln>
        </p:spPr>
      </p:sp>
      <p:sp>
        <p:nvSpPr>
          <p:cNvPr id="17" name="Text 13"/>
          <p:cNvSpPr txBox="1"/>
          <p:nvPr/>
        </p:nvSpPr>
        <p:spPr>
          <a:xfrm>
            <a:off x="6537960" y="334670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Credit</a:t>
            </a:r>
            <a:endParaRPr lang="en-US" sz="1400" dirty="0"/>
          </a:p>
        </p:txBody>
      </p:sp>
      <p:sp>
        <p:nvSpPr>
          <p:cNvPr id="18" name="Text 14"/>
          <p:cNvSpPr txBox="1"/>
          <p:nvPr/>
        </p:nvSpPr>
        <p:spPr>
          <a:xfrm>
            <a:off x="6537960" y="3639312"/>
            <a:ext cx="4937760" cy="347472"/>
          </a:xfrm>
          <a:prstGeom prst="rect">
            <a:avLst/>
          </a:prstGeom>
          <a:noFill/>
          <a:ln/>
        </p:spPr>
        <p:txBody>
          <a:bodyPr wrap="square" lIns="0" tIns="0" rIns="0" bIns="0" rtlCol="0" anchor="t"/>
          <a:lstStyle/>
          <a:p>
            <a:pPr indent="0" marL="0">
              <a:buNone/>
            </a:pPr>
            <a:r>
              <a:rPr lang="en-US" sz="1150" dirty="0">
                <a:solidFill>
                  <a:srgbClr val="1B2A41"/>
                </a:solidFill>
              </a:rPr>
              <a:t>days sales outstanding (DSO) · default-risk rating A-E (scenario)</a:t>
            </a:r>
            <a:endParaRPr lang="en-US" sz="1150" dirty="0"/>
          </a:p>
        </p:txBody>
      </p:sp>
      <p:sp>
        <p:nvSpPr>
          <p:cNvPr id="19" name="KPI group"/>
          <p:cNvSpPr/>
          <p:nvPr/>
        </p:nvSpPr>
        <p:spPr>
          <a:xfrm>
            <a:off x="6309360" y="4114800"/>
            <a:ext cx="5303520" cy="731520"/>
          </a:xfrm>
          <a:prstGeom prst="roundRect">
            <a:avLst>
              <a:gd name="adj" fmla="val 10000"/>
            </a:avLst>
          </a:prstGeom>
          <a:solidFill>
            <a:srgbClr val="F2F6FB"/>
          </a:solidFill>
          <a:ln w="12700">
            <a:solidFill>
              <a:srgbClr val="F2F6FB"/>
            </a:solidFill>
            <a:prstDash val="solid"/>
          </a:ln>
        </p:spPr>
      </p:sp>
      <p:sp>
        <p:nvSpPr>
          <p:cNvPr id="20" name="Group accent"/>
          <p:cNvSpPr/>
          <p:nvPr/>
        </p:nvSpPr>
        <p:spPr>
          <a:xfrm>
            <a:off x="6309360" y="4114800"/>
            <a:ext cx="82296" cy="731520"/>
          </a:xfrm>
          <a:prstGeom prst="rect">
            <a:avLst/>
          </a:prstGeom>
          <a:solidFill>
            <a:srgbClr val="1BAF7A"/>
          </a:solidFill>
          <a:ln w="12700">
            <a:solidFill>
              <a:srgbClr val="1BAF7A"/>
            </a:solidFill>
            <a:prstDash val="solid"/>
          </a:ln>
        </p:spPr>
      </p:sp>
      <p:sp>
        <p:nvSpPr>
          <p:cNvPr id="21" name="Text 17"/>
          <p:cNvSpPr txBox="1"/>
          <p:nvPr/>
        </p:nvSpPr>
        <p:spPr>
          <a:xfrm>
            <a:off x="6537960" y="4169664"/>
            <a:ext cx="4937760" cy="274320"/>
          </a:xfrm>
          <a:prstGeom prst="rect">
            <a:avLst/>
          </a:prstGeom>
          <a:noFill/>
          <a:ln/>
        </p:spPr>
        <p:txBody>
          <a:bodyPr wrap="square" lIns="0" tIns="0" rIns="0" bIns="0" rtlCol="0" anchor="ctr"/>
          <a:lstStyle/>
          <a:p>
            <a:pPr indent="0" marL="0">
              <a:buNone/>
            </a:pPr>
            <a:r>
              <a:rPr lang="en-US" sz="1400" b="1" dirty="0">
                <a:solidFill>
                  <a:schemeClr val="tx1"/>
                </a:solidFill>
              </a:rPr>
              <a:t>Forward view and actions</a:t>
            </a:r>
            <a:endParaRPr lang="en-US" sz="1400" dirty="0"/>
          </a:p>
        </p:txBody>
      </p:sp>
      <p:sp>
        <p:nvSpPr>
          <p:cNvPr id="22" name="Text 18"/>
          <p:cNvSpPr txBox="1"/>
          <p:nvPr/>
        </p:nvSpPr>
        <p:spPr>
          <a:xfrm>
            <a:off x="6537960" y="4462272"/>
            <a:ext cx="4937760" cy="347472"/>
          </a:xfrm>
          <a:prstGeom prst="rect">
            <a:avLst/>
          </a:prstGeom>
          <a:noFill/>
          <a:ln/>
        </p:spPr>
        <p:txBody>
          <a:bodyPr wrap="square" lIns="0" tIns="0" rIns="0" bIns="0" rtlCol="0" anchor="t"/>
          <a:lstStyle/>
          <a:p>
            <a:pPr indent="0" marL="0">
              <a:buNone/>
            </a:pPr>
            <a:r>
              <a:rPr lang="en-US" sz="1150" dirty="0">
                <a:solidFill>
                  <a:srgbClr val="1B2A41"/>
                </a:solidFill>
              </a:rPr>
              <a:t>26-week forecast with P10-P90 range · price plan · six rule-based alerts</a:t>
            </a:r>
            <a:endParaRPr lang="en-US" sz="1150" dirty="0"/>
          </a:p>
        </p:txBody>
      </p:sp>
      <p:sp>
        <p:nvSpPr>
          <p:cNvPr id="23" name="Stat card"/>
          <p:cNvSpPr/>
          <p:nvPr/>
        </p:nvSpPr>
        <p:spPr>
          <a:xfrm>
            <a:off x="548640" y="5120640"/>
            <a:ext cx="2606040" cy="1143000"/>
          </a:xfrm>
          <a:prstGeom prst="roundRect">
            <a:avLst>
              <a:gd name="adj" fmla="val 6400"/>
            </a:avLst>
          </a:prstGeom>
          <a:solidFill>
            <a:srgbClr val="F2F6FB"/>
          </a:solidFill>
          <a:ln w="12700">
            <a:solidFill>
              <a:srgbClr val="F2F6FB"/>
            </a:solidFill>
            <a:prstDash val="solid"/>
          </a:ln>
        </p:spPr>
      </p:sp>
      <p:sp>
        <p:nvSpPr>
          <p:cNvPr id="24" name="Text 20"/>
          <p:cNvSpPr txBox="1"/>
          <p:nvPr/>
        </p:nvSpPr>
        <p:spPr>
          <a:xfrm>
            <a:off x="68580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$65.4M</a:t>
            </a:r>
            <a:endParaRPr lang="en-US" sz="2800" dirty="0"/>
          </a:p>
        </p:txBody>
      </p:sp>
      <p:sp>
        <p:nvSpPr>
          <p:cNvPr id="25" name="Text 21"/>
          <p:cNvSpPr txBox="1"/>
          <p:nvPr/>
        </p:nvSpPr>
        <p:spPr>
          <a:xfrm>
            <a:off x="68580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26" name="Stat card"/>
          <p:cNvSpPr/>
          <p:nvPr/>
        </p:nvSpPr>
        <p:spPr>
          <a:xfrm>
            <a:off x="3337560" y="5120640"/>
            <a:ext cx="2606040" cy="1143000"/>
          </a:xfrm>
          <a:prstGeom prst="roundRect">
            <a:avLst>
              <a:gd name="adj" fmla="val 6400"/>
            </a:avLst>
          </a:prstGeom>
          <a:solidFill>
            <a:srgbClr val="F2F6FB"/>
          </a:solidFill>
          <a:ln w="12700">
            <a:solidFill>
              <a:srgbClr val="F2F6FB"/>
            </a:solidFill>
            <a:prstDash val="solid"/>
          </a:ln>
        </p:spPr>
      </p:sp>
      <p:sp>
        <p:nvSpPr>
          <p:cNvPr id="27" name="Text 23"/>
          <p:cNvSpPr txBox="1"/>
          <p:nvPr/>
        </p:nvSpPr>
        <p:spPr>
          <a:xfrm>
            <a:off x="347472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21.5%</a:t>
            </a:r>
            <a:endParaRPr lang="en-US" sz="2800" dirty="0"/>
          </a:p>
        </p:txBody>
      </p:sp>
      <p:sp>
        <p:nvSpPr>
          <p:cNvPr id="28" name="Text 24"/>
          <p:cNvSpPr txBox="1"/>
          <p:nvPr/>
        </p:nvSpPr>
        <p:spPr>
          <a:xfrm>
            <a:off x="347472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29" name="Stat card"/>
          <p:cNvSpPr/>
          <p:nvPr/>
        </p:nvSpPr>
        <p:spPr>
          <a:xfrm>
            <a:off x="6126480" y="5120640"/>
            <a:ext cx="2606040" cy="1143000"/>
          </a:xfrm>
          <a:prstGeom prst="roundRect">
            <a:avLst>
              <a:gd name="adj" fmla="val 6400"/>
            </a:avLst>
          </a:prstGeom>
          <a:solidFill>
            <a:srgbClr val="F2F6FB"/>
          </a:solidFill>
          <a:ln w="12700">
            <a:solidFill>
              <a:srgbClr val="F2F6FB"/>
            </a:solidFill>
            <a:prstDash val="solid"/>
          </a:ln>
        </p:spPr>
      </p:sp>
      <p:sp>
        <p:nvSpPr>
          <p:cNvPr id="30" name="Text 26"/>
          <p:cNvSpPr txBox="1"/>
          <p:nvPr/>
        </p:nvSpPr>
        <p:spPr>
          <a:xfrm>
            <a:off x="6263640" y="5193792"/>
            <a:ext cx="2331720" cy="51435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60%</a:t>
            </a:r>
            <a:endParaRPr lang="en-US" sz="2800" dirty="0"/>
          </a:p>
        </p:txBody>
      </p:sp>
      <p:sp>
        <p:nvSpPr>
          <p:cNvPr id="31" name="Text 27"/>
          <p:cNvSpPr txBox="1"/>
          <p:nvPr/>
        </p:nvSpPr>
        <p:spPr>
          <a:xfrm>
            <a:off x="626364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32" name="Stat card"/>
          <p:cNvSpPr/>
          <p:nvPr/>
        </p:nvSpPr>
        <p:spPr>
          <a:xfrm>
            <a:off x="8915400" y="5120640"/>
            <a:ext cx="2606040" cy="1143000"/>
          </a:xfrm>
          <a:prstGeom prst="roundRect">
            <a:avLst>
              <a:gd name="adj" fmla="val 6400"/>
            </a:avLst>
          </a:prstGeom>
          <a:solidFill>
            <a:srgbClr val="F2F6FB"/>
          </a:solidFill>
          <a:ln w="12700">
            <a:solidFill>
              <a:srgbClr val="F2F6FB"/>
            </a:solidFill>
            <a:prstDash val="solid"/>
          </a:ln>
        </p:spPr>
      </p:sp>
      <p:sp>
        <p:nvSpPr>
          <p:cNvPr id="33" name="Text 29"/>
          <p:cNvSpPr txBox="1"/>
          <p:nvPr/>
        </p:nvSpPr>
        <p:spPr>
          <a:xfrm>
            <a:off x="9052560" y="5193792"/>
            <a:ext cx="2331720" cy="51435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16 high</a:t>
            </a:r>
            <a:endParaRPr lang="en-US" sz="2800" dirty="0"/>
          </a:p>
        </p:txBody>
      </p:sp>
      <p:sp>
        <p:nvSpPr>
          <p:cNvPr id="34" name="Text 30"/>
          <p:cNvSpPr txBox="1"/>
          <p:nvPr/>
        </p:nvSpPr>
        <p:spPr>
          <a:xfrm>
            <a:off x="905256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priority alerts, each with an action</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CREDIT-RISK RATING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Credit-risk rating A to E: what, how, and why</a:t>
            </a:r>
            <a:endParaRPr lang="en-US" sz="3000" dirty="0"/>
          </a:p>
        </p:txBody>
      </p:sp>
      <p:sp>
        <p:nvSpPr>
          <p:cNvPr id="5" name="Text 2"/>
          <p:cNvSpPr txBox="1"/>
          <p:nvPr/>
        </p:nvSpPr>
        <p:spPr>
          <a:xfrm>
            <a:off x="548640" y="1600200"/>
            <a:ext cx="5669280" cy="292608"/>
          </a:xfrm>
          <a:prstGeom prst="rect">
            <a:avLst/>
          </a:prstGeom>
          <a:noFill/>
          <a:ln/>
        </p:spPr>
        <p:txBody>
          <a:bodyPr wrap="square" lIns="0" tIns="0" rIns="0" bIns="0" rtlCol="0" anchor="ctr"/>
          <a:lstStyle/>
          <a:p>
            <a:pPr indent="0" marL="0">
              <a:buNone/>
            </a:pPr>
            <a:r>
              <a:rPr lang="en-US" sz="1300" b="1" dirty="0">
                <a:solidFill>
                  <a:srgbClr val="5B6B80"/>
                </a:solidFill>
              </a:rPr>
              <a:t>Risk score (0-100) = weighted sum of four components</a:t>
            </a:r>
            <a:endParaRPr lang="en-US" sz="1300" dirty="0"/>
          </a:p>
        </p:txBody>
      </p:sp>
      <p:sp>
        <p:nvSpPr>
          <p:cNvPr id="6" name="Component card"/>
          <p:cNvSpPr/>
          <p:nvPr/>
        </p:nvSpPr>
        <p:spPr>
          <a:xfrm>
            <a:off x="548640" y="1938528"/>
            <a:ext cx="5669280" cy="713232"/>
          </a:xfrm>
          <a:prstGeom prst="roundRect">
            <a:avLst>
              <a:gd name="adj" fmla="val 10256"/>
            </a:avLst>
          </a:prstGeom>
          <a:solidFill>
            <a:srgbClr val="F2F6FB"/>
          </a:solidFill>
          <a:ln w="12700">
            <a:solidFill>
              <a:srgbClr val="F2F6FB"/>
            </a:solidFill>
            <a:prstDash val="solid"/>
          </a:ln>
        </p:spPr>
      </p:sp>
      <p:sp>
        <p:nvSpPr>
          <p:cNvPr id="7" name="Text 4"/>
          <p:cNvSpPr txBox="1"/>
          <p:nvPr/>
        </p:nvSpPr>
        <p:spPr>
          <a:xfrm>
            <a:off x="685800" y="1938528"/>
            <a:ext cx="1005840" cy="713232"/>
          </a:xfrm>
          <a:prstGeom prst="rect">
            <a:avLst/>
          </a:prstGeom>
          <a:noFill/>
          <a:ln/>
        </p:spPr>
        <p:txBody>
          <a:bodyPr wrap="square" lIns="0" tIns="0" rIns="0" bIns="0" rtlCol="0" anchor="ctr"/>
          <a:lstStyle/>
          <a:p>
            <a:pPr indent="0" marL="0">
              <a:buNone/>
            </a:pPr>
            <a:r>
              <a:rPr lang="en-US" sz="2400" b="1" dirty="0">
                <a:solidFill>
                  <a:srgbClr val="B02F2F"/>
                </a:solidFill>
                <a:latin typeface="Cambria" pitchFamily="34" charset="0"/>
                <a:ea typeface="Cambria" pitchFamily="34" charset="-122"/>
                <a:cs typeface="Cambria" pitchFamily="34" charset="-120"/>
              </a:rPr>
              <a:t>40%</a:t>
            </a:r>
            <a:endParaRPr lang="en-US" sz="2400" dirty="0"/>
          </a:p>
        </p:txBody>
      </p:sp>
      <p:sp>
        <p:nvSpPr>
          <p:cNvPr id="8" name="Text 5"/>
          <p:cNvSpPr txBox="1"/>
          <p:nvPr/>
        </p:nvSpPr>
        <p:spPr>
          <a:xfrm>
            <a:off x="1737360" y="2002536"/>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Default rate</a:t>
            </a:r>
            <a:endParaRPr lang="en-US" sz="1350" dirty="0"/>
          </a:p>
        </p:txBody>
      </p:sp>
      <p:sp>
        <p:nvSpPr>
          <p:cNvPr id="9" name="Text 6"/>
          <p:cNvSpPr txBox="1"/>
          <p:nvPr/>
        </p:nvSpPr>
        <p:spPr>
          <a:xfrm>
            <a:off x="1737360" y="2286000"/>
            <a:ext cx="4389120" cy="329184"/>
          </a:xfrm>
          <a:prstGeom prst="rect">
            <a:avLst/>
          </a:prstGeom>
          <a:noFill/>
          <a:ln/>
        </p:spPr>
        <p:txBody>
          <a:bodyPr wrap="square" lIns="0" tIns="0" rIns="0" bIns="0" rtlCol="0" anchor="t"/>
          <a:lstStyle/>
          <a:p>
            <a:pPr indent="0" marL="0">
              <a:buNone/>
            </a:pPr>
            <a:r>
              <a:rPr lang="en-US" sz="1100" dirty="0">
                <a:solidFill>
                  <a:srgbClr val="5B6B80"/>
                </a:solidFill>
              </a:rPr>
              <a:t>annual default of credit sales; 3% = score 100</a:t>
            </a:r>
            <a:endParaRPr lang="en-US" sz="1100" dirty="0"/>
          </a:p>
        </p:txBody>
      </p:sp>
      <p:sp>
        <p:nvSpPr>
          <p:cNvPr id="10" name="Component card"/>
          <p:cNvSpPr/>
          <p:nvPr/>
        </p:nvSpPr>
        <p:spPr>
          <a:xfrm>
            <a:off x="548640" y="2724912"/>
            <a:ext cx="5669280" cy="713232"/>
          </a:xfrm>
          <a:prstGeom prst="roundRect">
            <a:avLst>
              <a:gd name="adj" fmla="val 10256"/>
            </a:avLst>
          </a:prstGeom>
          <a:solidFill>
            <a:srgbClr val="F2F6FB"/>
          </a:solidFill>
          <a:ln w="12700">
            <a:solidFill>
              <a:srgbClr val="F2F6FB"/>
            </a:solidFill>
            <a:prstDash val="solid"/>
          </a:ln>
        </p:spPr>
      </p:sp>
      <p:sp>
        <p:nvSpPr>
          <p:cNvPr id="11" name="Text 8"/>
          <p:cNvSpPr txBox="1"/>
          <p:nvPr/>
        </p:nvSpPr>
        <p:spPr>
          <a:xfrm>
            <a:off x="685800" y="2724912"/>
            <a:ext cx="1005840" cy="713232"/>
          </a:xfrm>
          <a:prstGeom prst="rect">
            <a:avLst/>
          </a:prstGeom>
          <a:noFill/>
          <a:ln/>
        </p:spPr>
        <p:txBody>
          <a:bodyPr wrap="square" lIns="0" tIns="0" rIns="0" bIns="0" rtlCol="0" anchor="ctr"/>
          <a:lstStyle/>
          <a:p>
            <a:pPr indent="0" marL="0">
              <a:buNone/>
            </a:pPr>
            <a:r>
              <a:rPr lang="en-US" sz="2400" b="1" dirty="0">
                <a:solidFill>
                  <a:srgbClr val="C24E1F"/>
                </a:solidFill>
                <a:latin typeface="Cambria" pitchFamily="34" charset="0"/>
                <a:ea typeface="Cambria" pitchFamily="34" charset="-122"/>
                <a:cs typeface="Cambria" pitchFamily="34" charset="-120"/>
              </a:rPr>
              <a:t>20%</a:t>
            </a:r>
            <a:endParaRPr lang="en-US" sz="2400" dirty="0"/>
          </a:p>
        </p:txBody>
      </p:sp>
      <p:sp>
        <p:nvSpPr>
          <p:cNvPr id="12" name="Text 9"/>
          <p:cNvSpPr txBox="1"/>
          <p:nvPr/>
        </p:nvSpPr>
        <p:spPr>
          <a:xfrm>
            <a:off x="1737360" y="2788920"/>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Lateness</a:t>
            </a:r>
            <a:endParaRPr lang="en-US" sz="1350" dirty="0"/>
          </a:p>
        </p:txBody>
      </p:sp>
      <p:sp>
        <p:nvSpPr>
          <p:cNvPr id="13" name="Text 10"/>
          <p:cNvSpPr txBox="1"/>
          <p:nvPr/>
        </p:nvSpPr>
        <p:spPr>
          <a:xfrm>
            <a:off x="1737360" y="3072384"/>
            <a:ext cx="4389120" cy="329184"/>
          </a:xfrm>
          <a:prstGeom prst="rect">
            <a:avLst/>
          </a:prstGeom>
          <a:noFill/>
          <a:ln/>
        </p:spPr>
        <p:txBody>
          <a:bodyPr wrap="square" lIns="0" tIns="0" rIns="0" bIns="0" rtlCol="0" anchor="t"/>
          <a:lstStyle/>
          <a:p>
            <a:pPr indent="0" marL="0">
              <a:buNone/>
            </a:pPr>
            <a:r>
              <a:rPr lang="en-US" sz="1100" dirty="0">
                <a:solidFill>
                  <a:srgbClr val="5B6B80"/>
                </a:solidFill>
              </a:rPr>
              <a:t>average delay vs terms; delay = half the terms = 100</a:t>
            </a:r>
            <a:endParaRPr lang="en-US" sz="1100" dirty="0"/>
          </a:p>
        </p:txBody>
      </p:sp>
      <p:sp>
        <p:nvSpPr>
          <p:cNvPr id="14" name="Component card"/>
          <p:cNvSpPr/>
          <p:nvPr/>
        </p:nvSpPr>
        <p:spPr>
          <a:xfrm>
            <a:off x="548640" y="3511296"/>
            <a:ext cx="5669280" cy="713232"/>
          </a:xfrm>
          <a:prstGeom prst="roundRect">
            <a:avLst>
              <a:gd name="adj" fmla="val 10256"/>
            </a:avLst>
          </a:prstGeom>
          <a:solidFill>
            <a:srgbClr val="F2F6FB"/>
          </a:solidFill>
          <a:ln w="12700">
            <a:solidFill>
              <a:srgbClr val="F2F6FB"/>
            </a:solidFill>
            <a:prstDash val="solid"/>
          </a:ln>
        </p:spPr>
      </p:sp>
      <p:sp>
        <p:nvSpPr>
          <p:cNvPr id="15" name="Text 12"/>
          <p:cNvSpPr txBox="1"/>
          <p:nvPr/>
        </p:nvSpPr>
        <p:spPr>
          <a:xfrm>
            <a:off x="685800" y="3511296"/>
            <a:ext cx="1005840" cy="713232"/>
          </a:xfrm>
          <a:prstGeom prst="rect">
            <a:avLst/>
          </a:prstGeom>
          <a:noFill/>
          <a:ln/>
        </p:spPr>
        <p:txBody>
          <a:bodyPr wrap="square" lIns="0" tIns="0" rIns="0" bIns="0" rtlCol="0" anchor="ctr"/>
          <a:lstStyle/>
          <a:p>
            <a:pPr indent="0" marL="0">
              <a:buNone/>
            </a:pPr>
            <a:r>
              <a:rPr lang="en-US" sz="2400" b="1" dirty="0">
                <a:solidFill>
                  <a:srgbClr val="1F5FB0"/>
                </a:solidFill>
                <a:latin typeface="Cambria" pitchFamily="34" charset="0"/>
                <a:ea typeface="Cambria" pitchFamily="34" charset="-122"/>
                <a:cs typeface="Cambria" pitchFamily="34" charset="-120"/>
              </a:rPr>
              <a:t>25%</a:t>
            </a:r>
            <a:endParaRPr lang="en-US" sz="2400" dirty="0"/>
          </a:p>
        </p:txBody>
      </p:sp>
      <p:sp>
        <p:nvSpPr>
          <p:cNvPr id="16" name="Text 13"/>
          <p:cNvSpPr txBox="1"/>
          <p:nvPr/>
        </p:nvSpPr>
        <p:spPr>
          <a:xfrm>
            <a:off x="1737360" y="3575304"/>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Loss vs margin</a:t>
            </a:r>
            <a:endParaRPr lang="en-US" sz="1350" dirty="0"/>
          </a:p>
        </p:txBody>
      </p:sp>
      <p:sp>
        <p:nvSpPr>
          <p:cNvPr id="17" name="Text 14"/>
          <p:cNvSpPr txBox="1"/>
          <p:nvPr/>
        </p:nvSpPr>
        <p:spPr>
          <a:xfrm>
            <a:off x="1737360" y="3858768"/>
            <a:ext cx="4389120" cy="329184"/>
          </a:xfrm>
          <a:prstGeom prst="rect">
            <a:avLst/>
          </a:prstGeom>
          <a:noFill/>
          <a:ln/>
        </p:spPr>
        <p:txBody>
          <a:bodyPr wrap="square" lIns="0" tIns="0" rIns="0" bIns="0" rtlCol="0" anchor="t"/>
          <a:lstStyle/>
          <a:p>
            <a:pPr indent="0" marL="0">
              <a:buNone/>
            </a:pPr>
            <a:r>
              <a:rPr lang="en-US" sz="1100" dirty="0">
                <a:solidFill>
                  <a:srgbClr val="5B6B80"/>
                </a:solidFill>
              </a:rPr>
              <a:t>expected credit loss as share of gross profit; 15% = 100</a:t>
            </a:r>
            <a:endParaRPr lang="en-US" sz="1100" dirty="0"/>
          </a:p>
        </p:txBody>
      </p:sp>
      <p:sp>
        <p:nvSpPr>
          <p:cNvPr id="18" name="Component card"/>
          <p:cNvSpPr/>
          <p:nvPr/>
        </p:nvSpPr>
        <p:spPr>
          <a:xfrm>
            <a:off x="548640" y="4297680"/>
            <a:ext cx="5669280" cy="713232"/>
          </a:xfrm>
          <a:prstGeom prst="roundRect">
            <a:avLst>
              <a:gd name="adj" fmla="val 10256"/>
            </a:avLst>
          </a:prstGeom>
          <a:solidFill>
            <a:srgbClr val="F2F6FB"/>
          </a:solidFill>
          <a:ln w="12700">
            <a:solidFill>
              <a:srgbClr val="F2F6FB"/>
            </a:solidFill>
            <a:prstDash val="solid"/>
          </a:ln>
        </p:spPr>
      </p:sp>
      <p:sp>
        <p:nvSpPr>
          <p:cNvPr id="19" name="Text 16"/>
          <p:cNvSpPr txBox="1"/>
          <p:nvPr/>
        </p:nvSpPr>
        <p:spPr>
          <a:xfrm>
            <a:off x="685800" y="4297680"/>
            <a:ext cx="1005840" cy="713232"/>
          </a:xfrm>
          <a:prstGeom prst="rect">
            <a:avLst/>
          </a:prstGeom>
          <a:noFill/>
          <a:ln/>
        </p:spPr>
        <p:txBody>
          <a:bodyPr wrap="square" lIns="0" tIns="0" rIns="0" bIns="0" rtlCol="0" anchor="ctr"/>
          <a:lstStyle/>
          <a:p>
            <a:pPr indent="0" marL="0">
              <a:buNone/>
            </a:pPr>
            <a:r>
              <a:rPr lang="en-US" sz="2400" b="1" dirty="0">
                <a:solidFill>
                  <a:srgbClr val="138A5F"/>
                </a:solidFill>
                <a:latin typeface="Cambria" pitchFamily="34" charset="0"/>
                <a:ea typeface="Cambria" pitchFamily="34" charset="-122"/>
                <a:cs typeface="Cambria" pitchFamily="34" charset="-120"/>
              </a:rPr>
              <a:t>15%</a:t>
            </a:r>
            <a:endParaRPr lang="en-US" sz="2400" dirty="0"/>
          </a:p>
        </p:txBody>
      </p:sp>
      <p:sp>
        <p:nvSpPr>
          <p:cNvPr id="20" name="Text 17"/>
          <p:cNvSpPr txBox="1"/>
          <p:nvPr/>
        </p:nvSpPr>
        <p:spPr>
          <a:xfrm>
            <a:off x="1737360" y="4361688"/>
            <a:ext cx="4389120" cy="274320"/>
          </a:xfrm>
          <a:prstGeom prst="rect">
            <a:avLst/>
          </a:prstGeom>
          <a:noFill/>
          <a:ln/>
        </p:spPr>
        <p:txBody>
          <a:bodyPr wrap="square" lIns="0" tIns="0" rIns="0" bIns="0" rtlCol="0" anchor="ctr"/>
          <a:lstStyle/>
          <a:p>
            <a:pPr indent="0" marL="0">
              <a:buNone/>
            </a:pPr>
            <a:r>
              <a:rPr lang="en-US" sz="1350" b="1" dirty="0">
                <a:solidFill>
                  <a:schemeClr val="tx1"/>
                </a:solidFill>
              </a:rPr>
              <a:t>Concentration</a:t>
            </a:r>
            <a:endParaRPr lang="en-US" sz="1350" dirty="0"/>
          </a:p>
        </p:txBody>
      </p:sp>
      <p:sp>
        <p:nvSpPr>
          <p:cNvPr id="21" name="Text 18"/>
          <p:cNvSpPr txBox="1"/>
          <p:nvPr/>
        </p:nvSpPr>
        <p:spPr>
          <a:xfrm>
            <a:off x="1737360" y="4645152"/>
            <a:ext cx="4389120" cy="329184"/>
          </a:xfrm>
          <a:prstGeom prst="rect">
            <a:avLst/>
          </a:prstGeom>
          <a:noFill/>
          <a:ln/>
        </p:spPr>
        <p:txBody>
          <a:bodyPr wrap="square" lIns="0" tIns="0" rIns="0" bIns="0" rtlCol="0" anchor="t"/>
          <a:lstStyle/>
          <a:p>
            <a:pPr indent="0" marL="0">
              <a:buNone/>
            </a:pPr>
            <a:r>
              <a:rPr lang="en-US" sz="1100" dirty="0">
                <a:solidFill>
                  <a:srgbClr val="5B6B80"/>
                </a:solidFill>
              </a:rPr>
              <a:t>category share of revenue; 25% = 100</a:t>
            </a:r>
            <a:endParaRPr lang="en-US" sz="1100" dirty="0"/>
          </a:p>
        </p:txBody>
      </p:sp>
      <p:graphicFrame>
        <p:nvGraphicFramePr>
          <p:cNvPr id="22" name="Chart 0" descr=""/>
          <p:cNvGraphicFramePr/>
          <p:nvPr/>
        </p:nvGraphicFramePr>
        <p:xfrm>
          <a:off x="6400800" y="1554480"/>
          <a:ext cx="5212080" cy="2743200"/>
        </p:xfrm>
        <a:graphic xmlns:a="http://schemas.openxmlformats.org/drawingml/2006/main">
          <a:graphicData uri="http://schemas.openxmlformats.org/drawingml/2006/chart">
            <c:chart xmlns:c="http://schemas.openxmlformats.org/drawingml/2006/chart" r:id="rId1"/>
          </a:graphicData>
        </a:graphic>
      </p:graphicFrame>
      <p:sp>
        <p:nvSpPr>
          <p:cNvPr id="23" name="Rating chip"/>
          <p:cNvSpPr/>
          <p:nvPr/>
        </p:nvSpPr>
        <p:spPr>
          <a:xfrm>
            <a:off x="6400800" y="4389120"/>
            <a:ext cx="978408" cy="640080"/>
          </a:xfrm>
          <a:prstGeom prst="roundRect">
            <a:avLst>
              <a:gd name="adj" fmla="val 8571"/>
            </a:avLst>
          </a:prstGeom>
          <a:solidFill>
            <a:srgbClr val="0CA30C"/>
          </a:solidFill>
          <a:ln w="12700">
            <a:solidFill>
              <a:srgbClr val="0CA30C"/>
            </a:solidFill>
            <a:prstDash val="solid"/>
          </a:ln>
        </p:spPr>
      </p:sp>
      <p:sp>
        <p:nvSpPr>
          <p:cNvPr id="24" name="Text 20"/>
          <p:cNvSpPr txBox="1"/>
          <p:nvPr/>
        </p:nvSpPr>
        <p:spPr>
          <a:xfrm>
            <a:off x="640080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a:p>
            <a:pPr algn="ctr" indent="0" marL="0">
              <a:buNone/>
            </a:pPr>
            <a:r>
              <a:rPr lang="en-US" sz="1000" dirty="0">
                <a:solidFill>
                  <a:srgbClr val="FFFFFF"/>
                </a:solidFill>
              </a:rPr>
              <a:t>&lt; 20</a:t>
            </a:r>
            <a:endParaRPr lang="en-US" sz="2000" dirty="0"/>
          </a:p>
        </p:txBody>
      </p:sp>
      <p:sp>
        <p:nvSpPr>
          <p:cNvPr id="25" name="Rating chip"/>
          <p:cNvSpPr/>
          <p:nvPr/>
        </p:nvSpPr>
        <p:spPr>
          <a:xfrm>
            <a:off x="7452360" y="4389120"/>
            <a:ext cx="978408" cy="640080"/>
          </a:xfrm>
          <a:prstGeom prst="roundRect">
            <a:avLst>
              <a:gd name="adj" fmla="val 8571"/>
            </a:avLst>
          </a:prstGeom>
          <a:solidFill>
            <a:srgbClr val="7FB800"/>
          </a:solidFill>
          <a:ln w="12700">
            <a:solidFill>
              <a:srgbClr val="7FB800"/>
            </a:solidFill>
            <a:prstDash val="solid"/>
          </a:ln>
        </p:spPr>
      </p:sp>
      <p:sp>
        <p:nvSpPr>
          <p:cNvPr id="26" name="Text 22"/>
          <p:cNvSpPr txBox="1"/>
          <p:nvPr/>
        </p:nvSpPr>
        <p:spPr>
          <a:xfrm>
            <a:off x="745236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a:p>
            <a:pPr algn="ctr" indent="0" marL="0">
              <a:buNone/>
            </a:pPr>
            <a:r>
              <a:rPr lang="en-US" sz="1000" dirty="0">
                <a:solidFill>
                  <a:srgbClr val="FFFFFF"/>
                </a:solidFill>
              </a:rPr>
              <a:t>&lt; 35</a:t>
            </a:r>
            <a:endParaRPr lang="en-US" sz="2000" dirty="0"/>
          </a:p>
        </p:txBody>
      </p:sp>
      <p:sp>
        <p:nvSpPr>
          <p:cNvPr id="27" name="Rating chip"/>
          <p:cNvSpPr/>
          <p:nvPr/>
        </p:nvSpPr>
        <p:spPr>
          <a:xfrm>
            <a:off x="8503920" y="4389120"/>
            <a:ext cx="978408" cy="640080"/>
          </a:xfrm>
          <a:prstGeom prst="roundRect">
            <a:avLst>
              <a:gd name="adj" fmla="val 8571"/>
            </a:avLst>
          </a:prstGeom>
          <a:solidFill>
            <a:srgbClr val="FAB219"/>
          </a:solidFill>
          <a:ln w="12700">
            <a:solidFill>
              <a:srgbClr val="FAB219"/>
            </a:solidFill>
            <a:prstDash val="solid"/>
          </a:ln>
        </p:spPr>
      </p:sp>
      <p:sp>
        <p:nvSpPr>
          <p:cNvPr id="28" name="Text 24"/>
          <p:cNvSpPr txBox="1"/>
          <p:nvPr/>
        </p:nvSpPr>
        <p:spPr>
          <a:xfrm>
            <a:off x="8503920" y="4389120"/>
            <a:ext cx="978408" cy="640080"/>
          </a:xfrm>
          <a:prstGeom prst="rect">
            <a:avLst/>
          </a:prstGeom>
          <a:noFill/>
          <a:ln/>
        </p:spPr>
        <p:txBody>
          <a:bodyPr wrap="square" lIns="0" tIns="0" rIns="0" bIns="0" rtlCol="0" anchor="ctr"/>
          <a:lstStyle/>
          <a:p>
            <a:pPr algn="ctr" indent="0" marL="0">
              <a:buNone/>
            </a:pPr>
            <a:r>
              <a:rPr lang="en-US" sz="2000" b="1" dirty="0">
                <a:solidFill>
                  <a:srgbClr val="3A2A00"/>
                </a:solidFill>
                <a:latin typeface="Cambria" pitchFamily="34" charset="0"/>
                <a:ea typeface="Cambria" pitchFamily="34" charset="-122"/>
                <a:cs typeface="Cambria" pitchFamily="34" charset="-120"/>
              </a:rPr>
              <a:t>C</a:t>
            </a:r>
            <a:endParaRPr lang="en-US" sz="2000" dirty="0"/>
          </a:p>
          <a:p>
            <a:pPr algn="ctr" indent="0" marL="0">
              <a:buNone/>
            </a:pPr>
            <a:r>
              <a:rPr lang="en-US" sz="1000" dirty="0">
                <a:solidFill>
                  <a:srgbClr val="3A2A00"/>
                </a:solidFill>
              </a:rPr>
              <a:t>&lt; 50</a:t>
            </a:r>
            <a:endParaRPr lang="en-US" sz="2000" dirty="0"/>
          </a:p>
        </p:txBody>
      </p:sp>
      <p:sp>
        <p:nvSpPr>
          <p:cNvPr id="29" name="Rating chip"/>
          <p:cNvSpPr/>
          <p:nvPr/>
        </p:nvSpPr>
        <p:spPr>
          <a:xfrm>
            <a:off x="9555480" y="4389120"/>
            <a:ext cx="978408" cy="640080"/>
          </a:xfrm>
          <a:prstGeom prst="roundRect">
            <a:avLst>
              <a:gd name="adj" fmla="val 8571"/>
            </a:avLst>
          </a:prstGeom>
          <a:solidFill>
            <a:srgbClr val="EC835A"/>
          </a:solidFill>
          <a:ln w="12700">
            <a:solidFill>
              <a:srgbClr val="EC835A"/>
            </a:solidFill>
            <a:prstDash val="solid"/>
          </a:ln>
        </p:spPr>
      </p:sp>
      <p:sp>
        <p:nvSpPr>
          <p:cNvPr id="30" name="Text 26"/>
          <p:cNvSpPr txBox="1"/>
          <p:nvPr/>
        </p:nvSpPr>
        <p:spPr>
          <a:xfrm>
            <a:off x="955548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a:t>
            </a:r>
            <a:endParaRPr lang="en-US" sz="2000" dirty="0"/>
          </a:p>
          <a:p>
            <a:pPr algn="ctr" indent="0" marL="0">
              <a:buNone/>
            </a:pPr>
            <a:r>
              <a:rPr lang="en-US" sz="1000" dirty="0">
                <a:solidFill>
                  <a:srgbClr val="FFFFFF"/>
                </a:solidFill>
              </a:rPr>
              <a:t>&lt; 65</a:t>
            </a:r>
            <a:endParaRPr lang="en-US" sz="2000" dirty="0"/>
          </a:p>
        </p:txBody>
      </p:sp>
      <p:sp>
        <p:nvSpPr>
          <p:cNvPr id="31" name="Rating chip"/>
          <p:cNvSpPr/>
          <p:nvPr/>
        </p:nvSpPr>
        <p:spPr>
          <a:xfrm>
            <a:off x="10607040" y="4389120"/>
            <a:ext cx="978408" cy="640080"/>
          </a:xfrm>
          <a:prstGeom prst="roundRect">
            <a:avLst>
              <a:gd name="adj" fmla="val 8571"/>
            </a:avLst>
          </a:prstGeom>
          <a:solidFill>
            <a:srgbClr val="D03B3B"/>
          </a:solidFill>
          <a:ln w="12700">
            <a:solidFill>
              <a:srgbClr val="D03B3B"/>
            </a:solidFill>
            <a:prstDash val="solid"/>
          </a:ln>
        </p:spPr>
      </p:sp>
      <p:sp>
        <p:nvSpPr>
          <p:cNvPr id="32" name="Text 28"/>
          <p:cNvSpPr txBox="1"/>
          <p:nvPr/>
        </p:nvSpPr>
        <p:spPr>
          <a:xfrm>
            <a:off x="10607040" y="4389120"/>
            <a:ext cx="978408"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E</a:t>
            </a:r>
            <a:endParaRPr lang="en-US" sz="2000" dirty="0"/>
          </a:p>
          <a:p>
            <a:pPr algn="ctr" indent="0" marL="0">
              <a:buNone/>
            </a:pPr>
            <a:r>
              <a:rPr lang="en-US" sz="1000" dirty="0">
                <a:solidFill>
                  <a:srgbClr val="FFFFFF"/>
                </a:solidFill>
              </a:rPr>
              <a:t>&gt;= 65</a:t>
            </a:r>
            <a:endParaRPr lang="en-US" sz="2000" dirty="0"/>
          </a:p>
        </p:txBody>
      </p:sp>
      <p:sp>
        <p:nvSpPr>
          <p:cNvPr id="33" name="Text 29"/>
          <p:cNvSpPr txBox="1"/>
          <p:nvPr/>
        </p:nvSpPr>
        <p:spPr>
          <a:xfrm>
            <a:off x="6400800" y="5102352"/>
            <a:ext cx="5212080" cy="274320"/>
          </a:xfrm>
          <a:prstGeom prst="rect">
            <a:avLst/>
          </a:prstGeom>
          <a:noFill/>
          <a:ln/>
        </p:spPr>
        <p:txBody>
          <a:bodyPr wrap="square" lIns="0" tIns="0" rIns="0" bIns="0" rtlCol="0" anchor="ctr"/>
          <a:lstStyle/>
          <a:p>
            <a:pPr indent="0" marL="0">
              <a:buNone/>
            </a:pPr>
            <a:r>
              <a:rPr lang="en-US" sz="1150" b="1" dirty="0">
                <a:solidFill>
                  <a:srgbClr val="1B2A41"/>
                </a:solidFill>
              </a:rPr>
              <a:t>Beverages &amp; Cocoa: 0.40×60 + 0.20×40 + 0.25×42 + 0.15×71 = 53  →  D</a:t>
            </a:r>
            <a:endParaRPr lang="en-US" sz="1150" dirty="0"/>
          </a:p>
        </p:txBody>
      </p:sp>
      <p:sp>
        <p:nvSpPr>
          <p:cNvPr id="34" name="Callout"/>
          <p:cNvSpPr/>
          <p:nvPr/>
        </p:nvSpPr>
        <p:spPr>
          <a:xfrm>
            <a:off x="548640" y="5120640"/>
            <a:ext cx="5669280" cy="1188720"/>
          </a:xfrm>
          <a:prstGeom prst="roundRect">
            <a:avLst>
              <a:gd name="adj" fmla="val 6154"/>
            </a:avLst>
          </a:prstGeom>
          <a:solidFill>
            <a:srgbClr val="F2F6FB"/>
          </a:solidFill>
          <a:ln w="12700">
            <a:solidFill>
              <a:srgbClr val="D9E1EC"/>
            </a:solidFill>
            <a:prstDash val="solid"/>
          </a:ln>
        </p:spPr>
      </p:sp>
      <p:sp>
        <p:nvSpPr>
          <p:cNvPr id="35" name="Text 31"/>
          <p:cNvSpPr txBox="1"/>
          <p:nvPr/>
        </p:nvSpPr>
        <p:spPr>
          <a:xfrm>
            <a:off x="731520" y="5230368"/>
            <a:ext cx="5303520" cy="292608"/>
          </a:xfrm>
          <a:prstGeom prst="rect">
            <a:avLst/>
          </a:prstGeom>
          <a:noFill/>
          <a:ln/>
        </p:spPr>
        <p:txBody>
          <a:bodyPr wrap="square" lIns="0" tIns="0" rIns="0" bIns="0" rtlCol="0" anchor="ctr"/>
          <a:lstStyle/>
          <a:p>
            <a:pPr indent="0" marL="0">
              <a:buNone/>
            </a:pPr>
            <a:r>
              <a:rPr lang="en-US" sz="1400" b="1" dirty="0">
                <a:solidFill>
                  <a:schemeClr val="accent1"/>
                </a:solidFill>
              </a:rPr>
              <a:t>Why it matters</a:t>
            </a:r>
            <a:endParaRPr lang="en-US" sz="1400" dirty="0"/>
          </a:p>
        </p:txBody>
      </p:sp>
      <p:sp>
        <p:nvSpPr>
          <p:cNvPr id="36" name="Text 32"/>
          <p:cNvSpPr txBox="1"/>
          <p:nvPr/>
        </p:nvSpPr>
        <p:spPr>
          <a:xfrm>
            <a:off x="731520" y="5577840"/>
            <a:ext cx="5303520" cy="64008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Raises credit alerts in the dashboard.</a:t>
            </a:r>
            <a:endParaRPr lang="en-US" sz="1150" dirty="0"/>
          </a:p>
          <a:p>
            <a:pPr marL="177800" indent="-177800">
              <a:spcAft>
                <a:spcPts val="500"/>
              </a:spcAft>
              <a:buSzPct val="100000"/>
              <a:buChar char="•"/>
            </a:pPr>
            <a:r>
              <a:rPr lang="en-US" sz="1150" dirty="0">
                <a:solidFill>
                  <a:srgbClr val="1B2A41"/>
                </a:solidFill>
              </a:rPr>
              <a:t>Sets pricing rules: C markdown ≤ 5%; D/E no markdown, risk premium, 15 days shorter terms.</a:t>
            </a:r>
            <a:endParaRPr lang="en-US" sz="1150" dirty="0"/>
          </a:p>
        </p:txBody>
      </p:sp>
      <p:sp>
        <p:nvSpPr>
          <p:cNvPr id="37" name="Text 33"/>
          <p:cNvSpPr txBox="1"/>
          <p:nvPr/>
        </p:nvSpPr>
        <p:spPr>
          <a:xfrm>
            <a:off x="6400800" y="5486400"/>
            <a:ext cx="5212080" cy="457200"/>
          </a:xfrm>
          <a:prstGeom prst="rect">
            <a:avLst/>
          </a:prstGeom>
          <a:noFill/>
          <a:ln/>
        </p:spPr>
        <p:txBody>
          <a:bodyPr wrap="square" lIns="0" tIns="0" rIns="0" bIns="0" rtlCol="0" anchor="t"/>
          <a:lstStyle/>
          <a:p>
            <a:pPr indent="0" marL="0">
              <a:buNone/>
            </a:pPr>
            <a:r>
              <a:rPr lang="en-US" sz="1050" i="1" dirty="0">
                <a:solidFill>
                  <a:srgbClr val="5B6B80"/>
                </a:solidFill>
              </a:rPr>
              <a:t>Inputs are scenario assumptions (no customer data): terms, share on credit, delay, default rate per category.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 THE IDEA</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data insights point to one pricing idea</a:t>
            </a:r>
            <a:endParaRPr lang="en-US" sz="3000" dirty="0"/>
          </a:p>
        </p:txBody>
      </p:sp>
      <p:sp>
        <p:nvSpPr>
          <p:cNvPr id="5" name="Insight card"/>
          <p:cNvSpPr/>
          <p:nvPr/>
        </p:nvSpPr>
        <p:spPr>
          <a:xfrm>
            <a:off x="548640" y="1600200"/>
            <a:ext cx="2651760" cy="1325880"/>
          </a:xfrm>
          <a:prstGeom prst="roundRect">
            <a:avLst>
              <a:gd name="adj" fmla="val 5517"/>
            </a:avLst>
          </a:prstGeom>
          <a:solidFill>
            <a:srgbClr val="F2F6FB"/>
          </a:solidFill>
          <a:ln w="12700">
            <a:solidFill>
              <a:srgbClr val="F2F6FB"/>
            </a:solidFill>
            <a:prstDash val="solid"/>
          </a:ln>
        </p:spPr>
      </p:sp>
      <p:sp>
        <p:nvSpPr>
          <p:cNvPr id="6" name="Text 3"/>
          <p:cNvSpPr txBox="1"/>
          <p:nvPr/>
        </p:nvSpPr>
        <p:spPr>
          <a:xfrm>
            <a:off x="73152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1</a:t>
            </a:r>
            <a:endParaRPr lang="en-US" sz="950" dirty="0"/>
          </a:p>
        </p:txBody>
      </p:sp>
      <p:sp>
        <p:nvSpPr>
          <p:cNvPr id="7" name="Text 4"/>
          <p:cNvSpPr txBox="1"/>
          <p:nvPr/>
        </p:nvSpPr>
        <p:spPr>
          <a:xfrm>
            <a:off x="731520" y="1828800"/>
            <a:ext cx="2286000" cy="45720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78%</a:t>
            </a:r>
            <a:endParaRPr lang="en-US" sz="2800" dirty="0"/>
          </a:p>
        </p:txBody>
      </p:sp>
      <p:sp>
        <p:nvSpPr>
          <p:cNvPr id="8" name="Text 5"/>
          <p:cNvSpPr txBox="1"/>
          <p:nvPr/>
        </p:nvSpPr>
        <p:spPr>
          <a:xfrm>
            <a:off x="73152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of forecast product-weeks are scarce: stock cannot cover demand</a:t>
            </a:r>
            <a:endParaRPr lang="en-US" sz="1150" dirty="0"/>
          </a:p>
        </p:txBody>
      </p:sp>
      <p:sp>
        <p:nvSpPr>
          <p:cNvPr id="9" name="Insight card"/>
          <p:cNvSpPr/>
          <p:nvPr/>
        </p:nvSpPr>
        <p:spPr>
          <a:xfrm>
            <a:off x="3337560" y="1600200"/>
            <a:ext cx="2651760" cy="1325880"/>
          </a:xfrm>
          <a:prstGeom prst="roundRect">
            <a:avLst>
              <a:gd name="adj" fmla="val 5517"/>
            </a:avLst>
          </a:prstGeom>
          <a:solidFill>
            <a:srgbClr val="F2F6FB"/>
          </a:solidFill>
          <a:ln w="12700">
            <a:solidFill>
              <a:srgbClr val="F2F6FB"/>
            </a:solidFill>
            <a:prstDash val="solid"/>
          </a:ln>
        </p:spPr>
      </p:sp>
      <p:sp>
        <p:nvSpPr>
          <p:cNvPr id="10" name="Text 7"/>
          <p:cNvSpPr txBox="1"/>
          <p:nvPr/>
        </p:nvSpPr>
        <p:spPr>
          <a:xfrm>
            <a:off x="352044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2</a:t>
            </a:r>
            <a:endParaRPr lang="en-US" sz="950" dirty="0"/>
          </a:p>
        </p:txBody>
      </p:sp>
      <p:sp>
        <p:nvSpPr>
          <p:cNvPr id="11" name="Text 8"/>
          <p:cNvSpPr txBox="1"/>
          <p:nvPr/>
        </p:nvSpPr>
        <p:spPr>
          <a:xfrm>
            <a:off x="3520440" y="1828800"/>
            <a:ext cx="2286000" cy="45720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±25%</a:t>
            </a:r>
            <a:endParaRPr lang="en-US" sz="2800" dirty="0"/>
          </a:p>
        </p:txBody>
      </p:sp>
      <p:sp>
        <p:nvSpPr>
          <p:cNvPr id="12" name="Text 9"/>
          <p:cNvSpPr txBox="1"/>
          <p:nvPr/>
        </p:nvSpPr>
        <p:spPr>
          <a:xfrm>
            <a:off x="352044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yearly demand swing: peak week 13, quiet week 38</a:t>
            </a:r>
            <a:endParaRPr lang="en-US" sz="1150" dirty="0"/>
          </a:p>
        </p:txBody>
      </p:sp>
      <p:sp>
        <p:nvSpPr>
          <p:cNvPr id="13" name="Insight card"/>
          <p:cNvSpPr/>
          <p:nvPr/>
        </p:nvSpPr>
        <p:spPr>
          <a:xfrm>
            <a:off x="6126480" y="1600200"/>
            <a:ext cx="2651760" cy="1325880"/>
          </a:xfrm>
          <a:prstGeom prst="roundRect">
            <a:avLst>
              <a:gd name="adj" fmla="val 5517"/>
            </a:avLst>
          </a:prstGeom>
          <a:solidFill>
            <a:srgbClr val="F2F6FB"/>
          </a:solidFill>
          <a:ln w="12700">
            <a:solidFill>
              <a:srgbClr val="F2F6FB"/>
            </a:solidFill>
            <a:prstDash val="solid"/>
          </a:ln>
        </p:spPr>
      </p:sp>
      <p:sp>
        <p:nvSpPr>
          <p:cNvPr id="14" name="Text 11"/>
          <p:cNvSpPr txBox="1"/>
          <p:nvPr/>
        </p:nvSpPr>
        <p:spPr>
          <a:xfrm>
            <a:off x="630936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3</a:t>
            </a:r>
            <a:endParaRPr lang="en-US" sz="950" dirty="0"/>
          </a:p>
        </p:txBody>
      </p:sp>
      <p:sp>
        <p:nvSpPr>
          <p:cNvPr id="15" name="Text 12"/>
          <p:cNvSpPr txBox="1"/>
          <p:nvPr/>
        </p:nvSpPr>
        <p:spPr>
          <a:xfrm>
            <a:off x="6309360" y="1828800"/>
            <a:ext cx="2286000" cy="45720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$10.8M</a:t>
            </a:r>
            <a:endParaRPr lang="en-US" sz="2800" dirty="0"/>
          </a:p>
        </p:txBody>
      </p:sp>
      <p:sp>
        <p:nvSpPr>
          <p:cNvPr id="16" name="Text 13"/>
          <p:cNvSpPr txBox="1"/>
          <p:nvPr/>
        </p:nvSpPr>
        <p:spPr>
          <a:xfrm>
            <a:off x="630936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tied up in 5 over-stocked products (64 to 370 weeks of stock)</a:t>
            </a:r>
            <a:endParaRPr lang="en-US" sz="1150" dirty="0"/>
          </a:p>
        </p:txBody>
      </p:sp>
      <p:sp>
        <p:nvSpPr>
          <p:cNvPr id="17" name="Insight card"/>
          <p:cNvSpPr/>
          <p:nvPr/>
        </p:nvSpPr>
        <p:spPr>
          <a:xfrm>
            <a:off x="8915400" y="1600200"/>
            <a:ext cx="2651760" cy="1325880"/>
          </a:xfrm>
          <a:prstGeom prst="roundRect">
            <a:avLst>
              <a:gd name="adj" fmla="val 5517"/>
            </a:avLst>
          </a:prstGeom>
          <a:solidFill>
            <a:srgbClr val="F2F6FB"/>
          </a:solidFill>
          <a:ln w="12700">
            <a:solidFill>
              <a:srgbClr val="F2F6FB"/>
            </a:solidFill>
            <a:prstDash val="solid"/>
          </a:ln>
        </p:spPr>
      </p:sp>
      <p:sp>
        <p:nvSpPr>
          <p:cNvPr id="18" name="Text 15"/>
          <p:cNvSpPr txBox="1"/>
          <p:nvPr/>
        </p:nvSpPr>
        <p:spPr>
          <a:xfrm>
            <a:off x="9098280" y="1645920"/>
            <a:ext cx="2286000" cy="201168"/>
          </a:xfrm>
          <a:prstGeom prst="rect">
            <a:avLst/>
          </a:prstGeom>
          <a:noFill/>
          <a:ln/>
        </p:spPr>
        <p:txBody>
          <a:bodyPr wrap="square" lIns="0" tIns="0" rIns="0" bIns="0" rtlCol="0" anchor="ctr"/>
          <a:lstStyle/>
          <a:p>
            <a:pPr indent="0" marL="0">
              <a:buNone/>
            </a:pPr>
            <a:r>
              <a:rPr lang="en-US" sz="950" b="1" spc="100" kern="0" dirty="0">
                <a:solidFill>
                  <a:srgbClr val="5B6B80"/>
                </a:solidFill>
              </a:rPr>
              <a:t>INSIGHT 4</a:t>
            </a:r>
            <a:endParaRPr lang="en-US" sz="950" dirty="0"/>
          </a:p>
        </p:txBody>
      </p:sp>
      <p:sp>
        <p:nvSpPr>
          <p:cNvPr id="19" name="Text 16"/>
          <p:cNvSpPr txBox="1"/>
          <p:nvPr/>
        </p:nvSpPr>
        <p:spPr>
          <a:xfrm>
            <a:off x="9098280" y="1828800"/>
            <a:ext cx="2286000" cy="457200"/>
          </a:xfrm>
          <a:prstGeom prst="rect">
            <a:avLst/>
          </a:prstGeom>
          <a:noFill/>
          <a:ln/>
        </p:spPr>
        <p:txBody>
          <a:bodyPr wrap="square" lIns="0" tIns="0" rIns="0" bIns="0" rtlCol="0" anchor="ctr"/>
          <a:lstStyle/>
          <a:p>
            <a:pPr indent="0" marL="0">
              <a:buNone/>
            </a:pPr>
            <a:r>
              <a:rPr lang="en-US" sz="2800" b="1" dirty="0">
                <a:solidFill>
                  <a:srgbClr val="5B6B80"/>
                </a:solidFill>
                <a:latin typeface="Cambria" pitchFamily="34" charset="0"/>
                <a:ea typeface="Cambria" pitchFamily="34" charset="-122"/>
                <a:cs typeface="Cambria" pitchFamily="34" charset="-120"/>
              </a:rPr>
              <a:t>≈ 0</a:t>
            </a:r>
            <a:endParaRPr lang="en-US" sz="2800" dirty="0"/>
          </a:p>
        </p:txBody>
      </p:sp>
      <p:sp>
        <p:nvSpPr>
          <p:cNvPr id="20" name="Text 17"/>
          <p:cNvSpPr txBox="1"/>
          <p:nvPr/>
        </p:nvSpPr>
        <p:spPr>
          <a:xfrm>
            <a:off x="9098280" y="2304288"/>
            <a:ext cx="2331720" cy="566928"/>
          </a:xfrm>
          <a:prstGeom prst="rect">
            <a:avLst/>
          </a:prstGeom>
          <a:noFill/>
          <a:ln/>
        </p:spPr>
        <p:txBody>
          <a:bodyPr wrap="square" lIns="0" tIns="0" rIns="0" bIns="0" rtlCol="0" anchor="t"/>
          <a:lstStyle/>
          <a:p>
            <a:pPr indent="0" marL="0">
              <a:buNone/>
            </a:pPr>
            <a:r>
              <a:rPr lang="en-US" sz="1150" dirty="0">
                <a:solidFill>
                  <a:srgbClr val="1B2A41"/>
                </a:solidFill>
              </a:rPr>
              <a:t>measurable price effect: -0.017 (range -0.056 to +0.021)</a:t>
            </a:r>
            <a:endParaRPr lang="en-US" sz="1150" dirty="0"/>
          </a:p>
        </p:txBody>
      </p:sp>
      <p:sp>
        <p:nvSpPr>
          <p:cNvPr id="21" name="Idea band"/>
          <p:cNvSpPr/>
          <p:nvPr/>
        </p:nvSpPr>
        <p:spPr>
          <a:xfrm>
            <a:off x="548640" y="3035808"/>
            <a:ext cx="11064240" cy="402336"/>
          </a:xfrm>
          <a:prstGeom prst="rect">
            <a:avLst/>
          </a:prstGeom>
          <a:solidFill>
            <a:srgbClr val="12263F"/>
          </a:solidFill>
          <a:ln w="12700">
            <a:solidFill>
              <a:srgbClr val="12263F"/>
            </a:solidFill>
            <a:prstDash val="solid"/>
          </a:ln>
        </p:spPr>
      </p:sp>
      <p:sp>
        <p:nvSpPr>
          <p:cNvPr id="22" name="Text 19"/>
          <p:cNvSpPr txBox="1"/>
          <p:nvPr/>
        </p:nvSpPr>
        <p:spPr>
          <a:xfrm>
            <a:off x="731520" y="3035808"/>
            <a:ext cx="10698480" cy="402336"/>
          </a:xfrm>
          <a:prstGeom prst="rect">
            <a:avLst/>
          </a:prstGeom>
          <a:noFill/>
          <a:ln/>
        </p:spPr>
        <p:txBody>
          <a:bodyPr wrap="square" lIns="0" tIns="0" rIns="0" bIns="0" rtlCol="0" anchor="ctr"/>
          <a:lstStyle/>
          <a:p>
            <a:pPr indent="0" marL="0">
              <a:buNone/>
            </a:pPr>
            <a:r>
              <a:rPr lang="en-US" sz="1250" b="1" dirty="0">
                <a:solidFill>
                  <a:srgbClr val="FFFFFF"/>
                </a:solidFill>
              </a:rPr>
              <a:t>So the idea:  raise price where stock sells out anyway  ·  ignore unknown price sensitivity  ·  discount only if it pays</a:t>
            </a:r>
            <a:endParaRPr lang="en-US" sz="1250" dirty="0"/>
          </a:p>
        </p:txBody>
      </p:sp>
      <p:graphicFrame>
        <p:nvGraphicFramePr>
          <p:cNvPr id="23" name="Chart 0" descr=""/>
          <p:cNvGraphicFramePr/>
          <p:nvPr/>
        </p:nvGraphicFramePr>
        <p:xfrm>
          <a:off x="548640" y="356616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24" name="State card"/>
          <p:cNvSpPr/>
          <p:nvPr/>
        </p:nvSpPr>
        <p:spPr>
          <a:xfrm>
            <a:off x="6492240" y="3611880"/>
            <a:ext cx="5120640" cy="822960"/>
          </a:xfrm>
          <a:prstGeom prst="roundRect">
            <a:avLst>
              <a:gd name="adj" fmla="val 8889"/>
            </a:avLst>
          </a:prstGeom>
          <a:solidFill>
            <a:srgbClr val="F2F6FB"/>
          </a:solidFill>
          <a:ln w="12700">
            <a:solidFill>
              <a:srgbClr val="F2F6FB"/>
            </a:solidFill>
            <a:prstDash val="solid"/>
          </a:ln>
        </p:spPr>
      </p:sp>
      <p:sp>
        <p:nvSpPr>
          <p:cNvPr id="25" name="State accent"/>
          <p:cNvSpPr/>
          <p:nvPr/>
        </p:nvSpPr>
        <p:spPr>
          <a:xfrm>
            <a:off x="6492240" y="3611880"/>
            <a:ext cx="82296" cy="822960"/>
          </a:xfrm>
          <a:prstGeom prst="rect">
            <a:avLst/>
          </a:prstGeom>
          <a:solidFill>
            <a:srgbClr val="EB6834"/>
          </a:solidFill>
          <a:ln w="12700">
            <a:solidFill>
              <a:srgbClr val="EB6834"/>
            </a:solidFill>
            <a:prstDash val="solid"/>
          </a:ln>
        </p:spPr>
      </p:sp>
      <p:sp>
        <p:nvSpPr>
          <p:cNvPr id="26" name="Text 22"/>
          <p:cNvSpPr txBox="1"/>
          <p:nvPr/>
        </p:nvSpPr>
        <p:spPr>
          <a:xfrm>
            <a:off x="6720840" y="36667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Scarce  78%</a:t>
            </a:r>
            <a:endParaRPr lang="en-US" sz="1400" dirty="0"/>
          </a:p>
        </p:txBody>
      </p:sp>
      <p:sp>
        <p:nvSpPr>
          <p:cNvPr id="27" name="Text 23"/>
          <p:cNvSpPr txBox="1"/>
          <p:nvPr/>
        </p:nvSpPr>
        <p:spPr>
          <a:xfrm>
            <a:off x="6720840" y="3977640"/>
            <a:ext cx="1920240" cy="411480"/>
          </a:xfrm>
          <a:prstGeom prst="rect">
            <a:avLst/>
          </a:prstGeom>
          <a:noFill/>
          <a:ln/>
        </p:spPr>
        <p:txBody>
          <a:bodyPr wrap="square" lIns="0" tIns="0" rIns="0" bIns="0" rtlCol="0" anchor="t"/>
          <a:lstStyle/>
          <a:p>
            <a:pPr indent="0" marL="0">
              <a:buNone/>
            </a:pPr>
            <a:r>
              <a:rPr lang="en-US" sz="1100" dirty="0">
                <a:solidFill>
                  <a:srgbClr val="5B6B80"/>
                </a:solidFill>
              </a:rPr>
              <a:t>demand exceeds stock</a:t>
            </a:r>
            <a:endParaRPr lang="en-US" sz="1100" dirty="0"/>
          </a:p>
        </p:txBody>
      </p:sp>
      <p:sp>
        <p:nvSpPr>
          <p:cNvPr id="28" name="Text 24"/>
          <p:cNvSpPr txBox="1"/>
          <p:nvPr/>
        </p:nvSpPr>
        <p:spPr>
          <a:xfrm>
            <a:off x="8686800" y="36850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raise price up to +8%, only while units sold stay within 1%</a:t>
            </a:r>
            <a:endParaRPr lang="en-US" sz="1200" dirty="0"/>
          </a:p>
        </p:txBody>
      </p:sp>
      <p:sp>
        <p:nvSpPr>
          <p:cNvPr id="29" name="State card"/>
          <p:cNvSpPr/>
          <p:nvPr/>
        </p:nvSpPr>
        <p:spPr>
          <a:xfrm>
            <a:off x="6492240" y="4526280"/>
            <a:ext cx="5120640" cy="822960"/>
          </a:xfrm>
          <a:prstGeom prst="roundRect">
            <a:avLst>
              <a:gd name="adj" fmla="val 8889"/>
            </a:avLst>
          </a:prstGeom>
          <a:solidFill>
            <a:srgbClr val="F2F6FB"/>
          </a:solidFill>
          <a:ln w="12700">
            <a:solidFill>
              <a:srgbClr val="F2F6FB"/>
            </a:solidFill>
            <a:prstDash val="solid"/>
          </a:ln>
        </p:spPr>
      </p:sp>
      <p:sp>
        <p:nvSpPr>
          <p:cNvPr id="30" name="State accent"/>
          <p:cNvSpPr/>
          <p:nvPr/>
        </p:nvSpPr>
        <p:spPr>
          <a:xfrm>
            <a:off x="6492240" y="4526280"/>
            <a:ext cx="82296" cy="822960"/>
          </a:xfrm>
          <a:prstGeom prst="rect">
            <a:avLst/>
          </a:prstGeom>
          <a:solidFill>
            <a:srgbClr val="1BAF7A"/>
          </a:solidFill>
          <a:ln w="12700">
            <a:solidFill>
              <a:srgbClr val="1BAF7A"/>
            </a:solidFill>
            <a:prstDash val="solid"/>
          </a:ln>
        </p:spPr>
      </p:sp>
      <p:sp>
        <p:nvSpPr>
          <p:cNvPr id="31" name="Text 27"/>
          <p:cNvSpPr txBox="1"/>
          <p:nvPr/>
        </p:nvSpPr>
        <p:spPr>
          <a:xfrm>
            <a:off x="6720840" y="45811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Balanced  5%</a:t>
            </a:r>
            <a:endParaRPr lang="en-US" sz="1400" dirty="0"/>
          </a:p>
        </p:txBody>
      </p:sp>
      <p:sp>
        <p:nvSpPr>
          <p:cNvPr id="32" name="Text 28"/>
          <p:cNvSpPr txBox="1"/>
          <p:nvPr/>
        </p:nvSpPr>
        <p:spPr>
          <a:xfrm>
            <a:off x="6720840" y="4892040"/>
            <a:ext cx="1920240" cy="411480"/>
          </a:xfrm>
          <a:prstGeom prst="rect">
            <a:avLst/>
          </a:prstGeom>
          <a:noFill/>
          <a:ln/>
        </p:spPr>
        <p:txBody>
          <a:bodyPr wrap="square" lIns="0" tIns="0" rIns="0" bIns="0" rtlCol="0" anchor="t"/>
          <a:lstStyle/>
          <a:p>
            <a:pPr indent="0" marL="0">
              <a:buNone/>
            </a:pPr>
            <a:r>
              <a:rPr lang="en-US" sz="1100" dirty="0">
                <a:solidFill>
                  <a:srgbClr val="5B6B80"/>
                </a:solidFill>
              </a:rPr>
              <a:t>stock covers demand</a:t>
            </a:r>
            <a:endParaRPr lang="en-US" sz="1100" dirty="0"/>
          </a:p>
        </p:txBody>
      </p:sp>
      <p:sp>
        <p:nvSpPr>
          <p:cNvPr id="33" name="Text 29"/>
          <p:cNvSpPr txBox="1"/>
          <p:nvPr/>
        </p:nvSpPr>
        <p:spPr>
          <a:xfrm>
            <a:off x="8686800" y="45994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hold the price</a:t>
            </a:r>
            <a:endParaRPr lang="en-US" sz="1200" dirty="0"/>
          </a:p>
        </p:txBody>
      </p:sp>
      <p:sp>
        <p:nvSpPr>
          <p:cNvPr id="34" name="State card"/>
          <p:cNvSpPr/>
          <p:nvPr/>
        </p:nvSpPr>
        <p:spPr>
          <a:xfrm>
            <a:off x="6492240" y="5440680"/>
            <a:ext cx="5120640" cy="822960"/>
          </a:xfrm>
          <a:prstGeom prst="roundRect">
            <a:avLst>
              <a:gd name="adj" fmla="val 8889"/>
            </a:avLst>
          </a:prstGeom>
          <a:solidFill>
            <a:srgbClr val="F2F6FB"/>
          </a:solidFill>
          <a:ln w="12700">
            <a:solidFill>
              <a:srgbClr val="F2F6FB"/>
            </a:solidFill>
            <a:prstDash val="solid"/>
          </a:ln>
        </p:spPr>
      </p:sp>
      <p:sp>
        <p:nvSpPr>
          <p:cNvPr id="35" name="State accent"/>
          <p:cNvSpPr/>
          <p:nvPr/>
        </p:nvSpPr>
        <p:spPr>
          <a:xfrm>
            <a:off x="6492240" y="5440680"/>
            <a:ext cx="82296" cy="822960"/>
          </a:xfrm>
          <a:prstGeom prst="rect">
            <a:avLst/>
          </a:prstGeom>
          <a:solidFill>
            <a:srgbClr val="2A78D6"/>
          </a:solidFill>
          <a:ln w="12700">
            <a:solidFill>
              <a:srgbClr val="2A78D6"/>
            </a:solidFill>
            <a:prstDash val="solid"/>
          </a:ln>
        </p:spPr>
      </p:sp>
      <p:sp>
        <p:nvSpPr>
          <p:cNvPr id="36" name="Text 32"/>
          <p:cNvSpPr txBox="1"/>
          <p:nvPr/>
        </p:nvSpPr>
        <p:spPr>
          <a:xfrm>
            <a:off x="6720840" y="5495544"/>
            <a:ext cx="1920240" cy="274320"/>
          </a:xfrm>
          <a:prstGeom prst="rect">
            <a:avLst/>
          </a:prstGeom>
          <a:noFill/>
          <a:ln/>
        </p:spPr>
        <p:txBody>
          <a:bodyPr wrap="square" lIns="0" tIns="0" rIns="0" bIns="0" rtlCol="0" anchor="ctr"/>
          <a:lstStyle/>
          <a:p>
            <a:pPr indent="0" marL="0">
              <a:buNone/>
            </a:pPr>
            <a:r>
              <a:rPr lang="en-US" sz="1400" b="1" dirty="0">
                <a:solidFill>
                  <a:schemeClr val="tx1"/>
                </a:solidFill>
              </a:rPr>
              <a:t>Surplus  17%</a:t>
            </a:r>
            <a:endParaRPr lang="en-US" sz="1400" dirty="0"/>
          </a:p>
        </p:txBody>
      </p:sp>
      <p:sp>
        <p:nvSpPr>
          <p:cNvPr id="37" name="Text 33"/>
          <p:cNvSpPr txBox="1"/>
          <p:nvPr/>
        </p:nvSpPr>
        <p:spPr>
          <a:xfrm>
            <a:off x="6720840" y="5806440"/>
            <a:ext cx="1920240" cy="411480"/>
          </a:xfrm>
          <a:prstGeom prst="rect">
            <a:avLst/>
          </a:prstGeom>
          <a:noFill/>
          <a:ln/>
        </p:spPr>
        <p:txBody>
          <a:bodyPr wrap="square" lIns="0" tIns="0" rIns="0" bIns="0" rtlCol="0" anchor="t"/>
          <a:lstStyle/>
          <a:p>
            <a:pPr indent="0" marL="0">
              <a:buNone/>
            </a:pPr>
            <a:r>
              <a:rPr lang="en-US" sz="1100" dirty="0">
                <a:solidFill>
                  <a:srgbClr val="5B6B80"/>
                </a:solidFill>
              </a:rPr>
              <a:t>over 26 weeks of stock</a:t>
            </a:r>
            <a:endParaRPr lang="en-US" sz="1100" dirty="0"/>
          </a:p>
        </p:txBody>
      </p:sp>
      <p:sp>
        <p:nvSpPr>
          <p:cNvPr id="38" name="Text 34"/>
          <p:cNvSpPr txBox="1"/>
          <p:nvPr/>
        </p:nvSpPr>
        <p:spPr>
          <a:xfrm>
            <a:off x="8686800" y="5513832"/>
            <a:ext cx="2834640" cy="694944"/>
          </a:xfrm>
          <a:prstGeom prst="rect">
            <a:avLst/>
          </a:prstGeom>
          <a:noFill/>
          <a:ln/>
        </p:spPr>
        <p:txBody>
          <a:bodyPr wrap="square" lIns="0" tIns="0" rIns="0" bIns="0" rtlCol="0" anchor="ctr"/>
          <a:lstStyle/>
          <a:p>
            <a:pPr indent="0" marL="0">
              <a:buNone/>
            </a:pPr>
            <a:r>
              <a:rPr lang="en-US" sz="1200" dirty="0">
                <a:solidFill>
                  <a:srgbClr val="1B2A41"/>
                </a:solidFill>
              </a:rPr>
              <a:t>markdown only if profit rises; otherwise fix purchasing</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THE PRICING ENGINE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From forecast to price in five steps</a:t>
            </a:r>
            <a:endParaRPr lang="en-US" sz="3000" dirty="0"/>
          </a:p>
        </p:txBody>
      </p:sp>
      <p:sp>
        <p:nvSpPr>
          <p:cNvPr id="5" name="Text 2"/>
          <p:cNvSpPr txBox="1"/>
          <p:nvPr/>
        </p:nvSpPr>
        <p:spPr>
          <a:xfrm>
            <a:off x="548640" y="1572768"/>
            <a:ext cx="1828800" cy="228600"/>
          </a:xfrm>
          <a:prstGeom prst="rect">
            <a:avLst/>
          </a:prstGeom>
          <a:noFill/>
          <a:ln/>
        </p:spPr>
        <p:txBody>
          <a:bodyPr wrap="square" lIns="0" tIns="0" rIns="0" bIns="0" rtlCol="0" anchor="ctr"/>
          <a:lstStyle/>
          <a:p>
            <a:pPr indent="0" marL="0">
              <a:buNone/>
            </a:pPr>
            <a:r>
              <a:rPr lang="en-US" sz="1050" b="1" spc="200" kern="0" dirty="0">
                <a:solidFill>
                  <a:srgbClr val="5B6B80"/>
                </a:solidFill>
              </a:rPr>
              <a:t>INPUTS</a:t>
            </a:r>
            <a:endParaRPr lang="en-US" sz="1050" dirty="0"/>
          </a:p>
        </p:txBody>
      </p:sp>
      <p:sp>
        <p:nvSpPr>
          <p:cNvPr id="6" name="Input chip"/>
          <p:cNvSpPr/>
          <p:nvPr/>
        </p:nvSpPr>
        <p:spPr>
          <a:xfrm>
            <a:off x="548640" y="1828800"/>
            <a:ext cx="2651760" cy="594360"/>
          </a:xfrm>
          <a:prstGeom prst="roundRect">
            <a:avLst>
              <a:gd name="adj" fmla="val 9231"/>
            </a:avLst>
          </a:prstGeom>
          <a:solidFill>
            <a:srgbClr val="F2F6FB"/>
          </a:solidFill>
          <a:ln w="12700">
            <a:solidFill>
              <a:srgbClr val="D9E1EC"/>
            </a:solidFill>
            <a:prstDash val="solid"/>
          </a:ln>
        </p:spPr>
      </p:sp>
      <p:sp>
        <p:nvSpPr>
          <p:cNvPr id="7" name="Text 4"/>
          <p:cNvSpPr txBox="1"/>
          <p:nvPr/>
        </p:nvSpPr>
        <p:spPr>
          <a:xfrm>
            <a:off x="68580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Forecast demand</a:t>
            </a:r>
            <a:endParaRPr lang="en-US" sz="1250" dirty="0"/>
          </a:p>
          <a:p>
            <a:pPr indent="0" marL="0">
              <a:buNone/>
            </a:pPr>
            <a:r>
              <a:rPr lang="en-US" sz="1050" dirty="0">
                <a:solidFill>
                  <a:srgbClr val="5B6B80"/>
                </a:solidFill>
              </a:rPr>
              <a:t>26 weeks, with P10-P90</a:t>
            </a:r>
            <a:endParaRPr lang="en-US" sz="1250" dirty="0"/>
          </a:p>
        </p:txBody>
      </p:sp>
      <p:sp>
        <p:nvSpPr>
          <p:cNvPr id="8" name="Input chip"/>
          <p:cNvSpPr/>
          <p:nvPr/>
        </p:nvSpPr>
        <p:spPr>
          <a:xfrm>
            <a:off x="3337560" y="1828800"/>
            <a:ext cx="2651760" cy="594360"/>
          </a:xfrm>
          <a:prstGeom prst="roundRect">
            <a:avLst>
              <a:gd name="adj" fmla="val 9231"/>
            </a:avLst>
          </a:prstGeom>
          <a:solidFill>
            <a:srgbClr val="F2F6FB"/>
          </a:solidFill>
          <a:ln w="12700">
            <a:solidFill>
              <a:srgbClr val="D9E1EC"/>
            </a:solidFill>
            <a:prstDash val="solid"/>
          </a:ln>
        </p:spPr>
      </p:sp>
      <p:sp>
        <p:nvSpPr>
          <p:cNvPr id="9" name="Text 6"/>
          <p:cNvSpPr txBox="1"/>
          <p:nvPr/>
        </p:nvSpPr>
        <p:spPr>
          <a:xfrm>
            <a:off x="347472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Stock available</a:t>
            </a:r>
            <a:endParaRPr lang="en-US" sz="1250" dirty="0"/>
          </a:p>
          <a:p>
            <a:pPr indent="0" marL="0">
              <a:buNone/>
            </a:pPr>
            <a:r>
              <a:rPr lang="en-US" sz="1050" dirty="0">
                <a:solidFill>
                  <a:srgbClr val="5B6B80"/>
                </a:solidFill>
              </a:rPr>
              <a:t>from each product's history</a:t>
            </a:r>
            <a:endParaRPr lang="en-US" sz="1250" dirty="0"/>
          </a:p>
        </p:txBody>
      </p:sp>
      <p:sp>
        <p:nvSpPr>
          <p:cNvPr id="10" name="Input chip"/>
          <p:cNvSpPr/>
          <p:nvPr/>
        </p:nvSpPr>
        <p:spPr>
          <a:xfrm>
            <a:off x="6126480" y="1828800"/>
            <a:ext cx="2651760" cy="594360"/>
          </a:xfrm>
          <a:prstGeom prst="roundRect">
            <a:avLst>
              <a:gd name="adj" fmla="val 9231"/>
            </a:avLst>
          </a:prstGeom>
          <a:solidFill>
            <a:srgbClr val="F2F6FB"/>
          </a:solidFill>
          <a:ln w="12700">
            <a:solidFill>
              <a:srgbClr val="D9E1EC"/>
            </a:solidFill>
            <a:prstDash val="solid"/>
          </a:ln>
        </p:spPr>
      </p:sp>
      <p:sp>
        <p:nvSpPr>
          <p:cNvPr id="11" name="Text 8"/>
          <p:cNvSpPr txBox="1"/>
          <p:nvPr/>
        </p:nvSpPr>
        <p:spPr>
          <a:xfrm>
            <a:off x="626364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Season</a:t>
            </a:r>
            <a:endParaRPr lang="en-US" sz="1250" dirty="0"/>
          </a:p>
          <a:p>
            <a:pPr indent="0" marL="0">
              <a:buNone/>
            </a:pPr>
            <a:r>
              <a:rPr lang="en-US" sz="1050" dirty="0">
                <a:solidFill>
                  <a:srgbClr val="5B6B80"/>
                </a:solidFill>
              </a:rPr>
              <a:t>peak / normal / off-peak</a:t>
            </a:r>
            <a:endParaRPr lang="en-US" sz="1250" dirty="0"/>
          </a:p>
        </p:txBody>
      </p:sp>
      <p:sp>
        <p:nvSpPr>
          <p:cNvPr id="12" name="Input chip"/>
          <p:cNvSpPr/>
          <p:nvPr/>
        </p:nvSpPr>
        <p:spPr>
          <a:xfrm>
            <a:off x="8915400" y="1828800"/>
            <a:ext cx="2651760" cy="594360"/>
          </a:xfrm>
          <a:prstGeom prst="roundRect">
            <a:avLst>
              <a:gd name="adj" fmla="val 9231"/>
            </a:avLst>
          </a:prstGeom>
          <a:solidFill>
            <a:srgbClr val="F2F6FB"/>
          </a:solidFill>
          <a:ln w="12700">
            <a:solidFill>
              <a:srgbClr val="D9E1EC"/>
            </a:solidFill>
            <a:prstDash val="solid"/>
          </a:ln>
        </p:spPr>
      </p:sp>
      <p:sp>
        <p:nvSpPr>
          <p:cNvPr id="13" name="Text 10"/>
          <p:cNvSpPr txBox="1"/>
          <p:nvPr/>
        </p:nvSpPr>
        <p:spPr>
          <a:xfrm>
            <a:off x="9052560" y="1828800"/>
            <a:ext cx="2377440" cy="594360"/>
          </a:xfrm>
          <a:prstGeom prst="rect">
            <a:avLst/>
          </a:prstGeom>
          <a:noFill/>
          <a:ln/>
        </p:spPr>
        <p:txBody>
          <a:bodyPr wrap="square" lIns="0" tIns="0" rIns="0" bIns="0" rtlCol="0" anchor="ctr"/>
          <a:lstStyle/>
          <a:p>
            <a:pPr indent="0" marL="0">
              <a:buNone/>
            </a:pPr>
            <a:r>
              <a:rPr lang="en-US" sz="1250" b="1" dirty="0">
                <a:solidFill>
                  <a:schemeClr val="tx1"/>
                </a:solidFill>
              </a:rPr>
              <a:t>Credit rating</a:t>
            </a:r>
            <a:endParaRPr lang="en-US" sz="1250" dirty="0"/>
          </a:p>
          <a:p>
            <a:pPr indent="0" marL="0">
              <a:buNone/>
            </a:pPr>
            <a:r>
              <a:rPr lang="en-US" sz="1050" dirty="0">
                <a:solidFill>
                  <a:srgbClr val="5B6B80"/>
                </a:solidFill>
              </a:rPr>
              <a:t>A to E per category</a:t>
            </a:r>
            <a:endParaRPr lang="en-US" sz="1250" dirty="0"/>
          </a:p>
        </p:txBody>
      </p:sp>
      <p:sp>
        <p:nvSpPr>
          <p:cNvPr id="14" name="Flow arrow"/>
          <p:cNvSpPr/>
          <p:nvPr/>
        </p:nvSpPr>
        <p:spPr>
          <a:xfrm>
            <a:off x="6080760" y="2468880"/>
            <a:ext cx="0" cy="274320"/>
          </a:xfrm>
          <a:prstGeom prst="line">
            <a:avLst/>
          </a:prstGeom>
          <a:noFill/>
          <a:ln w="19050">
            <a:solidFill>
              <a:srgbClr val="8A8F98"/>
            </a:solidFill>
            <a:prstDash val="solid"/>
            <a:tailEnd type="triangle"/>
          </a:ln>
        </p:spPr>
      </p:sp>
      <p:sp>
        <p:nvSpPr>
          <p:cNvPr id="15" name="Step card"/>
          <p:cNvSpPr/>
          <p:nvPr/>
        </p:nvSpPr>
        <p:spPr>
          <a:xfrm>
            <a:off x="548640" y="2788920"/>
            <a:ext cx="2103120" cy="2103120"/>
          </a:xfrm>
          <a:prstGeom prst="roundRect">
            <a:avLst>
              <a:gd name="adj" fmla="val 3478"/>
            </a:avLst>
          </a:prstGeom>
          <a:solidFill>
            <a:srgbClr val="F2F6FB"/>
          </a:solidFill>
          <a:ln w="12700">
            <a:solidFill>
              <a:srgbClr val="F2F6FB"/>
            </a:solidFill>
            <a:prstDash val="solid"/>
          </a:ln>
        </p:spPr>
      </p:sp>
      <p:sp>
        <p:nvSpPr>
          <p:cNvPr id="16" name="Step number"/>
          <p:cNvSpPr/>
          <p:nvPr/>
        </p:nvSpPr>
        <p:spPr>
          <a:xfrm>
            <a:off x="685800" y="2898648"/>
            <a:ext cx="384048" cy="384048"/>
          </a:xfrm>
          <a:prstGeom prst="ellipse">
            <a:avLst/>
          </a:prstGeom>
          <a:solidFill>
            <a:srgbClr val="2A78D6"/>
          </a:solidFill>
          <a:ln w="12700">
            <a:solidFill>
              <a:srgbClr val="FFFFFF"/>
            </a:solidFill>
            <a:prstDash val="solid"/>
          </a:ln>
        </p:spPr>
      </p:sp>
      <p:sp>
        <p:nvSpPr>
          <p:cNvPr id="17" name="Text 14"/>
          <p:cNvSpPr txBox="1"/>
          <p:nvPr/>
        </p:nvSpPr>
        <p:spPr>
          <a:xfrm>
            <a:off x="68580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8" name="Text 15"/>
          <p:cNvSpPr txBox="1"/>
          <p:nvPr/>
        </p:nvSpPr>
        <p:spPr>
          <a:xfrm>
            <a:off x="114300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Scarcity premium</a:t>
            </a:r>
            <a:endParaRPr lang="en-US" sz="1300" dirty="0"/>
          </a:p>
        </p:txBody>
      </p:sp>
      <p:sp>
        <p:nvSpPr>
          <p:cNvPr id="19" name="Text 16"/>
          <p:cNvSpPr txBox="1"/>
          <p:nvPr/>
        </p:nvSpPr>
        <p:spPr>
          <a:xfrm>
            <a:off x="68580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Demand above stock? The product sells out anyway, so raise the price.</a:t>
            </a:r>
            <a:endParaRPr lang="en-US" sz="1150" dirty="0"/>
          </a:p>
        </p:txBody>
      </p:sp>
      <p:sp>
        <p:nvSpPr>
          <p:cNvPr id="20" name="Effect chip"/>
          <p:cNvSpPr/>
          <p:nvPr/>
        </p:nvSpPr>
        <p:spPr>
          <a:xfrm>
            <a:off x="685800" y="4434840"/>
            <a:ext cx="1828800" cy="310896"/>
          </a:xfrm>
          <a:prstGeom prst="roundRect">
            <a:avLst>
              <a:gd name="adj" fmla="val 14706"/>
            </a:avLst>
          </a:prstGeom>
          <a:solidFill>
            <a:srgbClr val="2A78D6"/>
          </a:solidFill>
          <a:ln w="12700">
            <a:solidFill>
              <a:srgbClr val="2A78D6"/>
            </a:solidFill>
            <a:prstDash val="solid"/>
          </a:ln>
        </p:spPr>
      </p:sp>
      <p:sp>
        <p:nvSpPr>
          <p:cNvPr id="21" name="Text 18"/>
          <p:cNvSpPr txBox="1"/>
          <p:nvPr/>
        </p:nvSpPr>
        <p:spPr>
          <a:xfrm>
            <a:off x="68580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+8%</a:t>
            </a:r>
            <a:endParaRPr lang="en-US" sz="1100" dirty="0"/>
          </a:p>
        </p:txBody>
      </p:sp>
      <p:sp>
        <p:nvSpPr>
          <p:cNvPr id="22" name="Flow arrow"/>
          <p:cNvSpPr/>
          <p:nvPr/>
        </p:nvSpPr>
        <p:spPr>
          <a:xfrm>
            <a:off x="2651760" y="3840480"/>
            <a:ext cx="137160" cy="0"/>
          </a:xfrm>
          <a:prstGeom prst="line">
            <a:avLst/>
          </a:prstGeom>
          <a:noFill/>
          <a:ln w="19050">
            <a:solidFill>
              <a:srgbClr val="8A8F98"/>
            </a:solidFill>
            <a:prstDash val="solid"/>
            <a:tailEnd type="triangle"/>
          </a:ln>
        </p:spPr>
      </p:sp>
      <p:sp>
        <p:nvSpPr>
          <p:cNvPr id="23" name="Step card"/>
          <p:cNvSpPr/>
          <p:nvPr/>
        </p:nvSpPr>
        <p:spPr>
          <a:xfrm>
            <a:off x="2788920" y="2788920"/>
            <a:ext cx="2103120" cy="2103120"/>
          </a:xfrm>
          <a:prstGeom prst="roundRect">
            <a:avLst>
              <a:gd name="adj" fmla="val 3478"/>
            </a:avLst>
          </a:prstGeom>
          <a:solidFill>
            <a:srgbClr val="F2F6FB"/>
          </a:solidFill>
          <a:ln w="12700">
            <a:solidFill>
              <a:srgbClr val="F2F6FB"/>
            </a:solidFill>
            <a:prstDash val="solid"/>
          </a:ln>
        </p:spPr>
      </p:sp>
      <p:sp>
        <p:nvSpPr>
          <p:cNvPr id="24" name="Step number"/>
          <p:cNvSpPr/>
          <p:nvPr/>
        </p:nvSpPr>
        <p:spPr>
          <a:xfrm>
            <a:off x="2926080" y="2898648"/>
            <a:ext cx="384048" cy="384048"/>
          </a:xfrm>
          <a:prstGeom prst="ellipse">
            <a:avLst/>
          </a:prstGeom>
          <a:solidFill>
            <a:srgbClr val="1BAF7A"/>
          </a:solidFill>
          <a:ln w="12700">
            <a:solidFill>
              <a:srgbClr val="FFFFFF"/>
            </a:solidFill>
            <a:prstDash val="solid"/>
          </a:ln>
        </p:spPr>
      </p:sp>
      <p:sp>
        <p:nvSpPr>
          <p:cNvPr id="25" name="Text 22"/>
          <p:cNvSpPr txBox="1"/>
          <p:nvPr/>
        </p:nvSpPr>
        <p:spPr>
          <a:xfrm>
            <a:off x="292608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6" name="Text 23"/>
          <p:cNvSpPr txBox="1"/>
          <p:nvPr/>
        </p:nvSpPr>
        <p:spPr>
          <a:xfrm>
            <a:off x="338328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Sell-out protection</a:t>
            </a:r>
            <a:endParaRPr lang="en-US" sz="1300" dirty="0"/>
          </a:p>
        </p:txBody>
      </p:sp>
      <p:sp>
        <p:nvSpPr>
          <p:cNvPr id="27" name="Text 24"/>
          <p:cNvSpPr txBox="1"/>
          <p:nvPr/>
        </p:nvSpPr>
        <p:spPr>
          <a:xfrm>
            <a:off x="292608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Cap the rise so that units sold stay within 1% of today's.</a:t>
            </a:r>
            <a:endParaRPr lang="en-US" sz="1150" dirty="0"/>
          </a:p>
        </p:txBody>
      </p:sp>
      <p:sp>
        <p:nvSpPr>
          <p:cNvPr id="28" name="Effect chip"/>
          <p:cNvSpPr/>
          <p:nvPr/>
        </p:nvSpPr>
        <p:spPr>
          <a:xfrm>
            <a:off x="2926080" y="4434840"/>
            <a:ext cx="1828800" cy="310896"/>
          </a:xfrm>
          <a:prstGeom prst="roundRect">
            <a:avLst>
              <a:gd name="adj" fmla="val 14706"/>
            </a:avLst>
          </a:prstGeom>
          <a:solidFill>
            <a:srgbClr val="1BAF7A"/>
          </a:solidFill>
          <a:ln w="12700">
            <a:solidFill>
              <a:srgbClr val="1BAF7A"/>
            </a:solidFill>
            <a:prstDash val="solid"/>
          </a:ln>
        </p:spPr>
      </p:sp>
      <p:sp>
        <p:nvSpPr>
          <p:cNvPr id="29" name="Text 26"/>
          <p:cNvSpPr txBox="1"/>
          <p:nvPr/>
        </p:nvSpPr>
        <p:spPr>
          <a:xfrm>
            <a:off x="292608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limits step 1</a:t>
            </a:r>
            <a:endParaRPr lang="en-US" sz="1100" dirty="0"/>
          </a:p>
        </p:txBody>
      </p:sp>
      <p:sp>
        <p:nvSpPr>
          <p:cNvPr id="30" name="Flow arrow"/>
          <p:cNvSpPr/>
          <p:nvPr/>
        </p:nvSpPr>
        <p:spPr>
          <a:xfrm>
            <a:off x="4892040" y="3840480"/>
            <a:ext cx="137160" cy="0"/>
          </a:xfrm>
          <a:prstGeom prst="line">
            <a:avLst/>
          </a:prstGeom>
          <a:noFill/>
          <a:ln w="19050">
            <a:solidFill>
              <a:srgbClr val="8A8F98"/>
            </a:solidFill>
            <a:prstDash val="solid"/>
            <a:tailEnd type="triangle"/>
          </a:ln>
        </p:spPr>
      </p:sp>
      <p:sp>
        <p:nvSpPr>
          <p:cNvPr id="31" name="Step card"/>
          <p:cNvSpPr/>
          <p:nvPr/>
        </p:nvSpPr>
        <p:spPr>
          <a:xfrm>
            <a:off x="5029200" y="2788920"/>
            <a:ext cx="2103120" cy="2103120"/>
          </a:xfrm>
          <a:prstGeom prst="roundRect">
            <a:avLst>
              <a:gd name="adj" fmla="val 3478"/>
            </a:avLst>
          </a:prstGeom>
          <a:solidFill>
            <a:srgbClr val="F2F6FB"/>
          </a:solidFill>
          <a:ln w="12700">
            <a:solidFill>
              <a:srgbClr val="F2F6FB"/>
            </a:solidFill>
            <a:prstDash val="solid"/>
          </a:ln>
        </p:spPr>
      </p:sp>
      <p:sp>
        <p:nvSpPr>
          <p:cNvPr id="32" name="Step number"/>
          <p:cNvSpPr/>
          <p:nvPr/>
        </p:nvSpPr>
        <p:spPr>
          <a:xfrm>
            <a:off x="5166360" y="2898648"/>
            <a:ext cx="384048" cy="384048"/>
          </a:xfrm>
          <a:prstGeom prst="ellipse">
            <a:avLst/>
          </a:prstGeom>
          <a:solidFill>
            <a:srgbClr val="EB6834"/>
          </a:solidFill>
          <a:ln w="12700">
            <a:solidFill>
              <a:srgbClr val="FFFFFF"/>
            </a:solidFill>
            <a:prstDash val="solid"/>
          </a:ln>
        </p:spPr>
      </p:sp>
      <p:sp>
        <p:nvSpPr>
          <p:cNvPr id="33" name="Text 30"/>
          <p:cNvSpPr txBox="1"/>
          <p:nvPr/>
        </p:nvSpPr>
        <p:spPr>
          <a:xfrm>
            <a:off x="516636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34" name="Text 31"/>
          <p:cNvSpPr txBox="1"/>
          <p:nvPr/>
        </p:nvSpPr>
        <p:spPr>
          <a:xfrm>
            <a:off x="562356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Surplus markdown</a:t>
            </a:r>
            <a:endParaRPr lang="en-US" sz="1300" dirty="0"/>
          </a:p>
        </p:txBody>
      </p:sp>
      <p:sp>
        <p:nvSpPr>
          <p:cNvPr id="35" name="Text 32"/>
          <p:cNvSpPr txBox="1"/>
          <p:nvPr/>
        </p:nvSpPr>
        <p:spPr>
          <a:xfrm>
            <a:off x="516636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Over 26 weeks of stock? Discount, but only if profit rises.</a:t>
            </a:r>
            <a:endParaRPr lang="en-US" sz="1150" dirty="0"/>
          </a:p>
        </p:txBody>
      </p:sp>
      <p:sp>
        <p:nvSpPr>
          <p:cNvPr id="36" name="Effect chip"/>
          <p:cNvSpPr/>
          <p:nvPr/>
        </p:nvSpPr>
        <p:spPr>
          <a:xfrm>
            <a:off x="5166360" y="4434840"/>
            <a:ext cx="1828800" cy="310896"/>
          </a:xfrm>
          <a:prstGeom prst="roundRect">
            <a:avLst>
              <a:gd name="adj" fmla="val 14706"/>
            </a:avLst>
          </a:prstGeom>
          <a:solidFill>
            <a:srgbClr val="EB6834"/>
          </a:solidFill>
          <a:ln w="12700">
            <a:solidFill>
              <a:srgbClr val="EB6834"/>
            </a:solidFill>
            <a:prstDash val="solid"/>
          </a:ln>
        </p:spPr>
      </p:sp>
      <p:sp>
        <p:nvSpPr>
          <p:cNvPr id="37" name="Text 34"/>
          <p:cNvSpPr txBox="1"/>
          <p:nvPr/>
        </p:nvSpPr>
        <p:spPr>
          <a:xfrm>
            <a:off x="516636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0% to -10%</a:t>
            </a:r>
            <a:endParaRPr lang="en-US" sz="1100" dirty="0"/>
          </a:p>
        </p:txBody>
      </p:sp>
      <p:sp>
        <p:nvSpPr>
          <p:cNvPr id="38" name="Flow arrow"/>
          <p:cNvSpPr/>
          <p:nvPr/>
        </p:nvSpPr>
        <p:spPr>
          <a:xfrm>
            <a:off x="7132320" y="3840480"/>
            <a:ext cx="137160" cy="0"/>
          </a:xfrm>
          <a:prstGeom prst="line">
            <a:avLst/>
          </a:prstGeom>
          <a:noFill/>
          <a:ln w="19050">
            <a:solidFill>
              <a:srgbClr val="8A8F98"/>
            </a:solidFill>
            <a:prstDash val="solid"/>
            <a:tailEnd type="triangle"/>
          </a:ln>
        </p:spPr>
      </p:sp>
      <p:sp>
        <p:nvSpPr>
          <p:cNvPr id="39" name="Step card"/>
          <p:cNvSpPr/>
          <p:nvPr/>
        </p:nvSpPr>
        <p:spPr>
          <a:xfrm>
            <a:off x="7269480" y="2788920"/>
            <a:ext cx="2103120" cy="2103120"/>
          </a:xfrm>
          <a:prstGeom prst="roundRect">
            <a:avLst>
              <a:gd name="adj" fmla="val 3478"/>
            </a:avLst>
          </a:prstGeom>
          <a:solidFill>
            <a:srgbClr val="F2F6FB"/>
          </a:solidFill>
          <a:ln w="12700">
            <a:solidFill>
              <a:srgbClr val="F2F6FB"/>
            </a:solidFill>
            <a:prstDash val="solid"/>
          </a:ln>
        </p:spPr>
      </p:sp>
      <p:sp>
        <p:nvSpPr>
          <p:cNvPr id="40" name="Step number"/>
          <p:cNvSpPr/>
          <p:nvPr/>
        </p:nvSpPr>
        <p:spPr>
          <a:xfrm>
            <a:off x="7406640" y="2898648"/>
            <a:ext cx="384048" cy="384048"/>
          </a:xfrm>
          <a:prstGeom prst="ellipse">
            <a:avLst/>
          </a:prstGeom>
          <a:solidFill>
            <a:srgbClr val="D03B3B"/>
          </a:solidFill>
          <a:ln w="12700">
            <a:solidFill>
              <a:srgbClr val="FFFFFF"/>
            </a:solidFill>
            <a:prstDash val="solid"/>
          </a:ln>
        </p:spPr>
      </p:sp>
      <p:sp>
        <p:nvSpPr>
          <p:cNvPr id="41" name="Text 38"/>
          <p:cNvSpPr txBox="1"/>
          <p:nvPr/>
        </p:nvSpPr>
        <p:spPr>
          <a:xfrm>
            <a:off x="740664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42" name="Text 39"/>
          <p:cNvSpPr txBox="1"/>
          <p:nvPr/>
        </p:nvSpPr>
        <p:spPr>
          <a:xfrm>
            <a:off x="786384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Credit risk</a:t>
            </a:r>
            <a:endParaRPr lang="en-US" sz="1300" dirty="0"/>
          </a:p>
        </p:txBody>
      </p:sp>
      <p:sp>
        <p:nvSpPr>
          <p:cNvPr id="43" name="Text 40"/>
          <p:cNvSpPr txBox="1"/>
          <p:nvPr/>
        </p:nvSpPr>
        <p:spPr>
          <a:xfrm>
            <a:off x="740664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Risky payers (D/E): no discount, pay a risk premium.</a:t>
            </a:r>
            <a:endParaRPr lang="en-US" sz="1150" dirty="0"/>
          </a:p>
        </p:txBody>
      </p:sp>
      <p:sp>
        <p:nvSpPr>
          <p:cNvPr id="44" name="Effect chip"/>
          <p:cNvSpPr/>
          <p:nvPr/>
        </p:nvSpPr>
        <p:spPr>
          <a:xfrm>
            <a:off x="7406640" y="4434840"/>
            <a:ext cx="1828800" cy="310896"/>
          </a:xfrm>
          <a:prstGeom prst="roundRect">
            <a:avLst>
              <a:gd name="adj" fmla="val 14706"/>
            </a:avLst>
          </a:prstGeom>
          <a:solidFill>
            <a:srgbClr val="D03B3B"/>
          </a:solidFill>
          <a:ln w="12700">
            <a:solidFill>
              <a:srgbClr val="D03B3B"/>
            </a:solidFill>
            <a:prstDash val="solid"/>
          </a:ln>
        </p:spPr>
      </p:sp>
      <p:sp>
        <p:nvSpPr>
          <p:cNvPr id="45" name="Text 42"/>
          <p:cNvSpPr txBox="1"/>
          <p:nvPr/>
        </p:nvSpPr>
        <p:spPr>
          <a:xfrm>
            <a:off x="740664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+2.5% for D</a:t>
            </a:r>
            <a:endParaRPr lang="en-US" sz="1100" dirty="0"/>
          </a:p>
        </p:txBody>
      </p:sp>
      <p:sp>
        <p:nvSpPr>
          <p:cNvPr id="46" name="Flow arrow"/>
          <p:cNvSpPr/>
          <p:nvPr/>
        </p:nvSpPr>
        <p:spPr>
          <a:xfrm>
            <a:off x="9372600" y="3840480"/>
            <a:ext cx="137160" cy="0"/>
          </a:xfrm>
          <a:prstGeom prst="line">
            <a:avLst/>
          </a:prstGeom>
          <a:noFill/>
          <a:ln w="19050">
            <a:solidFill>
              <a:srgbClr val="8A8F98"/>
            </a:solidFill>
            <a:prstDash val="solid"/>
            <a:tailEnd type="triangle"/>
          </a:ln>
        </p:spPr>
      </p:sp>
      <p:sp>
        <p:nvSpPr>
          <p:cNvPr id="47" name="Step card"/>
          <p:cNvSpPr/>
          <p:nvPr/>
        </p:nvSpPr>
        <p:spPr>
          <a:xfrm>
            <a:off x="9509760" y="2788920"/>
            <a:ext cx="2103120" cy="2103120"/>
          </a:xfrm>
          <a:prstGeom prst="roundRect">
            <a:avLst>
              <a:gd name="adj" fmla="val 3478"/>
            </a:avLst>
          </a:prstGeom>
          <a:solidFill>
            <a:srgbClr val="F2F6FB"/>
          </a:solidFill>
          <a:ln w="12700">
            <a:solidFill>
              <a:srgbClr val="F2F6FB"/>
            </a:solidFill>
            <a:prstDash val="solid"/>
          </a:ln>
        </p:spPr>
      </p:sp>
      <p:sp>
        <p:nvSpPr>
          <p:cNvPr id="48" name="Step number"/>
          <p:cNvSpPr/>
          <p:nvPr/>
        </p:nvSpPr>
        <p:spPr>
          <a:xfrm>
            <a:off x="9646920" y="2898648"/>
            <a:ext cx="384048" cy="384048"/>
          </a:xfrm>
          <a:prstGeom prst="ellipse">
            <a:avLst/>
          </a:prstGeom>
          <a:solidFill>
            <a:srgbClr val="8A8F98"/>
          </a:solidFill>
          <a:ln w="12700">
            <a:solidFill>
              <a:srgbClr val="FFFFFF"/>
            </a:solidFill>
            <a:prstDash val="solid"/>
          </a:ln>
        </p:spPr>
      </p:sp>
      <p:sp>
        <p:nvSpPr>
          <p:cNvPr id="49" name="Text 46"/>
          <p:cNvSpPr txBox="1"/>
          <p:nvPr/>
        </p:nvSpPr>
        <p:spPr>
          <a:xfrm>
            <a:off x="9646920" y="2898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50" name="Text 47"/>
          <p:cNvSpPr txBox="1"/>
          <p:nvPr/>
        </p:nvSpPr>
        <p:spPr>
          <a:xfrm>
            <a:off x="10104120" y="2898648"/>
            <a:ext cx="1463040" cy="384048"/>
          </a:xfrm>
          <a:prstGeom prst="rect">
            <a:avLst/>
          </a:prstGeom>
          <a:noFill/>
          <a:ln/>
        </p:spPr>
        <p:txBody>
          <a:bodyPr wrap="square" lIns="0" tIns="0" rIns="0" bIns="0" rtlCol="0" anchor="ctr"/>
          <a:lstStyle/>
          <a:p>
            <a:pPr indent="0" marL="0">
              <a:buNone/>
            </a:pPr>
            <a:r>
              <a:rPr lang="en-US" sz="1300" b="1" dirty="0">
                <a:solidFill>
                  <a:schemeClr val="tx1"/>
                </a:solidFill>
              </a:rPr>
              <a:t>Guardrails</a:t>
            </a:r>
            <a:endParaRPr lang="en-US" sz="1300" dirty="0"/>
          </a:p>
        </p:txBody>
      </p:sp>
      <p:sp>
        <p:nvSpPr>
          <p:cNvPr id="51" name="Text 48"/>
          <p:cNvSpPr txBox="1"/>
          <p:nvPr/>
        </p:nvSpPr>
        <p:spPr>
          <a:xfrm>
            <a:off x="9646920" y="3401568"/>
            <a:ext cx="1828800" cy="914400"/>
          </a:xfrm>
          <a:prstGeom prst="rect">
            <a:avLst/>
          </a:prstGeom>
          <a:noFill/>
          <a:ln/>
        </p:spPr>
        <p:txBody>
          <a:bodyPr wrap="square" lIns="0" tIns="0" rIns="0" bIns="0" rtlCol="0" anchor="t"/>
          <a:lstStyle/>
          <a:p>
            <a:pPr indent="0" marL="0">
              <a:buNone/>
            </a:pPr>
            <a:r>
              <a:rPr lang="en-US" sz="1150" dirty="0">
                <a:solidFill>
                  <a:srgbClr val="1B2A41"/>
                </a:solidFill>
              </a:rPr>
              <a:t>Cost floor, market band, at most 3% change a week.</a:t>
            </a:r>
            <a:endParaRPr lang="en-US" sz="1150" dirty="0"/>
          </a:p>
        </p:txBody>
      </p:sp>
      <p:sp>
        <p:nvSpPr>
          <p:cNvPr id="52" name="Effect chip"/>
          <p:cNvSpPr/>
          <p:nvPr/>
        </p:nvSpPr>
        <p:spPr>
          <a:xfrm>
            <a:off x="9646920" y="4434840"/>
            <a:ext cx="1828800" cy="310896"/>
          </a:xfrm>
          <a:prstGeom prst="roundRect">
            <a:avLst>
              <a:gd name="adj" fmla="val 14706"/>
            </a:avLst>
          </a:prstGeom>
          <a:solidFill>
            <a:srgbClr val="8A8F98"/>
          </a:solidFill>
          <a:ln w="12700">
            <a:solidFill>
              <a:srgbClr val="8A8F98"/>
            </a:solidFill>
            <a:prstDash val="solid"/>
          </a:ln>
        </p:spPr>
      </p:sp>
      <p:sp>
        <p:nvSpPr>
          <p:cNvPr id="53" name="Text 50"/>
          <p:cNvSpPr txBox="1"/>
          <p:nvPr/>
        </p:nvSpPr>
        <p:spPr>
          <a:xfrm>
            <a:off x="9646920" y="4434840"/>
            <a:ext cx="1828800" cy="310896"/>
          </a:xfrm>
          <a:prstGeom prst="rect">
            <a:avLst/>
          </a:prstGeom>
          <a:noFill/>
          <a:ln/>
        </p:spPr>
        <p:txBody>
          <a:bodyPr wrap="square" lIns="0" tIns="0" rIns="0" bIns="0" rtlCol="0" anchor="ctr"/>
          <a:lstStyle/>
          <a:p>
            <a:pPr algn="ctr" indent="0" marL="0">
              <a:buNone/>
            </a:pPr>
            <a:r>
              <a:rPr lang="en-US" sz="1100" b="1" dirty="0">
                <a:solidFill>
                  <a:srgbClr val="FFFFFF"/>
                </a:solidFill>
              </a:rPr>
              <a:t>final clip</a:t>
            </a:r>
            <a:endParaRPr lang="en-US" sz="1100" dirty="0"/>
          </a:p>
        </p:txBody>
      </p:sp>
      <p:sp>
        <p:nvSpPr>
          <p:cNvPr id="54" name="Flow arrow"/>
          <p:cNvSpPr/>
          <p:nvPr/>
        </p:nvSpPr>
        <p:spPr>
          <a:xfrm>
            <a:off x="6080760" y="4937760"/>
            <a:ext cx="0" cy="274320"/>
          </a:xfrm>
          <a:prstGeom prst="line">
            <a:avLst/>
          </a:prstGeom>
          <a:noFill/>
          <a:ln w="19050">
            <a:solidFill>
              <a:srgbClr val="8A8F98"/>
            </a:solidFill>
            <a:prstDash val="solid"/>
            <a:tailEnd type="triangle"/>
          </a:ln>
        </p:spPr>
      </p:sp>
      <p:sp>
        <p:nvSpPr>
          <p:cNvPr id="55" name="Output band"/>
          <p:cNvSpPr/>
          <p:nvPr/>
        </p:nvSpPr>
        <p:spPr>
          <a:xfrm>
            <a:off x="548640" y="5257800"/>
            <a:ext cx="11064240" cy="1005840"/>
          </a:xfrm>
          <a:prstGeom prst="roundRect">
            <a:avLst>
              <a:gd name="adj" fmla="val 7273"/>
            </a:avLst>
          </a:prstGeom>
          <a:solidFill>
            <a:srgbClr val="12263F"/>
          </a:solidFill>
          <a:ln w="12700">
            <a:solidFill>
              <a:srgbClr val="12263F"/>
            </a:solidFill>
            <a:prstDash val="solid"/>
          </a:ln>
        </p:spPr>
      </p:sp>
      <p:sp>
        <p:nvSpPr>
          <p:cNvPr id="56" name="Text 53"/>
          <p:cNvSpPr txBox="1"/>
          <p:nvPr/>
        </p:nvSpPr>
        <p:spPr>
          <a:xfrm>
            <a:off x="822960" y="5285232"/>
            <a:ext cx="10515600" cy="950976"/>
          </a:xfrm>
          <a:prstGeom prst="rect">
            <a:avLst/>
          </a:prstGeom>
          <a:noFill/>
          <a:ln/>
        </p:spPr>
        <p:txBody>
          <a:bodyPr wrap="square" lIns="0" tIns="0" rIns="0" bIns="0" rtlCol="0" anchor="ctr"/>
          <a:lstStyle/>
          <a:p>
            <a:pPr indent="0" marL="0">
              <a:buNone/>
            </a:pPr>
            <a:r>
              <a:rPr lang="en-US" sz="1500" b="1" dirty="0">
                <a:solidFill>
                  <a:srgbClr val="FFFFFF"/>
                </a:solidFill>
              </a:rPr>
              <a:t>OUTPUT   recommended price for every product-week, with the reason</a:t>
            </a:r>
            <a:endParaRPr lang="en-US" sz="1500" dirty="0"/>
          </a:p>
          <a:p>
            <a:pPr indent="0" marL="0">
              <a:buNone/>
            </a:pPr>
            <a:r>
              <a:rPr lang="en-US" sz="1250" dirty="0">
                <a:solidFill>
                  <a:srgbClr val="CADCFC"/>
                </a:solidFill>
              </a:rPr>
              <a:t>Example, Barley week 1:  $7.447  →  $7.67 (+3.0%)  ·  scarce, only 48% of demand can be served  ·  limited by the weekly step</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DEMAND-BASED ADJUSTMENTS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Price follows the forecast peaks and lulls</a:t>
            </a:r>
            <a:endParaRPr lang="en-US" sz="3000" dirty="0"/>
          </a:p>
        </p:txBody>
      </p:sp>
      <p:graphicFrame>
        <p:nvGraphicFramePr>
          <p:cNvPr id="5" name="Chart 0" descr=""/>
          <p:cNvGraphicFramePr/>
          <p:nvPr/>
        </p:nvGraphicFramePr>
        <p:xfrm>
          <a:off x="548640" y="1554480"/>
          <a:ext cx="60350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548640" y="3931920"/>
          <a:ext cx="6035040" cy="2377440"/>
        </p:xfrm>
        <a:graphic xmlns:a="http://schemas.openxmlformats.org/drawingml/2006/main">
          <a:graphicData uri="http://schemas.openxmlformats.org/drawingml/2006/chart">
            <c:chart xmlns:c="http://schemas.openxmlformats.org/drawingml/2006/chart" r:id="rId2"/>
          </a:graphicData>
        </a:graphic>
      </p:graphicFrame>
      <p:sp>
        <p:nvSpPr>
          <p:cNvPr id="7" name="Text 2"/>
          <p:cNvSpPr txBox="1"/>
          <p:nvPr/>
        </p:nvSpPr>
        <p:spPr>
          <a:xfrm>
            <a:off x="6766560" y="1554480"/>
            <a:ext cx="4846320" cy="292608"/>
          </a:xfrm>
          <a:prstGeom prst="rect">
            <a:avLst/>
          </a:prstGeom>
          <a:noFill/>
          <a:ln/>
        </p:spPr>
        <p:txBody>
          <a:bodyPr wrap="square" lIns="0" tIns="0" rIns="0" bIns="0" rtlCol="0" anchor="ctr"/>
          <a:lstStyle/>
          <a:p>
            <a:pPr indent="0" marL="0">
              <a:buNone/>
            </a:pPr>
            <a:r>
              <a:rPr lang="en-US" sz="1300" b="1" dirty="0">
                <a:solidFill>
                  <a:schemeClr val="accent1"/>
                </a:solidFill>
              </a:rPr>
              <a:t>Rise = 8% × min(1, g / 30%) × season factor</a:t>
            </a:r>
            <a:endParaRPr lang="en-US" sz="1300" dirty="0"/>
          </a:p>
        </p:txBody>
      </p:sp>
      <p:sp>
        <p:nvSpPr>
          <p:cNvPr id="8" name="Text 3"/>
          <p:cNvSpPr txBox="1"/>
          <p:nvPr/>
        </p:nvSpPr>
        <p:spPr>
          <a:xfrm>
            <a:off x="6766560" y="1828800"/>
            <a:ext cx="4846320" cy="256032"/>
          </a:xfrm>
          <a:prstGeom prst="rect">
            <a:avLst/>
          </a:prstGeom>
          <a:noFill/>
          <a:ln/>
        </p:spPr>
        <p:txBody>
          <a:bodyPr wrap="square" lIns="0" tIns="0" rIns="0" bIns="0" rtlCol="0" anchor="ctr"/>
          <a:lstStyle/>
          <a:p>
            <a:pPr indent="0" marL="0">
              <a:buNone/>
            </a:pPr>
            <a:r>
              <a:rPr lang="en-US" sz="1100" i="1" dirty="0">
                <a:solidFill>
                  <a:srgbClr val="5B6B80"/>
                </a:solidFill>
              </a:rPr>
              <a:t>g = share of expected demand that cannot be served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66560" y="2148840"/>
          <a:ext cx="4846320" cy="914400"/>
        </p:xfrm>
        <a:graphic>
          <a:graphicData uri="http://schemas.openxmlformats.org/drawingml/2006/table">
            <a:tbl>
              <a:tblPr/>
              <a:tblGrid>
                <a:gridCol w="1463040"/>
                <a:gridCol w="1097280"/>
                <a:gridCol w="1188720"/>
                <a:gridCol w="1097280"/>
              </a:tblGrid>
              <a:tr h="365760">
                <a:tc>
                  <a:txBody>
                    <a:bodyPr/>
                    <a:lstStyle/>
                    <a:p>
                      <a:pPr indent="0" marL="0">
                        <a:buNone/>
                      </a:pPr>
                      <a:r>
                        <a:rPr lang="en-US" sz="1200" b="1" dirty="0">
                          <a:solidFill>
                            <a:srgbClr val="FFFFFF"/>
                          </a:solidFill>
                        </a:rPr>
                        <a:t>Unserved demand g</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Peak ×1.0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Normal ×0.75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algn="ctr" indent="0" marL="0">
                        <a:buNone/>
                      </a:pPr>
                      <a:r>
                        <a:rPr lang="en-US" sz="1200" b="1" dirty="0">
                          <a:solidFill>
                            <a:srgbClr val="FFFFFF"/>
                          </a:solidFill>
                        </a:rPr>
                        <a:t>Off-peak ×0.5</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384048">
                <a:tc>
                  <a:txBody>
                    <a:bodyPr/>
                    <a:lstStyle/>
                    <a:p>
                      <a:pPr indent="0" marL="0">
                        <a:buNone/>
                      </a:pPr>
                      <a:r>
                        <a:rPr lang="en-US" sz="1200" b="1" dirty="0">
                          <a:solidFill>
                            <a:srgbClr val="1B2A41"/>
                          </a:solidFill>
                        </a:rPr>
                        <a:t>10%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+1.3%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r h="384048">
                <a:tc>
                  <a:txBody>
                    <a:bodyPr/>
                    <a:lstStyle/>
                    <a:p>
                      <a:pPr indent="0" marL="0">
                        <a:buNone/>
                      </a:pPr>
                      <a:r>
                        <a:rPr lang="en-US" sz="1200" b="1" dirty="0">
                          <a:solidFill>
                            <a:srgbClr val="1B2A41"/>
                          </a:solidFill>
                        </a:rPr>
                        <a:t>20%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+5.3%</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c>
                  <a:txBody>
                    <a:bodyPr/>
                    <a:lstStyle/>
                    <a:p>
                      <a:pPr algn="ctr" indent="0" marL="0">
                        <a:buNone/>
                      </a:pPr>
                      <a:r>
                        <a:rPr lang="en-US" sz="1200" b="1" dirty="0">
                          <a:solidFill>
                            <a:srgbClr val="1B2A41"/>
                          </a:solidFill>
                        </a:rPr>
                        <a:t>+2.7%</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CFE2F9"/>
                    </a:solidFill>
                  </a:tcPr>
                </a:tc>
              </a:tr>
              <a:tr h="384048">
                <a:tc>
                  <a:txBody>
                    <a:bodyPr/>
                    <a:lstStyle/>
                    <a:p>
                      <a:pPr indent="0" marL="0">
                        <a:buNone/>
                      </a:pPr>
                      <a:r>
                        <a:rPr lang="en-US" sz="1200" b="1" dirty="0">
                          <a:solidFill>
                            <a:srgbClr val="1B2A41"/>
                          </a:solidFill>
                        </a:rPr>
                        <a:t>30% or more</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+8.0%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+6.0%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c>
                  <a:txBody>
                    <a:bodyPr/>
                    <a:lstStyle/>
                    <a:p>
                      <a:pPr algn="ctr" indent="0" marL="0">
                        <a:buNone/>
                      </a:pPr>
                      <a:r>
                        <a:rPr lang="en-US" sz="1200" b="1" dirty="0">
                          <a:solidFill>
                            <a:srgbClr val="1B2A41"/>
                          </a:solidFill>
                        </a:rPr>
                        <a:t>+4.0%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A9CCF4"/>
                    </a:solidFill>
                  </a:tcPr>
                </a:tc>
              </a:tr>
              <a:tr h="384048">
                <a:tc>
                  <a:txBody>
                    <a:bodyPr/>
                    <a:lstStyle/>
                    <a:p>
                      <a:pPr indent="0" marL="0">
                        <a:buNone/>
                      </a:pPr>
                      <a:r>
                        <a:rPr lang="en-US" sz="1200" b="1" dirty="0">
                          <a:solidFill>
                            <a:srgbClr val="1B2A41"/>
                          </a:solidFill>
                        </a:rPr>
                        <a:t>5% or less</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c>
                  <a:txBody>
                    <a:bodyPr/>
                    <a:lstStyle/>
                    <a:p>
                      <a:pPr algn="ctr" indent="0" marL="0">
                        <a:buNone/>
                      </a:pPr>
                      <a:r>
                        <a:rPr lang="en-US" sz="1200" b="1" dirty="0">
                          <a:solidFill>
                            <a:srgbClr val="1B2A41"/>
                          </a:solidFill>
                        </a:rPr>
                        <a:t>0%</a:t>
                      </a:r>
                      <a:endParaRPr lang="en-US" sz="1200" dirty="0"/>
                    </a:p>
                  </a:txBody>
                  <a:tcPr marL="73152" marR="73152"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E8F1FC"/>
                    </a:solidFill>
                  </a:tcPr>
                </a:tc>
              </a:tr>
            </a:tbl>
          </a:graphicData>
        </a:graphic>
      </p:graphicFrame>
      <p:sp>
        <p:nvSpPr>
          <p:cNvPr id="10" name="Callout"/>
          <p:cNvSpPr/>
          <p:nvPr/>
        </p:nvSpPr>
        <p:spPr>
          <a:xfrm>
            <a:off x="6766560" y="4251960"/>
            <a:ext cx="4846320" cy="2057400"/>
          </a:xfrm>
          <a:prstGeom prst="roundRect">
            <a:avLst>
              <a:gd name="adj" fmla="val 3556"/>
            </a:avLst>
          </a:prstGeom>
          <a:solidFill>
            <a:srgbClr val="F2F6FB"/>
          </a:solidFill>
          <a:ln w="12700">
            <a:solidFill>
              <a:srgbClr val="D9E1EC"/>
            </a:solidFill>
            <a:prstDash val="solid"/>
          </a:ln>
        </p:spPr>
      </p:sp>
      <p:sp>
        <p:nvSpPr>
          <p:cNvPr id="11" name="Text 5"/>
          <p:cNvSpPr txBox="1"/>
          <p:nvPr/>
        </p:nvSpPr>
        <p:spPr>
          <a:xfrm>
            <a:off x="6949440" y="4361688"/>
            <a:ext cx="4480560" cy="292608"/>
          </a:xfrm>
          <a:prstGeom prst="rect">
            <a:avLst/>
          </a:prstGeom>
          <a:noFill/>
          <a:ln/>
        </p:spPr>
        <p:txBody>
          <a:bodyPr wrap="square" lIns="0" tIns="0" rIns="0" bIns="0" rtlCol="0" anchor="ctr"/>
          <a:lstStyle/>
          <a:p>
            <a:pPr indent="0" marL="0">
              <a:buNone/>
            </a:pPr>
            <a:r>
              <a:rPr lang="en-US" sz="1400" b="1" dirty="0">
                <a:solidFill>
                  <a:schemeClr val="accent1"/>
                </a:solidFill>
              </a:rPr>
              <a:t>How to read the Barley paths</a:t>
            </a:r>
            <a:endParaRPr lang="en-US" sz="1400" dirty="0"/>
          </a:p>
        </p:txBody>
      </p:sp>
      <p:sp>
        <p:nvSpPr>
          <p:cNvPr id="12" name="Text 6"/>
          <p:cNvSpPr txBox="1"/>
          <p:nvPr/>
        </p:nvSpPr>
        <p:spPr>
          <a:xfrm>
            <a:off x="6949440" y="4709160"/>
            <a:ext cx="4480560" cy="15087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1B2A41"/>
                </a:solidFill>
              </a:rPr>
              <a:t>Peak = shared seasonal curve at or above 1.10; off-peak at or below 0.90.</a:t>
            </a:r>
            <a:endParaRPr lang="en-US" sz="1150" dirty="0"/>
          </a:p>
          <a:p>
            <a:pPr marL="177800" indent="-177800">
              <a:spcAft>
                <a:spcPts val="500"/>
              </a:spcAft>
              <a:buSzPct val="100000"/>
              <a:buChar char="•"/>
            </a:pPr>
            <a:r>
              <a:rPr lang="en-US" sz="1150" dirty="0">
                <a:solidFill>
                  <a:srgbClr val="1B2A41"/>
                </a:solidFill>
              </a:rPr>
              <a:t>Weeks 1-3: normal season, the 3% weekly step limit slows the first rise.</a:t>
            </a:r>
            <a:endParaRPr lang="en-US" sz="1150" dirty="0"/>
          </a:p>
          <a:p>
            <a:pPr marL="177800" indent="-177800">
              <a:spcAft>
                <a:spcPts val="500"/>
              </a:spcAft>
              <a:buSzPct val="100000"/>
              <a:buChar char="•"/>
            </a:pPr>
            <a:r>
              <a:rPr lang="en-US" sz="1150" dirty="0">
                <a:solidFill>
                  <a:srgbClr val="1B2A41"/>
                </a:solidFill>
              </a:rPr>
              <a:t>Weeks 5-22: peak, price sits at the +8% cap.</a:t>
            </a:r>
            <a:endParaRPr lang="en-US" sz="1150" dirty="0"/>
          </a:p>
          <a:p>
            <a:pPr marL="177800" indent="-177800">
              <a:spcAft>
                <a:spcPts val="500"/>
              </a:spcAft>
              <a:buSzPct val="100000"/>
              <a:buChar char="•"/>
            </a:pPr>
            <a:r>
              <a:rPr lang="en-US" sz="1150" dirty="0">
                <a:solidFill>
                  <a:srgbClr val="1B2A41"/>
                </a:solidFill>
              </a:rPr>
              <a:t>Weeks 23-26: season turns, the premium eases toward +4%.</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INVENTORY AND SEASONALITY SENSITIVITY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Pricing rules: lean vs high-stock, by season</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108960"/>
                <a:gridCol w="2651760"/>
                <a:gridCol w="2651760"/>
                <a:gridCol w="2651760"/>
              </a:tblGrid>
              <a:tr h="384048">
                <a:tc>
                  <a:txBody>
                    <a:bodyPr/>
                    <a:lstStyle/>
                    <a:p>
                      <a:pPr indent="0" marL="0">
                        <a:buNone/>
                      </a:pP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Normal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c>
                  <a:txBody>
                    <a:bodyPr/>
                    <a:lstStyle/>
                    <a:p>
                      <a:pPr algn="ctr" indent="0" marL="0">
                        <a:buNone/>
                      </a:pPr>
                      <a:r>
                        <a:rPr lang="en-US" sz="1300" b="1" dirty="0">
                          <a:solidFill>
                            <a:srgbClr val="FFFFFF"/>
                          </a:solidFill>
                        </a:rPr>
                        <a:t>Off-peak season</a:t>
                      </a:r>
                      <a:endParaRPr lang="en-US" sz="13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263F"/>
                    </a:solidFill>
                  </a:tcPr>
                </a:tc>
              </a:tr>
              <a:tr h="1097280">
                <a:tc>
                  <a:txBody>
                    <a:bodyPr/>
                    <a:lstStyle/>
                    <a:p>
                      <a:pPr indent="0" marL="0">
                        <a:buNone/>
                      </a:pPr>
                      <a:r>
                        <a:rPr lang="en-US" sz="1400" b="1" dirty="0">
                          <a:solidFill>
                            <a:srgbClr val="1B2A41"/>
                          </a:solidFill>
                        </a:rPr>
                        <a:t>Lean products</a:t>
                      </a:r>
                      <a:endParaRPr lang="en-US" sz="1200" dirty="0"/>
                    </a:p>
                    <a:p>
                      <a:pPr indent="0" marL="0">
                        <a:buNone/>
                      </a:pPr>
                      <a:r>
                        <a:rPr lang="en-US" sz="1050" dirty="0">
                          <a:solidFill>
                            <a:srgbClr val="5B6B80"/>
                          </a:solidFill>
                        </a:rPr>
                        <a:t>stock below demand · 78% of product-weeks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+8%</a:t>
                      </a:r>
                      <a:endParaRPr lang="en-US" sz="1200" dirty="0"/>
                    </a:p>
                    <a:p>
                      <a:pPr algn="ctr" indent="0" marL="0">
                        <a:buNone/>
                      </a:pPr>
                      <a:r>
                        <a:rPr lang="en-US" sz="1050" dirty="0">
                          <a:solidFill>
                            <a:srgbClr val="5B6B80"/>
                          </a:solidFill>
                        </a:rPr>
                        <a:t>full scarcity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3D8"/>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+6%</a:t>
                      </a:r>
                      <a:endParaRPr lang="en-US" sz="1200" dirty="0"/>
                    </a:p>
                    <a:p>
                      <a:pPr algn="ctr" indent="0" marL="0">
                        <a:buNone/>
                      </a:pPr>
                      <a:r>
                        <a:rPr lang="en-US" sz="1050" dirty="0">
                          <a:solidFill>
                            <a:srgbClr val="5B6B80"/>
                          </a:solidFill>
                        </a:rPr>
                        <a:t>75%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CEDE6"/>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up to +4%</a:t>
                      </a:r>
                      <a:endParaRPr lang="en-US" sz="1200" dirty="0"/>
                    </a:p>
                    <a:p>
                      <a:pPr algn="ctr" indent="0" marL="0">
                        <a:buNone/>
                      </a:pPr>
                      <a:r>
                        <a:rPr lang="en-US" sz="1050" dirty="0">
                          <a:solidFill>
                            <a:srgbClr val="5B6B80"/>
                          </a:solidFill>
                        </a:rPr>
                        <a:t>50% of the premium</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EF6F2"/>
                    </a:solidFill>
                  </a:tcPr>
                </a:tc>
              </a:tr>
              <a:tr h="1097280">
                <a:tc>
                  <a:txBody>
                    <a:bodyPr/>
                    <a:lstStyle/>
                    <a:p>
                      <a:pPr indent="0" marL="0">
                        <a:buNone/>
                      </a:pPr>
                      <a:r>
                        <a:rPr lang="en-US" sz="1400" b="1" dirty="0">
                          <a:solidFill>
                            <a:srgbClr val="1B2A41"/>
                          </a:solidFill>
                        </a:rPr>
                        <a:t>High-stock products</a:t>
                      </a:r>
                      <a:endParaRPr lang="en-US" sz="1200" dirty="0"/>
                    </a:p>
                    <a:p>
                      <a:pPr indent="0" marL="0">
                        <a:buNone/>
                      </a:pPr>
                      <a:r>
                        <a:rPr lang="en-US" sz="1050" dirty="0">
                          <a:solidFill>
                            <a:srgbClr val="5B6B80"/>
                          </a:solidFill>
                        </a:rPr>
                        <a:t>over 26 weeks of cover · 17% · 5 products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hold the price</a:t>
                      </a:r>
                      <a:endParaRPr lang="en-US" sz="1200" dirty="0"/>
                    </a:p>
                    <a:p>
                      <a:pPr algn="ctr" indent="0" marL="0">
                        <a:buNone/>
                      </a:pPr>
                      <a:r>
                        <a:rPr lang="en-US" sz="1050" dirty="0">
                          <a:solidFill>
                            <a:srgbClr val="5B6B80"/>
                          </a:solidFill>
                        </a:rPr>
                        <a:t>no markdown in a peak</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8F1FC"/>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5%</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CEAFB"/>
                    </a:solidFill>
                  </a:tcPr>
                </a:tc>
                <a:tc>
                  <a:txBody>
                    <a:bodyPr/>
                    <a:lstStyle/>
                    <a:p>
                      <a:pPr algn="ctr" indent="0" marL="0">
                        <a:buNone/>
                      </a:pPr>
                      <a:r>
                        <a:rPr lang="en-US" sz="1800" b="1" dirty="0">
                          <a:solidFill>
                            <a:srgbClr val="1B2A41"/>
                          </a:solidFill>
                          <a:latin typeface="Cambria" pitchFamily="34" charset="0"/>
                          <a:ea typeface="Cambria" pitchFamily="34" charset="-122"/>
                          <a:cs typeface="Cambria" pitchFamily="34" charset="-120"/>
                        </a:rPr>
                        <a:t>markdown ≤ 10%</a:t>
                      </a:r>
                      <a:endParaRPr lang="en-US" sz="1200" dirty="0"/>
                    </a:p>
                    <a:p>
                      <a:pPr algn="ctr" indent="0" marL="0">
                        <a:buNone/>
                      </a:pPr>
                      <a:r>
                        <a:rPr lang="en-US" sz="1050" dirty="0">
                          <a:solidFill>
                            <a:srgbClr val="5B6B80"/>
                          </a:solidFill>
                        </a:rPr>
                        <a:t>only if profit rises</a:t>
                      </a:r>
                      <a:endParaRPr lang="en-US" sz="1200" dirty="0"/>
                    </a:p>
                  </a:txBody>
                  <a:tcPr marL="91440" marR="91440" marT="54864" marB="54864"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FE2F9"/>
                    </a:solidFill>
                  </a:tcPr>
                </a:tc>
              </a:tr>
            </a:tbl>
          </a:graphicData>
        </a:graphic>
      </p:graphicFrame>
      <p:graphicFrame>
        <p:nvGraphicFramePr>
          <p:cNvPr id="6" name="Chart 0" descr=""/>
          <p:cNvGraphicFramePr/>
          <p:nvPr/>
        </p:nvGraphicFramePr>
        <p:xfrm>
          <a:off x="6400800" y="4297680"/>
          <a:ext cx="5212080" cy="2011680"/>
        </p:xfrm>
        <a:graphic xmlns:a="http://schemas.openxmlformats.org/drawingml/2006/main">
          <a:graphicData uri="http://schemas.openxmlformats.org/drawingml/2006/chart">
            <c:chart xmlns:c="http://schemas.openxmlformats.org/drawingml/2006/chart" r:id="rId1"/>
          </a:graphicData>
        </a:graphic>
      </p:graphicFrame>
      <p:sp>
        <p:nvSpPr>
          <p:cNvPr id="7" name="Why card"/>
          <p:cNvSpPr/>
          <p:nvPr/>
        </p:nvSpPr>
        <p:spPr>
          <a:xfrm>
            <a:off x="548640" y="4297680"/>
            <a:ext cx="5669280" cy="950976"/>
          </a:xfrm>
          <a:prstGeom prst="roundRect">
            <a:avLst>
              <a:gd name="adj" fmla="val 7692"/>
            </a:avLst>
          </a:prstGeom>
          <a:solidFill>
            <a:srgbClr val="F2F6FB"/>
          </a:solidFill>
          <a:ln w="12700">
            <a:solidFill>
              <a:srgbClr val="F2F6FB"/>
            </a:solidFill>
            <a:prstDash val="solid"/>
          </a:ln>
        </p:spPr>
      </p:sp>
      <p:sp>
        <p:nvSpPr>
          <p:cNvPr id="8" name="Card accent"/>
          <p:cNvSpPr/>
          <p:nvPr/>
        </p:nvSpPr>
        <p:spPr>
          <a:xfrm>
            <a:off x="548640" y="4297680"/>
            <a:ext cx="82296" cy="950976"/>
          </a:xfrm>
          <a:prstGeom prst="rect">
            <a:avLst/>
          </a:prstGeom>
          <a:solidFill>
            <a:srgbClr val="EB6834"/>
          </a:solidFill>
          <a:ln w="12700">
            <a:solidFill>
              <a:srgbClr val="EB6834"/>
            </a:solidFill>
            <a:prstDash val="solid"/>
          </a:ln>
        </p:spPr>
      </p:sp>
      <p:sp>
        <p:nvSpPr>
          <p:cNvPr id="9" name="Text 4"/>
          <p:cNvSpPr txBox="1"/>
          <p:nvPr/>
        </p:nvSpPr>
        <p:spPr>
          <a:xfrm>
            <a:off x="777240" y="4334256"/>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Lean products</a:t>
            </a:r>
            <a:endParaRPr lang="en-US" sz="1250" dirty="0"/>
          </a:p>
        </p:txBody>
      </p:sp>
      <p:sp>
        <p:nvSpPr>
          <p:cNvPr id="10" name="Text 5"/>
          <p:cNvSpPr txBox="1"/>
          <p:nvPr/>
        </p:nvSpPr>
        <p:spPr>
          <a:xfrm>
            <a:off x="777240" y="4590288"/>
            <a:ext cx="5303520" cy="640080"/>
          </a:xfrm>
          <a:prstGeom prst="rect">
            <a:avLst/>
          </a:prstGeom>
          <a:noFill/>
          <a:ln/>
        </p:spPr>
        <p:txBody>
          <a:bodyPr wrap="square" lIns="0" tIns="0" rIns="0" bIns="0" rtlCol="0" anchor="t"/>
          <a:lstStyle/>
          <a:p>
            <a:pPr indent="0" marL="0">
              <a:buNone/>
            </a:pPr>
            <a:r>
              <a:rPr lang="en-US" sz="1050" dirty="0">
                <a:solidFill>
                  <a:srgbClr val="1B2A41"/>
                </a:solidFill>
              </a:rPr>
              <a:t>Stock, not price, limits sales, so the premium is free money. It is largest in a peak and smallest in a lull.</a:t>
            </a:r>
            <a:endParaRPr lang="en-US" sz="1050" dirty="0"/>
          </a:p>
        </p:txBody>
      </p:sp>
      <p:sp>
        <p:nvSpPr>
          <p:cNvPr id="11" name="Why card"/>
          <p:cNvSpPr/>
          <p:nvPr/>
        </p:nvSpPr>
        <p:spPr>
          <a:xfrm>
            <a:off x="548640" y="5321808"/>
            <a:ext cx="5669280" cy="950976"/>
          </a:xfrm>
          <a:prstGeom prst="roundRect">
            <a:avLst>
              <a:gd name="adj" fmla="val 7692"/>
            </a:avLst>
          </a:prstGeom>
          <a:solidFill>
            <a:srgbClr val="F2F6FB"/>
          </a:solidFill>
          <a:ln w="12700">
            <a:solidFill>
              <a:srgbClr val="F2F6FB"/>
            </a:solidFill>
            <a:prstDash val="solid"/>
          </a:ln>
        </p:spPr>
      </p:sp>
      <p:sp>
        <p:nvSpPr>
          <p:cNvPr id="12" name="Card accent"/>
          <p:cNvSpPr/>
          <p:nvPr/>
        </p:nvSpPr>
        <p:spPr>
          <a:xfrm>
            <a:off x="548640" y="5321808"/>
            <a:ext cx="82296" cy="950976"/>
          </a:xfrm>
          <a:prstGeom prst="rect">
            <a:avLst/>
          </a:prstGeom>
          <a:solidFill>
            <a:srgbClr val="2A78D6"/>
          </a:solidFill>
          <a:ln w="12700">
            <a:solidFill>
              <a:srgbClr val="2A78D6"/>
            </a:solidFill>
            <a:prstDash val="solid"/>
          </a:ln>
        </p:spPr>
      </p:sp>
      <p:sp>
        <p:nvSpPr>
          <p:cNvPr id="13" name="Text 8"/>
          <p:cNvSpPr txBox="1"/>
          <p:nvPr/>
        </p:nvSpPr>
        <p:spPr>
          <a:xfrm>
            <a:off x="777240" y="5358384"/>
            <a:ext cx="5303520" cy="256032"/>
          </a:xfrm>
          <a:prstGeom prst="rect">
            <a:avLst/>
          </a:prstGeom>
          <a:noFill/>
          <a:ln/>
        </p:spPr>
        <p:txBody>
          <a:bodyPr wrap="square" lIns="0" tIns="0" rIns="0" bIns="0" rtlCol="0" anchor="ctr"/>
          <a:lstStyle/>
          <a:p>
            <a:pPr indent="0" marL="0">
              <a:buNone/>
            </a:pPr>
            <a:r>
              <a:rPr lang="en-US" sz="1250" b="1" dirty="0">
                <a:solidFill>
                  <a:schemeClr val="tx1"/>
                </a:solidFill>
              </a:rPr>
              <a:t>High-stock products</a:t>
            </a:r>
            <a:endParaRPr lang="en-US" sz="1250" dirty="0"/>
          </a:p>
        </p:txBody>
      </p:sp>
      <p:sp>
        <p:nvSpPr>
          <p:cNvPr id="14" name="Text 9"/>
          <p:cNvSpPr txBox="1"/>
          <p:nvPr/>
        </p:nvSpPr>
        <p:spPr>
          <a:xfrm>
            <a:off x="777240" y="5614416"/>
            <a:ext cx="5303520" cy="640080"/>
          </a:xfrm>
          <a:prstGeom prst="rect">
            <a:avLst/>
          </a:prstGeom>
          <a:noFill/>
          <a:ln/>
        </p:spPr>
        <p:txBody>
          <a:bodyPr wrap="square" lIns="0" tIns="0" rIns="0" bIns="0" rtlCol="0" anchor="t"/>
          <a:lstStyle/>
          <a:p>
            <a:pPr indent="0" marL="0">
              <a:buNone/>
            </a:pPr>
            <a:r>
              <a:rPr lang="en-US" sz="1050" dirty="0">
                <a:solidFill>
                  <a:srgbClr val="1B2A41"/>
                </a:solidFill>
              </a:rPr>
              <a:t>Price cannot fix 64-370 weeks of stock: clearing it in a year needs cuts of 17-49%. Stop buying; offer bulk or export deals. Carrying cost $1.3M a year exceeds the whole pricing gain.</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GUARDRAILS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Guardrails: competitive, safe and credit-aware</a:t>
            </a:r>
            <a:endParaRPr lang="en-US" sz="3000" dirty="0"/>
          </a:p>
        </p:txBody>
      </p:sp>
      <p:sp>
        <p:nvSpPr>
          <p:cNvPr id="5" name="Text 2"/>
          <p:cNvSpPr txBox="1"/>
          <p:nvPr/>
        </p:nvSpPr>
        <p:spPr>
          <a:xfrm>
            <a:off x="548640" y="1572768"/>
            <a:ext cx="5852160" cy="274320"/>
          </a:xfrm>
          <a:prstGeom prst="rect">
            <a:avLst/>
          </a:prstGeom>
          <a:noFill/>
          <a:ln/>
        </p:spPr>
        <p:txBody>
          <a:bodyPr wrap="square" lIns="0" tIns="0" rIns="0" bIns="0" rtlCol="0" anchor="ctr"/>
          <a:lstStyle/>
          <a:p>
            <a:pPr indent="0" marL="0">
              <a:buNone/>
            </a:pPr>
            <a:r>
              <a:rPr lang="en-US" sz="1300" b="1" dirty="0">
                <a:solidFill>
                  <a:srgbClr val="5B6B80"/>
                </a:solidFill>
              </a:rPr>
              <a:t>Competitive and cost corridor (Barley, $ per unit)</a:t>
            </a:r>
            <a:endParaRPr lang="en-US" sz="1300" dirty="0"/>
          </a:p>
        </p:txBody>
      </p:sp>
      <p:sp>
        <p:nvSpPr>
          <p:cNvPr id="6" name="Corridor zone"/>
          <p:cNvSpPr/>
          <p:nvPr/>
        </p:nvSpPr>
        <p:spPr>
          <a:xfrm>
            <a:off x="640080" y="2514600"/>
            <a:ext cx="582656" cy="502920"/>
          </a:xfrm>
          <a:prstGeom prst="rect">
            <a:avLst/>
          </a:prstGeom>
          <a:solidFill>
            <a:srgbClr val="D03B3B"/>
          </a:solidFill>
          <a:ln w="12700">
            <a:solidFill>
              <a:srgbClr val="FFFFFF"/>
            </a:solidFill>
            <a:prstDash val="solid"/>
          </a:ln>
        </p:spPr>
      </p:sp>
      <p:sp>
        <p:nvSpPr>
          <p:cNvPr id="7" name="Corridor zone"/>
          <p:cNvSpPr/>
          <p:nvPr/>
        </p:nvSpPr>
        <p:spPr>
          <a:xfrm>
            <a:off x="1222736" y="2514600"/>
            <a:ext cx="1251631" cy="502920"/>
          </a:xfrm>
          <a:prstGeom prst="rect">
            <a:avLst/>
          </a:prstGeom>
          <a:solidFill>
            <a:srgbClr val="F2D9A6"/>
          </a:solidFill>
          <a:ln w="12700">
            <a:solidFill>
              <a:srgbClr val="FFFFFF"/>
            </a:solidFill>
            <a:prstDash val="solid"/>
          </a:ln>
        </p:spPr>
      </p:sp>
      <p:sp>
        <p:nvSpPr>
          <p:cNvPr id="8" name="Corridor zone"/>
          <p:cNvSpPr/>
          <p:nvPr/>
        </p:nvSpPr>
        <p:spPr>
          <a:xfrm>
            <a:off x="2474366" y="2514600"/>
            <a:ext cx="2891699" cy="502920"/>
          </a:xfrm>
          <a:prstGeom prst="rect">
            <a:avLst/>
          </a:prstGeom>
          <a:solidFill>
            <a:srgbClr val="BFE9D9"/>
          </a:solidFill>
          <a:ln w="12700">
            <a:solidFill>
              <a:srgbClr val="FFFFFF"/>
            </a:solidFill>
            <a:prstDash val="solid"/>
          </a:ln>
        </p:spPr>
      </p:sp>
      <p:sp>
        <p:nvSpPr>
          <p:cNvPr id="9" name="Corridor zone"/>
          <p:cNvSpPr/>
          <p:nvPr/>
        </p:nvSpPr>
        <p:spPr>
          <a:xfrm>
            <a:off x="5366065" y="2514600"/>
            <a:ext cx="668975" cy="502920"/>
          </a:xfrm>
          <a:prstGeom prst="rect">
            <a:avLst/>
          </a:prstGeom>
          <a:solidFill>
            <a:srgbClr val="F2D9A6"/>
          </a:solidFill>
          <a:ln w="12700">
            <a:solidFill>
              <a:srgbClr val="FFFFFF"/>
            </a:solidFill>
            <a:prstDash val="solid"/>
          </a:ln>
        </p:spPr>
      </p:sp>
      <p:sp>
        <p:nvSpPr>
          <p:cNvPr id="10" name="Text 7"/>
          <p:cNvSpPr txBox="1"/>
          <p:nvPr/>
        </p:nvSpPr>
        <p:spPr>
          <a:xfrm>
            <a:off x="2520086" y="2514600"/>
            <a:ext cx="1188720" cy="502920"/>
          </a:xfrm>
          <a:prstGeom prst="rect">
            <a:avLst/>
          </a:prstGeom>
          <a:noFill/>
          <a:ln/>
        </p:spPr>
        <p:txBody>
          <a:bodyPr wrap="square" lIns="0" tIns="0" rIns="0" bIns="0" rtlCol="0" anchor="ctr"/>
          <a:lstStyle/>
          <a:p>
            <a:pPr algn="l" indent="0" marL="0">
              <a:buNone/>
            </a:pPr>
            <a:r>
              <a:rPr lang="en-US" sz="1100" b="1" dirty="0">
                <a:solidFill>
                  <a:srgbClr val="138A5F"/>
                </a:solidFill>
              </a:rPr>
              <a:t>allowed corridor</a:t>
            </a:r>
            <a:endParaRPr lang="en-US" sz="1100" dirty="0"/>
          </a:p>
        </p:txBody>
      </p:sp>
      <p:sp>
        <p:nvSpPr>
          <p:cNvPr id="11" name="Text 8"/>
          <p:cNvSpPr txBox="1"/>
          <p:nvPr/>
        </p:nvSpPr>
        <p:spPr>
          <a:xfrm>
            <a:off x="674096" y="3081528"/>
            <a:ext cx="1097280" cy="237744"/>
          </a:xfrm>
          <a:prstGeom prst="rect">
            <a:avLst/>
          </a:prstGeom>
          <a:noFill/>
          <a:ln/>
        </p:spPr>
        <p:txBody>
          <a:bodyPr wrap="square" lIns="0" tIns="0" rIns="0" bIns="0" rtlCol="0" anchor="ctr"/>
          <a:lstStyle/>
          <a:p>
            <a:pPr algn="ctr" indent="0" marL="0">
              <a:buNone/>
            </a:pPr>
            <a:r>
              <a:rPr lang="en-US" sz="950" b="1" dirty="0">
                <a:solidFill>
                  <a:srgbClr val="C24E1F"/>
                </a:solidFill>
              </a:rPr>
              <a:t>cost floor $6.27</a:t>
            </a:r>
            <a:endParaRPr lang="en-US" sz="950" dirty="0"/>
          </a:p>
        </p:txBody>
      </p:sp>
      <p:sp>
        <p:nvSpPr>
          <p:cNvPr id="12" name="Text 9"/>
          <p:cNvSpPr txBox="1"/>
          <p:nvPr/>
        </p:nvSpPr>
        <p:spPr>
          <a:xfrm>
            <a:off x="1925726"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low $6.85</a:t>
            </a:r>
            <a:endParaRPr lang="en-US" sz="950" dirty="0"/>
          </a:p>
        </p:txBody>
      </p:sp>
      <p:sp>
        <p:nvSpPr>
          <p:cNvPr id="13" name="Text 10"/>
          <p:cNvSpPr txBox="1"/>
          <p:nvPr/>
        </p:nvSpPr>
        <p:spPr>
          <a:xfrm>
            <a:off x="3695273" y="3081528"/>
            <a:ext cx="1097280" cy="237744"/>
          </a:xfrm>
          <a:prstGeom prst="rect">
            <a:avLst/>
          </a:prstGeom>
          <a:noFill/>
          <a:ln/>
        </p:spPr>
        <p:txBody>
          <a:bodyPr wrap="square" lIns="0" tIns="0" rIns="0" bIns="0" rtlCol="0" anchor="ctr"/>
          <a:lstStyle/>
          <a:p>
            <a:pPr algn="ctr" indent="0" marL="0">
              <a:buNone/>
            </a:pPr>
            <a:r>
              <a:rPr lang="en-US" sz="950" b="1" dirty="0">
                <a:solidFill>
                  <a:srgbClr val="2A78D6"/>
                </a:solidFill>
              </a:rPr>
              <a:t>week 1: $7.67</a:t>
            </a:r>
            <a:endParaRPr lang="en-US" sz="950" dirty="0"/>
          </a:p>
        </p:txBody>
      </p:sp>
      <p:sp>
        <p:nvSpPr>
          <p:cNvPr id="14" name="Text 11"/>
          <p:cNvSpPr txBox="1"/>
          <p:nvPr/>
        </p:nvSpPr>
        <p:spPr>
          <a:xfrm>
            <a:off x="4817425" y="3081528"/>
            <a:ext cx="1097280" cy="237744"/>
          </a:xfrm>
          <a:prstGeom prst="rect">
            <a:avLst/>
          </a:prstGeom>
          <a:noFill/>
          <a:ln/>
        </p:spPr>
        <p:txBody>
          <a:bodyPr wrap="square" lIns="0" tIns="0" rIns="0" bIns="0" rtlCol="0" anchor="ctr"/>
          <a:lstStyle/>
          <a:p>
            <a:pPr algn="ctr" indent="0" marL="0">
              <a:buNone/>
            </a:pPr>
            <a:r>
              <a:rPr lang="en-US" sz="950" b="1" dirty="0">
                <a:solidFill>
                  <a:srgbClr val="5B6B80"/>
                </a:solidFill>
              </a:rPr>
              <a:t>band high $8.19</a:t>
            </a:r>
            <a:endParaRPr lang="en-US" sz="950" dirty="0"/>
          </a:p>
        </p:txBody>
      </p:sp>
      <p:sp>
        <p:nvSpPr>
          <p:cNvPr id="15" name="Price marker"/>
          <p:cNvSpPr/>
          <p:nvPr/>
        </p:nvSpPr>
        <p:spPr>
          <a:xfrm>
            <a:off x="3680387" y="2679192"/>
            <a:ext cx="164592" cy="164592"/>
          </a:xfrm>
          <a:prstGeom prst="ellipse">
            <a:avLst/>
          </a:prstGeom>
          <a:solidFill>
            <a:srgbClr val="1B2A41"/>
          </a:solidFill>
          <a:ln w="19050">
            <a:solidFill>
              <a:srgbClr val="FFFFFF"/>
            </a:solidFill>
            <a:prstDash val="solid"/>
          </a:ln>
        </p:spPr>
      </p:sp>
      <p:sp>
        <p:nvSpPr>
          <p:cNvPr id="16" name="Text 13"/>
          <p:cNvSpPr txBox="1"/>
          <p:nvPr/>
        </p:nvSpPr>
        <p:spPr>
          <a:xfrm>
            <a:off x="3168323" y="2221992"/>
            <a:ext cx="1188720" cy="237744"/>
          </a:xfrm>
          <a:prstGeom prst="rect">
            <a:avLst/>
          </a:prstGeom>
          <a:noFill/>
          <a:ln/>
        </p:spPr>
        <p:txBody>
          <a:bodyPr wrap="square" lIns="0" tIns="0" rIns="0" bIns="0" rtlCol="0" anchor="ctr"/>
          <a:lstStyle/>
          <a:p>
            <a:pPr algn="ctr" indent="0" marL="0">
              <a:buNone/>
            </a:pPr>
            <a:r>
              <a:rPr lang="en-US" sz="1000" b="1" dirty="0">
                <a:solidFill>
                  <a:srgbClr val="1B2A41"/>
                </a:solidFill>
              </a:rPr>
              <a:t>today $7.447</a:t>
            </a:r>
            <a:endParaRPr lang="en-US" sz="1000" dirty="0"/>
          </a:p>
        </p:txBody>
      </p:sp>
      <p:sp>
        <p:nvSpPr>
          <p:cNvPr id="17" name="Price marker"/>
          <p:cNvSpPr/>
          <p:nvPr/>
        </p:nvSpPr>
        <p:spPr>
          <a:xfrm>
            <a:off x="4161617" y="2679192"/>
            <a:ext cx="164592" cy="164592"/>
          </a:xfrm>
          <a:prstGeom prst="ellipse">
            <a:avLst/>
          </a:prstGeom>
          <a:solidFill>
            <a:srgbClr val="2A78D6"/>
          </a:solidFill>
          <a:ln w="19050">
            <a:solidFill>
              <a:srgbClr val="FFFFFF"/>
            </a:solidFill>
            <a:prstDash val="solid"/>
          </a:ln>
        </p:spPr>
      </p:sp>
      <p:sp>
        <p:nvSpPr>
          <p:cNvPr id="18" name="Price marker"/>
          <p:cNvSpPr/>
          <p:nvPr/>
        </p:nvSpPr>
        <p:spPr>
          <a:xfrm>
            <a:off x="4966545" y="2679192"/>
            <a:ext cx="164592" cy="164592"/>
          </a:xfrm>
          <a:prstGeom prst="ellipse">
            <a:avLst/>
          </a:prstGeom>
          <a:solidFill>
            <a:srgbClr val="EB6834"/>
          </a:solidFill>
          <a:ln w="19050">
            <a:solidFill>
              <a:srgbClr val="FFFFFF"/>
            </a:solidFill>
            <a:prstDash val="solid"/>
          </a:ln>
        </p:spPr>
      </p:sp>
      <p:sp>
        <p:nvSpPr>
          <p:cNvPr id="19" name="Text 16"/>
          <p:cNvSpPr txBox="1"/>
          <p:nvPr/>
        </p:nvSpPr>
        <p:spPr>
          <a:xfrm>
            <a:off x="4454481" y="2221992"/>
            <a:ext cx="1188720" cy="237744"/>
          </a:xfrm>
          <a:prstGeom prst="rect">
            <a:avLst/>
          </a:prstGeom>
          <a:noFill/>
          <a:ln/>
        </p:spPr>
        <p:txBody>
          <a:bodyPr wrap="square" lIns="0" tIns="0" rIns="0" bIns="0" rtlCol="0" anchor="ctr"/>
          <a:lstStyle/>
          <a:p>
            <a:pPr algn="ctr" indent="0" marL="0">
              <a:buNone/>
            </a:pPr>
            <a:r>
              <a:rPr lang="en-US" sz="1000" b="1" dirty="0">
                <a:solidFill>
                  <a:srgbClr val="EB6834"/>
                </a:solidFill>
              </a:rPr>
              <a:t>peak $8.04</a:t>
            </a:r>
            <a:endParaRPr lang="en-US" sz="1000" dirty="0"/>
          </a:p>
        </p:txBody>
      </p:sp>
      <p:sp>
        <p:nvSpPr>
          <p:cNvPr id="20" name="Guardrail card"/>
          <p:cNvSpPr/>
          <p:nvPr/>
        </p:nvSpPr>
        <p:spPr>
          <a:xfrm>
            <a:off x="548640" y="3657600"/>
            <a:ext cx="5852160" cy="777240"/>
          </a:xfrm>
          <a:prstGeom prst="roundRect">
            <a:avLst>
              <a:gd name="adj" fmla="val 9412"/>
            </a:avLst>
          </a:prstGeom>
          <a:solidFill>
            <a:srgbClr val="F2F6FB"/>
          </a:solidFill>
          <a:ln w="12700">
            <a:solidFill>
              <a:srgbClr val="F2F6FB"/>
            </a:solidFill>
            <a:prstDash val="solid"/>
          </a:ln>
        </p:spPr>
      </p:sp>
      <p:sp>
        <p:nvSpPr>
          <p:cNvPr id="21" name="Card accent"/>
          <p:cNvSpPr/>
          <p:nvPr/>
        </p:nvSpPr>
        <p:spPr>
          <a:xfrm>
            <a:off x="548640" y="3657600"/>
            <a:ext cx="82296" cy="777240"/>
          </a:xfrm>
          <a:prstGeom prst="rect">
            <a:avLst/>
          </a:prstGeom>
          <a:solidFill>
            <a:srgbClr val="D03B3B"/>
          </a:solidFill>
          <a:ln w="12700">
            <a:solidFill>
              <a:srgbClr val="D03B3B"/>
            </a:solidFill>
            <a:prstDash val="solid"/>
          </a:ln>
        </p:spPr>
      </p:sp>
      <p:sp>
        <p:nvSpPr>
          <p:cNvPr id="22" name="Text 19"/>
          <p:cNvSpPr txBox="1"/>
          <p:nvPr/>
        </p:nvSpPr>
        <p:spPr>
          <a:xfrm>
            <a:off x="777240" y="370332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Cost floor</a:t>
            </a:r>
            <a:endParaRPr lang="en-US" sz="1300" dirty="0"/>
          </a:p>
        </p:txBody>
      </p:sp>
      <p:sp>
        <p:nvSpPr>
          <p:cNvPr id="23" name="Text 20"/>
          <p:cNvSpPr txBox="1"/>
          <p:nvPr/>
        </p:nvSpPr>
        <p:spPr>
          <a:xfrm>
            <a:off x="777240" y="3986784"/>
            <a:ext cx="5486400" cy="420624"/>
          </a:xfrm>
          <a:prstGeom prst="rect">
            <a:avLst/>
          </a:prstGeom>
          <a:noFill/>
          <a:ln/>
        </p:spPr>
        <p:txBody>
          <a:bodyPr wrap="square" lIns="0" tIns="0" rIns="0" bIns="0" rtlCol="0" anchor="t"/>
          <a:lstStyle/>
          <a:p>
            <a:pPr indent="0" marL="0">
              <a:buNone/>
            </a:pPr>
            <a:r>
              <a:rPr lang="en-US" sz="1100" dirty="0">
                <a:solidFill>
                  <a:srgbClr val="1B2A41"/>
                </a:solidFill>
              </a:rPr>
              <a:t>cost + 5% markup + carrying cost, ÷ (1 - expected credit loss): no loss-making sale</a:t>
            </a:r>
            <a:endParaRPr lang="en-US" sz="1100" dirty="0"/>
          </a:p>
        </p:txBody>
      </p:sp>
      <p:sp>
        <p:nvSpPr>
          <p:cNvPr id="24" name="Guardrail card"/>
          <p:cNvSpPr/>
          <p:nvPr/>
        </p:nvSpPr>
        <p:spPr>
          <a:xfrm>
            <a:off x="548640" y="4526280"/>
            <a:ext cx="5852160" cy="777240"/>
          </a:xfrm>
          <a:prstGeom prst="roundRect">
            <a:avLst>
              <a:gd name="adj" fmla="val 9412"/>
            </a:avLst>
          </a:prstGeom>
          <a:solidFill>
            <a:srgbClr val="F2F6FB"/>
          </a:solidFill>
          <a:ln w="12700">
            <a:solidFill>
              <a:srgbClr val="F2F6FB"/>
            </a:solidFill>
            <a:prstDash val="solid"/>
          </a:ln>
        </p:spPr>
      </p:sp>
      <p:sp>
        <p:nvSpPr>
          <p:cNvPr id="25" name="Card accent"/>
          <p:cNvSpPr/>
          <p:nvPr/>
        </p:nvSpPr>
        <p:spPr>
          <a:xfrm>
            <a:off x="548640" y="4526280"/>
            <a:ext cx="82296" cy="777240"/>
          </a:xfrm>
          <a:prstGeom prst="rect">
            <a:avLst/>
          </a:prstGeom>
          <a:solidFill>
            <a:srgbClr val="1BAF7A"/>
          </a:solidFill>
          <a:ln w="12700">
            <a:solidFill>
              <a:srgbClr val="1BAF7A"/>
            </a:solidFill>
            <a:prstDash val="solid"/>
          </a:ln>
        </p:spPr>
      </p:sp>
      <p:sp>
        <p:nvSpPr>
          <p:cNvPr id="26" name="Text 23"/>
          <p:cNvSpPr txBox="1"/>
          <p:nvPr/>
        </p:nvSpPr>
        <p:spPr>
          <a:xfrm>
            <a:off x="777240" y="457200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Competitive band</a:t>
            </a:r>
            <a:endParaRPr lang="en-US" sz="1300" dirty="0"/>
          </a:p>
        </p:txBody>
      </p:sp>
      <p:sp>
        <p:nvSpPr>
          <p:cNvPr id="27" name="Text 24"/>
          <p:cNvSpPr txBox="1"/>
          <p:nvPr/>
        </p:nvSpPr>
        <p:spPr>
          <a:xfrm>
            <a:off x="777240" y="4855464"/>
            <a:ext cx="5486400" cy="420624"/>
          </a:xfrm>
          <a:prstGeom prst="rect">
            <a:avLst/>
          </a:prstGeom>
          <a:noFill/>
          <a:ln/>
        </p:spPr>
        <p:txBody>
          <a:bodyPr wrap="square" lIns="0" tIns="0" rIns="0" bIns="0" rtlCol="0" anchor="t"/>
          <a:lstStyle/>
          <a:p>
            <a:pPr indent="0" marL="0">
              <a:buNone/>
            </a:pPr>
            <a:r>
              <a:rPr lang="en-US" sz="1100" dirty="0">
                <a:solidFill>
                  <a:srgbClr val="1B2A41"/>
                </a:solidFill>
              </a:rPr>
              <a:t>0.92 to 1.10 × today's price; the 13-week average is the market proxy (no competitor data)</a:t>
            </a:r>
            <a:endParaRPr lang="en-US" sz="1100" dirty="0"/>
          </a:p>
        </p:txBody>
      </p:sp>
      <p:sp>
        <p:nvSpPr>
          <p:cNvPr id="28" name="Guardrail card"/>
          <p:cNvSpPr/>
          <p:nvPr/>
        </p:nvSpPr>
        <p:spPr>
          <a:xfrm>
            <a:off x="548640" y="5394960"/>
            <a:ext cx="5852160" cy="777240"/>
          </a:xfrm>
          <a:prstGeom prst="roundRect">
            <a:avLst>
              <a:gd name="adj" fmla="val 9412"/>
            </a:avLst>
          </a:prstGeom>
          <a:solidFill>
            <a:srgbClr val="F2F6FB"/>
          </a:solidFill>
          <a:ln w="12700">
            <a:solidFill>
              <a:srgbClr val="F2F6FB"/>
            </a:solidFill>
            <a:prstDash val="solid"/>
          </a:ln>
        </p:spPr>
      </p:sp>
      <p:sp>
        <p:nvSpPr>
          <p:cNvPr id="29" name="Card accent"/>
          <p:cNvSpPr/>
          <p:nvPr/>
        </p:nvSpPr>
        <p:spPr>
          <a:xfrm>
            <a:off x="548640" y="5394960"/>
            <a:ext cx="82296" cy="777240"/>
          </a:xfrm>
          <a:prstGeom prst="rect">
            <a:avLst/>
          </a:prstGeom>
          <a:solidFill>
            <a:srgbClr val="EB6834"/>
          </a:solidFill>
          <a:ln w="12700">
            <a:solidFill>
              <a:srgbClr val="EB6834"/>
            </a:solidFill>
            <a:prstDash val="solid"/>
          </a:ln>
        </p:spPr>
      </p:sp>
      <p:sp>
        <p:nvSpPr>
          <p:cNvPr id="30" name="Text 27"/>
          <p:cNvSpPr txBox="1"/>
          <p:nvPr/>
        </p:nvSpPr>
        <p:spPr>
          <a:xfrm>
            <a:off x="777240" y="5440680"/>
            <a:ext cx="5486400" cy="256032"/>
          </a:xfrm>
          <a:prstGeom prst="rect">
            <a:avLst/>
          </a:prstGeom>
          <a:noFill/>
          <a:ln/>
        </p:spPr>
        <p:txBody>
          <a:bodyPr wrap="square" lIns="0" tIns="0" rIns="0" bIns="0" rtlCol="0" anchor="ctr"/>
          <a:lstStyle/>
          <a:p>
            <a:pPr indent="0" marL="0">
              <a:buNone/>
            </a:pPr>
            <a:r>
              <a:rPr lang="en-US" sz="1300" b="1" dirty="0">
                <a:solidFill>
                  <a:schemeClr val="tx1"/>
                </a:solidFill>
              </a:rPr>
              <a:t>Weekly step</a:t>
            </a:r>
            <a:endParaRPr lang="en-US" sz="1300" dirty="0"/>
          </a:p>
        </p:txBody>
      </p:sp>
      <p:sp>
        <p:nvSpPr>
          <p:cNvPr id="31" name="Text 28"/>
          <p:cNvSpPr txBox="1"/>
          <p:nvPr/>
        </p:nvSpPr>
        <p:spPr>
          <a:xfrm>
            <a:off x="777240" y="5724144"/>
            <a:ext cx="5486400" cy="420624"/>
          </a:xfrm>
          <a:prstGeom prst="rect">
            <a:avLst/>
          </a:prstGeom>
          <a:noFill/>
          <a:ln/>
        </p:spPr>
        <p:txBody>
          <a:bodyPr wrap="square" lIns="0" tIns="0" rIns="0" bIns="0" rtlCol="0" anchor="t"/>
          <a:lstStyle/>
          <a:p>
            <a:pPr indent="0" marL="0">
              <a:buNone/>
            </a:pPr>
            <a:r>
              <a:rPr lang="en-US" sz="1100" dirty="0">
                <a:solidFill>
                  <a:srgbClr val="1B2A41"/>
                </a:solidFill>
              </a:rPr>
              <a:t>at most ±3% from one week to the next: no price shocks</a:t>
            </a:r>
            <a:endParaRPr lang="en-US" sz="1100" dirty="0"/>
          </a:p>
        </p:txBody>
      </p:sp>
      <p:sp>
        <p:nvSpPr>
          <p:cNvPr id="32" name="Text 29"/>
          <p:cNvSpPr txBox="1"/>
          <p:nvPr/>
        </p:nvSpPr>
        <p:spPr>
          <a:xfrm>
            <a:off x="6675120" y="1572768"/>
            <a:ext cx="4937760" cy="274320"/>
          </a:xfrm>
          <a:prstGeom prst="rect">
            <a:avLst/>
          </a:prstGeom>
          <a:noFill/>
          <a:ln/>
        </p:spPr>
        <p:txBody>
          <a:bodyPr wrap="square" lIns="0" tIns="0" rIns="0" bIns="0" rtlCol="0" anchor="ctr"/>
          <a:lstStyle/>
          <a:p>
            <a:pPr indent="0" marL="0">
              <a:buNone/>
            </a:pPr>
            <a:r>
              <a:rPr lang="en-US" sz="1300" b="1" dirty="0">
                <a:solidFill>
                  <a:srgbClr val="5B6B80"/>
                </a:solidFill>
              </a:rPr>
              <a:t>Credit-risk guardrails by rating</a:t>
            </a:r>
            <a:endParaRPr lang="en-US" sz="1300" dirty="0"/>
          </a:p>
        </p:txBody>
      </p:sp>
      <p:sp>
        <p:nvSpPr>
          <p:cNvPr id="33" name="Credit rule card"/>
          <p:cNvSpPr/>
          <p:nvPr/>
        </p:nvSpPr>
        <p:spPr>
          <a:xfrm>
            <a:off x="6675120" y="1920240"/>
            <a:ext cx="4937760" cy="1097280"/>
          </a:xfrm>
          <a:prstGeom prst="roundRect">
            <a:avLst>
              <a:gd name="adj" fmla="val 6667"/>
            </a:avLst>
          </a:prstGeom>
          <a:solidFill>
            <a:srgbClr val="F2F6FB"/>
          </a:solidFill>
          <a:ln w="12700">
            <a:solidFill>
              <a:srgbClr val="F2F6FB"/>
            </a:solidFill>
            <a:prstDash val="solid"/>
          </a:ln>
        </p:spPr>
      </p:sp>
      <p:sp>
        <p:nvSpPr>
          <p:cNvPr id="34" name="Rating chip"/>
          <p:cNvSpPr/>
          <p:nvPr/>
        </p:nvSpPr>
        <p:spPr>
          <a:xfrm>
            <a:off x="6812280" y="2057400"/>
            <a:ext cx="868680" cy="731520"/>
          </a:xfrm>
          <a:prstGeom prst="roundRect">
            <a:avLst>
              <a:gd name="adj" fmla="val 7500"/>
            </a:avLst>
          </a:prstGeom>
          <a:solidFill>
            <a:srgbClr val="0CA30C"/>
          </a:solidFill>
          <a:ln w="12700">
            <a:solidFill>
              <a:srgbClr val="0CA30C"/>
            </a:solidFill>
            <a:prstDash val="solid"/>
          </a:ln>
        </p:spPr>
      </p:sp>
      <p:sp>
        <p:nvSpPr>
          <p:cNvPr id="35" name="Text 32"/>
          <p:cNvSpPr txBox="1"/>
          <p:nvPr/>
        </p:nvSpPr>
        <p:spPr>
          <a:xfrm>
            <a:off x="6812280" y="205740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A  B</a:t>
            </a:r>
            <a:endParaRPr lang="en-US" sz="1800" dirty="0"/>
          </a:p>
        </p:txBody>
      </p:sp>
      <p:sp>
        <p:nvSpPr>
          <p:cNvPr id="36" name="Text 33"/>
          <p:cNvSpPr txBox="1"/>
          <p:nvPr/>
        </p:nvSpPr>
        <p:spPr>
          <a:xfrm>
            <a:off x="7818120" y="201168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Normal rules</a:t>
            </a:r>
            <a:endParaRPr lang="en-US" sz="1250" dirty="0"/>
          </a:p>
        </p:txBody>
      </p:sp>
      <p:sp>
        <p:nvSpPr>
          <p:cNvPr id="37" name="Text 34"/>
          <p:cNvSpPr txBox="1"/>
          <p:nvPr/>
        </p:nvSpPr>
        <p:spPr>
          <a:xfrm>
            <a:off x="7818120" y="2487168"/>
            <a:ext cx="3703320" cy="457200"/>
          </a:xfrm>
          <a:prstGeom prst="rect">
            <a:avLst/>
          </a:prstGeom>
          <a:noFill/>
          <a:ln/>
        </p:spPr>
        <p:txBody>
          <a:bodyPr wrap="square" lIns="0" tIns="0" rIns="0" bIns="0" rtlCol="0" anchor="t"/>
          <a:lstStyle/>
          <a:p>
            <a:pPr indent="0" marL="0">
              <a:buNone/>
            </a:pPr>
            <a:r>
              <a:rPr lang="en-US" sz="1050" dirty="0">
                <a:solidFill>
                  <a:srgbClr val="5B6B80"/>
                </a:solidFill>
              </a:rPr>
              <a:t>no extra restriction</a:t>
            </a:r>
            <a:endParaRPr lang="en-US" sz="1050" dirty="0"/>
          </a:p>
        </p:txBody>
      </p:sp>
      <p:sp>
        <p:nvSpPr>
          <p:cNvPr id="38" name="Credit rule card"/>
          <p:cNvSpPr/>
          <p:nvPr/>
        </p:nvSpPr>
        <p:spPr>
          <a:xfrm>
            <a:off x="6675120" y="3154680"/>
            <a:ext cx="4937760" cy="1097280"/>
          </a:xfrm>
          <a:prstGeom prst="roundRect">
            <a:avLst>
              <a:gd name="adj" fmla="val 6667"/>
            </a:avLst>
          </a:prstGeom>
          <a:solidFill>
            <a:srgbClr val="F2F6FB"/>
          </a:solidFill>
          <a:ln w="12700">
            <a:solidFill>
              <a:srgbClr val="F2F6FB"/>
            </a:solidFill>
            <a:prstDash val="solid"/>
          </a:ln>
        </p:spPr>
      </p:sp>
      <p:sp>
        <p:nvSpPr>
          <p:cNvPr id="39" name="Rating chip"/>
          <p:cNvSpPr/>
          <p:nvPr/>
        </p:nvSpPr>
        <p:spPr>
          <a:xfrm>
            <a:off x="6812280" y="3291840"/>
            <a:ext cx="868680" cy="731520"/>
          </a:xfrm>
          <a:prstGeom prst="roundRect">
            <a:avLst>
              <a:gd name="adj" fmla="val 7500"/>
            </a:avLst>
          </a:prstGeom>
          <a:solidFill>
            <a:srgbClr val="FAB219"/>
          </a:solidFill>
          <a:ln w="12700">
            <a:solidFill>
              <a:srgbClr val="FAB219"/>
            </a:solidFill>
            <a:prstDash val="solid"/>
          </a:ln>
        </p:spPr>
      </p:sp>
      <p:sp>
        <p:nvSpPr>
          <p:cNvPr id="40" name="Text 37"/>
          <p:cNvSpPr txBox="1"/>
          <p:nvPr/>
        </p:nvSpPr>
        <p:spPr>
          <a:xfrm>
            <a:off x="6812280" y="3291840"/>
            <a:ext cx="868680" cy="731520"/>
          </a:xfrm>
          <a:prstGeom prst="rect">
            <a:avLst/>
          </a:prstGeom>
          <a:noFill/>
          <a:ln/>
        </p:spPr>
        <p:txBody>
          <a:bodyPr wrap="square" lIns="0" tIns="0" rIns="0" bIns="0" rtlCol="0" anchor="ctr"/>
          <a:lstStyle/>
          <a:p>
            <a:pPr algn="ctr" indent="0" marL="0">
              <a:buNone/>
            </a:pPr>
            <a:r>
              <a:rPr lang="en-US" sz="1800" b="1" dirty="0">
                <a:solidFill>
                  <a:srgbClr val="3A2A00"/>
                </a:solidFill>
                <a:latin typeface="Cambria" pitchFamily="34" charset="0"/>
                <a:ea typeface="Cambria" pitchFamily="34" charset="-122"/>
                <a:cs typeface="Cambria" pitchFamily="34" charset="-120"/>
              </a:rPr>
              <a:t>C</a:t>
            </a:r>
            <a:endParaRPr lang="en-US" sz="1800" dirty="0"/>
          </a:p>
        </p:txBody>
      </p:sp>
      <p:sp>
        <p:nvSpPr>
          <p:cNvPr id="41" name="Text 38"/>
          <p:cNvSpPr txBox="1"/>
          <p:nvPr/>
        </p:nvSpPr>
        <p:spPr>
          <a:xfrm>
            <a:off x="7818120" y="3246120"/>
            <a:ext cx="3703320" cy="457200"/>
          </a:xfrm>
          <a:prstGeom prst="rect">
            <a:avLst/>
          </a:prstGeom>
          <a:noFill/>
          <a:ln/>
        </p:spPr>
        <p:txBody>
          <a:bodyPr wrap="square" lIns="0" tIns="0" rIns="0" bIns="0" rtlCol="0" anchor="t"/>
          <a:lstStyle/>
          <a:p>
            <a:pPr indent="0" marL="0">
              <a:buNone/>
            </a:pPr>
            <a:r>
              <a:rPr lang="en-US" sz="1250" b="1" dirty="0">
                <a:solidFill>
                  <a:schemeClr val="tx1"/>
                </a:solidFill>
              </a:rPr>
              <a:t>Markdown capped at 5%</a:t>
            </a:r>
            <a:endParaRPr lang="en-US" sz="1250" dirty="0"/>
          </a:p>
        </p:txBody>
      </p:sp>
      <p:sp>
        <p:nvSpPr>
          <p:cNvPr id="42" name="Text 39"/>
          <p:cNvSpPr txBox="1"/>
          <p:nvPr/>
        </p:nvSpPr>
        <p:spPr>
          <a:xfrm>
            <a:off x="7818120" y="3721608"/>
            <a:ext cx="3703320" cy="457200"/>
          </a:xfrm>
          <a:prstGeom prst="rect">
            <a:avLst/>
          </a:prstGeom>
          <a:noFill/>
          <a:ln/>
        </p:spPr>
        <p:txBody>
          <a:bodyPr wrap="square" lIns="0" tIns="0" rIns="0" bIns="0" rtlCol="0" anchor="t"/>
          <a:lstStyle/>
          <a:p>
            <a:pPr indent="0" marL="0">
              <a:buNone/>
            </a:pPr>
            <a:r>
              <a:rPr lang="en-US" sz="1050" dirty="0">
                <a:solidFill>
                  <a:srgbClr val="5B6B80"/>
                </a:solidFill>
              </a:rPr>
              <a:t>moderate credit risk</a:t>
            </a:r>
            <a:endParaRPr lang="en-US" sz="1050" dirty="0"/>
          </a:p>
        </p:txBody>
      </p:sp>
      <p:sp>
        <p:nvSpPr>
          <p:cNvPr id="43" name="Credit rule card"/>
          <p:cNvSpPr/>
          <p:nvPr/>
        </p:nvSpPr>
        <p:spPr>
          <a:xfrm>
            <a:off x="6675120" y="4389120"/>
            <a:ext cx="4937760" cy="1463040"/>
          </a:xfrm>
          <a:prstGeom prst="roundRect">
            <a:avLst>
              <a:gd name="adj" fmla="val 5000"/>
            </a:avLst>
          </a:prstGeom>
          <a:solidFill>
            <a:srgbClr val="F2F6FB"/>
          </a:solidFill>
          <a:ln w="12700">
            <a:solidFill>
              <a:srgbClr val="F2F6FB"/>
            </a:solidFill>
            <a:prstDash val="solid"/>
          </a:ln>
        </p:spPr>
      </p:sp>
      <p:sp>
        <p:nvSpPr>
          <p:cNvPr id="44" name="Rating chip"/>
          <p:cNvSpPr/>
          <p:nvPr/>
        </p:nvSpPr>
        <p:spPr>
          <a:xfrm>
            <a:off x="6812280" y="4526280"/>
            <a:ext cx="868680" cy="731520"/>
          </a:xfrm>
          <a:prstGeom prst="roundRect">
            <a:avLst>
              <a:gd name="adj" fmla="val 7500"/>
            </a:avLst>
          </a:prstGeom>
          <a:solidFill>
            <a:srgbClr val="EC835A"/>
          </a:solidFill>
          <a:ln w="12700">
            <a:solidFill>
              <a:srgbClr val="EC835A"/>
            </a:solidFill>
            <a:prstDash val="solid"/>
          </a:ln>
        </p:spPr>
      </p:sp>
      <p:sp>
        <p:nvSpPr>
          <p:cNvPr id="45" name="Text 42"/>
          <p:cNvSpPr txBox="1"/>
          <p:nvPr/>
        </p:nvSpPr>
        <p:spPr>
          <a:xfrm>
            <a:off x="6812280" y="4526280"/>
            <a:ext cx="86868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D  E</a:t>
            </a:r>
            <a:endParaRPr lang="en-US" sz="1800" dirty="0"/>
          </a:p>
        </p:txBody>
      </p:sp>
      <p:sp>
        <p:nvSpPr>
          <p:cNvPr id="46" name="Text 43"/>
          <p:cNvSpPr txBox="1"/>
          <p:nvPr/>
        </p:nvSpPr>
        <p:spPr>
          <a:xfrm>
            <a:off x="7818120" y="4480560"/>
            <a:ext cx="3703320" cy="457200"/>
          </a:xfrm>
          <a:prstGeom prst="rect">
            <a:avLst/>
          </a:prstGeom>
          <a:noFill/>
          <a:ln/>
        </p:spPr>
        <p:txBody>
          <a:bodyPr wrap="square" lIns="0" tIns="0" rIns="0" bIns="0" rtlCol="0" anchor="t"/>
          <a:lstStyle/>
          <a:p>
            <a:pPr indent="0" marL="0">
              <a:buNone/>
            </a:pPr>
            <a:r>
              <a:rPr lang="en-US" sz="1250" b="1" dirty="0">
                <a:solidFill>
                  <a:schemeClr val="tx1"/>
                </a:solidFill>
              </a:rPr>
              <a:t>No markdowns · risk premium · terms 15 days shorter</a:t>
            </a:r>
            <a:endParaRPr lang="en-US" sz="1250" dirty="0"/>
          </a:p>
        </p:txBody>
      </p:sp>
      <p:sp>
        <p:nvSpPr>
          <p:cNvPr id="47" name="Text 44"/>
          <p:cNvSpPr txBox="1"/>
          <p:nvPr/>
        </p:nvSpPr>
        <p:spPr>
          <a:xfrm>
            <a:off x="7818120" y="4956048"/>
            <a:ext cx="3703320" cy="822960"/>
          </a:xfrm>
          <a:prstGeom prst="rect">
            <a:avLst/>
          </a:prstGeom>
          <a:noFill/>
          <a:ln/>
        </p:spPr>
        <p:txBody>
          <a:bodyPr wrap="square" lIns="0" tIns="0" rIns="0" bIns="0" rtlCol="0" anchor="t"/>
          <a:lstStyle/>
          <a:p>
            <a:pPr indent="0" marL="0">
              <a:buNone/>
            </a:pPr>
            <a:r>
              <a:rPr lang="en-US" sz="1050" dirty="0">
                <a:solidFill>
                  <a:srgbClr val="5B6B80"/>
                </a:solidFill>
              </a:rPr>
              <a:t>premium = share on credit × default + DSO/365 × 8% funding; +2.5% for Beverages &amp; Cocoa; frees about $361K of cash</a:t>
            </a:r>
            <a:endParaRPr lang="en-US" sz="1050" dirty="0"/>
          </a:p>
        </p:txBody>
      </p:sp>
      <p:sp>
        <p:nvSpPr>
          <p:cNvPr id="48" name="Text 45"/>
          <p:cNvSpPr txBox="1"/>
          <p:nvPr/>
        </p:nvSpPr>
        <p:spPr>
          <a:xfrm>
            <a:off x="6675120" y="5806440"/>
            <a:ext cx="4937760" cy="457200"/>
          </a:xfrm>
          <a:prstGeom prst="rect">
            <a:avLst/>
          </a:prstGeom>
          <a:noFill/>
          <a:ln/>
        </p:spPr>
        <p:txBody>
          <a:bodyPr wrap="square" lIns="0" tIns="0" rIns="0" bIns="0" rtlCol="0" anchor="t"/>
          <a:lstStyle/>
          <a:p>
            <a:pPr indent="0" marL="0">
              <a:buNone/>
            </a:pPr>
            <a:r>
              <a:rPr lang="en-US" sz="1050" i="1" dirty="0">
                <a:solidFill>
                  <a:srgbClr val="5B6B80"/>
                </a:solidFill>
              </a:rPr>
              <a:t>All 19 automatic checks pass: band, floor, weekly step, credit rules and hand-calculated arithmetic.</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VALIDATION AND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Tested four ways: gain stays near +$1.3M</a:t>
            </a:r>
            <a:endParaRPr lang="en-US" sz="3000" dirty="0"/>
          </a:p>
        </p:txBody>
      </p:sp>
      <p:graphicFrame>
        <p:nvGraphicFramePr>
          <p:cNvPr id="5" name="Chart 0" descr=""/>
          <p:cNvGraphicFramePr/>
          <p:nvPr/>
        </p:nvGraphicFramePr>
        <p:xfrm>
          <a:off x="548640" y="1600200"/>
          <a:ext cx="5669280" cy="3840480"/>
        </p:xfrm>
        <a:graphic xmlns:a="http://schemas.openxmlformats.org/drawingml/2006/main">
          <a:graphicData uri="http://schemas.openxmlformats.org/drawingml/2006/chart">
            <c:chart xmlns:c="http://schemas.openxmlformats.org/drawingml/2006/chart" r:id="rId1"/>
          </a:graphicData>
        </a:graphic>
      </p:graphicFrame>
      <p:sp>
        <p:nvSpPr>
          <p:cNvPr id="6" name="Test card"/>
          <p:cNvSpPr/>
          <p:nvPr/>
        </p:nvSpPr>
        <p:spPr>
          <a:xfrm>
            <a:off x="6492240" y="1600200"/>
            <a:ext cx="2514600" cy="1874520"/>
          </a:xfrm>
          <a:prstGeom prst="roundRect">
            <a:avLst>
              <a:gd name="adj" fmla="val 3902"/>
            </a:avLst>
          </a:prstGeom>
          <a:solidFill>
            <a:srgbClr val="F2F6FB"/>
          </a:solidFill>
          <a:ln w="12700">
            <a:solidFill>
              <a:srgbClr val="F2F6FB"/>
            </a:solidFill>
            <a:prstDash val="solid"/>
          </a:ln>
        </p:spPr>
      </p:sp>
      <p:sp>
        <p:nvSpPr>
          <p:cNvPr id="7" name="Step number"/>
          <p:cNvSpPr/>
          <p:nvPr/>
        </p:nvSpPr>
        <p:spPr>
          <a:xfrm>
            <a:off x="6629400" y="1709928"/>
            <a:ext cx="411480" cy="411480"/>
          </a:xfrm>
          <a:prstGeom prst="ellipse">
            <a:avLst/>
          </a:prstGeom>
          <a:solidFill>
            <a:srgbClr val="2A78D6"/>
          </a:solidFill>
          <a:ln w="12700">
            <a:solidFill>
              <a:srgbClr val="FFFFFF"/>
            </a:solidFill>
            <a:prstDash val="solid"/>
          </a:ln>
        </p:spPr>
      </p:sp>
      <p:sp>
        <p:nvSpPr>
          <p:cNvPr id="8" name="Text 4"/>
          <p:cNvSpPr txBox="1"/>
          <p:nvPr/>
        </p:nvSpPr>
        <p:spPr>
          <a:xfrm>
            <a:off x="662940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713232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Simulate</a:t>
            </a:r>
            <a:endParaRPr lang="en-US" sz="1300" dirty="0"/>
          </a:p>
        </p:txBody>
      </p:sp>
      <p:sp>
        <p:nvSpPr>
          <p:cNvPr id="10" name="Text 6"/>
          <p:cNvSpPr txBox="1"/>
          <p:nvPr/>
        </p:nvSpPr>
        <p:spPr>
          <a:xfrm>
            <a:off x="662940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1,000 demand and stock draws per product-week; same draws with and without the engine</a:t>
            </a:r>
            <a:endParaRPr lang="en-US" sz="1150" dirty="0"/>
          </a:p>
        </p:txBody>
      </p:sp>
      <p:sp>
        <p:nvSpPr>
          <p:cNvPr id="11" name="Test card"/>
          <p:cNvSpPr/>
          <p:nvPr/>
        </p:nvSpPr>
        <p:spPr>
          <a:xfrm>
            <a:off x="9098280" y="1600200"/>
            <a:ext cx="2514600" cy="1874520"/>
          </a:xfrm>
          <a:prstGeom prst="roundRect">
            <a:avLst>
              <a:gd name="adj" fmla="val 3902"/>
            </a:avLst>
          </a:prstGeom>
          <a:solidFill>
            <a:srgbClr val="F2F6FB"/>
          </a:solidFill>
          <a:ln w="12700">
            <a:solidFill>
              <a:srgbClr val="F2F6FB"/>
            </a:solidFill>
            <a:prstDash val="solid"/>
          </a:ln>
        </p:spPr>
      </p:sp>
      <p:sp>
        <p:nvSpPr>
          <p:cNvPr id="12" name="Step number"/>
          <p:cNvSpPr/>
          <p:nvPr/>
        </p:nvSpPr>
        <p:spPr>
          <a:xfrm>
            <a:off x="9235440" y="1709928"/>
            <a:ext cx="411480" cy="411480"/>
          </a:xfrm>
          <a:prstGeom prst="ellipse">
            <a:avLst/>
          </a:prstGeom>
          <a:solidFill>
            <a:srgbClr val="1BAF7A"/>
          </a:solidFill>
          <a:ln w="12700">
            <a:solidFill>
              <a:srgbClr val="FFFFFF"/>
            </a:solidFill>
            <a:prstDash val="solid"/>
          </a:ln>
        </p:spPr>
      </p:sp>
      <p:sp>
        <p:nvSpPr>
          <p:cNvPr id="13" name="Text 9"/>
          <p:cNvSpPr txBox="1"/>
          <p:nvPr/>
        </p:nvSpPr>
        <p:spPr>
          <a:xfrm>
            <a:off x="9235440" y="170992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4" name="Text 10"/>
          <p:cNvSpPr txBox="1"/>
          <p:nvPr/>
        </p:nvSpPr>
        <p:spPr>
          <a:xfrm>
            <a:off x="9738360" y="170992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sensitivity</a:t>
            </a:r>
            <a:endParaRPr lang="en-US" sz="1300" dirty="0"/>
          </a:p>
        </p:txBody>
      </p:sp>
      <p:sp>
        <p:nvSpPr>
          <p:cNvPr id="15" name="Text 11"/>
          <p:cNvSpPr txBox="1"/>
          <p:nvPr/>
        </p:nvSpPr>
        <p:spPr>
          <a:xfrm>
            <a:off x="9235440" y="2221992"/>
            <a:ext cx="2240280" cy="1188720"/>
          </a:xfrm>
          <a:prstGeom prst="rect">
            <a:avLst/>
          </a:prstGeom>
          <a:noFill/>
          <a:ln/>
        </p:spPr>
        <p:txBody>
          <a:bodyPr wrap="square" lIns="0" tIns="0" rIns="0" bIns="0" rtlCol="0" anchor="t"/>
          <a:lstStyle/>
          <a:p>
            <a:pPr indent="0" marL="0">
              <a:buNone/>
            </a:pPr>
            <a:r>
              <a:rPr lang="en-US" sz="1150" dirty="0">
                <a:solidFill>
                  <a:srgbClr val="1B2A41"/>
                </a:solidFill>
              </a:rPr>
              <a:t>price sensitivity 0 to -3: result is a range</a:t>
            </a:r>
            <a:endParaRPr lang="en-US" sz="1150" dirty="0"/>
          </a:p>
        </p:txBody>
      </p:sp>
      <p:sp>
        <p:nvSpPr>
          <p:cNvPr id="16" name="Test card"/>
          <p:cNvSpPr/>
          <p:nvPr/>
        </p:nvSpPr>
        <p:spPr>
          <a:xfrm>
            <a:off x="6492240" y="3566160"/>
            <a:ext cx="2514600" cy="1874520"/>
          </a:xfrm>
          <a:prstGeom prst="roundRect">
            <a:avLst>
              <a:gd name="adj" fmla="val 3902"/>
            </a:avLst>
          </a:prstGeom>
          <a:solidFill>
            <a:srgbClr val="F2F6FB"/>
          </a:solidFill>
          <a:ln w="12700">
            <a:solidFill>
              <a:srgbClr val="F2F6FB"/>
            </a:solidFill>
            <a:prstDash val="solid"/>
          </a:ln>
        </p:spPr>
      </p:sp>
      <p:sp>
        <p:nvSpPr>
          <p:cNvPr id="17" name="Step number"/>
          <p:cNvSpPr/>
          <p:nvPr/>
        </p:nvSpPr>
        <p:spPr>
          <a:xfrm>
            <a:off x="6629400" y="3675888"/>
            <a:ext cx="411480" cy="411480"/>
          </a:xfrm>
          <a:prstGeom prst="ellipse">
            <a:avLst/>
          </a:prstGeom>
          <a:solidFill>
            <a:srgbClr val="EB6834"/>
          </a:solidFill>
          <a:ln w="12700">
            <a:solidFill>
              <a:srgbClr val="FFFFFF"/>
            </a:solidFill>
            <a:prstDash val="solid"/>
          </a:ln>
        </p:spPr>
      </p:sp>
      <p:sp>
        <p:nvSpPr>
          <p:cNvPr id="18" name="Text 14"/>
          <p:cNvSpPr txBox="1"/>
          <p:nvPr/>
        </p:nvSpPr>
        <p:spPr>
          <a:xfrm>
            <a:off x="662940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9" name="Text 15"/>
          <p:cNvSpPr txBox="1"/>
          <p:nvPr/>
        </p:nvSpPr>
        <p:spPr>
          <a:xfrm>
            <a:off x="713232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Replay the past</a:t>
            </a:r>
            <a:endParaRPr lang="en-US" sz="1300" dirty="0"/>
          </a:p>
        </p:txBody>
      </p:sp>
      <p:sp>
        <p:nvSpPr>
          <p:cNvPr id="20" name="Text 16"/>
          <p:cNvSpPr txBox="1"/>
          <p:nvPr/>
        </p:nvSpPr>
        <p:spPr>
          <a:xfrm>
            <a:off x="662940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last 52 weeks, only past information: +$1.43M</a:t>
            </a:r>
            <a:endParaRPr lang="en-US" sz="1150" dirty="0"/>
          </a:p>
        </p:txBody>
      </p:sp>
      <p:sp>
        <p:nvSpPr>
          <p:cNvPr id="21" name="Test card"/>
          <p:cNvSpPr/>
          <p:nvPr/>
        </p:nvSpPr>
        <p:spPr>
          <a:xfrm>
            <a:off x="9098280" y="3566160"/>
            <a:ext cx="2514600" cy="1874520"/>
          </a:xfrm>
          <a:prstGeom prst="roundRect">
            <a:avLst>
              <a:gd name="adj" fmla="val 3902"/>
            </a:avLst>
          </a:prstGeom>
          <a:solidFill>
            <a:srgbClr val="F2F6FB"/>
          </a:solidFill>
          <a:ln w="12700">
            <a:solidFill>
              <a:srgbClr val="F2F6FB"/>
            </a:solidFill>
            <a:prstDash val="solid"/>
          </a:ln>
        </p:spPr>
      </p:sp>
      <p:sp>
        <p:nvSpPr>
          <p:cNvPr id="22" name="Step number"/>
          <p:cNvSpPr/>
          <p:nvPr/>
        </p:nvSpPr>
        <p:spPr>
          <a:xfrm>
            <a:off x="9235440" y="3675888"/>
            <a:ext cx="411480" cy="411480"/>
          </a:xfrm>
          <a:prstGeom prst="ellipse">
            <a:avLst/>
          </a:prstGeom>
          <a:solidFill>
            <a:srgbClr val="D03B3B"/>
          </a:solidFill>
          <a:ln w="12700">
            <a:solidFill>
              <a:srgbClr val="FFFFFF"/>
            </a:solidFill>
            <a:prstDash val="solid"/>
          </a:ln>
        </p:spPr>
      </p:sp>
      <p:sp>
        <p:nvSpPr>
          <p:cNvPr id="23" name="Text 19"/>
          <p:cNvSpPr txBox="1"/>
          <p:nvPr/>
        </p:nvSpPr>
        <p:spPr>
          <a:xfrm>
            <a:off x="9235440" y="3675888"/>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4" name="Text 20"/>
          <p:cNvSpPr txBox="1"/>
          <p:nvPr/>
        </p:nvSpPr>
        <p:spPr>
          <a:xfrm>
            <a:off x="9738360" y="3675888"/>
            <a:ext cx="1783080" cy="411480"/>
          </a:xfrm>
          <a:prstGeom prst="rect">
            <a:avLst/>
          </a:prstGeom>
          <a:noFill/>
          <a:ln/>
        </p:spPr>
        <p:txBody>
          <a:bodyPr wrap="square" lIns="0" tIns="0" rIns="0" bIns="0" rtlCol="0" anchor="ctr"/>
          <a:lstStyle/>
          <a:p>
            <a:pPr indent="0" marL="0">
              <a:buNone/>
            </a:pPr>
            <a:r>
              <a:rPr lang="en-US" sz="1300" b="1" dirty="0">
                <a:solidFill>
                  <a:schemeClr val="tx1"/>
                </a:solidFill>
              </a:rPr>
              <a:t>Stress the inputs</a:t>
            </a:r>
            <a:endParaRPr lang="en-US" sz="1300" dirty="0"/>
          </a:p>
        </p:txBody>
      </p:sp>
      <p:sp>
        <p:nvSpPr>
          <p:cNvPr id="25" name="Text 21"/>
          <p:cNvSpPr txBox="1"/>
          <p:nvPr/>
        </p:nvSpPr>
        <p:spPr>
          <a:xfrm>
            <a:off x="9235440" y="4187952"/>
            <a:ext cx="2240280" cy="1188720"/>
          </a:xfrm>
          <a:prstGeom prst="rect">
            <a:avLst/>
          </a:prstGeom>
          <a:noFill/>
          <a:ln/>
        </p:spPr>
        <p:txBody>
          <a:bodyPr wrap="square" lIns="0" tIns="0" rIns="0" bIns="0" rtlCol="0" anchor="t"/>
          <a:lstStyle/>
          <a:p>
            <a:pPr indent="0" marL="0">
              <a:buNone/>
            </a:pPr>
            <a:r>
              <a:rPr lang="en-US" sz="1150" dirty="0">
                <a:solidFill>
                  <a:srgbClr val="1B2A41"/>
                </a:solidFill>
              </a:rPr>
              <a:t>16 settings all positive; demand at 60% of estimate: still +$0.94M</a:t>
            </a:r>
            <a:endParaRPr lang="en-US" sz="1150" dirty="0"/>
          </a:p>
        </p:txBody>
      </p:sp>
      <p:sp>
        <p:nvSpPr>
          <p:cNvPr id="26" name="Stat card"/>
          <p:cNvSpPr/>
          <p:nvPr/>
        </p:nvSpPr>
        <p:spPr>
          <a:xfrm>
            <a:off x="548640" y="5532120"/>
            <a:ext cx="2606040" cy="777240"/>
          </a:xfrm>
          <a:prstGeom prst="roundRect">
            <a:avLst>
              <a:gd name="adj" fmla="val 9412"/>
            </a:avLst>
          </a:prstGeom>
          <a:solidFill>
            <a:srgbClr val="F2F6FB"/>
          </a:solidFill>
          <a:ln w="12700">
            <a:solidFill>
              <a:srgbClr val="F2F6FB"/>
            </a:solidFill>
            <a:prstDash val="solid"/>
          </a:ln>
        </p:spPr>
      </p:sp>
      <p:sp>
        <p:nvSpPr>
          <p:cNvPr id="27" name="Text 23"/>
          <p:cNvSpPr txBox="1"/>
          <p:nvPr/>
        </p:nvSpPr>
        <p:spPr>
          <a:xfrm>
            <a:off x="658368" y="5532120"/>
            <a:ext cx="1051560" cy="777240"/>
          </a:xfrm>
          <a:prstGeom prst="rect">
            <a:avLst/>
          </a:prstGeom>
          <a:noFill/>
          <a:ln/>
        </p:spPr>
        <p:txBody>
          <a:bodyPr wrap="square" lIns="0" tIns="0" rIns="0" bIns="0" rtlCol="0" anchor="ctr"/>
          <a:lstStyle/>
          <a:p>
            <a:pPr indent="0" marL="0">
              <a:buNone/>
            </a:pPr>
            <a:r>
              <a:rPr lang="en-US" sz="1800" b="1" dirty="0">
                <a:solidFill>
                  <a:srgbClr val="138A5F"/>
                </a:solidFill>
                <a:latin typeface="Cambria" pitchFamily="34" charset="0"/>
                <a:ea typeface="Cambria" pitchFamily="34" charset="-122"/>
                <a:cs typeface="Cambria" pitchFamily="34" charset="-120"/>
              </a:rPr>
              <a:t>19 / 19</a:t>
            </a:r>
            <a:endParaRPr lang="en-US" sz="1800" dirty="0"/>
          </a:p>
        </p:txBody>
      </p:sp>
      <p:sp>
        <p:nvSpPr>
          <p:cNvPr id="28" name="Text 24"/>
          <p:cNvSpPr txBox="1"/>
          <p:nvPr/>
        </p:nvSpPr>
        <p:spPr>
          <a:xfrm>
            <a:off x="173736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automatic checks pass</a:t>
            </a:r>
            <a:endParaRPr lang="en-US" sz="1000" dirty="0"/>
          </a:p>
        </p:txBody>
      </p:sp>
      <p:sp>
        <p:nvSpPr>
          <p:cNvPr id="29" name="Stat card"/>
          <p:cNvSpPr/>
          <p:nvPr/>
        </p:nvSpPr>
        <p:spPr>
          <a:xfrm>
            <a:off x="3246120" y="5532120"/>
            <a:ext cx="2606040" cy="777240"/>
          </a:xfrm>
          <a:prstGeom prst="roundRect">
            <a:avLst>
              <a:gd name="adj" fmla="val 9412"/>
            </a:avLst>
          </a:prstGeom>
          <a:solidFill>
            <a:srgbClr val="F2F6FB"/>
          </a:solidFill>
          <a:ln w="12700">
            <a:solidFill>
              <a:srgbClr val="F2F6FB"/>
            </a:solidFill>
            <a:prstDash val="solid"/>
          </a:ln>
        </p:spPr>
      </p:sp>
      <p:sp>
        <p:nvSpPr>
          <p:cNvPr id="30" name="Text 26"/>
          <p:cNvSpPr txBox="1"/>
          <p:nvPr/>
        </p:nvSpPr>
        <p:spPr>
          <a:xfrm>
            <a:off x="3355848" y="5532120"/>
            <a:ext cx="1051560" cy="777240"/>
          </a:xfrm>
          <a:prstGeom prst="rect">
            <a:avLst/>
          </a:prstGeom>
          <a:noFill/>
          <a:ln/>
        </p:spPr>
        <p:txBody>
          <a:bodyPr wrap="square" lIns="0" tIns="0" rIns="0" bIns="0" rtlCol="0" anchor="ctr"/>
          <a:lstStyle/>
          <a:p>
            <a:pPr indent="0" marL="0">
              <a:buNone/>
            </a:pPr>
            <a:r>
              <a:rPr lang="en-US" sz="1800" b="1" dirty="0">
                <a:solidFill>
                  <a:srgbClr val="C24E1F"/>
                </a:solidFill>
                <a:latin typeface="Cambria" pitchFamily="34" charset="0"/>
                <a:ea typeface="Cambria" pitchFamily="34" charset="-122"/>
                <a:cs typeface="Cambria" pitchFamily="34" charset="-120"/>
              </a:rPr>
              <a:t>-0.017</a:t>
            </a:r>
            <a:endParaRPr lang="en-US" sz="1800" dirty="0"/>
          </a:p>
        </p:txBody>
      </p:sp>
      <p:sp>
        <p:nvSpPr>
          <p:cNvPr id="31" name="Text 27"/>
          <p:cNvSpPr txBox="1"/>
          <p:nvPr/>
        </p:nvSpPr>
        <p:spPr>
          <a:xfrm>
            <a:off x="4434840" y="5532120"/>
            <a:ext cx="1325880" cy="777240"/>
          </a:xfrm>
          <a:prstGeom prst="rect">
            <a:avLst/>
          </a:prstGeom>
          <a:noFill/>
          <a:ln/>
        </p:spPr>
        <p:txBody>
          <a:bodyPr wrap="square" lIns="0" tIns="0" rIns="0" bIns="0" rtlCol="0" anchor="ctr"/>
          <a:lstStyle/>
          <a:p>
            <a:pPr indent="0" marL="0">
              <a:buNone/>
            </a:pPr>
            <a:r>
              <a:rPr lang="en-US" sz="1000" dirty="0">
                <a:solidFill>
                  <a:srgbClr val="5B6B80"/>
                </a:solidFill>
              </a:rPr>
              <a:t>price effect: not measurable, hence a range</a:t>
            </a:r>
            <a:endParaRPr lang="en-US" sz="1000" dirty="0"/>
          </a:p>
        </p:txBody>
      </p:sp>
      <p:sp>
        <p:nvSpPr>
          <p:cNvPr id="32" name="Pilot card"/>
          <p:cNvSpPr/>
          <p:nvPr/>
        </p:nvSpPr>
        <p:spPr>
          <a:xfrm>
            <a:off x="5943600" y="5532120"/>
            <a:ext cx="5669280" cy="777240"/>
          </a:xfrm>
          <a:prstGeom prst="roundRect">
            <a:avLst>
              <a:gd name="adj" fmla="val 9412"/>
            </a:avLst>
          </a:prstGeom>
          <a:solidFill>
            <a:srgbClr val="FFFFFF"/>
          </a:solidFill>
          <a:ln w="19050">
            <a:solidFill>
              <a:srgbClr val="2A78D6"/>
            </a:solidFill>
            <a:prstDash val="solid"/>
          </a:ln>
        </p:spPr>
      </p:sp>
      <p:sp>
        <p:nvSpPr>
          <p:cNvPr id="33" name="Text 29"/>
          <p:cNvSpPr txBox="1"/>
          <p:nvPr/>
        </p:nvSpPr>
        <p:spPr>
          <a:xfrm>
            <a:off x="6080760" y="5532120"/>
            <a:ext cx="5440680" cy="777240"/>
          </a:xfrm>
          <a:prstGeom prst="rect">
            <a:avLst/>
          </a:prstGeom>
          <a:noFill/>
          <a:ln/>
        </p:spPr>
        <p:txBody>
          <a:bodyPr wrap="square" lIns="0" tIns="0" rIns="0" bIns="0" rtlCol="0" anchor="ctr"/>
          <a:lstStyle/>
          <a:p>
            <a:pPr indent="0" marL="0">
              <a:buNone/>
            </a:pPr>
            <a:r>
              <a:rPr lang="en-US" sz="1050" b="1" dirty="0">
                <a:solidFill>
                  <a:srgbClr val="1F5FB0"/>
                </a:solidFill>
              </a:rPr>
              <a:t>Next: two 8-week pilots. </a:t>
            </a:r>
            <a:pPr indent="0" marL="0">
              <a:buNone/>
            </a:pPr>
            <a:r>
              <a:rPr lang="en-US" sz="1050" dirty="0">
                <a:solidFill>
                  <a:srgbClr val="1B2A41"/>
                </a:solidFill>
              </a:rPr>
              <a:t>A: 6 scarce products at +3% / +5% vs matched controls (do they still sell out?). B: high-stock products at ±3% in random weeks (real price sensitivity).</a:t>
            </a:r>
            <a:endParaRPr lang="en-US" sz="10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ASSUMPTIONS REGISTER</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Assumptions, reasons and how each is replaced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474720"/>
                <a:gridCol w="3566160"/>
                <a:gridCol w="4023360"/>
              </a:tblGrid>
              <a:tr h="384048">
                <a:tc>
                  <a:txBody>
                    <a:bodyPr/>
                    <a:lstStyle/>
                    <a:p>
                      <a:pPr indent="0" marL="0">
                        <a:buNone/>
                      </a:pPr>
                      <a:r>
                        <a:rPr lang="en-US" sz="1300" b="1" dirty="0">
                          <a:solidFill>
                            <a:srgbClr val="FFFFFF"/>
                          </a:solidFill>
                        </a:rPr>
                        <a:t>Assumption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Why it was made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How it is checked or replaced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dirty="0">
                          <a:solidFill>
                            <a:srgbClr val="1B2A41"/>
                          </a:solidFill>
                        </a:rPr>
                        <a:t>Synthetic calendar from 6 Jan 2020</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the file has week numbers only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real dates replace it; no result depends on the start date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Sales = min(demand, stock)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stock-outs give zero sales; pile-ups sit at the stock caps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verified: zero violations in the database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Old forecast is a usable demand signal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unbiased (-0.4%) on weeks where truth is 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blend weight learned out-of-fold; accuracy also on clean weeks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Future stock follows its own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future purchasing is unknown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dashboard shows the stock-limited and unconstrained views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Credit terms, delays, default rates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customer or invoice data exists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editable in the dashboard; replace with payment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Price sensitivity -1 (plan) and -2 (stress)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price barely varies (4%), so the data cannot measure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results shown from 0 to -3; Pilot B measures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Competitor band -8% / +10%, holding 12%, funding 8%</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competitor data; standard cost-of-capital levels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adjustable parameters; replace with observations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2026-10-06T20:59:40Z</dcterms:created>
  <dcterms:modified xsi:type="dcterms:W3CDTF">2026-10-06T20:59:40Z</dcterms:modified>
</cp:coreProperties>
</file>